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sldIdLst>
    <p:sldId id="256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272" r:id="rId10"/>
    <p:sldId id="273" r:id="rId11"/>
    <p:sldId id="274" r:id="rId12"/>
    <p:sldId id="275" r:id="rId13"/>
    <p:sldId id="276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468"/>
    <p:restoredTop sz="95028" autoAdjust="0"/>
  </p:normalViewPr>
  <p:slideViewPr>
    <p:cSldViewPr snapToGrid="0">
      <p:cViewPr varScale="1">
        <p:scale>
          <a:sx n="80" d="100"/>
          <a:sy n="80" d="100"/>
        </p:scale>
        <p:origin x="208" y="156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24/01/2026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24/01/2026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24/01/2026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24/01/2026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24/01/2026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24/01/2026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24/01/2026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Systems, </a:t>
            </a:r>
            <a:r>
              <a:rPr lang="de-DE" dirty="0" err="1"/>
              <a:t>Processes</a:t>
            </a:r>
            <a:r>
              <a:rPr lang="de-DE" dirty="0"/>
              <a:t>, Models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State variables and </a:t>
            </a:r>
            <a:r>
              <a:rPr lang="de-DE" dirty="0" err="1"/>
              <a:t>state</a:t>
            </a:r>
            <a:r>
              <a:rPr lang="de-DE" dirty="0"/>
              <a:t> </a:t>
            </a:r>
            <a:r>
              <a:rPr lang="de-DE" dirty="0" err="1"/>
              <a:t>equations</a:t>
            </a:r>
            <a:endParaRPr lang="de-DE" dirty="0"/>
          </a:p>
          <a:p>
            <a:r>
              <a:rPr lang="de-DE" dirty="0"/>
              <a:t>State-</a:t>
            </a:r>
            <a:r>
              <a:rPr lang="de-DE" dirty="0" err="1"/>
              <a:t>space</a:t>
            </a:r>
            <a:r>
              <a:rPr lang="de-DE" dirty="0"/>
              <a:t> </a:t>
            </a:r>
            <a:r>
              <a:rPr lang="de-DE" dirty="0" err="1"/>
              <a:t>control</a:t>
            </a:r>
            <a:endParaRPr lang="de-DE" dirty="0"/>
          </a:p>
          <a:p>
            <a:r>
              <a:rPr lang="de-DE" dirty="0"/>
              <a:t>State </a:t>
            </a:r>
            <a:r>
              <a:rPr lang="de-DE" dirty="0" err="1"/>
              <a:t>estimation</a:t>
            </a:r>
            <a:endParaRPr lang="de-DE" dirty="0"/>
          </a:p>
          <a:p>
            <a:r>
              <a:rPr lang="de-DE" dirty="0"/>
              <a:t>Kalman </a:t>
            </a:r>
            <a:r>
              <a:rPr lang="de-DE" dirty="0" err="1"/>
              <a:t>filter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E73AE0-265F-0452-BD08-15D8906C6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State Space?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10854BE-384B-05DC-59DC-11C3A10F38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Handles MIMO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Natural </a:t>
            </a:r>
            <a:r>
              <a:rPr lang="de-DE" dirty="0" err="1"/>
              <a:t>representation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modern </a:t>
            </a:r>
            <a:r>
              <a:rPr lang="de-DE" dirty="0" err="1"/>
              <a:t>control</a:t>
            </a:r>
            <a:endParaRPr lang="de-DE" dirty="0"/>
          </a:p>
          <a:p>
            <a:r>
              <a:rPr lang="de-DE" dirty="0"/>
              <a:t>Time-domain </a:t>
            </a:r>
            <a:r>
              <a:rPr lang="de-DE" dirty="0" err="1"/>
              <a:t>formulation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C3D2768-8865-C96F-EA04-1EE804535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12321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9B0AB5-B707-D63E-A421-4C6F4D425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State Variables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8DCF9B1-B070-A2DC-EDC6-8C4EA43AA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Minimal </a:t>
            </a:r>
            <a:r>
              <a:rPr lang="de-DE" dirty="0" err="1"/>
              <a:t>set</a:t>
            </a:r>
            <a:r>
              <a:rPr lang="de-DE" dirty="0"/>
              <a:t> </a:t>
            </a:r>
            <a:r>
              <a:rPr lang="de-DE" dirty="0" err="1"/>
              <a:t>describing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memory</a:t>
            </a:r>
            <a:endParaRPr lang="de-DE" dirty="0"/>
          </a:p>
          <a:p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physical</a:t>
            </a:r>
            <a:r>
              <a:rPr lang="de-DE" dirty="0"/>
              <a:t> </a:t>
            </a:r>
            <a:r>
              <a:rPr lang="de-DE" dirty="0" err="1"/>
              <a:t>quantities</a:t>
            </a:r>
            <a:r>
              <a:rPr lang="de-DE" dirty="0"/>
              <a:t> (</a:t>
            </a:r>
            <a:r>
              <a:rPr lang="de-DE" dirty="0" err="1"/>
              <a:t>position</a:t>
            </a:r>
            <a:r>
              <a:rPr lang="de-DE" dirty="0"/>
              <a:t>, </a:t>
            </a:r>
            <a:r>
              <a:rPr lang="de-DE" dirty="0" err="1"/>
              <a:t>velocity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6CA37C1-603A-BDD3-DEB3-04AC6FBDB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68440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6555DD-51A8-9F1E-1CAB-FDDFD27E3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State </a:t>
            </a:r>
            <a:r>
              <a:rPr lang="de-DE" dirty="0" err="1"/>
              <a:t>Equations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022F76F-574A-D599-3D9F-42E56B7ACC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\</a:t>
            </a:r>
            <a:r>
              <a:rPr lang="de-DE" dirty="0" err="1"/>
              <a:t>dot</a:t>
            </a:r>
            <a:r>
              <a:rPr lang="de-DE" dirty="0"/>
              <a:t>{x} = </a:t>
            </a:r>
            <a:r>
              <a:rPr lang="de-DE" dirty="0" err="1"/>
              <a:t>Ax</a:t>
            </a:r>
            <a:r>
              <a:rPr lang="de-DE" dirty="0"/>
              <a:t> + </a:t>
            </a:r>
            <a:r>
              <a:rPr lang="de-DE" dirty="0" err="1"/>
              <a:t>Bu</a:t>
            </a:r>
            <a:endParaRPr lang="de-DE" dirty="0"/>
          </a:p>
          <a:p>
            <a:r>
              <a:rPr lang="de-DE" dirty="0" err="1"/>
              <a:t>y</a:t>
            </a:r>
            <a:r>
              <a:rPr lang="de-DE" dirty="0"/>
              <a:t> = </a:t>
            </a:r>
            <a:r>
              <a:rPr lang="de-DE" dirty="0" err="1"/>
              <a:t>Cx</a:t>
            </a:r>
            <a:r>
              <a:rPr lang="de-DE" dirty="0"/>
              <a:t> + Du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FE36194-C64E-F924-915B-73CE74E81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68976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5428E2-C4B6-6CF6-98F4-71BB77D5D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Controllability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C996A7-9915-EB06-CC4A-EA68B2F054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Ability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steer</a:t>
            </a:r>
            <a:r>
              <a:rPr lang="de-DE" dirty="0"/>
              <a:t> </a:t>
            </a:r>
            <a:r>
              <a:rPr lang="de-DE" dirty="0" err="1"/>
              <a:t>state</a:t>
            </a:r>
            <a:r>
              <a:rPr lang="de-DE" dirty="0"/>
              <a:t> </a:t>
            </a:r>
            <a:r>
              <a:rPr lang="de-DE" dirty="0" err="1"/>
              <a:t>anywhere</a:t>
            </a:r>
            <a:endParaRPr lang="de-DE" dirty="0"/>
          </a:p>
          <a:p>
            <a:r>
              <a:rPr lang="de-DE" dirty="0" err="1"/>
              <a:t>Necessary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design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7D7C81B-2E02-C086-A34E-F9E81A178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58715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FABF9E-6AF1-A819-96ED-25F83B57D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Observability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539D946-1899-0976-CEBE-9CFD5B81BD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Ability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reconstruct</a:t>
            </a:r>
            <a:r>
              <a:rPr lang="de-DE" dirty="0"/>
              <a:t> </a:t>
            </a:r>
            <a:r>
              <a:rPr lang="de-DE" dirty="0" err="1"/>
              <a:t>state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output</a:t>
            </a:r>
            <a:endParaRPr lang="de-DE" dirty="0"/>
          </a:p>
          <a:p>
            <a:r>
              <a:rPr lang="de-DE" dirty="0" err="1"/>
              <a:t>Necessary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state</a:t>
            </a:r>
            <a:r>
              <a:rPr lang="de-DE" dirty="0"/>
              <a:t> </a:t>
            </a:r>
            <a:r>
              <a:rPr lang="de-DE" dirty="0" err="1"/>
              <a:t>estimation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B3178B9-1F86-B835-2641-4BA00EF26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21054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74E74E-8922-3B79-3F0C-2AB330FB0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State Feedback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7DA807-D038-A866-DBD0-D2414998B3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Control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dirty="0" err="1"/>
              <a:t>full</a:t>
            </a:r>
            <a:r>
              <a:rPr lang="de-DE" dirty="0"/>
              <a:t> </a:t>
            </a:r>
            <a:r>
              <a:rPr lang="de-DE" dirty="0" err="1"/>
              <a:t>state</a:t>
            </a:r>
            <a:endParaRPr lang="de-DE" dirty="0"/>
          </a:p>
          <a:p>
            <a:r>
              <a:rPr lang="de-DE" dirty="0" err="1"/>
              <a:t>Direct</a:t>
            </a:r>
            <a:r>
              <a:rPr lang="de-DE" dirty="0"/>
              <a:t> pole </a:t>
            </a:r>
            <a:r>
              <a:rPr lang="de-DE" dirty="0" err="1"/>
              <a:t>placement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F89C0A6-2F33-F640-0DFE-36DA57CAD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08769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1FF8AE-6ED5-4047-0C5A-E1BEAF91ED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 Placement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5D8F0D-6F02-92AE-4105-E312E45042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Choose</a:t>
            </a:r>
            <a:r>
              <a:rPr lang="de-DE" dirty="0"/>
              <a:t> </a:t>
            </a:r>
            <a:r>
              <a:rPr lang="de-DE" dirty="0" err="1"/>
              <a:t>desired</a:t>
            </a:r>
            <a:r>
              <a:rPr lang="de-DE" dirty="0"/>
              <a:t> </a:t>
            </a:r>
            <a:r>
              <a:rPr lang="de-DE" dirty="0" err="1"/>
              <a:t>dynamics</a:t>
            </a:r>
            <a:endParaRPr lang="de-DE" dirty="0"/>
          </a:p>
          <a:p>
            <a:r>
              <a:rPr lang="de-DE" dirty="0" err="1"/>
              <a:t>Compute</a:t>
            </a:r>
            <a:r>
              <a:rPr lang="de-DE" dirty="0"/>
              <a:t> </a:t>
            </a:r>
            <a:r>
              <a:rPr lang="de-DE" dirty="0" err="1"/>
              <a:t>feedback</a:t>
            </a:r>
            <a:r>
              <a:rPr lang="de-DE" dirty="0"/>
              <a:t> </a:t>
            </a:r>
            <a:r>
              <a:rPr lang="de-DE" dirty="0" err="1"/>
              <a:t>gains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C4057A0-0EF9-CA74-50F1-BE05CF4CF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51541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C51DB6-CDE2-801D-9A2F-FB20CB45B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LQR Control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E072B51-7235-F792-8DE1-D90482E40F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Optimal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formulation</a:t>
            </a:r>
            <a:endParaRPr lang="de-DE" dirty="0"/>
          </a:p>
          <a:p>
            <a:r>
              <a:rPr lang="de-DE" dirty="0"/>
              <a:t>Trade-off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performance</a:t>
            </a:r>
            <a:r>
              <a:rPr lang="de-DE" dirty="0"/>
              <a:t> and </a:t>
            </a:r>
            <a:r>
              <a:rPr lang="de-DE" dirty="0" err="1"/>
              <a:t>effort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FF8421B-233A-6913-10D9-ED44D64371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83859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2C2BDE-D4F7-39DA-E474-EA475EA1A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State </a:t>
            </a:r>
            <a:r>
              <a:rPr lang="de-DE" dirty="0" err="1"/>
              <a:t>Estimation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582A70B-12EB-BCB6-FF9E-7E69447470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Not all </a:t>
            </a:r>
            <a:r>
              <a:rPr lang="de-DE" dirty="0" err="1"/>
              <a:t>states</a:t>
            </a:r>
            <a:r>
              <a:rPr lang="de-DE" dirty="0"/>
              <a:t> </a:t>
            </a:r>
            <a:r>
              <a:rPr lang="de-DE" dirty="0" err="1"/>
              <a:t>measurable</a:t>
            </a:r>
            <a:endParaRPr lang="de-DE" dirty="0"/>
          </a:p>
          <a:p>
            <a:r>
              <a:rPr lang="de-DE" dirty="0" err="1"/>
              <a:t>Observers</a:t>
            </a:r>
            <a:r>
              <a:rPr lang="de-DE" dirty="0"/>
              <a:t> </a:t>
            </a:r>
            <a:r>
              <a:rPr lang="de-DE" dirty="0" err="1"/>
              <a:t>reconstruct</a:t>
            </a:r>
            <a:r>
              <a:rPr lang="de-DE" dirty="0"/>
              <a:t> </a:t>
            </a:r>
            <a:r>
              <a:rPr lang="de-DE" dirty="0" err="1"/>
              <a:t>state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487153B-8D95-8A97-A13A-83D05E888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52045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3B3FCF-D28A-8051-A93E-4947B46E8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Kalman Filter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88A687A-5CBE-6EF8-42A7-970E9078B9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Optimal </a:t>
            </a:r>
            <a:r>
              <a:rPr lang="de-DE" dirty="0" err="1"/>
              <a:t>observer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noisy</a:t>
            </a:r>
            <a:r>
              <a:rPr lang="de-DE" dirty="0"/>
              <a:t>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 err="1"/>
              <a:t>Widely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in </a:t>
            </a:r>
            <a:r>
              <a:rPr lang="de-DE" dirty="0" err="1"/>
              <a:t>practice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5C9A1E4-F066-5BF4-E452-2DDB3ABC4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73537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172</Words>
  <Application>Microsoft Macintosh PowerPoint</Application>
  <PresentationFormat>Breitbild</PresentationFormat>
  <Paragraphs>65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State Space Representation</vt:lpstr>
      <vt:lpstr>Course Schedule</vt:lpstr>
      <vt:lpstr>State Space Representation</vt:lpstr>
      <vt:lpstr>Why State Space?</vt:lpstr>
      <vt:lpstr>State Variables</vt:lpstr>
      <vt:lpstr>State Equations</vt:lpstr>
      <vt:lpstr>Controllability</vt:lpstr>
      <vt:lpstr>Observability</vt:lpstr>
      <vt:lpstr>State Feedback</vt:lpstr>
      <vt:lpstr>Pole Placement</vt:lpstr>
      <vt:lpstr>LQR Control</vt:lpstr>
      <vt:lpstr>State Estimation</vt:lpstr>
      <vt:lpstr>Kalman Filter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47</cp:revision>
  <dcterms:created xsi:type="dcterms:W3CDTF">2025-01-08T09:27:30Z</dcterms:created>
  <dcterms:modified xsi:type="dcterms:W3CDTF">2026-01-24T13:31:33Z</dcterms:modified>
</cp:coreProperties>
</file>
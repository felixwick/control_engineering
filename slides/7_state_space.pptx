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67" r:id="rId5"/>
    <p:sldId id="268" r:id="rId6"/>
    <p:sldId id="269" r:id="rId7"/>
    <p:sldId id="277" r:id="rId8"/>
    <p:sldId id="293" r:id="rId9"/>
    <p:sldId id="278" r:id="rId10"/>
    <p:sldId id="280" r:id="rId11"/>
    <p:sldId id="279" r:id="rId12"/>
    <p:sldId id="292" r:id="rId13"/>
    <p:sldId id="282" r:id="rId14"/>
    <p:sldId id="272" r:id="rId15"/>
    <p:sldId id="294" r:id="rId16"/>
    <p:sldId id="295" r:id="rId17"/>
    <p:sldId id="274" r:id="rId18"/>
    <p:sldId id="283" r:id="rId19"/>
    <p:sldId id="276" r:id="rId20"/>
    <p:sldId id="285" r:id="rId21"/>
    <p:sldId id="290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03"/>
    <p:restoredTop sz="95028" autoAdjust="0"/>
  </p:normalViewPr>
  <p:slideViewPr>
    <p:cSldViewPr snapToGrid="0">
      <p:cViewPr varScale="1">
        <p:scale>
          <a:sx n="131" d="100"/>
          <a:sy n="131" d="100"/>
        </p:scale>
        <p:origin x="216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MIMO Systems</a:t>
            </a:r>
          </a:p>
          <a:p>
            <a:r>
              <a:rPr lang="de-DE" dirty="0"/>
              <a:t>State variables and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  <a:p>
            <a:r>
              <a:rPr lang="de-DE" dirty="0" err="1"/>
              <a:t>Controllability</a:t>
            </a:r>
            <a:r>
              <a:rPr lang="de-DE" dirty="0"/>
              <a:t> &amp; </a:t>
            </a:r>
            <a:r>
              <a:rPr lang="de-DE" dirty="0" err="1"/>
              <a:t>Observability</a:t>
            </a:r>
            <a:endParaRPr lang="de-DE" dirty="0"/>
          </a:p>
          <a:p>
            <a:r>
              <a:rPr lang="de-DE" dirty="0"/>
              <a:t>State-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State </a:t>
            </a:r>
            <a:r>
              <a:rPr lang="de-DE" dirty="0" err="1"/>
              <a:t>estimation</a:t>
            </a:r>
            <a:endParaRPr lang="de-DE" dirty="0"/>
          </a:p>
          <a:p>
            <a:r>
              <a:rPr lang="de-DE" dirty="0"/>
              <a:t>Pole Placement</a:t>
            </a:r>
          </a:p>
          <a:p>
            <a:r>
              <a:rPr lang="de-DE" dirty="0"/>
              <a:t>LQR</a:t>
            </a:r>
          </a:p>
          <a:p>
            <a:r>
              <a:rPr lang="de-DE" dirty="0"/>
              <a:t>Kalman </a:t>
            </a:r>
            <a:r>
              <a:rPr lang="de-DE" dirty="0" err="1"/>
              <a:t>filter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E73AE0-265F-0452-BD08-15D8906C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Multi-Input Multi-Output (MIMO)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0854BE-384B-05DC-59DC-11C3A10F3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600" dirty="0"/>
              <a:t>So </a:t>
            </a:r>
            <a:r>
              <a:rPr lang="de-DE" sz="2600" dirty="0" err="1"/>
              <a:t>far</a:t>
            </a:r>
            <a:r>
              <a:rPr lang="de-DE" sz="2600" dirty="0"/>
              <a:t>: single-input single-output (SISO) </a:t>
            </a:r>
            <a:r>
              <a:rPr lang="de-DE" sz="2600" dirty="0" err="1"/>
              <a:t>systems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/>
              <a:t>Systems </a:t>
            </a:r>
            <a:r>
              <a:rPr lang="de-DE" sz="2600" dirty="0" err="1"/>
              <a:t>with</a:t>
            </a:r>
            <a:r>
              <a:rPr lang="de-DE" sz="2600" dirty="0"/>
              <a:t> multiple </a:t>
            </a:r>
            <a:r>
              <a:rPr lang="de-DE" sz="2600" dirty="0" err="1"/>
              <a:t>inputs</a:t>
            </a:r>
            <a:r>
              <a:rPr lang="de-DE" sz="2600" dirty="0"/>
              <a:t> and </a:t>
            </a:r>
            <a:r>
              <a:rPr lang="de-DE" sz="2600" dirty="0" err="1"/>
              <a:t>outputs</a:t>
            </a:r>
            <a:r>
              <a:rPr lang="de-DE" sz="2600" dirty="0"/>
              <a:t> (MIMO) </a:t>
            </a:r>
            <a:r>
              <a:rPr lang="de-DE" sz="2600" dirty="0" err="1"/>
              <a:t>become</a:t>
            </a:r>
            <a:r>
              <a:rPr lang="de-DE" sz="2600" dirty="0"/>
              <a:t> </a:t>
            </a:r>
            <a:r>
              <a:rPr lang="de-DE" sz="2600" dirty="0" err="1"/>
              <a:t>cumbersome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describe</a:t>
            </a:r>
            <a:r>
              <a:rPr lang="de-DE" sz="2600" dirty="0"/>
              <a:t> </a:t>
            </a:r>
            <a:r>
              <a:rPr lang="de-DE" sz="2600" dirty="0" err="1"/>
              <a:t>using</a:t>
            </a:r>
            <a:r>
              <a:rPr lang="de-DE" sz="2600" dirty="0"/>
              <a:t> </a:t>
            </a:r>
            <a:r>
              <a:rPr lang="de-DE" sz="2600" dirty="0" err="1"/>
              <a:t>transfer</a:t>
            </a:r>
            <a:r>
              <a:rPr lang="de-DE" sz="2600" dirty="0"/>
              <a:t> </a:t>
            </a:r>
            <a:r>
              <a:rPr lang="de-DE" sz="2600" dirty="0" err="1"/>
              <a:t>functions</a:t>
            </a:r>
            <a:r>
              <a:rPr lang="de-DE" sz="2600" dirty="0"/>
              <a:t> (</a:t>
            </a:r>
            <a:r>
              <a:rPr lang="de-DE" sz="2600" dirty="0" err="1"/>
              <a:t>focus</a:t>
            </a:r>
            <a:r>
              <a:rPr lang="de-DE" sz="2600" dirty="0"/>
              <a:t> on </a:t>
            </a:r>
            <a:r>
              <a:rPr lang="de-DE" sz="2600" dirty="0" err="1"/>
              <a:t>input</a:t>
            </a:r>
            <a:r>
              <a:rPr lang="de-DE" sz="2600" dirty="0"/>
              <a:t>–</a:t>
            </a:r>
            <a:r>
              <a:rPr lang="de-DE" sz="2600" dirty="0" err="1"/>
              <a:t>output</a:t>
            </a:r>
            <a:r>
              <a:rPr lang="de-DE" sz="2600" dirty="0"/>
              <a:t> </a:t>
            </a:r>
            <a:r>
              <a:rPr lang="de-DE" sz="2600" dirty="0" err="1"/>
              <a:t>behavior</a:t>
            </a:r>
            <a:r>
              <a:rPr lang="de-DE" sz="2600" dirty="0"/>
              <a:t>, limited </a:t>
            </a:r>
            <a:r>
              <a:rPr lang="de-DE" sz="2600" dirty="0" err="1"/>
              <a:t>insight</a:t>
            </a:r>
            <a:r>
              <a:rPr lang="de-DE" sz="2600" dirty="0"/>
              <a:t> </a:t>
            </a:r>
            <a:r>
              <a:rPr lang="de-DE" sz="2600" dirty="0" err="1"/>
              <a:t>into</a:t>
            </a:r>
            <a:r>
              <a:rPr lang="de-DE" sz="2600" dirty="0"/>
              <a:t> internal </a:t>
            </a:r>
            <a:r>
              <a:rPr lang="de-DE" sz="2600" dirty="0" err="1"/>
              <a:t>dynamics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>
                <a:sym typeface="Wingdings" pitchFamily="2" charset="2"/>
              </a:rPr>
              <a:t> Use </a:t>
            </a:r>
            <a:r>
              <a:rPr lang="de-DE" sz="2600" dirty="0" err="1">
                <a:sym typeface="Wingdings" pitchFamily="2" charset="2"/>
              </a:rPr>
              <a:t>of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s</a:t>
            </a:r>
            <a:r>
              <a:rPr lang="de-DE" sz="2600" dirty="0" err="1"/>
              <a:t>tate-space</a:t>
            </a:r>
            <a:r>
              <a:rPr lang="de-DE" sz="2600" dirty="0"/>
              <a:t> </a:t>
            </a:r>
            <a:r>
              <a:rPr lang="de-DE" sz="2600" dirty="0" err="1"/>
              <a:t>representation</a:t>
            </a:r>
            <a:r>
              <a:rPr lang="de-DE" sz="2600" dirty="0"/>
              <a:t> (explicit </a:t>
            </a:r>
            <a:r>
              <a:rPr lang="de-DE" sz="2600" dirty="0" err="1"/>
              <a:t>representation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internal </a:t>
            </a:r>
            <a:r>
              <a:rPr lang="de-DE" sz="2600" dirty="0" err="1"/>
              <a:t>system</a:t>
            </a:r>
            <a:r>
              <a:rPr lang="de-DE" sz="2600" dirty="0"/>
              <a:t> </a:t>
            </a:r>
            <a:r>
              <a:rPr lang="de-DE" sz="2600" dirty="0" err="1"/>
              <a:t>dynamics</a:t>
            </a:r>
            <a:r>
              <a:rPr lang="de-DE" sz="26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3D2768-8865-C96F-EA04-1EE80453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0686DE4-BBAF-46BC-1734-A6983C536293}"/>
              </a:ext>
            </a:extLst>
          </p:cNvPr>
          <p:cNvGrpSpPr/>
          <p:nvPr/>
        </p:nvGrpSpPr>
        <p:grpSpPr>
          <a:xfrm>
            <a:off x="4033554" y="4232403"/>
            <a:ext cx="4124892" cy="779319"/>
            <a:chOff x="7612870" y="-389660"/>
            <a:chExt cx="4124892" cy="779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hteck 4">
                  <a:extLst>
                    <a:ext uri="{FF2B5EF4-FFF2-40B4-BE49-F238E27FC236}">
                      <a16:creationId xmlns:a16="http://schemas.microsoft.com/office/drawing/2014/main" id="{ED34DDEC-BF03-786F-4151-BED3C5B91B7A}"/>
                    </a:ext>
                  </a:extLst>
                </p:cNvPr>
                <p:cNvSpPr/>
                <p:nvPr/>
              </p:nvSpPr>
              <p:spPr>
                <a:xfrm>
                  <a:off x="9093986" y="-389660"/>
                  <a:ext cx="1162660" cy="77931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MIMO</m:t>
                        </m:r>
                      </m:oMath>
                    </m:oMathPara>
                  </a14:m>
                  <a:endParaRPr lang="de-DE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hteck 4">
                  <a:extLst>
                    <a:ext uri="{FF2B5EF4-FFF2-40B4-BE49-F238E27FC236}">
                      <a16:creationId xmlns:a16="http://schemas.microsoft.com/office/drawing/2014/main" id="{ED34DDEC-BF03-786F-4151-BED3C5B91B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3986" y="-389660"/>
                  <a:ext cx="1162660" cy="779319"/>
                </a:xfrm>
                <a:prstGeom prst="rect">
                  <a:avLst/>
                </a:prstGeom>
                <a:blipFill>
                  <a:blip r:embed="rId2"/>
                  <a:stretch>
                    <a:fillRect l="-212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95DD0749-7D59-B7BB-7383-974F29B51CCB}"/>
                    </a:ext>
                  </a:extLst>
                </p:cNvPr>
                <p:cNvSpPr txBox="1"/>
                <p:nvPr/>
              </p:nvSpPr>
              <p:spPr>
                <a:xfrm>
                  <a:off x="7612870" y="-261610"/>
                  <a:ext cx="47429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de-DE" sz="2800"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95DD0749-7D59-B7BB-7383-974F29B51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870" y="-261610"/>
                  <a:ext cx="47429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DEC4FCC-03A7-4399-65AA-08ECB9492CA8}"/>
                    </a:ext>
                  </a:extLst>
                </p:cNvPr>
                <p:cNvSpPr txBox="1"/>
                <p:nvPr/>
              </p:nvSpPr>
              <p:spPr>
                <a:xfrm>
                  <a:off x="11272828" y="-264714"/>
                  <a:ext cx="46493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de-DE" sz="280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DEC4FCC-03A7-4399-65AA-08ECB9492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2828" y="-264714"/>
                  <a:ext cx="464934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23810" b="-952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DFCBCF0D-EB92-CAEE-CBD5-2B03BABB3972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8024435" y="0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19E16676-39F7-962E-B002-518D0C47A850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135" y="29739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F643F90B-0C59-FF70-E72B-59D1BA050965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133" y="-129360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39E081E6-C00A-91E0-B54D-CB010CF0F40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133" y="337923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BDAFB5CE-2290-8D36-2114-4D62ACDB454A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134" y="-316930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399866C3-E26A-013F-E31E-65EAB421501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132" y="195537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D7F02746-2905-4D12-2BD7-BF939F1866E5}"/>
                </a:ext>
              </a:extLst>
            </p:cNvPr>
            <p:cNvCxnSpPr>
              <a:cxnSpLocks/>
            </p:cNvCxnSpPr>
            <p:nvPr/>
          </p:nvCxnSpPr>
          <p:spPr>
            <a:xfrm>
              <a:off x="8024433" y="-167879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12E8EF11-423D-DAC4-3024-8ED2CA9B9359}"/>
                </a:ext>
              </a:extLst>
            </p:cNvPr>
            <p:cNvCxnSpPr>
              <a:cxnSpLocks/>
            </p:cNvCxnSpPr>
            <p:nvPr/>
          </p:nvCxnSpPr>
          <p:spPr>
            <a:xfrm>
              <a:off x="8024432" y="337923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E8B5B7E1-DF18-7BC4-ABE3-E6F09502D752}"/>
                </a:ext>
              </a:extLst>
            </p:cNvPr>
            <p:cNvCxnSpPr>
              <a:cxnSpLocks/>
            </p:cNvCxnSpPr>
            <p:nvPr/>
          </p:nvCxnSpPr>
          <p:spPr>
            <a:xfrm>
              <a:off x="8024431" y="160368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BCB79E81-76CB-5CA7-9F56-6D3EA93CA070}"/>
                </a:ext>
              </a:extLst>
            </p:cNvPr>
            <p:cNvCxnSpPr>
              <a:cxnSpLocks/>
            </p:cNvCxnSpPr>
            <p:nvPr/>
          </p:nvCxnSpPr>
          <p:spPr>
            <a:xfrm>
              <a:off x="8024434" y="-316930"/>
              <a:ext cx="10695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123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B0AB5-B707-D63E-A421-4C6F4D42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DCF9B1-B070-A2DC-EDC6-8C4EA43AA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1692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State: minimal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variables </a:t>
            </a:r>
            <a:r>
              <a:rPr lang="de-DE" dirty="0" err="1"/>
              <a:t>describing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system’s</a:t>
            </a:r>
            <a:r>
              <a:rPr lang="de-DE" dirty="0"/>
              <a:t> </a:t>
            </a:r>
            <a:r>
              <a:rPr lang="de-DE" dirty="0" err="1"/>
              <a:t>memory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all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State variables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completely</a:t>
            </a:r>
            <a:r>
              <a:rPr lang="de-DE" dirty="0"/>
              <a:t>: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and </a:t>
            </a:r>
            <a:r>
              <a:rPr lang="de-DE" dirty="0" err="1"/>
              <a:t>inputs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evolution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uniquely</a:t>
            </a:r>
            <a:r>
              <a:rPr lang="de-DE" dirty="0"/>
              <a:t> </a:t>
            </a:r>
            <a:r>
              <a:rPr lang="de-DE" dirty="0" err="1"/>
              <a:t>determined</a:t>
            </a:r>
            <a:endParaRPr lang="de-DE" dirty="0"/>
          </a:p>
          <a:p>
            <a:r>
              <a:rPr lang="de-DE" sz="2200" dirty="0" err="1"/>
              <a:t>Often</a:t>
            </a:r>
            <a:r>
              <a:rPr lang="de-DE" sz="2200" dirty="0"/>
              <a:t> </a:t>
            </a:r>
            <a:r>
              <a:rPr lang="de-DE" sz="2200" dirty="0" err="1"/>
              <a:t>correspond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physical</a:t>
            </a:r>
            <a:r>
              <a:rPr lang="de-DE" sz="2200" dirty="0"/>
              <a:t> </a:t>
            </a:r>
            <a:r>
              <a:rPr lang="de-DE" sz="2200" dirty="0" err="1"/>
              <a:t>quantities</a:t>
            </a:r>
            <a:r>
              <a:rPr lang="de-DE" sz="2200" dirty="0"/>
              <a:t>, e.g., </a:t>
            </a:r>
            <a:r>
              <a:rPr lang="de-DE" sz="2200" dirty="0" err="1"/>
              <a:t>position</a:t>
            </a:r>
            <a:r>
              <a:rPr lang="de-DE" sz="2200" dirty="0"/>
              <a:t>, </a:t>
            </a:r>
            <a:r>
              <a:rPr lang="de-DE" sz="2200" dirty="0" err="1"/>
              <a:t>velocity</a:t>
            </a:r>
            <a:r>
              <a:rPr lang="de-DE" sz="2200" dirty="0"/>
              <a:t>, </a:t>
            </a:r>
            <a:r>
              <a:rPr lang="de-DE" sz="2200" dirty="0" err="1"/>
              <a:t>current</a:t>
            </a:r>
            <a:r>
              <a:rPr lang="de-DE" sz="2200" dirty="0"/>
              <a:t>, </a:t>
            </a:r>
            <a:r>
              <a:rPr lang="de-DE" sz="2200" dirty="0" err="1"/>
              <a:t>voltage</a:t>
            </a:r>
            <a:r>
              <a:rPr lang="de-DE" sz="2200" dirty="0"/>
              <a:t>, </a:t>
            </a:r>
            <a:r>
              <a:rPr lang="de-DE" sz="2200" dirty="0" err="1"/>
              <a:t>temperature</a:t>
            </a:r>
            <a:endParaRPr lang="de-DE" sz="2200" dirty="0"/>
          </a:p>
          <a:p>
            <a:r>
              <a:rPr lang="de-DE" sz="2200" dirty="0"/>
              <a:t>Not </a:t>
            </a:r>
            <a:r>
              <a:rPr lang="de-DE" sz="2200" dirty="0" err="1"/>
              <a:t>unique</a:t>
            </a:r>
            <a:r>
              <a:rPr lang="de-DE" sz="2200" dirty="0"/>
              <a:t>: different </a:t>
            </a:r>
            <a:r>
              <a:rPr lang="de-DE" sz="2200" dirty="0" err="1"/>
              <a:t>choices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state</a:t>
            </a:r>
            <a:r>
              <a:rPr lang="de-DE" sz="2200" dirty="0"/>
              <a:t> variables </a:t>
            </a:r>
            <a:r>
              <a:rPr lang="de-DE" sz="2200" dirty="0" err="1"/>
              <a:t>can</a:t>
            </a:r>
            <a:r>
              <a:rPr lang="de-DE" sz="2200" dirty="0"/>
              <a:t> </a:t>
            </a:r>
            <a:r>
              <a:rPr lang="de-DE" sz="2200" dirty="0" err="1"/>
              <a:t>describe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same </a:t>
            </a:r>
            <a:r>
              <a:rPr lang="de-DE" sz="2200" dirty="0" err="1"/>
              <a:t>system</a:t>
            </a:r>
            <a:endParaRPr lang="de-DE" sz="2200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Input + </a:t>
            </a:r>
            <a:r>
              <a:rPr lang="de-DE" dirty="0" err="1"/>
              <a:t>Current</a:t>
            </a:r>
            <a:r>
              <a:rPr lang="de-DE" dirty="0"/>
              <a:t> State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Future State + Output</a:t>
            </a:r>
          </a:p>
          <a:p>
            <a:pPr marL="0" indent="0">
              <a:buNone/>
            </a:pPr>
            <a:r>
              <a:rPr lang="de-DE" dirty="0"/>
              <a:t>(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relating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CA37C1-603A-BDD3-DEB3-04AC6FBD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4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555DD-51A8-9F1E-1CAB-FDDFD27E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Equations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22F76F-574A-D599-3D9F-42E56B7AC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State </a:t>
                </a:r>
                <a:r>
                  <a:rPr lang="de-DE" sz="2600" dirty="0" err="1"/>
                  <a:t>equation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dynamics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Describes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state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evolves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over</a:t>
                </a:r>
                <a:r>
                  <a:rPr lang="de-DE" sz="2600" dirty="0"/>
                  <a:t> time (</a:t>
                </a:r>
                <a:r>
                  <a:rPr lang="de-DE" sz="2400" dirty="0"/>
                  <a:t>time-domain </a:t>
                </a:r>
                <a:r>
                  <a:rPr lang="de-DE" sz="2400" dirty="0" err="1"/>
                  <a:t>formulation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Output </a:t>
                </a:r>
                <a:r>
                  <a:rPr lang="de-DE" sz="2600" dirty="0" err="1"/>
                  <a:t>equation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b="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Describes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generated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Compact </a:t>
                </a:r>
                <a:r>
                  <a:rPr lang="de-DE" sz="2600" dirty="0" err="1"/>
                  <a:t>matrix</a:t>
                </a:r>
                <a:r>
                  <a:rPr lang="de-DE" sz="2600" dirty="0"/>
                  <a:t> form: </a:t>
                </a:r>
                <a:r>
                  <a:rPr lang="de-DE" sz="2600" dirty="0" err="1"/>
                  <a:t>naturally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extends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MIMO </a:t>
                </a:r>
                <a:r>
                  <a:rPr lang="de-DE" sz="2600" dirty="0" err="1"/>
                  <a:t>systems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22F76F-574A-D599-3D9F-42E56B7AC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E36194-C64E-F924-915B-73CE74E8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A0941DC-F72E-5C64-E0ED-B64BD4698EC4}"/>
                  </a:ext>
                </a:extLst>
              </p:cNvPr>
              <p:cNvSpPr txBox="1"/>
              <p:nvPr/>
            </p:nvSpPr>
            <p:spPr>
              <a:xfrm>
                <a:off x="6303666" y="1027906"/>
                <a:ext cx="5493936" cy="11746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state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vector</a:t>
                </a:r>
                <a:r>
                  <a:rPr lang="de-DE" sz="2200" dirty="0"/>
                  <a:t> (internal </a:t>
                </a:r>
                <a:r>
                  <a:rPr lang="de-DE" sz="2200" dirty="0" err="1"/>
                  <a:t>system</a:t>
                </a:r>
                <a:r>
                  <a:rPr lang="de-DE" sz="2200" dirty="0"/>
                  <a:t> variables)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input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vector</a:t>
                </a:r>
                <a:endParaRPr lang="de-DE" sz="22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output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vector</a:t>
                </a:r>
                <a:endParaRPr lang="de-DE" sz="22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A0941DC-F72E-5C64-E0ED-B64BD469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66" y="1027906"/>
                <a:ext cx="5493936" cy="1174681"/>
              </a:xfrm>
              <a:prstGeom prst="rect">
                <a:avLst/>
              </a:prstGeom>
              <a:blipFill>
                <a:blip r:embed="rId3"/>
                <a:stretch>
                  <a:fillRect l="-230" t="-8511" r="-1149" b="-85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6317590-8B48-CB6B-C06A-A5613ED2801B}"/>
                  </a:ext>
                </a:extLst>
              </p:cNvPr>
              <p:cNvSpPr txBox="1"/>
              <p:nvPr/>
            </p:nvSpPr>
            <p:spPr>
              <a:xfrm>
                <a:off x="7092461" y="3541261"/>
                <a:ext cx="4705141" cy="18518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de-DE" sz="2200" dirty="0"/>
                  <a:t>System </a:t>
                </a:r>
                <a:r>
                  <a:rPr lang="de-DE" sz="2200" dirty="0" err="1"/>
                  <a:t>matrices</a:t>
                </a:r>
                <a:r>
                  <a:rPr lang="de-DE" sz="22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system</a:t>
                </a:r>
                <a:r>
                  <a:rPr lang="de-DE" sz="2200" dirty="0"/>
                  <a:t> </a:t>
                </a:r>
                <a:r>
                  <a:rPr lang="de-DE" sz="2200" dirty="0" err="1"/>
                  <a:t>matrix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dynamics</a:t>
                </a:r>
                <a:r>
                  <a:rPr lang="de-DE" sz="22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input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matrix</a:t>
                </a:r>
                <a:endParaRPr lang="de-DE" sz="2200" dirty="0"/>
              </a:p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output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matrix</a:t>
                </a:r>
                <a:endParaRPr lang="de-DE" sz="2200" dirty="0"/>
              </a:p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feedthrough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direct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input</a:t>
                </a:r>
                <a:r>
                  <a:rPr lang="de-DE" sz="2200" dirty="0"/>
                  <a:t> → </a:t>
                </a:r>
                <a:r>
                  <a:rPr lang="de-DE" sz="2200" dirty="0" err="1"/>
                  <a:t>output</a:t>
                </a:r>
                <a:r>
                  <a:rPr lang="de-DE" sz="2200" dirty="0"/>
                  <a:t>)</a:t>
                </a: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6317590-8B48-CB6B-C06A-A5613ED28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461" y="3541261"/>
                <a:ext cx="4705141" cy="1851854"/>
              </a:xfrm>
              <a:prstGeom prst="rect">
                <a:avLst/>
              </a:prstGeom>
              <a:blipFill>
                <a:blip r:embed="rId4"/>
                <a:stretch>
                  <a:fillRect l="-1340" t="-2027" r="-804" b="-13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89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6C825-3FF3-172B-5FEA-034372B9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Mass</a:t>
            </a:r>
            <a:r>
              <a:rPr lang="de-DE" dirty="0"/>
              <a:t>-Spring-</a:t>
            </a:r>
            <a:r>
              <a:rPr lang="de-DE" dirty="0" err="1"/>
              <a:t>Damper</a:t>
            </a:r>
            <a:r>
              <a:rPr lang="de-DE" dirty="0"/>
              <a:t>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66C9F9-AE7F-AC9B-37F9-0DF819B010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Differential </a:t>
                </a:r>
                <a:r>
                  <a:rPr lang="de-DE" dirty="0" err="1"/>
                  <a:t>equation</a:t>
                </a:r>
                <a:r>
                  <a:rPr lang="de-DE" dirty="0"/>
                  <a:t> (</a:t>
                </a:r>
                <a:r>
                  <a:rPr lang="de-DE" dirty="0" err="1"/>
                  <a:t>Newton’s</a:t>
                </a:r>
                <a:r>
                  <a:rPr lang="de-DE" dirty="0"/>
                  <a:t> </a:t>
                </a:r>
                <a:r>
                  <a:rPr lang="de-DE" dirty="0" err="1"/>
                  <a:t>law</a:t>
                </a:r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Choice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variables: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position</a:t>
                </a:r>
                <a:r>
                  <a:rPr lang="de-DE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velocity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State-</a:t>
                </a:r>
                <a:r>
                  <a:rPr lang="de-DE" dirty="0" err="1"/>
                  <a:t>space</a:t>
                </a:r>
                <a:r>
                  <a:rPr lang="de-DE" dirty="0"/>
                  <a:t> form: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Matrix </a:t>
                </a:r>
                <a:r>
                  <a:rPr lang="de-DE" dirty="0" err="1"/>
                  <a:t>representation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de-DE" dirty="0"/>
                  <a:t>		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66C9F9-AE7F-AC9B-37F9-0DF819B01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06F39C-A0E6-2756-6873-34020142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5DE8FD1-1275-BA01-6BE4-31CDE0E095A0}"/>
              </a:ext>
            </a:extLst>
          </p:cNvPr>
          <p:cNvSpPr txBox="1"/>
          <p:nvPr/>
        </p:nvSpPr>
        <p:spPr>
          <a:xfrm>
            <a:off x="6927573" y="2117035"/>
            <a:ext cx="2801729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600" dirty="0" err="1"/>
              <a:t>Physical</a:t>
            </a:r>
            <a:r>
              <a:rPr lang="de-DE" sz="2600" dirty="0"/>
              <a:t> </a:t>
            </a:r>
            <a:r>
              <a:rPr lang="de-DE" sz="2600" dirty="0" err="1"/>
              <a:t>modeling</a:t>
            </a:r>
            <a:endParaRPr lang="de-DE" sz="26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DA79758-F6CF-21C8-F95D-7EB34BEB7BC4}"/>
              </a:ext>
            </a:extLst>
          </p:cNvPr>
          <p:cNvCxnSpPr>
            <a:stCxn id="5" idx="1"/>
          </p:cNvCxnSpPr>
          <p:nvPr/>
        </p:nvCxnSpPr>
        <p:spPr>
          <a:xfrm flipH="1">
            <a:off x="5267739" y="2363257"/>
            <a:ext cx="1659834" cy="777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A768466-C365-061C-2D14-B0CEF2916C4E}"/>
              </a:ext>
            </a:extLst>
          </p:cNvPr>
          <p:cNvCxnSpPr/>
          <p:nvPr/>
        </p:nvCxnSpPr>
        <p:spPr>
          <a:xfrm>
            <a:off x="8328437" y="2609478"/>
            <a:ext cx="507450" cy="531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A748BA1-33BD-AD15-F29B-CA1EEEA04047}"/>
              </a:ext>
            </a:extLst>
          </p:cNvPr>
          <p:cNvSpPr txBox="1"/>
          <p:nvPr/>
        </p:nvSpPr>
        <p:spPr>
          <a:xfrm>
            <a:off x="3581401" y="6358374"/>
            <a:ext cx="624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sake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simplicity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arrows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52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80E87EB-CA9E-D94C-C85A-74733737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Physical</a:t>
            </a:r>
            <a:r>
              <a:rPr lang="de-DE" dirty="0"/>
              <a:t> Modeling </a:t>
            </a:r>
            <a:r>
              <a:rPr lang="de-DE" dirty="0" err="1"/>
              <a:t>or</a:t>
            </a:r>
            <a:r>
              <a:rPr lang="de-DE" dirty="0"/>
              <a:t> Construction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7B793A8-3A9A-F5E9-0D8B-F4F17148CC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96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0E0E0E"/>
                </a:solidFill>
              </a:rPr>
              <a:t>T</a:t>
            </a:r>
            <a:r>
              <a:rPr lang="de-DE" dirty="0" err="1">
                <a:solidFill>
                  <a:srgbClr val="0E0E0E"/>
                </a:solidFill>
                <a:effectLst/>
              </a:rPr>
              <a:t>wo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ways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to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get</a:t>
            </a:r>
            <a:r>
              <a:rPr lang="de-DE" dirty="0">
                <a:solidFill>
                  <a:srgbClr val="0E0E0E"/>
                </a:solidFill>
                <a:effectLst/>
              </a:rPr>
              <a:t> a </a:t>
            </a:r>
            <a:r>
              <a:rPr lang="de-DE" dirty="0" err="1">
                <a:solidFill>
                  <a:srgbClr val="0E0E0E"/>
                </a:solidFill>
                <a:effectLst/>
              </a:rPr>
              <a:t>state-space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model</a:t>
            </a:r>
            <a:r>
              <a:rPr lang="de-DE" dirty="0">
                <a:solidFill>
                  <a:srgbClr val="0E0E0E"/>
                </a:solidFill>
                <a:effectLst/>
              </a:rPr>
              <a:t>:</a:t>
            </a:r>
          </a:p>
          <a:p>
            <a:pPr marL="0" indent="0">
              <a:buNone/>
            </a:pPr>
            <a:endParaRPr lang="de-DE" dirty="0">
              <a:solidFill>
                <a:srgbClr val="0E0E0E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solidFill>
                  <a:srgbClr val="0E0E0E"/>
                </a:solidFill>
                <a:effectLst/>
              </a:rPr>
              <a:t>From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physics</a:t>
            </a:r>
            <a:r>
              <a:rPr lang="de-DE" dirty="0">
                <a:solidFill>
                  <a:srgbClr val="0E0E0E"/>
                </a:solidFill>
                <a:effectLst/>
              </a:rPr>
              <a:t> → </a:t>
            </a:r>
            <a:r>
              <a:rPr lang="de-DE" dirty="0" err="1">
                <a:solidFill>
                  <a:srgbClr val="0E0E0E"/>
                </a:solidFill>
                <a:effectLst/>
              </a:rPr>
              <a:t>define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states</a:t>
            </a:r>
            <a:r>
              <a:rPr lang="de-DE" dirty="0">
                <a:solidFill>
                  <a:srgbClr val="0E0E0E"/>
                </a:solidFill>
                <a:effectLst/>
              </a:rPr>
              <a:t> → </a:t>
            </a:r>
            <a:r>
              <a:rPr lang="de-DE" dirty="0" err="1">
                <a:solidFill>
                  <a:srgbClr val="0E0E0E"/>
                </a:solidFill>
                <a:effectLst/>
              </a:rPr>
              <a:t>get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matrices</a:t>
            </a:r>
            <a:r>
              <a:rPr lang="de-DE" dirty="0">
                <a:solidFill>
                  <a:srgbClr val="0E0E0E"/>
                </a:solidFill>
              </a:rPr>
              <a:t>: </a:t>
            </a:r>
            <a:r>
              <a:rPr lang="de-DE" dirty="0" err="1">
                <a:solidFill>
                  <a:srgbClr val="0E0E0E"/>
                </a:solidFill>
              </a:rPr>
              <a:t>physical</a:t>
            </a:r>
            <a:r>
              <a:rPr lang="de-DE" dirty="0">
                <a:solidFill>
                  <a:srgbClr val="0E0E0E"/>
                </a:solidFill>
              </a:rPr>
              <a:t> </a:t>
            </a:r>
            <a:r>
              <a:rPr lang="de-DE" dirty="0" err="1">
                <a:solidFill>
                  <a:srgbClr val="0E0E0E"/>
                </a:solidFill>
              </a:rPr>
              <a:t>states</a:t>
            </a:r>
            <a:endParaRPr lang="de-DE" dirty="0">
              <a:solidFill>
                <a:srgbClr val="0E0E0E"/>
              </a:solidFill>
              <a:effectLst/>
            </a:endParaRP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0E0E0E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solidFill>
                  <a:srgbClr val="0E0E0E"/>
                </a:solidFill>
                <a:effectLst/>
              </a:rPr>
              <a:t>From</a:t>
            </a:r>
            <a:r>
              <a:rPr lang="de-DE" dirty="0">
                <a:solidFill>
                  <a:srgbClr val="0E0E0E"/>
                </a:solidFill>
                <a:effectLst/>
              </a:rPr>
              <a:t> a </a:t>
            </a:r>
            <a:r>
              <a:rPr lang="de-DE" dirty="0" err="1">
                <a:solidFill>
                  <a:srgbClr val="0E0E0E"/>
                </a:solidFill>
                <a:effectLst/>
              </a:rPr>
              <a:t>transfer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function</a:t>
            </a:r>
            <a:r>
              <a:rPr lang="de-DE" dirty="0">
                <a:solidFill>
                  <a:srgbClr val="0E0E0E"/>
                </a:solidFill>
                <a:effectLst/>
              </a:rPr>
              <a:t> → </a:t>
            </a:r>
            <a:r>
              <a:rPr lang="de-DE" dirty="0" err="1">
                <a:solidFill>
                  <a:srgbClr val="0E0E0E"/>
                </a:solidFill>
                <a:effectLst/>
              </a:rPr>
              <a:t>define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matrices</a:t>
            </a:r>
            <a:r>
              <a:rPr lang="de-DE" dirty="0">
                <a:solidFill>
                  <a:srgbClr val="0E0E0E"/>
                </a:solidFill>
                <a:effectLst/>
              </a:rPr>
              <a:t> → </a:t>
            </a:r>
            <a:r>
              <a:rPr lang="de-DE" dirty="0" err="1">
                <a:solidFill>
                  <a:srgbClr val="0E0E0E"/>
                </a:solidFill>
                <a:effectLst/>
              </a:rPr>
              <a:t>get</a:t>
            </a:r>
            <a:r>
              <a:rPr lang="de-DE" dirty="0">
                <a:solidFill>
                  <a:srgbClr val="0E0E0E"/>
                </a:solidFill>
                <a:effectLst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</a:rPr>
              <a:t>states</a:t>
            </a:r>
            <a:r>
              <a:rPr lang="de-DE" dirty="0">
                <a:solidFill>
                  <a:srgbClr val="0E0E0E"/>
                </a:solidFill>
              </a:rPr>
              <a:t>: </a:t>
            </a:r>
            <a:r>
              <a:rPr lang="de-DE" dirty="0" err="1"/>
              <a:t>structured</a:t>
            </a:r>
            <a:r>
              <a:rPr lang="de-DE" dirty="0"/>
              <a:t>,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design (</a:t>
            </a:r>
            <a:r>
              <a:rPr lang="de-DE" dirty="0" err="1"/>
              <a:t>canonical</a:t>
            </a:r>
            <a:r>
              <a:rPr lang="de-DE" dirty="0"/>
              <a:t> </a:t>
            </a:r>
            <a:r>
              <a:rPr lang="de-DE" dirty="0" err="1"/>
              <a:t>forms</a:t>
            </a:r>
            <a:r>
              <a:rPr lang="de-DE" dirty="0"/>
              <a:t>)</a:t>
            </a:r>
            <a:endParaRPr lang="de-DE" dirty="0">
              <a:solidFill>
                <a:srgbClr val="0E0E0E"/>
              </a:solidFill>
              <a:effectLst/>
            </a:endParaRPr>
          </a:p>
          <a:p>
            <a:pPr marL="0" indent="0">
              <a:buNone/>
            </a:pPr>
            <a:endParaRPr lang="de-DE" dirty="0">
              <a:solidFill>
                <a:srgbClr val="0E0E0E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0E0E0E"/>
                </a:solidFill>
                <a:sym typeface="Wingdings" pitchFamily="2" charset="2"/>
              </a:rPr>
              <a:t> </a:t>
            </a:r>
            <a:r>
              <a:rPr lang="de-DE" dirty="0">
                <a:solidFill>
                  <a:srgbClr val="0E0E0E"/>
                </a:solidFill>
              </a:rPr>
              <a:t>Same </a:t>
            </a:r>
            <a:r>
              <a:rPr lang="de-DE" dirty="0" err="1">
                <a:solidFill>
                  <a:srgbClr val="0E0E0E"/>
                </a:solidFill>
              </a:rPr>
              <a:t>system</a:t>
            </a:r>
            <a:r>
              <a:rPr lang="de-DE" dirty="0">
                <a:solidFill>
                  <a:srgbClr val="0E0E0E"/>
                </a:solidFill>
              </a:rPr>
              <a:t>, just different </a:t>
            </a:r>
            <a:r>
              <a:rPr lang="de-DE" dirty="0" err="1">
                <a:solidFill>
                  <a:srgbClr val="0E0E0E"/>
                </a:solidFill>
              </a:rPr>
              <a:t>coordinates</a:t>
            </a:r>
            <a:endParaRPr lang="de-DE" dirty="0">
              <a:solidFill>
                <a:srgbClr val="0E0E0E"/>
              </a:solidFill>
              <a:effectLst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3DA4A6-DBA6-17DA-23BE-B4344434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86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1C27C-DA58-32A0-C177-865A416F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Transfer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State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FFBDD9F-56D7-7E5C-3B08-F11409673A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describes</a:t>
                </a:r>
                <a:r>
                  <a:rPr lang="de-DE" dirty="0"/>
                  <a:t> input-output </a:t>
                </a:r>
                <a:r>
                  <a:rPr lang="de-DE" dirty="0" err="1"/>
                  <a:t>behavior</a:t>
                </a:r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Laplace </a:t>
                </a:r>
                <a:r>
                  <a:rPr lang="de-DE" dirty="0" err="1"/>
                  <a:t>domain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den>
                    </m:f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controllable</a:t>
                </a:r>
                <a:r>
                  <a:rPr lang="de-DE" dirty="0"/>
                  <a:t> </a:t>
                </a:r>
                <a:r>
                  <a:rPr lang="de-DE" dirty="0" err="1"/>
                  <a:t>canonical</a:t>
                </a:r>
                <a:r>
                  <a:rPr lang="de-DE" dirty="0"/>
                  <a:t> form: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obtain</a:t>
                </a:r>
                <a:r>
                  <a:rPr lang="de-DE" dirty="0"/>
                  <a:t> time-domain </a:t>
                </a:r>
                <a:r>
                  <a:rPr lang="de-DE" dirty="0" err="1"/>
                  <a:t>equation</a:t>
                </a:r>
                <a:r>
                  <a:rPr lang="de-DE" dirty="0"/>
                  <a:t> (via inverse Laplace </a:t>
                </a:r>
                <a:r>
                  <a:rPr lang="de-DE" dirty="0" err="1"/>
                  <a:t>transform</a:t>
                </a:r>
                <a:r>
                  <a:rPr lang="de-DE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variables </a:t>
                </a:r>
                <a:r>
                  <a:rPr lang="de-DE" dirty="0" err="1"/>
                  <a:t>based</a:t>
                </a:r>
                <a:r>
                  <a:rPr lang="de-DE" dirty="0"/>
                  <a:t> on derivatives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e-DE" dirty="0"/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dirty="0"/>
                  <a:t>,  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de-DE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Build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r>
                  <a:rPr lang="de-DE" dirty="0"/>
                  <a:t>: Express </a:t>
                </a:r>
                <a:r>
                  <a:rPr lang="de-DE" dirty="0" err="1"/>
                  <a:t>highest</a:t>
                </a:r>
                <a:r>
                  <a:rPr lang="de-DE" dirty="0"/>
                  <a:t>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de-DE" dirty="0"/>
                  <a:t> by lower-order </a:t>
                </a:r>
                <a:r>
                  <a:rPr lang="de-DE" dirty="0" err="1"/>
                  <a:t>states</a:t>
                </a:r>
                <a:r>
                  <a:rPr lang="de-DE" dirty="0"/>
                  <a:t> and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Assemble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:r>
                  <a:rPr lang="de-DE" dirty="0" err="1"/>
                  <a:t>standard</a:t>
                </a:r>
                <a:r>
                  <a:rPr lang="de-DE" dirty="0"/>
                  <a:t> </a:t>
                </a:r>
                <a:r>
                  <a:rPr lang="de-DE" dirty="0" err="1"/>
                  <a:t>matrix</a:t>
                </a:r>
                <a:r>
                  <a:rPr lang="de-DE" dirty="0"/>
                  <a:t> form: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e-DE" dirty="0"/>
                  <a:t>,  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Conversion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 err="1"/>
                  <a:t>th</a:t>
                </a:r>
                <a:r>
                  <a:rPr lang="de-DE" dirty="0"/>
                  <a:t>-order differential </a:t>
                </a:r>
                <a:r>
                  <a:rPr lang="de-DE" dirty="0" err="1"/>
                  <a:t>equation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first-order </a:t>
                </a:r>
                <a:r>
                  <a:rPr lang="de-DE" dirty="0" err="1"/>
                  <a:t>equations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FFBDD9F-56D7-7E5C-3B08-F11409673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138A49-7A25-8703-6E2D-B8BCCE48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48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A86E22-B85A-870D-5172-10855616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Second-Order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E6D4C8-816C-4E40-641D-88EB7199F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de-DE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𝑦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+3</m:t>
                    </m:r>
                    <m:acc>
                      <m:accPr>
                        <m:chr m:val="̇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𝑦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+2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</m:oMath>
                </a14:m>
                <a:endParaRPr lang="de-DE" b="0" dirty="0">
                  <a:sym typeface="Wingdings" pitchFamily="2" charset="2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de-DE" b="0" dirty="0">
                  <a:sym typeface="Wingdings" pitchFamily="2" charset="2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de-DE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dirty="0"/>
                  <a:t>	</a:t>
                </a:r>
                <a:r>
                  <a:rPr lang="de-DE" sz="2200" dirty="0"/>
                  <a:t>(not </a:t>
                </a:r>
                <a:r>
                  <a:rPr lang="de-DE" sz="2200" dirty="0" err="1"/>
                  <a:t>necessarily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identical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physical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states</a:t>
                </a:r>
                <a:r>
                  <a:rPr lang="de-DE" sz="22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−2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−3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</m:oMath>
                </a14:m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,	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endParaRPr lang="de-DE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E6D4C8-816C-4E40-641D-88EB7199F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872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8989F8-814F-385B-12B1-5A4049EC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651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57BC5-B90A-E2CC-E4B2-53E5F9B8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Controllable</a:t>
            </a:r>
            <a:r>
              <a:rPr lang="de-DE" dirty="0"/>
              <a:t>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52FD62-5994-822C-32F9-760E3E3B1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 ⇄ State </a:t>
                </a:r>
                <a:r>
                  <a:rPr lang="de-DE" dirty="0" err="1"/>
                  <a:t>space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s</a:t>
                </a:r>
                <a:r>
                  <a:rPr lang="de-DE" dirty="0"/>
                  <a:t>ame </a:t>
                </a:r>
                <a:r>
                  <a:rPr lang="de-DE" dirty="0" err="1"/>
                  <a:t>system</a:t>
                </a:r>
                <a:r>
                  <a:rPr lang="de-DE" dirty="0"/>
                  <a:t>, different </a:t>
                </a:r>
                <a:r>
                  <a:rPr lang="de-DE" dirty="0" err="1"/>
                  <a:t>representations</a:t>
                </a:r>
                <a:endParaRPr lang="de-DE" dirty="0"/>
              </a:p>
              <a:p>
                <a:r>
                  <a:rPr lang="de-DE" dirty="0"/>
                  <a:t>Also multiple valid </a:t>
                </a:r>
                <a:r>
                  <a:rPr lang="de-DE" dirty="0" err="1"/>
                  <a:t>state-space</a:t>
                </a:r>
                <a:r>
                  <a:rPr lang="de-DE" dirty="0"/>
                  <a:t> </a:t>
                </a:r>
                <a:r>
                  <a:rPr lang="de-DE" dirty="0" err="1"/>
                  <a:t>models</a:t>
                </a:r>
                <a:r>
                  <a:rPr lang="de-DE" dirty="0"/>
                  <a:t> (</a:t>
                </a:r>
                <a:r>
                  <a:rPr lang="de-DE" dirty="0" err="1"/>
                  <a:t>equivalent</a:t>
                </a:r>
                <a:r>
                  <a:rPr lang="de-DE" dirty="0"/>
                  <a:t> </a:t>
                </a:r>
                <a:r>
                  <a:rPr lang="de-DE" dirty="0" err="1"/>
                  <a:t>representations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same </a:t>
                </a:r>
                <a:r>
                  <a:rPr lang="de-DE" dirty="0" err="1"/>
                  <a:t>system</a:t>
                </a:r>
                <a:r>
                  <a:rPr lang="de-DE" dirty="0"/>
                  <a:t>): </a:t>
                </a:r>
                <a:r>
                  <a:rPr lang="de-DE" dirty="0" err="1"/>
                  <a:t>choice</a:t>
                </a:r>
                <a:r>
                  <a:rPr lang="de-DE" dirty="0"/>
                  <a:t> </a:t>
                </a:r>
                <a:r>
                  <a:rPr lang="de-DE" dirty="0" err="1"/>
                  <a:t>depends</a:t>
                </a:r>
                <a:r>
                  <a:rPr lang="de-DE" dirty="0"/>
                  <a:t> on </a:t>
                </a:r>
                <a:r>
                  <a:rPr lang="de-DE" dirty="0" err="1"/>
                  <a:t>analysis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design </a:t>
                </a:r>
                <a:r>
                  <a:rPr lang="de-DE" dirty="0" err="1"/>
                  <a:t>goals</a:t>
                </a:r>
                <a:endParaRPr lang="de-DE" dirty="0"/>
              </a:p>
              <a:p>
                <a:r>
                  <a:rPr lang="de-DE" dirty="0" err="1"/>
                  <a:t>Canonical</a:t>
                </a:r>
                <a:r>
                  <a:rPr lang="de-DE" dirty="0"/>
                  <a:t> </a:t>
                </a:r>
                <a:r>
                  <a:rPr lang="de-DE" dirty="0" err="1"/>
                  <a:t>forms</a:t>
                </a:r>
                <a:r>
                  <a:rPr lang="de-DE" dirty="0"/>
                  <a:t>: </a:t>
                </a:r>
                <a:r>
                  <a:rPr lang="de-DE" dirty="0" err="1"/>
                  <a:t>designed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matrices</a:t>
                </a:r>
                <a:r>
                  <a:rPr lang="de-DE" dirty="0"/>
                  <a:t> (</a:t>
                </a:r>
                <a:r>
                  <a:rPr lang="de-DE" dirty="0" err="1"/>
                  <a:t>structured</a:t>
                </a:r>
                <a:r>
                  <a:rPr lang="de-DE" dirty="0"/>
                  <a:t> </a:t>
                </a:r>
                <a:r>
                  <a:rPr lang="de-DE" dirty="0" err="1"/>
                  <a:t>forms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Controllable</a:t>
                </a:r>
                <a:r>
                  <a:rPr lang="de-DE" dirty="0"/>
                  <a:t> </a:t>
                </a:r>
                <a:r>
                  <a:rPr lang="de-DE" dirty="0" err="1"/>
                  <a:t>canonical</a:t>
                </a:r>
                <a:r>
                  <a:rPr lang="de-DE" dirty="0"/>
                  <a:t> form: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influences</a:t>
                </a:r>
                <a:r>
                  <a:rPr lang="de-DE" dirty="0"/>
                  <a:t> all </a:t>
                </a:r>
                <a:r>
                  <a:rPr lang="de-DE" dirty="0" err="1"/>
                  <a:t>states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endParaRPr lang="de-DE" dirty="0"/>
              </a:p>
              <a:p>
                <a:r>
                  <a:rPr lang="de-DE" dirty="0"/>
                  <a:t>Example (</a:t>
                </a:r>
                <a:r>
                  <a:rPr lang="de-DE" dirty="0" err="1"/>
                  <a:t>second</a:t>
                </a:r>
                <a:r>
                  <a:rPr lang="de-DE" dirty="0"/>
                  <a:t>-order </a:t>
                </a:r>
                <a:r>
                  <a:rPr lang="de-DE" dirty="0" err="1"/>
                  <a:t>system</a:t>
                </a:r>
                <a:r>
                  <a:rPr lang="de-DE" dirty="0"/>
                  <a:t>, SISO):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,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/>
                  <a:t>,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52FD62-5994-822C-32F9-760E3E3B1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C75837-D64D-9662-BEE9-8491556E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DAD9AAE-147E-6883-97E2-6D03DBAE31C3}"/>
              </a:ext>
            </a:extLst>
          </p:cNvPr>
          <p:cNvCxnSpPr/>
          <p:nvPr/>
        </p:nvCxnSpPr>
        <p:spPr>
          <a:xfrm flipH="1">
            <a:off x="5516217" y="4482548"/>
            <a:ext cx="228600" cy="122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16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AF62D-58E3-F938-E8A9-80CAB6F9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Observable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AB2CCF-1588-BA65-1876-F31BB15BD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2400" dirty="0"/>
                  <a:t>State-</a:t>
                </a:r>
                <a:r>
                  <a:rPr lang="de-DE" sz="2400" dirty="0" err="1"/>
                  <a:t>space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representation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constructed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give</a:t>
                </a:r>
                <a:r>
                  <a:rPr lang="de-DE" sz="2400" dirty="0"/>
                  <a:t> observable </a:t>
                </a:r>
                <a:r>
                  <a:rPr lang="de-DE" sz="2400" dirty="0" err="1"/>
                  <a:t>structure</a:t>
                </a:r>
                <a:endParaRPr lang="de-DE" sz="2400" dirty="0"/>
              </a:p>
              <a:p>
                <a:r>
                  <a:rPr lang="de-DE" sz="2400" dirty="0"/>
                  <a:t>Dual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controllable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canonical</a:t>
                </a:r>
                <a:r>
                  <a:rPr lang="de-DE" sz="2400" dirty="0"/>
                  <a:t> form (</a:t>
                </a:r>
                <a:r>
                  <a:rPr lang="de-DE" sz="2400" dirty="0" err="1"/>
                  <a:t>transposed</a:t>
                </a:r>
                <a:r>
                  <a:rPr lang="de-DE" sz="2400" dirty="0"/>
                  <a:t>)</a:t>
                </a:r>
              </a:p>
              <a:p>
                <a:r>
                  <a:rPr lang="de-DE" sz="2400" dirty="0"/>
                  <a:t>Example (</a:t>
                </a:r>
                <a:r>
                  <a:rPr lang="de-DE" sz="2400" dirty="0" err="1"/>
                  <a:t>second</a:t>
                </a:r>
                <a:r>
                  <a:rPr lang="de-DE" sz="2400" dirty="0"/>
                  <a:t>-order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, SISO):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sz="2400" dirty="0"/>
                  <a:t>,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de-DE" sz="2400" dirty="0"/>
                  <a:t>,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States </a:t>
                </a:r>
                <a:r>
                  <a:rPr lang="de-DE" sz="2400" dirty="0" err="1">
                    <a:sym typeface="Wingdings" pitchFamily="2" charset="2"/>
                  </a:rPr>
                  <a:t>for</a:t>
                </a:r>
                <a:r>
                  <a:rPr lang="de-DE" sz="2400" dirty="0">
                    <a:sym typeface="Wingdings" pitchFamily="2" charset="2"/>
                  </a:rPr>
                  <a:t> observable </a:t>
                </a:r>
                <a:r>
                  <a:rPr lang="de-DE" sz="2400" dirty="0" err="1">
                    <a:sym typeface="Wingdings" pitchFamily="2" charset="2"/>
                  </a:rPr>
                  <a:t>canonical</a:t>
                </a:r>
                <a:r>
                  <a:rPr lang="de-DE" sz="2400" dirty="0">
                    <a:sym typeface="Wingdings" pitchFamily="2" charset="2"/>
                  </a:rPr>
                  <a:t> form: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𝑧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r>
                  <a:rPr lang="de-DE" sz="2400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de-DE" sz="2400" i="1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(</a:t>
                </a:r>
                <a:r>
                  <a:rPr lang="de-DE" sz="2400" dirty="0" err="1"/>
                  <a:t>typically</a:t>
                </a:r>
                <a:r>
                  <a:rPr lang="de-DE" sz="2400" dirty="0"/>
                  <a:t> not </a:t>
                </a:r>
                <a:r>
                  <a:rPr lang="de-DE" sz="2400" dirty="0" err="1"/>
                  <a:t>identical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physical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states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AB2CCF-1588-BA65-1876-F31BB15BD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25CC0B-DD40-96E8-8A6E-E6248DCC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9DEBB14-56DE-F0F0-1718-04DE59B6DCDC}"/>
              </a:ext>
            </a:extLst>
          </p:cNvPr>
          <p:cNvSpPr txBox="1"/>
          <p:nvPr/>
        </p:nvSpPr>
        <p:spPr>
          <a:xfrm>
            <a:off x="4896277" y="4301913"/>
            <a:ext cx="5072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Output </a:t>
            </a:r>
            <a:r>
              <a:rPr lang="de-DE" sz="2400" dirty="0" err="1"/>
              <a:t>directly</a:t>
            </a:r>
            <a:r>
              <a:rPr lang="de-DE" sz="2400" dirty="0"/>
              <a:t> </a:t>
            </a:r>
            <a:r>
              <a:rPr lang="de-DE" sz="2400" dirty="0" err="1"/>
              <a:t>depends</a:t>
            </a:r>
            <a:r>
              <a:rPr lang="de-DE" sz="2400" dirty="0"/>
              <a:t> on </a:t>
            </a:r>
            <a:r>
              <a:rPr lang="de-DE" sz="2400" dirty="0" err="1"/>
              <a:t>first</a:t>
            </a:r>
            <a:r>
              <a:rPr lang="de-DE" sz="2400" dirty="0"/>
              <a:t> </a:t>
            </a:r>
            <a:r>
              <a:rPr lang="de-DE" sz="2400" dirty="0" err="1"/>
              <a:t>state</a:t>
            </a:r>
            <a:endParaRPr lang="de-DE" sz="24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54258A3-2AAA-44BA-E3AD-ACEB87DD1E2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285383" y="3945835"/>
            <a:ext cx="147230" cy="35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1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5A836-3932-AEAB-82C8-FBB70CD6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Controllability</a:t>
            </a:r>
            <a:r>
              <a:rPr lang="de-DE" dirty="0"/>
              <a:t> &amp; </a:t>
            </a:r>
            <a:r>
              <a:rPr lang="de-DE" dirty="0" err="1"/>
              <a:t>Observability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B63666-6054-4373-8899-F170242C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Controllability</a:t>
            </a:r>
            <a:r>
              <a:rPr lang="de-DE" dirty="0"/>
              <a:t>: Can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anywhere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?</a:t>
            </a:r>
          </a:p>
          <a:p>
            <a:r>
              <a:rPr lang="de-DE" dirty="0" err="1"/>
              <a:t>Reaching</a:t>
            </a:r>
            <a:r>
              <a:rPr lang="de-DE" dirty="0"/>
              <a:t> all </a:t>
            </a:r>
            <a:r>
              <a:rPr lang="de-DE" dirty="0" err="1"/>
              <a:t>states</a:t>
            </a:r>
            <a:r>
              <a:rPr lang="de-DE" dirty="0"/>
              <a:t> via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signals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a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controllable</a:t>
            </a:r>
            <a:r>
              <a:rPr lang="de-DE" dirty="0"/>
              <a:t>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stabilized</a:t>
            </a:r>
            <a:endParaRPr lang="de-DE" dirty="0"/>
          </a:p>
          <a:p>
            <a:r>
              <a:rPr lang="de-DE" dirty="0"/>
              <a:t>Naturally </a:t>
            </a:r>
            <a:r>
              <a:rPr lang="de-DE" dirty="0" err="1"/>
              <a:t>emphasized</a:t>
            </a:r>
            <a:r>
              <a:rPr lang="de-DE" dirty="0"/>
              <a:t> in </a:t>
            </a:r>
            <a:r>
              <a:rPr lang="de-DE" dirty="0" err="1"/>
              <a:t>controllable</a:t>
            </a:r>
            <a:r>
              <a:rPr lang="de-DE" dirty="0"/>
              <a:t>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Observability</a:t>
            </a:r>
            <a:r>
              <a:rPr lang="de-DE" dirty="0"/>
              <a:t>: Can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figure</a:t>
            </a:r>
            <a:r>
              <a:rPr lang="de-DE" dirty="0"/>
              <a:t> out internal </a:t>
            </a:r>
            <a:r>
              <a:rPr lang="de-DE" dirty="0" err="1"/>
              <a:t>states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?</a:t>
            </a:r>
          </a:p>
          <a:p>
            <a:r>
              <a:rPr lang="de-DE" dirty="0" err="1"/>
              <a:t>Diagnosing</a:t>
            </a:r>
            <a:r>
              <a:rPr lang="de-DE" dirty="0"/>
              <a:t> a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(</a:t>
            </a:r>
            <a:r>
              <a:rPr lang="de-DE" dirty="0" err="1"/>
              <a:t>outputs</a:t>
            </a:r>
            <a:r>
              <a:rPr lang="de-DE" dirty="0"/>
              <a:t>)</a:t>
            </a:r>
          </a:p>
          <a:p>
            <a:r>
              <a:rPr lang="de-DE" dirty="0" err="1"/>
              <a:t>If</a:t>
            </a:r>
            <a:r>
              <a:rPr lang="de-DE" dirty="0"/>
              <a:t> a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observable: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affects</a:t>
            </a:r>
            <a:r>
              <a:rPr lang="de-DE" dirty="0"/>
              <a:t> </a:t>
            </a:r>
            <a:r>
              <a:rPr lang="de-DE" dirty="0" err="1"/>
              <a:t>nothing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/>
              <a:t>Naturally </a:t>
            </a:r>
            <a:r>
              <a:rPr lang="de-DE" dirty="0" err="1"/>
              <a:t>emphasized</a:t>
            </a:r>
            <a:r>
              <a:rPr lang="de-DE" dirty="0"/>
              <a:t> in observable </a:t>
            </a:r>
            <a:r>
              <a:rPr lang="de-DE" dirty="0" err="1"/>
              <a:t>canonical</a:t>
            </a:r>
            <a:r>
              <a:rPr lang="de-DE" dirty="0"/>
              <a:t> form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A “</a:t>
            </a:r>
            <a:r>
              <a:rPr lang="de-DE" dirty="0" err="1"/>
              <a:t>good</a:t>
            </a:r>
            <a:r>
              <a:rPr lang="de-DE" dirty="0"/>
              <a:t>”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controllable</a:t>
            </a:r>
            <a:r>
              <a:rPr lang="de-DE" dirty="0"/>
              <a:t> + observable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E9D747-8C02-CB59-E428-41962EDE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05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4E74E-8922-3B79-3F0C-2AB330FB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Feedback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7DA807-D038-A866-DBD0-D2414998B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7641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Core </a:t>
                </a:r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based</a:t>
                </a:r>
                <a:r>
                  <a:rPr lang="de-DE" dirty="0"/>
                  <a:t> on </a:t>
                </a:r>
                <a:r>
                  <a:rPr lang="de-DE" dirty="0" err="1"/>
                  <a:t>full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(</a:t>
                </a:r>
                <a:r>
                  <a:rPr lang="de-DE" dirty="0" err="1"/>
                  <a:t>use</a:t>
                </a:r>
                <a:r>
                  <a:rPr lang="de-DE" dirty="0"/>
                  <a:t> all internal variables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Goal: </a:t>
                </a:r>
                <a:r>
                  <a:rPr lang="de-DE" dirty="0" err="1"/>
                  <a:t>shape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dynamics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Faster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, </a:t>
                </a:r>
                <a:r>
                  <a:rPr lang="de-DE" dirty="0" err="1"/>
                  <a:t>improved</a:t>
                </a:r>
                <a:r>
                  <a:rPr lang="de-DE" dirty="0"/>
                  <a:t> </a:t>
                </a:r>
                <a:r>
                  <a:rPr lang="de-DE" dirty="0" err="1"/>
                  <a:t>stability</a:t>
                </a:r>
                <a:r>
                  <a:rPr lang="de-DE" dirty="0"/>
                  <a:t>, </a:t>
                </a:r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performance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7DA807-D038-A866-DBD0-D2414998B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7641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89C0A6-2F33-F640-0DFE-36DA57CA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6C624E4-C08E-9C9F-38A1-B3878A824025}"/>
                  </a:ext>
                </a:extLst>
              </p:cNvPr>
              <p:cNvSpPr txBox="1"/>
              <p:nvPr/>
            </p:nvSpPr>
            <p:spPr>
              <a:xfrm>
                <a:off x="6279410" y="2927514"/>
                <a:ext cx="4662380" cy="13849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Feedback </a:t>
                </a:r>
                <a:r>
                  <a:rPr lang="de-DE" sz="2800" dirty="0" err="1"/>
                  <a:t>gains</a:t>
                </a:r>
                <a:r>
                  <a:rPr lang="de-DE" sz="2800" dirty="0"/>
                  <a:t>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de-DE" sz="2800" dirty="0" err="1"/>
                  <a:t>For</a:t>
                </a:r>
                <a:r>
                  <a:rPr lang="de-DE" sz="2800" dirty="0"/>
                  <a:t> SISO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sz="2800" dirty="0"/>
                  <a:t> </a:t>
                </a:r>
                <a:r>
                  <a:rPr lang="de-DE" sz="2800" dirty="0" err="1"/>
                  <a:t>is</a:t>
                </a:r>
                <a:r>
                  <a:rPr lang="de-DE" sz="2800" dirty="0"/>
                  <a:t> a </a:t>
                </a:r>
                <a:r>
                  <a:rPr lang="de-DE" sz="2800" dirty="0" err="1"/>
                  <a:t>row</a:t>
                </a:r>
                <a:r>
                  <a:rPr lang="de-DE" sz="2800" dirty="0"/>
                  <a:t> </a:t>
                </a:r>
                <a:r>
                  <a:rPr lang="de-DE" sz="2800" dirty="0" err="1"/>
                  <a:t>vector</a:t>
                </a:r>
                <a:endParaRPr lang="de-DE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de-DE" sz="2800" dirty="0" err="1"/>
                  <a:t>For</a:t>
                </a:r>
                <a:r>
                  <a:rPr lang="de-DE" sz="2800" dirty="0"/>
                  <a:t> MIMO </a:t>
                </a:r>
                <a14:m>
                  <m:oMath xmlns:m="http://schemas.openxmlformats.org/officeDocument/2006/math">
                    <m:r>
                      <a:rPr lang="de-DE" sz="2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sz="2800" dirty="0"/>
                  <a:t> </a:t>
                </a:r>
                <a:r>
                  <a:rPr lang="de-DE" sz="2800" dirty="0" err="1"/>
                  <a:t>is</a:t>
                </a:r>
                <a:r>
                  <a:rPr lang="de-DE" sz="2800" dirty="0"/>
                  <a:t> a </a:t>
                </a:r>
                <a:r>
                  <a:rPr lang="de-DE" sz="2800" dirty="0" err="1"/>
                  <a:t>full</a:t>
                </a:r>
                <a:r>
                  <a:rPr lang="de-DE" sz="2800" dirty="0"/>
                  <a:t> </a:t>
                </a:r>
                <a:r>
                  <a:rPr lang="de-DE" sz="2800" dirty="0" err="1"/>
                  <a:t>matrix</a:t>
                </a:r>
                <a:endParaRPr lang="de-DE" sz="28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6C624E4-C08E-9C9F-38A1-B3878A824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410" y="2927514"/>
                <a:ext cx="4662380" cy="1384995"/>
              </a:xfrm>
              <a:prstGeom prst="rect">
                <a:avLst/>
              </a:prstGeom>
              <a:blipFill>
                <a:blip r:embed="rId3"/>
                <a:stretch>
                  <a:fillRect l="-2432" t="-3604" r="-2162" b="-1171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2B0B7288-5834-8AFF-6D38-30830AFE4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290" y="5377380"/>
            <a:ext cx="6071419" cy="1480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D110BE-319D-2AF5-E4AE-66B5A4BC39B2}"/>
                  </a:ext>
                </a:extLst>
              </p:cNvPr>
              <p:cNvSpPr txBox="1"/>
              <p:nvPr/>
            </p:nvSpPr>
            <p:spPr>
              <a:xfrm>
                <a:off x="8370938" y="501820"/>
                <a:ext cx="3222523" cy="20621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Typically: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 panose="02040503050406030204" pitchFamily="18" charset="0"/>
                            </a:rPr>
                            <m:t>real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 panose="02040503050406030204" pitchFamily="18" charset="0"/>
                            </a:rPr>
                            <m:t>desired</m:t>
                          </m:r>
                        </m:sub>
                      </m:sSub>
                    </m:oMath>
                  </m:oMathPara>
                </a14:m>
                <a:endParaRPr lang="de-DE" sz="2800" dirty="0"/>
              </a:p>
              <a:p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Shift </a:t>
                </a:r>
                <a:r>
                  <a:rPr lang="de-DE" sz="2400" dirty="0" err="1"/>
                  <a:t>coordinates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stabilize</a:t>
                </a:r>
                <a:r>
                  <a:rPr lang="de-DE" sz="2400" dirty="0"/>
                  <a:t> at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DD110BE-319D-2AF5-E4AE-66B5A4BC3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938" y="501820"/>
                <a:ext cx="3222523" cy="2062103"/>
              </a:xfrm>
              <a:prstGeom prst="rect">
                <a:avLst/>
              </a:prstGeom>
              <a:blipFill>
                <a:blip r:embed="rId5"/>
                <a:stretch>
                  <a:fillRect l="-3906" t="-2424" b="-54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876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096D8-5037-7DC0-7D12-438F9BDB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 Placement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28B344-5BF4-2D75-9E05-DDF745344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600" dirty="0" err="1"/>
                  <a:t>Deterministic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manual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way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design </a:t>
                </a:r>
                <a:r>
                  <a:rPr lang="de-DE" sz="2600" dirty="0" err="1"/>
                  <a:t>state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feedback</a:t>
                </a:r>
                <a:r>
                  <a:rPr lang="de-DE" sz="2600" dirty="0"/>
                  <a:t> 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 err="1"/>
                  <a:t>Choose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desired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closed</a:t>
                </a:r>
                <a:r>
                  <a:rPr lang="de-DE" sz="2600" dirty="0"/>
                  <a:t>-loop pole </a:t>
                </a:r>
                <a:r>
                  <a:rPr lang="de-DE" sz="2600" dirty="0" err="1"/>
                  <a:t>locations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explicitly</a:t>
                </a:r>
                <a:endParaRPr lang="de-DE" sz="26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 err="1"/>
                  <a:t>Compute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sz="2600" dirty="0"/>
                  <a:t> such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eigenvalues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(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𝐵𝐾</m:t>
                    </m:r>
                  </m:oMath>
                </a14:m>
                <a:r>
                  <a:rPr lang="de-DE" sz="2600" dirty="0"/>
                  <a:t>) match </a:t>
                </a:r>
                <a:r>
                  <a:rPr lang="de-DE" sz="2600" dirty="0" err="1"/>
                  <a:t>these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locations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Requirement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must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controllable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r>
                  <a:rPr lang="de-DE" sz="2600" dirty="0" err="1"/>
                  <a:t>Direct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control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over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dynamics</a:t>
                </a:r>
                <a:endParaRPr lang="de-DE" sz="2600" dirty="0"/>
              </a:p>
              <a:p>
                <a:r>
                  <a:rPr lang="de-DE" sz="2600" dirty="0"/>
                  <a:t>But </a:t>
                </a:r>
                <a:r>
                  <a:rPr lang="de-DE" sz="2600" dirty="0" err="1"/>
                  <a:t>no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guidance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which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poles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are</a:t>
                </a:r>
                <a:r>
                  <a:rPr lang="de-DE" sz="2600" dirty="0"/>
                  <a:t> “</a:t>
                </a:r>
                <a:r>
                  <a:rPr lang="de-DE" sz="2600" dirty="0" err="1"/>
                  <a:t>best</a:t>
                </a:r>
                <a:r>
                  <a:rPr lang="de-DE" sz="2600" dirty="0"/>
                  <a:t>”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428B344-5BF4-2D75-9E05-DDF745344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r="-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FDFFB5-FC16-9A86-B3D9-18F67204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26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024B2-517D-988E-21E6-5ECDE61C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Matrix </a:t>
            </a:r>
            <a:r>
              <a:rPr lang="de-DE" dirty="0" err="1"/>
              <a:t>Exponential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FBF84D-4293-59A9-9C72-7E94D454E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Insert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New </a:t>
                </a:r>
                <a:r>
                  <a:rPr lang="de-DE" dirty="0" err="1">
                    <a:sym typeface="Wingdings" pitchFamily="2" charset="2"/>
                  </a:rPr>
                  <a:t>system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matrix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losed</a:t>
                </a:r>
                <a:r>
                  <a:rPr lang="de-DE" dirty="0">
                    <a:sym typeface="Wingdings" pitchFamily="2" charset="2"/>
                  </a:rPr>
                  <a:t>-loop </a:t>
                </a:r>
                <a:r>
                  <a:rPr lang="de-DE" dirty="0" err="1">
                    <a:sym typeface="Wingdings" pitchFamily="2" charset="2"/>
                  </a:rPr>
                  <a:t>system</a:t>
                </a:r>
                <a:r>
                  <a:rPr lang="de-DE" dirty="0">
                    <a:sym typeface="Wingdings" pitchFamily="2" charset="2"/>
                  </a:rPr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Solution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FBF84D-4293-59A9-9C72-7E94D454E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7C2873-7894-9873-0AFF-DD2AB2ED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B1543D9-606B-615C-946C-7DAF7FA6F51F}"/>
              </a:ext>
            </a:extLst>
          </p:cNvPr>
          <p:cNvSpPr txBox="1"/>
          <p:nvPr/>
        </p:nvSpPr>
        <p:spPr>
          <a:xfrm>
            <a:off x="838201" y="5221222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State </a:t>
            </a:r>
            <a:r>
              <a:rPr lang="de-DE" sz="2400" dirty="0" err="1"/>
              <a:t>transition</a:t>
            </a:r>
            <a:r>
              <a:rPr lang="de-DE" sz="2400" dirty="0"/>
              <a:t> </a:t>
            </a:r>
            <a:r>
              <a:rPr lang="de-DE" sz="2400" dirty="0" err="1"/>
              <a:t>matrix</a:t>
            </a:r>
            <a:r>
              <a:rPr lang="de-DE" sz="2400" dirty="0"/>
              <a:t> in form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matrix</a:t>
            </a:r>
            <a:r>
              <a:rPr lang="de-DE" sz="2400" dirty="0"/>
              <a:t> </a:t>
            </a:r>
            <a:r>
              <a:rPr lang="de-DE" sz="2400" dirty="0" err="1"/>
              <a:t>exponential</a:t>
            </a:r>
            <a:r>
              <a:rPr lang="de-DE" sz="2400" dirty="0"/>
              <a:t> (</a:t>
            </a:r>
            <a:r>
              <a:rPr lang="de-DE" sz="2400" dirty="0" err="1"/>
              <a:t>defined</a:t>
            </a:r>
            <a:r>
              <a:rPr lang="de-DE" sz="2400" dirty="0"/>
              <a:t> via power </a:t>
            </a:r>
            <a:r>
              <a:rPr lang="de-DE" sz="2400" dirty="0" err="1"/>
              <a:t>series</a:t>
            </a:r>
            <a:r>
              <a:rPr lang="de-DE" sz="2400" dirty="0"/>
              <a:t>): </a:t>
            </a:r>
            <a:r>
              <a:rPr lang="de-DE" sz="2400" dirty="0" err="1"/>
              <a:t>evolution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a </a:t>
            </a:r>
            <a:r>
              <a:rPr lang="de-DE" sz="2400" dirty="0" err="1"/>
              <a:t>vector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coupled</a:t>
            </a:r>
            <a:r>
              <a:rPr lang="de-DE" sz="2400" dirty="0"/>
              <a:t> </a:t>
            </a:r>
            <a:r>
              <a:rPr lang="de-DE" sz="2400" dirty="0" err="1"/>
              <a:t>states</a:t>
            </a:r>
            <a:endParaRPr lang="de-DE" sz="2400" dirty="0"/>
          </a:p>
        </p:txBody>
      </p:sp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55BA1056-83C2-1F33-8E03-D24DBA73ADA9}"/>
              </a:ext>
            </a:extLst>
          </p:cNvPr>
          <p:cNvSpPr/>
          <p:nvPr/>
        </p:nvSpPr>
        <p:spPr>
          <a:xfrm rot="16200000">
            <a:off x="3374587" y="4341862"/>
            <a:ext cx="461665" cy="129705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DA32B27-8890-91BC-FBB4-96E6263CBAEE}"/>
                  </a:ext>
                </a:extLst>
              </p:cNvPr>
              <p:cNvSpPr txBox="1"/>
              <p:nvPr/>
            </p:nvSpPr>
            <p:spPr>
              <a:xfrm>
                <a:off x="5015948" y="3132611"/>
                <a:ext cx="66989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Eigenvalues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matrix</a:t>
                </a:r>
                <a:r>
                  <a:rPr lang="de-DE" sz="2400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𝐵𝐾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de-DE" sz="2400" dirty="0"/>
                  <a:t>) correspond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poles</a:t>
                </a:r>
                <a:endParaRPr lang="de-DE" sz="2400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DA32B27-8890-91BC-FBB4-96E6263C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948" y="3132611"/>
                <a:ext cx="6698973" cy="830997"/>
              </a:xfrm>
              <a:prstGeom prst="rect">
                <a:avLst/>
              </a:prstGeom>
              <a:blipFill>
                <a:blip r:embed="rId3"/>
                <a:stretch>
                  <a:fillRect l="-1515" t="-6061" r="-947" b="-181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8DD9AFE6-17F3-CBB1-7E17-1A4913EFF96F}"/>
              </a:ext>
            </a:extLst>
          </p:cNvPr>
          <p:cNvSpPr/>
          <p:nvPr/>
        </p:nvSpPr>
        <p:spPr>
          <a:xfrm rot="16200000">
            <a:off x="3134439" y="2720005"/>
            <a:ext cx="263074" cy="13931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3B33E71-004B-4058-6B9C-D9A96BE4801A}"/>
                  </a:ext>
                </a:extLst>
              </p:cNvPr>
              <p:cNvSpPr txBox="1"/>
              <p:nvPr/>
            </p:nvSpPr>
            <p:spPr>
              <a:xfrm>
                <a:off x="7772400" y="136527"/>
                <a:ext cx="4303642" cy="182620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de-DE" b="0" dirty="0"/>
                  <a:t>Poles </a:t>
                </a:r>
                <a:r>
                  <a:rPr lang="de-DE" b="0" dirty="0" err="1"/>
                  <a:t>of</a:t>
                </a:r>
                <a:r>
                  <a:rPr lang="de-DE" b="0" dirty="0"/>
                  <a:t> </a:t>
                </a:r>
                <a:r>
                  <a:rPr lang="de-DE" b="0" dirty="0" err="1"/>
                  <a:t>transfer</a:t>
                </a:r>
                <a:r>
                  <a:rPr lang="de-DE" b="0" dirty="0"/>
                  <a:t> </a:t>
                </a:r>
                <a:r>
                  <a:rPr lang="de-DE" b="0" dirty="0" err="1"/>
                  <a:t>function</a:t>
                </a:r>
                <a:r>
                  <a:rPr lang="de-DE" b="0" dirty="0"/>
                  <a:t> (</a:t>
                </a:r>
                <a:r>
                  <a:rPr lang="de-DE" b="0" dirty="0" err="1"/>
                  <a:t>n</a:t>
                </a:r>
                <a:r>
                  <a:rPr lang="de-DE" dirty="0" err="1"/>
                  <a:t>o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b="0" dirty="0"/>
                  <a:t>):</a:t>
                </a:r>
              </a:p>
              <a:p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𝑠𝑋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𝐴𝑋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b="0" dirty="0"/>
              </a:p>
              <a:p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𝐵𝑈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𝐶𝑋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𝐷𝑈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b="0" dirty="0"/>
              </a:p>
              <a:p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de-DE" dirty="0"/>
              </a:p>
              <a:p>
                <a:r>
                  <a:rPr lang="de-DE" dirty="0">
                    <a:sym typeface="Wingdings" pitchFamily="2" charset="2"/>
                  </a:rPr>
                  <a:t>	 </a:t>
                </a:r>
                <a:r>
                  <a:rPr lang="de-DE" dirty="0" err="1">
                    <a:sym typeface="Wingdings" pitchFamily="2" charset="2"/>
                  </a:rPr>
                  <a:t>poles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3B33E71-004B-4058-6B9C-D9A96BE4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136527"/>
                <a:ext cx="4303642" cy="1826206"/>
              </a:xfrm>
              <a:prstGeom prst="rect">
                <a:avLst/>
              </a:prstGeom>
              <a:blipFill>
                <a:blip r:embed="rId4"/>
                <a:stretch>
                  <a:fillRect t="-4110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F75C2EE-AEF4-EF5E-F4A7-C9FA86CEC764}"/>
              </a:ext>
            </a:extLst>
          </p:cNvPr>
          <p:cNvCxnSpPr/>
          <p:nvPr/>
        </p:nvCxnSpPr>
        <p:spPr>
          <a:xfrm flipH="1">
            <a:off x="3265976" y="3548110"/>
            <a:ext cx="1724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46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51DB6-CDE2-801D-9A2F-FB20CB45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Quadratic</a:t>
            </a:r>
            <a:r>
              <a:rPr lang="de-DE" dirty="0"/>
              <a:t> Regulator (LQR)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072B51-7235-F792-8DE1-D90482E40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For a linear </a:t>
                </a:r>
                <a:r>
                  <a:rPr lang="de-DE" dirty="0" err="1"/>
                  <a:t>system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find a </a:t>
                </a:r>
                <a:r>
                  <a:rPr lang="de-DE" dirty="0" err="1"/>
                  <a:t>state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minimizes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quadratic</a:t>
                </a:r>
                <a:r>
                  <a:rPr lang="de-DE" dirty="0"/>
                  <a:t> </a:t>
                </a:r>
                <a:r>
                  <a:rPr lang="de-DE" dirty="0" err="1"/>
                  <a:t>cost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penalizes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</a:t>
                </a:r>
                <a:r>
                  <a:rPr lang="de-DE" dirty="0" err="1"/>
                  <a:t>deviation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penalizes</a:t>
                </a:r>
                <a:r>
                  <a:rPr lang="de-DE" dirty="0"/>
                  <a:t>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effort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>
                    <a:sym typeface="Wingdings" pitchFamily="2" charset="2"/>
                  </a:rPr>
                  <a:t>O</a:t>
                </a:r>
                <a:r>
                  <a:rPr lang="de-DE" dirty="0"/>
                  <a:t>ptimal </a:t>
                </a:r>
                <a:r>
                  <a:rPr lang="de-DE" dirty="0" err="1"/>
                  <a:t>control</a:t>
                </a:r>
                <a:r>
                  <a:rPr lang="de-DE" dirty="0"/>
                  <a:t>: </a:t>
                </a:r>
                <a:r>
                  <a:rPr lang="de-DE" dirty="0" err="1"/>
                  <a:t>automatically</a:t>
                </a:r>
                <a:r>
                  <a:rPr lang="de-DE" dirty="0"/>
                  <a:t> </a:t>
                </a:r>
                <a:r>
                  <a:rPr lang="de-DE" dirty="0" err="1"/>
                  <a:t>computes</a:t>
                </a:r>
                <a:r>
                  <a:rPr lang="de-DE" dirty="0"/>
                  <a:t> “</a:t>
                </a:r>
                <a:r>
                  <a:rPr lang="de-DE" dirty="0" err="1"/>
                  <a:t>best</a:t>
                </a:r>
                <a:r>
                  <a:rPr lang="de-DE" dirty="0"/>
                  <a:t>” </a:t>
                </a:r>
                <a:r>
                  <a:rPr lang="de-DE" dirty="0" err="1"/>
                  <a:t>feedback</a:t>
                </a:r>
                <a:r>
                  <a:rPr lang="de-DE" dirty="0"/>
                  <a:t> </a:t>
                </a:r>
                <a:r>
                  <a:rPr lang="de-DE" dirty="0" err="1"/>
                  <a:t>gains</a:t>
                </a:r>
                <a:endParaRPr lang="de-DE" dirty="0"/>
              </a:p>
              <a:p>
                <a:r>
                  <a:rPr lang="de-DE" dirty="0" err="1"/>
                  <a:t>Systematic</a:t>
                </a:r>
                <a:r>
                  <a:rPr lang="de-DE" dirty="0"/>
                  <a:t> design (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guesswork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)</a:t>
                </a:r>
              </a:p>
              <a:p>
                <a:r>
                  <a:rPr lang="de-DE" dirty="0"/>
                  <a:t>Robust and </a:t>
                </a:r>
                <a:r>
                  <a:rPr lang="de-DE" dirty="0" err="1"/>
                  <a:t>widely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in </a:t>
                </a:r>
                <a:r>
                  <a:rPr lang="de-DE" dirty="0" err="1"/>
                  <a:t>engineering</a:t>
                </a:r>
                <a:endParaRPr lang="de-DE" dirty="0"/>
              </a:p>
              <a:p>
                <a:r>
                  <a:rPr lang="de-DE" dirty="0"/>
                  <a:t>Works </a:t>
                </a:r>
                <a:r>
                  <a:rPr lang="de-DE" dirty="0" err="1"/>
                  <a:t>naturally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MIMO </a:t>
                </a:r>
                <a:r>
                  <a:rPr lang="de-DE" dirty="0" err="1"/>
                  <a:t>systems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072B51-7235-F792-8DE1-D90482E40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F8421B-233A-6913-10D9-ED44D643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930A490-4725-AB24-59B6-6CA4284B0EAC}"/>
                  </a:ext>
                </a:extLst>
              </p:cNvPr>
              <p:cNvSpPr txBox="1"/>
              <p:nvPr/>
            </p:nvSpPr>
            <p:spPr>
              <a:xfrm>
                <a:off x="6408255" y="3269975"/>
                <a:ext cx="494554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de-DE" sz="2000" dirty="0"/>
                  <a:t> and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e-DE" sz="2000" dirty="0"/>
                  <a:t> </a:t>
                </a:r>
                <a:r>
                  <a:rPr lang="de-DE" sz="2000" dirty="0" err="1"/>
                  <a:t>chosen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designer</a:t>
                </a:r>
                <a:r>
                  <a:rPr lang="de-DE" sz="2000" dirty="0"/>
                  <a:t>:</a:t>
                </a:r>
              </a:p>
              <a:p>
                <a:r>
                  <a:rPr lang="de-DE" sz="2000" dirty="0"/>
                  <a:t>trade-off </a:t>
                </a:r>
                <a:r>
                  <a:rPr lang="de-DE" sz="2000" dirty="0" err="1"/>
                  <a:t>between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performance</a:t>
                </a:r>
                <a:r>
                  <a:rPr lang="de-DE" sz="2000" dirty="0"/>
                  <a:t> and </a:t>
                </a:r>
                <a:r>
                  <a:rPr lang="de-DE" sz="2000" dirty="0" err="1"/>
                  <a:t>effort</a:t>
                </a:r>
                <a:endParaRPr lang="de-DE" sz="20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930A490-4725-AB24-59B6-6CA4284B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55" y="3269975"/>
                <a:ext cx="4945545" cy="707886"/>
              </a:xfrm>
              <a:prstGeom prst="rect">
                <a:avLst/>
              </a:prstGeom>
              <a:blipFill>
                <a:blip r:embed="rId3"/>
                <a:stretch>
                  <a:fillRect l="-1279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7CC127C8-99C7-622E-D6FA-7E6BB59A0F15}"/>
              </a:ext>
            </a:extLst>
          </p:cNvPr>
          <p:cNvSpPr/>
          <p:nvPr/>
        </p:nvSpPr>
        <p:spPr>
          <a:xfrm>
            <a:off x="6050032" y="3150812"/>
            <a:ext cx="332134" cy="65180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328FEE4-7653-A706-9E05-62039B127034}"/>
              </a:ext>
            </a:extLst>
          </p:cNvPr>
          <p:cNvSpPr txBox="1"/>
          <p:nvPr/>
        </p:nvSpPr>
        <p:spPr>
          <a:xfrm>
            <a:off x="8139612" y="1685409"/>
            <a:ext cx="3685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 </a:t>
            </a:r>
            <a:r>
              <a:rPr lang="de-DE" dirty="0" err="1"/>
              <a:t>practice</a:t>
            </a:r>
            <a:r>
              <a:rPr lang="de-DE" dirty="0"/>
              <a:t>,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solvers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8385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5A4FF-C5C5-A690-4E4A-AD1D7DBC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Observers</a:t>
            </a:r>
            <a:r>
              <a:rPr lang="de-DE" dirty="0"/>
              <a:t> (State </a:t>
            </a:r>
            <a:r>
              <a:rPr lang="de-DE" dirty="0" err="1"/>
              <a:t>Estimation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C7F715-7A70-6215-27B6-9B0DE6539C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Issue: </a:t>
                </a:r>
                <a:r>
                  <a:rPr lang="de-DE" dirty="0" err="1"/>
                  <a:t>often</a:t>
                </a:r>
                <a:r>
                  <a:rPr lang="de-DE" dirty="0"/>
                  <a:t> not all </a:t>
                </a:r>
                <a:r>
                  <a:rPr lang="de-DE" dirty="0" err="1"/>
                  <a:t>state</a:t>
                </a:r>
                <a:r>
                  <a:rPr lang="de-DE" dirty="0"/>
                  <a:t> variables </a:t>
                </a:r>
                <a:r>
                  <a:rPr lang="de-DE" dirty="0" err="1"/>
                  <a:t>measurable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Need </a:t>
                </a:r>
                <a:r>
                  <a:rPr lang="de-DE" dirty="0" err="1">
                    <a:sym typeface="Wingdings" pitchFamily="2" charset="2"/>
                  </a:rPr>
                  <a:t>to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r</a:t>
                </a:r>
                <a:r>
                  <a:rPr lang="de-DE" dirty="0" err="1"/>
                  <a:t>econstruct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o</a:t>
                </a:r>
                <a:r>
                  <a:rPr lang="de-DE" dirty="0" err="1"/>
                  <a:t>bservers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Observer </a:t>
                </a:r>
                <a:r>
                  <a:rPr lang="de-DE" dirty="0" err="1"/>
                  <a:t>dynamics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̂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Key </a:t>
                </a:r>
                <a:r>
                  <a:rPr lang="de-DE" dirty="0" err="1"/>
                  <a:t>concept</a:t>
                </a:r>
                <a:r>
                  <a:rPr lang="de-DE" dirty="0"/>
                  <a:t>: </a:t>
                </a: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Requirements</a:t>
                </a:r>
                <a:r>
                  <a:rPr lang="de-DE" dirty="0"/>
                  <a:t>: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observable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Enables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limited </a:t>
                </a:r>
                <a:r>
                  <a:rPr lang="de-DE" dirty="0" err="1"/>
                  <a:t>sensors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C7F715-7A70-6215-27B6-9B0DE6539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DDA16F-C96E-08F7-75B8-42855DAA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2BC0289-A97A-6355-C4C6-65EA0D74C41C}"/>
              </a:ext>
            </a:extLst>
          </p:cNvPr>
          <p:cNvSpPr txBox="1"/>
          <p:nvPr/>
        </p:nvSpPr>
        <p:spPr>
          <a:xfrm>
            <a:off x="4281280" y="2734670"/>
            <a:ext cx="20996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400" dirty="0" err="1"/>
              <a:t>observer</a:t>
            </a:r>
            <a:r>
              <a:rPr lang="de-DE" sz="2400" dirty="0"/>
              <a:t> </a:t>
            </a:r>
            <a:r>
              <a:rPr lang="de-DE" sz="2400" dirty="0" err="1"/>
              <a:t>gains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B40A6D5-5A00-1485-A669-7D56299BD97E}"/>
              </a:ext>
            </a:extLst>
          </p:cNvPr>
          <p:cNvCxnSpPr/>
          <p:nvPr/>
        </p:nvCxnSpPr>
        <p:spPr>
          <a:xfrm flipH="1">
            <a:off x="4084983" y="2922104"/>
            <a:ext cx="178904" cy="407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eschweifte Klammer rechts 4">
            <a:extLst>
              <a:ext uri="{FF2B5EF4-FFF2-40B4-BE49-F238E27FC236}">
                <a16:creationId xmlns:a16="http://schemas.microsoft.com/office/drawing/2014/main" id="{683D3E94-2040-383B-F4C0-1439CD48EC26}"/>
              </a:ext>
            </a:extLst>
          </p:cNvPr>
          <p:cNvSpPr/>
          <p:nvPr/>
        </p:nvSpPr>
        <p:spPr>
          <a:xfrm rot="5400000">
            <a:off x="4609272" y="3308262"/>
            <a:ext cx="223630" cy="105354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2A56BE6-F9F7-CB89-3454-D39B73FD40F7}"/>
                  </a:ext>
                </a:extLst>
              </p:cNvPr>
              <p:cNvSpPr txBox="1"/>
              <p:nvPr/>
            </p:nvSpPr>
            <p:spPr>
              <a:xfrm>
                <a:off x="7289446" y="3531352"/>
                <a:ext cx="459112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Output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drives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r>
                  <a:rPr lang="de-DE" sz="2400" dirty="0" err="1"/>
                  <a:t>Estimation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𝐿𝐶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Observer pole </a:t>
                </a:r>
                <a:r>
                  <a:rPr lang="de-DE" sz="2400" dirty="0" err="1">
                    <a:sym typeface="Wingdings" pitchFamily="2" charset="2"/>
                  </a:rPr>
                  <a:t>placement</a:t>
                </a:r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2A56BE6-F9F7-CB89-3454-D39B73FD4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446" y="3531352"/>
                <a:ext cx="4591128" cy="1569660"/>
              </a:xfrm>
              <a:prstGeom prst="rect">
                <a:avLst/>
              </a:prstGeom>
              <a:blipFill>
                <a:blip r:embed="rId3"/>
                <a:stretch>
                  <a:fillRect l="-2210" t="-2400" b="-88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98CFFAE-B9BC-D3C5-1123-014BDF347AC9}"/>
              </a:ext>
            </a:extLst>
          </p:cNvPr>
          <p:cNvCxnSpPr>
            <a:endCxn id="5" idx="1"/>
          </p:cNvCxnSpPr>
          <p:nvPr/>
        </p:nvCxnSpPr>
        <p:spPr>
          <a:xfrm flipH="1">
            <a:off x="4721087" y="3946851"/>
            <a:ext cx="25245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9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B3FCF-D28A-8051-A93E-4947B46E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Kalman Filter: Optimal State </a:t>
            </a:r>
            <a:r>
              <a:rPr lang="de-DE" dirty="0" err="1"/>
              <a:t>Estimation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88A687A-5CBE-6EF8-42A7-970E9078B9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2565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Optimal </a:t>
                </a:r>
                <a:r>
                  <a:rPr lang="de-DE" dirty="0" err="1"/>
                  <a:t>observer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noisy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Handles </a:t>
                </a:r>
                <a:r>
                  <a:rPr lang="de-DE" dirty="0" err="1"/>
                  <a:t>measurement</a:t>
                </a:r>
                <a:r>
                  <a:rPr lang="de-DE" dirty="0"/>
                  <a:t> </a:t>
                </a:r>
                <a:r>
                  <a:rPr lang="de-DE" dirty="0" err="1"/>
                  <a:t>noise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dirty="0"/>
                  <a:t> and </a:t>
                </a:r>
                <a:r>
                  <a:rPr lang="de-DE" dirty="0" err="1"/>
                  <a:t>process</a:t>
                </a:r>
                <a:r>
                  <a:rPr lang="de-DE" dirty="0"/>
                  <a:t> </a:t>
                </a:r>
                <a:r>
                  <a:rPr lang="de-DE" dirty="0" err="1"/>
                  <a:t>noise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,	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Same </a:t>
                </a:r>
                <a:r>
                  <a:rPr lang="de-DE" dirty="0" err="1"/>
                  <a:t>structure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general</a:t>
                </a:r>
                <a:r>
                  <a:rPr lang="de-DE" dirty="0"/>
                  <a:t> </a:t>
                </a:r>
                <a:r>
                  <a:rPr lang="de-DE" dirty="0" err="1"/>
                  <a:t>observer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  <m:r>
                      <a:rPr lang="de-DE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̂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But </a:t>
                </a:r>
                <a:r>
                  <a:rPr lang="de-DE" dirty="0" err="1"/>
                  <a:t>chooses</a:t>
                </a:r>
                <a:r>
                  <a:rPr lang="de-DE" dirty="0"/>
                  <a:t> </a:t>
                </a:r>
                <a:r>
                  <a:rPr lang="de-DE" dirty="0" err="1"/>
                  <a:t>observer</a:t>
                </a:r>
                <a:r>
                  <a:rPr lang="de-DE" dirty="0"/>
                  <a:t>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optimally</a:t>
                </a:r>
                <a:r>
                  <a:rPr lang="de-DE" dirty="0"/>
                  <a:t> </a:t>
                </a:r>
                <a:r>
                  <a:rPr lang="de-DE" dirty="0" err="1">
                    <a:sym typeface="Wingdings" pitchFamily="2" charset="2"/>
                  </a:rPr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minimizing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estimation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 (</a:t>
                </a:r>
                <a:r>
                  <a:rPr lang="de-DE" dirty="0" err="1"/>
                  <a:t>analogous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pole </a:t>
                </a:r>
                <a:r>
                  <a:rPr lang="de-DE" dirty="0" err="1"/>
                  <a:t>placement</a:t>
                </a:r>
                <a:r>
                  <a:rPr lang="de-DE" dirty="0"/>
                  <a:t> and LQR)</a:t>
                </a:r>
              </a:p>
              <a:p>
                <a:pPr marL="0" indent="0">
                  <a:buNone/>
                </a:pPr>
                <a:r>
                  <a:rPr lang="de-DE" dirty="0" err="1"/>
                  <a:t>Widely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in </a:t>
                </a:r>
                <a:r>
                  <a:rPr lang="de-DE" dirty="0" err="1"/>
                  <a:t>practice</a:t>
                </a:r>
                <a:r>
                  <a:rPr lang="de-DE" dirty="0"/>
                  <a:t>: </a:t>
                </a:r>
                <a:r>
                  <a:rPr lang="de-DE" dirty="0" err="1"/>
                  <a:t>robotics</a:t>
                </a:r>
                <a:r>
                  <a:rPr lang="de-DE" dirty="0"/>
                  <a:t>, </a:t>
                </a:r>
                <a:r>
                  <a:rPr lang="de-DE" dirty="0" err="1"/>
                  <a:t>aerospace</a:t>
                </a:r>
                <a:r>
                  <a:rPr lang="de-DE" dirty="0"/>
                  <a:t>, </a:t>
                </a:r>
                <a:r>
                  <a:rPr lang="de-DE" dirty="0" err="1"/>
                  <a:t>navigation</a:t>
                </a:r>
                <a:r>
                  <a:rPr lang="de-DE" dirty="0"/>
                  <a:t>, </a:t>
                </a:r>
                <a:r>
                  <a:rPr lang="de-DE" dirty="0" err="1"/>
                  <a:t>finance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88A687A-5CBE-6EF8-42A7-970E9078B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2565400"/>
              </a:xfrm>
              <a:blipFill>
                <a:blip r:embed="rId2"/>
                <a:stretch>
                  <a:fillRect l="-965" t="-4902" b="-49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C9A1E4-F066-5BF4-E452-2DDB3ABC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  <p:pic>
        <p:nvPicPr>
          <p:cNvPr id="2050" name="Picture 2" descr="Kalman-Filterung - MATLAB &amp; Simulink">
            <a:extLst>
              <a:ext uri="{FF2B5EF4-FFF2-40B4-BE49-F238E27FC236}">
                <a16:creationId xmlns:a16="http://schemas.microsoft.com/office/drawing/2014/main" id="{A7470E19-C1CA-0667-D2AF-F4801CD35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4292600"/>
            <a:ext cx="84963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35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84752-917C-1888-FA95-D24D4DDA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Quadratic</a:t>
            </a:r>
            <a:r>
              <a:rPr lang="de-DE" dirty="0"/>
              <a:t> </a:t>
            </a:r>
            <a:r>
              <a:rPr lang="de-DE" dirty="0" err="1"/>
              <a:t>Gaussian</a:t>
            </a:r>
            <a:r>
              <a:rPr lang="de-DE" dirty="0"/>
              <a:t> (LQG)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604DDD-AC7F-6C19-3AB7-12D34809A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Combination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both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ideas</a:t>
                </a:r>
                <a:r>
                  <a:rPr lang="de-DE" sz="2400" dirty="0"/>
                  <a:t> (modern </a:t>
                </a:r>
                <a:r>
                  <a:rPr lang="de-DE" sz="2400" dirty="0" err="1"/>
                  <a:t>control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architecture</a:t>
                </a:r>
                <a:r>
                  <a:rPr lang="de-DE" sz="2400" dirty="0"/>
                  <a:t>):</a:t>
                </a:r>
              </a:p>
              <a:p>
                <a:pPr marL="0" indent="0">
                  <a:buNone/>
                </a:pPr>
                <a:r>
                  <a:rPr lang="de-DE" sz="2400" dirty="0"/>
                  <a:t>	Observer (</a:t>
                </a:r>
                <a:r>
                  <a:rPr lang="de-DE" sz="2400" dirty="0" err="1"/>
                  <a:t>estimation</a:t>
                </a:r>
                <a:r>
                  <a:rPr lang="de-DE" sz="2400" dirty="0"/>
                  <a:t>)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>
                    <a:sym typeface="Wingdings" pitchFamily="2" charset="2"/>
                  </a:rPr>
                  <a:t>  </a:t>
                </a:r>
                <a:r>
                  <a:rPr lang="de-DE" sz="2400" dirty="0"/>
                  <a:t>State Feedback (</a:t>
                </a:r>
                <a:r>
                  <a:rPr lang="de-DE" sz="2400" dirty="0" err="1"/>
                  <a:t>control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Separation </a:t>
                </a:r>
                <a:r>
                  <a:rPr lang="de-DE" sz="2400" dirty="0" err="1"/>
                  <a:t>principle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design (LQR) and </a:t>
                </a:r>
                <a:r>
                  <a:rPr lang="de-DE" sz="2400" dirty="0" err="1"/>
                  <a:t>estimator</a:t>
                </a:r>
                <a:r>
                  <a:rPr lang="de-DE" sz="2400" dirty="0"/>
                  <a:t> design (Kalman)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independently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604DDD-AC7F-6C19-3AB7-12D34809A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  <a:blipFill>
                <a:blip r:embed="rId2"/>
                <a:stretch>
                  <a:fillRect l="-965" t="-20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787F54-82DB-6398-3434-1D6C67D7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55A64AF-0BE9-7FB2-A882-B6C1A1158E52}"/>
              </a:ext>
            </a:extLst>
          </p:cNvPr>
          <p:cNvSpPr txBox="1"/>
          <p:nvPr/>
        </p:nvSpPr>
        <p:spPr>
          <a:xfrm>
            <a:off x="6456265" y="2814236"/>
            <a:ext cx="5067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LQR: </a:t>
            </a:r>
            <a:r>
              <a:rPr lang="de-DE" sz="2400" dirty="0" err="1"/>
              <a:t>computes</a:t>
            </a:r>
            <a:r>
              <a:rPr lang="de-DE" sz="2400" dirty="0"/>
              <a:t> optimal </a:t>
            </a:r>
            <a:r>
              <a:rPr lang="de-DE" sz="2400" dirty="0" err="1"/>
              <a:t>control</a:t>
            </a:r>
            <a:r>
              <a:rPr lang="de-DE" sz="2400" dirty="0"/>
              <a:t> </a:t>
            </a:r>
            <a:r>
              <a:rPr lang="de-DE" sz="2400" dirty="0" err="1"/>
              <a:t>input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3FCC49E-BEBB-28A5-79B9-6E354F76D859}"/>
              </a:ext>
            </a:extLst>
          </p:cNvPr>
          <p:cNvSpPr txBox="1"/>
          <p:nvPr/>
        </p:nvSpPr>
        <p:spPr>
          <a:xfrm>
            <a:off x="838200" y="2826688"/>
            <a:ext cx="47335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Kalman </a:t>
            </a:r>
            <a:r>
              <a:rPr lang="de-DE" sz="2400" dirty="0" err="1"/>
              <a:t>filter</a:t>
            </a:r>
            <a:r>
              <a:rPr lang="de-DE" sz="2400" dirty="0"/>
              <a:t>: </a:t>
            </a:r>
            <a:r>
              <a:rPr lang="de-DE" sz="2400" dirty="0" err="1"/>
              <a:t>estimates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state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noisy</a:t>
            </a:r>
            <a:r>
              <a:rPr lang="de-DE" sz="2400" dirty="0"/>
              <a:t> </a:t>
            </a:r>
            <a:r>
              <a:rPr lang="de-DE" sz="2400" dirty="0" err="1"/>
              <a:t>measurements</a:t>
            </a:r>
            <a:endParaRPr lang="de-DE" sz="24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CBC9438-5348-EEDF-5A58-91E57EB118A3}"/>
              </a:ext>
            </a:extLst>
          </p:cNvPr>
          <p:cNvCxnSpPr>
            <a:cxnSpLocks/>
          </p:cNvCxnSpPr>
          <p:nvPr/>
        </p:nvCxnSpPr>
        <p:spPr>
          <a:xfrm flipV="1">
            <a:off x="1892991" y="2439634"/>
            <a:ext cx="137958" cy="387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09ECCAB-9A8D-505C-44F7-5F49112A1F5F}"/>
              </a:ext>
            </a:extLst>
          </p:cNvPr>
          <p:cNvCxnSpPr>
            <a:cxnSpLocks/>
          </p:cNvCxnSpPr>
          <p:nvPr/>
        </p:nvCxnSpPr>
        <p:spPr>
          <a:xfrm flipV="1">
            <a:off x="6863356" y="2439634"/>
            <a:ext cx="103974" cy="374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inear-Quadratic-Gaussian (LQG) Design - MATLAB &amp; Simulink">
            <a:extLst>
              <a:ext uri="{FF2B5EF4-FFF2-40B4-BE49-F238E27FC236}">
                <a16:creationId xmlns:a16="http://schemas.microsoft.com/office/drawing/2014/main" id="{D889EC88-FEF0-F1C3-576B-57B184623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350" y="3936808"/>
            <a:ext cx="557530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55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C5E18F3F-566F-63AB-10BA-F619E5370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864" y="3880778"/>
            <a:ext cx="5951136" cy="207959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702B773-4C73-5AEF-AAD9-386BD494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Discrete</a:t>
            </a:r>
            <a:r>
              <a:rPr lang="de-DE" dirty="0"/>
              <a:t>-Time 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9436714-DA30-E111-6EAA-56D3AD73C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Everything also </a:t>
                </a:r>
                <a:r>
                  <a:rPr lang="de-DE" dirty="0" err="1"/>
                  <a:t>exists</a:t>
                </a:r>
                <a:r>
                  <a:rPr lang="de-DE" dirty="0"/>
                  <a:t> in </a:t>
                </a:r>
                <a:r>
                  <a:rPr lang="de-DE" dirty="0" err="1"/>
                  <a:t>discrete</a:t>
                </a:r>
                <a:r>
                  <a:rPr lang="de-DE" dirty="0"/>
                  <a:t> time: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predator-prey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9436714-DA30-E111-6EAA-56D3AD73C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455EFB-05AC-C43A-10F8-7B512348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3125543-8C5D-836B-8E1A-150D10933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880778"/>
            <a:ext cx="5951135" cy="168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59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2CBD8D-5E8F-50E7-A46F-784F57DA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Takeaways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B63711-64A3-D5D9-DA5E-20A551ECA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space</a:t>
            </a:r>
            <a:r>
              <a:rPr lang="de-DE" dirty="0"/>
              <a:t> = internal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description</a:t>
            </a:r>
            <a:endParaRPr lang="de-DE" dirty="0"/>
          </a:p>
          <a:p>
            <a:r>
              <a:rPr lang="de-DE" dirty="0" err="1"/>
              <a:t>Enables</a:t>
            </a:r>
            <a:r>
              <a:rPr lang="de-DE" dirty="0"/>
              <a:t> MIMO + modern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 err="1"/>
              <a:t>Controllability</a:t>
            </a:r>
            <a:r>
              <a:rPr lang="de-DE" dirty="0"/>
              <a:t> &amp; </a:t>
            </a:r>
            <a:r>
              <a:rPr lang="de-DE" dirty="0" err="1"/>
              <a:t>observability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fundamental</a:t>
            </a:r>
          </a:p>
          <a:p>
            <a:r>
              <a:rPr lang="de-DE" dirty="0"/>
              <a:t>State </a:t>
            </a:r>
            <a:r>
              <a:rPr lang="de-DE" dirty="0" err="1"/>
              <a:t>feedback</a:t>
            </a:r>
            <a:r>
              <a:rPr lang="de-DE" dirty="0"/>
              <a:t> + </a:t>
            </a:r>
            <a:r>
              <a:rPr lang="de-DE" dirty="0" err="1"/>
              <a:t>observers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LQR &amp; Kalman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optimal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B25FB8-1E6F-669E-2557-8391ADF4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98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</Words>
  <Application>Microsoft Macintosh PowerPoint</Application>
  <PresentationFormat>Breitbild</PresentationFormat>
  <Paragraphs>258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State Space Representation</vt:lpstr>
      <vt:lpstr>Course Schedule</vt:lpstr>
      <vt:lpstr>State Space Representation</vt:lpstr>
      <vt:lpstr>Multi-Input Multi-Output (MIMO) Systems</vt:lpstr>
      <vt:lpstr>State Variables</vt:lpstr>
      <vt:lpstr>State Equations</vt:lpstr>
      <vt:lpstr>Example: Mass-Spring-Damper System</vt:lpstr>
      <vt:lpstr>Physical Modeling or Construction </vt:lpstr>
      <vt:lpstr>From Transfer Function to State Space</vt:lpstr>
      <vt:lpstr>Example: Second-Order System</vt:lpstr>
      <vt:lpstr>Controllable Canonical Form</vt:lpstr>
      <vt:lpstr>Observable Canonical Form</vt:lpstr>
      <vt:lpstr>Controllability &amp; Observability</vt:lpstr>
      <vt:lpstr>State Feedback Control</vt:lpstr>
      <vt:lpstr>Pole Placement</vt:lpstr>
      <vt:lpstr>Matrix Exponential</vt:lpstr>
      <vt:lpstr>Linear Quadratic Regulator (LQR)</vt:lpstr>
      <vt:lpstr>State Observers (State Estimation)</vt:lpstr>
      <vt:lpstr>Kalman Filter: Optimal State Estimation</vt:lpstr>
      <vt:lpstr>Linear Quadratic Gaussian (LQG) Control</vt:lpstr>
      <vt:lpstr>Discrete-Time Note</vt:lpstr>
      <vt:lpstr>Key Takeaways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176</cp:revision>
  <dcterms:created xsi:type="dcterms:W3CDTF">2025-01-08T09:27:30Z</dcterms:created>
  <dcterms:modified xsi:type="dcterms:W3CDTF">2026-05-18T22:05:16Z</dcterms:modified>
</cp:coreProperties>
</file>
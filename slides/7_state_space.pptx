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6"/>
  </p:notesMasterIdLst>
  <p:sldIdLst>
    <p:sldId id="256" r:id="rId2"/>
    <p:sldId id="265" r:id="rId3"/>
    <p:sldId id="266" r:id="rId4"/>
    <p:sldId id="267" r:id="rId5"/>
    <p:sldId id="268" r:id="rId6"/>
    <p:sldId id="269" r:id="rId7"/>
    <p:sldId id="277" r:id="rId8"/>
    <p:sldId id="293" r:id="rId9"/>
    <p:sldId id="278" r:id="rId10"/>
    <p:sldId id="280" r:id="rId11"/>
    <p:sldId id="279" r:id="rId12"/>
    <p:sldId id="292" r:id="rId13"/>
    <p:sldId id="282" r:id="rId14"/>
    <p:sldId id="272" r:id="rId15"/>
    <p:sldId id="294" r:id="rId16"/>
    <p:sldId id="295" r:id="rId17"/>
    <p:sldId id="274" r:id="rId18"/>
    <p:sldId id="283" r:id="rId19"/>
    <p:sldId id="276" r:id="rId20"/>
    <p:sldId id="285" r:id="rId21"/>
    <p:sldId id="288" r:id="rId22"/>
    <p:sldId id="290" r:id="rId23"/>
    <p:sldId id="291" r:id="rId24"/>
    <p:sldId id="289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195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200" y="4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04/04/2026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04/04/2026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04/04/2026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04/04/2026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04/04/2026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04/04/2026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04/04/2026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MIMO Systems</a:t>
            </a:r>
          </a:p>
          <a:p>
            <a:r>
              <a:rPr lang="de-DE" dirty="0"/>
              <a:t>State variables and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  <a:p>
            <a:r>
              <a:rPr lang="de-DE" dirty="0" err="1"/>
              <a:t>Controllability</a:t>
            </a:r>
            <a:r>
              <a:rPr lang="de-DE" dirty="0"/>
              <a:t> &amp; </a:t>
            </a:r>
            <a:r>
              <a:rPr lang="de-DE" dirty="0" err="1"/>
              <a:t>Observability</a:t>
            </a:r>
            <a:endParaRPr lang="de-DE" dirty="0"/>
          </a:p>
          <a:p>
            <a:r>
              <a:rPr lang="de-DE" dirty="0"/>
              <a:t>State-</a:t>
            </a:r>
            <a:r>
              <a:rPr lang="de-DE" dirty="0" err="1"/>
              <a:t>space</a:t>
            </a:r>
            <a:r>
              <a:rPr lang="de-DE" dirty="0"/>
              <a:t> </a:t>
            </a:r>
            <a:r>
              <a:rPr lang="de-DE" dirty="0" err="1"/>
              <a:t>control</a:t>
            </a:r>
            <a:endParaRPr lang="de-DE" dirty="0"/>
          </a:p>
          <a:p>
            <a:r>
              <a:rPr lang="de-DE" dirty="0"/>
              <a:t>State </a:t>
            </a:r>
            <a:r>
              <a:rPr lang="de-DE" dirty="0" err="1"/>
              <a:t>estimation</a:t>
            </a:r>
            <a:endParaRPr lang="de-DE" dirty="0"/>
          </a:p>
          <a:p>
            <a:r>
              <a:rPr lang="de-DE" dirty="0"/>
              <a:t>Pole Placement</a:t>
            </a:r>
          </a:p>
          <a:p>
            <a:r>
              <a:rPr lang="de-DE" dirty="0"/>
              <a:t>LQR</a:t>
            </a:r>
          </a:p>
          <a:p>
            <a:r>
              <a:rPr lang="de-DE" dirty="0"/>
              <a:t>Kalman </a:t>
            </a:r>
            <a:r>
              <a:rPr lang="de-DE" dirty="0" err="1"/>
              <a:t>filter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E73AE0-265F-0452-BD08-15D8906C6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Multi-Input Multi-Output (MIMO)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0854BE-384B-05DC-59DC-11C3A10F3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600" dirty="0"/>
              <a:t>So </a:t>
            </a:r>
            <a:r>
              <a:rPr lang="de-DE" sz="2600" dirty="0" err="1"/>
              <a:t>far</a:t>
            </a:r>
            <a:r>
              <a:rPr lang="de-DE" sz="2600" dirty="0"/>
              <a:t>: single-input single-output (SISO) </a:t>
            </a:r>
            <a:r>
              <a:rPr lang="de-DE" sz="2600" dirty="0" err="1"/>
              <a:t>systems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/>
              <a:t>Systems </a:t>
            </a:r>
            <a:r>
              <a:rPr lang="de-DE" sz="2600" dirty="0" err="1"/>
              <a:t>with</a:t>
            </a:r>
            <a:r>
              <a:rPr lang="de-DE" sz="2600" dirty="0"/>
              <a:t> multiple </a:t>
            </a:r>
            <a:r>
              <a:rPr lang="de-DE" sz="2600" dirty="0" err="1"/>
              <a:t>inputs</a:t>
            </a:r>
            <a:r>
              <a:rPr lang="de-DE" sz="2600" dirty="0"/>
              <a:t> and </a:t>
            </a:r>
            <a:r>
              <a:rPr lang="de-DE" sz="2600" dirty="0" err="1"/>
              <a:t>outputs</a:t>
            </a:r>
            <a:r>
              <a:rPr lang="de-DE" sz="2600" dirty="0"/>
              <a:t> (MIMO) </a:t>
            </a:r>
            <a:r>
              <a:rPr lang="de-DE" sz="2600" dirty="0" err="1"/>
              <a:t>become</a:t>
            </a:r>
            <a:r>
              <a:rPr lang="de-DE" sz="2600" dirty="0"/>
              <a:t> </a:t>
            </a:r>
            <a:r>
              <a:rPr lang="de-DE" sz="2600" dirty="0" err="1"/>
              <a:t>cumbersome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describe</a:t>
            </a:r>
            <a:r>
              <a:rPr lang="de-DE" sz="2600" dirty="0"/>
              <a:t> </a:t>
            </a:r>
            <a:r>
              <a:rPr lang="de-DE" sz="2600" dirty="0" err="1"/>
              <a:t>using</a:t>
            </a:r>
            <a:r>
              <a:rPr lang="de-DE" sz="2600" dirty="0"/>
              <a:t> </a:t>
            </a:r>
            <a:r>
              <a:rPr lang="de-DE" sz="2600" dirty="0" err="1"/>
              <a:t>transfer</a:t>
            </a:r>
            <a:r>
              <a:rPr lang="de-DE" sz="2600" dirty="0"/>
              <a:t> </a:t>
            </a:r>
            <a:r>
              <a:rPr lang="de-DE" sz="2600" dirty="0" err="1"/>
              <a:t>functions</a:t>
            </a:r>
            <a:r>
              <a:rPr lang="de-DE" sz="2600" dirty="0"/>
              <a:t> (</a:t>
            </a:r>
            <a:r>
              <a:rPr lang="de-DE" sz="2600" dirty="0" err="1"/>
              <a:t>focus</a:t>
            </a:r>
            <a:r>
              <a:rPr lang="de-DE" sz="2600" dirty="0"/>
              <a:t> on </a:t>
            </a:r>
            <a:r>
              <a:rPr lang="de-DE" sz="2600" dirty="0" err="1"/>
              <a:t>input</a:t>
            </a:r>
            <a:r>
              <a:rPr lang="de-DE" sz="2600" dirty="0"/>
              <a:t>–</a:t>
            </a:r>
            <a:r>
              <a:rPr lang="de-DE" sz="2600" dirty="0" err="1"/>
              <a:t>output</a:t>
            </a:r>
            <a:r>
              <a:rPr lang="de-DE" sz="2600" dirty="0"/>
              <a:t> </a:t>
            </a:r>
            <a:r>
              <a:rPr lang="de-DE" sz="2600" dirty="0" err="1"/>
              <a:t>behavior</a:t>
            </a:r>
            <a:r>
              <a:rPr lang="de-DE" sz="2600" dirty="0"/>
              <a:t>, limited </a:t>
            </a:r>
            <a:r>
              <a:rPr lang="de-DE" sz="2600" dirty="0" err="1"/>
              <a:t>insight</a:t>
            </a:r>
            <a:r>
              <a:rPr lang="de-DE" sz="2600" dirty="0"/>
              <a:t> </a:t>
            </a:r>
            <a:r>
              <a:rPr lang="de-DE" sz="2600" dirty="0" err="1"/>
              <a:t>into</a:t>
            </a:r>
            <a:r>
              <a:rPr lang="de-DE" sz="2600" dirty="0"/>
              <a:t> internal </a:t>
            </a:r>
            <a:r>
              <a:rPr lang="de-DE" sz="2600" dirty="0" err="1"/>
              <a:t>dynamics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>
                <a:sym typeface="Wingdings" pitchFamily="2" charset="2"/>
              </a:rPr>
              <a:t> Use </a:t>
            </a:r>
            <a:r>
              <a:rPr lang="de-DE" sz="2600" dirty="0" err="1">
                <a:sym typeface="Wingdings" pitchFamily="2" charset="2"/>
              </a:rPr>
              <a:t>of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s</a:t>
            </a:r>
            <a:r>
              <a:rPr lang="de-DE" sz="2600" dirty="0" err="1"/>
              <a:t>tate-space</a:t>
            </a:r>
            <a:r>
              <a:rPr lang="de-DE" sz="2600" dirty="0"/>
              <a:t> </a:t>
            </a:r>
            <a:r>
              <a:rPr lang="de-DE" sz="2600" dirty="0" err="1"/>
              <a:t>representation</a:t>
            </a:r>
            <a:r>
              <a:rPr lang="de-DE" sz="2600" dirty="0"/>
              <a:t> (explicit </a:t>
            </a:r>
            <a:r>
              <a:rPr lang="de-DE" sz="2600" dirty="0" err="1"/>
              <a:t>representation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internal </a:t>
            </a:r>
            <a:r>
              <a:rPr lang="de-DE" sz="2600" dirty="0" err="1"/>
              <a:t>system</a:t>
            </a:r>
            <a:r>
              <a:rPr lang="de-DE" sz="2600" dirty="0"/>
              <a:t> </a:t>
            </a:r>
            <a:r>
              <a:rPr lang="de-DE" sz="2600" dirty="0" err="1"/>
              <a:t>dynamics</a:t>
            </a:r>
            <a:r>
              <a:rPr lang="de-DE" sz="2600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C3D2768-8865-C96F-EA04-1EE804535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70686DE4-BBAF-46BC-1734-A6983C536293}"/>
              </a:ext>
            </a:extLst>
          </p:cNvPr>
          <p:cNvGrpSpPr/>
          <p:nvPr/>
        </p:nvGrpSpPr>
        <p:grpSpPr>
          <a:xfrm>
            <a:off x="4033554" y="4232403"/>
            <a:ext cx="4124892" cy="779319"/>
            <a:chOff x="7612870" y="-389660"/>
            <a:chExt cx="4124892" cy="77931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hteck 4">
                  <a:extLst>
                    <a:ext uri="{FF2B5EF4-FFF2-40B4-BE49-F238E27FC236}">
                      <a16:creationId xmlns:a16="http://schemas.microsoft.com/office/drawing/2014/main" id="{ED34DDEC-BF03-786F-4151-BED3C5B91B7A}"/>
                    </a:ext>
                  </a:extLst>
                </p:cNvPr>
                <p:cNvSpPr/>
                <p:nvPr/>
              </p:nvSpPr>
              <p:spPr>
                <a:xfrm>
                  <a:off x="9093986" y="-389660"/>
                  <a:ext cx="1162660" cy="779319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de-DE" sz="28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MIMO</m:t>
                        </m:r>
                      </m:oMath>
                    </m:oMathPara>
                  </a14:m>
                  <a:endParaRPr lang="de-DE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Rechteck 4">
                  <a:extLst>
                    <a:ext uri="{FF2B5EF4-FFF2-40B4-BE49-F238E27FC236}">
                      <a16:creationId xmlns:a16="http://schemas.microsoft.com/office/drawing/2014/main" id="{ED34DDEC-BF03-786F-4151-BED3C5B91B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93986" y="-389660"/>
                  <a:ext cx="1162660" cy="779319"/>
                </a:xfrm>
                <a:prstGeom prst="rect">
                  <a:avLst/>
                </a:prstGeom>
                <a:blipFill>
                  <a:blip r:embed="rId2"/>
                  <a:stretch>
                    <a:fillRect l="-212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95DD0749-7D59-B7BB-7383-974F29B51CCB}"/>
                    </a:ext>
                  </a:extLst>
                </p:cNvPr>
                <p:cNvSpPr txBox="1"/>
                <p:nvPr/>
              </p:nvSpPr>
              <p:spPr>
                <a:xfrm>
                  <a:off x="7612870" y="-261610"/>
                  <a:ext cx="474297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95DD0749-7D59-B7BB-7383-974F29B51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2870" y="-261610"/>
                  <a:ext cx="474297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ADEC4FCC-03A7-4399-65AA-08ECB9492CA8}"/>
                    </a:ext>
                  </a:extLst>
                </p:cNvPr>
                <p:cNvSpPr txBox="1"/>
                <p:nvPr/>
              </p:nvSpPr>
              <p:spPr>
                <a:xfrm>
                  <a:off x="11272828" y="-264714"/>
                  <a:ext cx="464934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ADEC4FCC-03A7-4399-65AA-08ECB9492C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72828" y="-264714"/>
                  <a:ext cx="464934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23810" b="-9524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DFCBCF0D-EB92-CAEE-CBD5-2B03BABB3972}"/>
                </a:ext>
              </a:extLst>
            </p:cNvPr>
            <p:cNvCxnSpPr>
              <a:cxnSpLocks/>
              <a:endCxn id="5" idx="1"/>
            </p:cNvCxnSpPr>
            <p:nvPr/>
          </p:nvCxnSpPr>
          <p:spPr>
            <a:xfrm>
              <a:off x="8024435" y="0"/>
              <a:ext cx="10695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Gerade Verbindung mit Pfeil 8">
              <a:extLst>
                <a:ext uri="{FF2B5EF4-FFF2-40B4-BE49-F238E27FC236}">
                  <a16:creationId xmlns:a16="http://schemas.microsoft.com/office/drawing/2014/main" id="{19E16676-39F7-962E-B002-518D0C47A850}"/>
                </a:ext>
              </a:extLst>
            </p:cNvPr>
            <p:cNvCxnSpPr>
              <a:cxnSpLocks/>
            </p:cNvCxnSpPr>
            <p:nvPr/>
          </p:nvCxnSpPr>
          <p:spPr>
            <a:xfrm>
              <a:off x="10256135" y="29739"/>
              <a:ext cx="10695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F643F90B-0C59-FF70-E72B-59D1BA050965}"/>
                </a:ext>
              </a:extLst>
            </p:cNvPr>
            <p:cNvCxnSpPr>
              <a:cxnSpLocks/>
            </p:cNvCxnSpPr>
            <p:nvPr/>
          </p:nvCxnSpPr>
          <p:spPr>
            <a:xfrm>
              <a:off x="10256133" y="-129360"/>
              <a:ext cx="10695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39E081E6-C00A-91E0-B54D-CB010CF0F404}"/>
                </a:ext>
              </a:extLst>
            </p:cNvPr>
            <p:cNvCxnSpPr>
              <a:cxnSpLocks/>
            </p:cNvCxnSpPr>
            <p:nvPr/>
          </p:nvCxnSpPr>
          <p:spPr>
            <a:xfrm>
              <a:off x="10256133" y="337923"/>
              <a:ext cx="10695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BDAFB5CE-2290-8D36-2114-4D62ACDB454A}"/>
                </a:ext>
              </a:extLst>
            </p:cNvPr>
            <p:cNvCxnSpPr>
              <a:cxnSpLocks/>
            </p:cNvCxnSpPr>
            <p:nvPr/>
          </p:nvCxnSpPr>
          <p:spPr>
            <a:xfrm>
              <a:off x="10256134" y="-316930"/>
              <a:ext cx="10695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399866C3-E26A-013F-E31E-65EAB4215014}"/>
                </a:ext>
              </a:extLst>
            </p:cNvPr>
            <p:cNvCxnSpPr>
              <a:cxnSpLocks/>
            </p:cNvCxnSpPr>
            <p:nvPr/>
          </p:nvCxnSpPr>
          <p:spPr>
            <a:xfrm>
              <a:off x="10256132" y="195537"/>
              <a:ext cx="10695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D7F02746-2905-4D12-2BD7-BF939F1866E5}"/>
                </a:ext>
              </a:extLst>
            </p:cNvPr>
            <p:cNvCxnSpPr>
              <a:cxnSpLocks/>
            </p:cNvCxnSpPr>
            <p:nvPr/>
          </p:nvCxnSpPr>
          <p:spPr>
            <a:xfrm>
              <a:off x="8024433" y="-167879"/>
              <a:ext cx="10695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12E8EF11-423D-DAC4-3024-8ED2CA9B9359}"/>
                </a:ext>
              </a:extLst>
            </p:cNvPr>
            <p:cNvCxnSpPr>
              <a:cxnSpLocks/>
            </p:cNvCxnSpPr>
            <p:nvPr/>
          </p:nvCxnSpPr>
          <p:spPr>
            <a:xfrm>
              <a:off x="8024432" y="337923"/>
              <a:ext cx="10695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E8B5B7E1-DF18-7BC4-ABE3-E6F09502D752}"/>
                </a:ext>
              </a:extLst>
            </p:cNvPr>
            <p:cNvCxnSpPr>
              <a:cxnSpLocks/>
            </p:cNvCxnSpPr>
            <p:nvPr/>
          </p:nvCxnSpPr>
          <p:spPr>
            <a:xfrm>
              <a:off x="8024431" y="160368"/>
              <a:ext cx="10695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Gerade Verbindung mit Pfeil 16">
              <a:extLst>
                <a:ext uri="{FF2B5EF4-FFF2-40B4-BE49-F238E27FC236}">
                  <a16:creationId xmlns:a16="http://schemas.microsoft.com/office/drawing/2014/main" id="{BCB79E81-76CB-5CA7-9F56-6D3EA93CA070}"/>
                </a:ext>
              </a:extLst>
            </p:cNvPr>
            <p:cNvCxnSpPr>
              <a:cxnSpLocks/>
            </p:cNvCxnSpPr>
            <p:nvPr/>
          </p:nvCxnSpPr>
          <p:spPr>
            <a:xfrm>
              <a:off x="8024434" y="-316930"/>
              <a:ext cx="10695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512321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9B0AB5-B707-D63E-A421-4C6F4D425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State Variables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8DCF9B1-B070-A2DC-EDC6-8C4EA43AAF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16921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/>
              <a:t>State: minimal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variables </a:t>
            </a:r>
            <a:r>
              <a:rPr lang="de-DE" dirty="0" err="1"/>
              <a:t>describing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system’s</a:t>
            </a:r>
            <a:r>
              <a:rPr lang="de-DE" dirty="0"/>
              <a:t> </a:t>
            </a:r>
            <a:r>
              <a:rPr lang="de-DE" dirty="0" err="1"/>
              <a:t>memory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all </a:t>
            </a:r>
            <a:r>
              <a:rPr lang="de-DE" dirty="0" err="1"/>
              <a:t>information</a:t>
            </a:r>
            <a:r>
              <a:rPr lang="de-DE" dirty="0"/>
              <a:t> </a:t>
            </a:r>
            <a:r>
              <a:rPr lang="de-DE" dirty="0" err="1"/>
              <a:t>needed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predict</a:t>
            </a:r>
            <a:r>
              <a:rPr lang="de-DE" dirty="0"/>
              <a:t> </a:t>
            </a:r>
            <a:r>
              <a:rPr lang="de-DE" dirty="0" err="1"/>
              <a:t>future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State variables </a:t>
            </a:r>
            <a:r>
              <a:rPr lang="de-DE" dirty="0" err="1"/>
              <a:t>define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completely</a:t>
            </a:r>
            <a:r>
              <a:rPr lang="de-DE" dirty="0"/>
              <a:t>: </a:t>
            </a:r>
            <a:r>
              <a:rPr lang="de-DE" dirty="0" err="1"/>
              <a:t>given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and </a:t>
            </a:r>
            <a:r>
              <a:rPr lang="de-DE" dirty="0" err="1"/>
              <a:t>inputs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future</a:t>
            </a:r>
            <a:r>
              <a:rPr lang="de-DE" dirty="0"/>
              <a:t> </a:t>
            </a:r>
            <a:r>
              <a:rPr lang="de-DE" dirty="0" err="1"/>
              <a:t>evolution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uniquely</a:t>
            </a:r>
            <a:r>
              <a:rPr lang="de-DE" dirty="0"/>
              <a:t> </a:t>
            </a:r>
            <a:r>
              <a:rPr lang="de-DE" dirty="0" err="1"/>
              <a:t>determined</a:t>
            </a:r>
            <a:endParaRPr lang="de-DE" dirty="0"/>
          </a:p>
          <a:p>
            <a:r>
              <a:rPr lang="de-DE" sz="2200" dirty="0" err="1"/>
              <a:t>Often</a:t>
            </a:r>
            <a:r>
              <a:rPr lang="de-DE" sz="2200" dirty="0"/>
              <a:t> </a:t>
            </a:r>
            <a:r>
              <a:rPr lang="de-DE" sz="2200" dirty="0" err="1"/>
              <a:t>correspond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physical</a:t>
            </a:r>
            <a:r>
              <a:rPr lang="de-DE" sz="2200" dirty="0"/>
              <a:t> </a:t>
            </a:r>
            <a:r>
              <a:rPr lang="de-DE" sz="2200" dirty="0" err="1"/>
              <a:t>quantities</a:t>
            </a:r>
            <a:r>
              <a:rPr lang="de-DE" sz="2200" dirty="0"/>
              <a:t>, e.g., </a:t>
            </a:r>
            <a:r>
              <a:rPr lang="de-DE" sz="2200" dirty="0" err="1"/>
              <a:t>position</a:t>
            </a:r>
            <a:r>
              <a:rPr lang="de-DE" sz="2200" dirty="0"/>
              <a:t>, </a:t>
            </a:r>
            <a:r>
              <a:rPr lang="de-DE" sz="2200" dirty="0" err="1"/>
              <a:t>velocity</a:t>
            </a:r>
            <a:r>
              <a:rPr lang="de-DE" sz="2200" dirty="0"/>
              <a:t>, </a:t>
            </a:r>
            <a:r>
              <a:rPr lang="de-DE" sz="2200" dirty="0" err="1"/>
              <a:t>current</a:t>
            </a:r>
            <a:r>
              <a:rPr lang="de-DE" sz="2200" dirty="0"/>
              <a:t>, </a:t>
            </a:r>
            <a:r>
              <a:rPr lang="de-DE" sz="2200" dirty="0" err="1"/>
              <a:t>voltage</a:t>
            </a:r>
            <a:r>
              <a:rPr lang="de-DE" sz="2200" dirty="0"/>
              <a:t>, </a:t>
            </a:r>
            <a:r>
              <a:rPr lang="de-DE" sz="2200" dirty="0" err="1"/>
              <a:t>temperature</a:t>
            </a:r>
            <a:endParaRPr lang="de-DE" sz="2200" dirty="0"/>
          </a:p>
          <a:p>
            <a:r>
              <a:rPr lang="de-DE" sz="2200" dirty="0"/>
              <a:t>Not </a:t>
            </a:r>
            <a:r>
              <a:rPr lang="de-DE" sz="2200" dirty="0" err="1"/>
              <a:t>unique</a:t>
            </a:r>
            <a:r>
              <a:rPr lang="de-DE" sz="2200" dirty="0"/>
              <a:t>: different </a:t>
            </a:r>
            <a:r>
              <a:rPr lang="de-DE" sz="2200" dirty="0" err="1"/>
              <a:t>choices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state</a:t>
            </a:r>
            <a:r>
              <a:rPr lang="de-DE" sz="2200" dirty="0"/>
              <a:t> variables </a:t>
            </a:r>
            <a:r>
              <a:rPr lang="de-DE" sz="2200" dirty="0" err="1"/>
              <a:t>can</a:t>
            </a:r>
            <a:r>
              <a:rPr lang="de-DE" sz="2200" dirty="0"/>
              <a:t> </a:t>
            </a:r>
            <a:r>
              <a:rPr lang="de-DE" sz="2200" dirty="0" err="1"/>
              <a:t>describe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same </a:t>
            </a:r>
            <a:r>
              <a:rPr lang="de-DE" sz="2200" dirty="0" err="1"/>
              <a:t>system</a:t>
            </a:r>
            <a:endParaRPr lang="de-DE" sz="2200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Input + </a:t>
            </a:r>
            <a:r>
              <a:rPr lang="de-DE" dirty="0" err="1"/>
              <a:t>Current</a:t>
            </a:r>
            <a:r>
              <a:rPr lang="de-DE" dirty="0"/>
              <a:t> State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Future State + Output</a:t>
            </a:r>
          </a:p>
          <a:p>
            <a:pPr marL="0" indent="0">
              <a:buNone/>
            </a:pPr>
            <a:r>
              <a:rPr lang="de-DE" dirty="0"/>
              <a:t>(</a:t>
            </a:r>
            <a:r>
              <a:rPr lang="de-DE" dirty="0" err="1"/>
              <a:t>instead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relating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output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6CA37C1-603A-BDD3-DEB3-04AC6FBDB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68440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6555DD-51A8-9F1E-1CAB-FDDFD27E3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State </a:t>
            </a:r>
            <a:r>
              <a:rPr lang="de-DE" dirty="0" err="1"/>
              <a:t>Equations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022F76F-574A-D599-3D9F-42E56B7ACC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State </a:t>
                </a:r>
                <a:r>
                  <a:rPr lang="de-DE" sz="2600" dirty="0" err="1"/>
                  <a:t>equation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):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acc>
                          <m:accPr>
                            <m:chr m:val="⃗"/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acc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Describes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how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state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evolves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over</a:t>
                </a:r>
                <a:r>
                  <a:rPr lang="de-DE" sz="2600" dirty="0"/>
                  <a:t> time (</a:t>
                </a:r>
                <a:r>
                  <a:rPr lang="de-DE" sz="2400" dirty="0"/>
                  <a:t>time-domain </a:t>
                </a:r>
                <a:r>
                  <a:rPr lang="de-DE" sz="2400" dirty="0" err="1"/>
                  <a:t>formulation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Output </a:t>
                </a:r>
                <a:r>
                  <a:rPr lang="de-DE" sz="2600" dirty="0" err="1"/>
                  <a:t>equation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b="0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𝐷</m:t>
                    </m:r>
                    <m:acc>
                      <m:accPr>
                        <m:chr m:val="⃗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Describes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how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are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generated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Compact </a:t>
                </a:r>
                <a:r>
                  <a:rPr lang="de-DE" sz="2600" dirty="0" err="1"/>
                  <a:t>matrix</a:t>
                </a:r>
                <a:r>
                  <a:rPr lang="de-DE" sz="2600" dirty="0"/>
                  <a:t> form: </a:t>
                </a:r>
                <a:r>
                  <a:rPr lang="de-DE" sz="2600" dirty="0" err="1"/>
                  <a:t>naturally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extends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MIMO </a:t>
                </a:r>
                <a:r>
                  <a:rPr lang="de-DE" sz="2600" dirty="0" err="1"/>
                  <a:t>systems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022F76F-574A-D599-3D9F-42E56B7ACC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b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FE36194-C64E-F924-915B-73CE74E81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A0941DC-F72E-5C64-E0ED-B64BD4698EC4}"/>
                  </a:ext>
                </a:extLst>
              </p:cNvPr>
              <p:cNvSpPr txBox="1"/>
              <p:nvPr/>
            </p:nvSpPr>
            <p:spPr>
              <a:xfrm>
                <a:off x="6303666" y="1027906"/>
                <a:ext cx="5493936" cy="117468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200" dirty="0"/>
                  <a:t>: </a:t>
                </a:r>
                <a:r>
                  <a:rPr lang="de-DE" sz="2200" dirty="0" err="1"/>
                  <a:t>state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vector</a:t>
                </a:r>
                <a:r>
                  <a:rPr lang="de-DE" sz="2200" dirty="0"/>
                  <a:t> (internal </a:t>
                </a:r>
                <a:r>
                  <a:rPr lang="de-DE" sz="2200" dirty="0" err="1"/>
                  <a:t>system</a:t>
                </a:r>
                <a:r>
                  <a:rPr lang="de-DE" sz="2200" dirty="0"/>
                  <a:t> variables)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200" dirty="0"/>
                  <a:t>: </a:t>
                </a:r>
                <a:r>
                  <a:rPr lang="de-DE" sz="2200" dirty="0" err="1"/>
                  <a:t>input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vector</a:t>
                </a:r>
                <a:endParaRPr lang="de-DE" sz="2200" dirty="0"/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200" dirty="0"/>
                  <a:t>: </a:t>
                </a:r>
                <a:r>
                  <a:rPr lang="de-DE" sz="2200" dirty="0" err="1"/>
                  <a:t>output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vector</a:t>
                </a:r>
                <a:endParaRPr lang="de-DE" sz="22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A0941DC-F72E-5C64-E0ED-B64BD4698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3666" y="1027906"/>
                <a:ext cx="5493936" cy="1174681"/>
              </a:xfrm>
              <a:prstGeom prst="rect">
                <a:avLst/>
              </a:prstGeom>
              <a:blipFill>
                <a:blip r:embed="rId3"/>
                <a:stretch>
                  <a:fillRect l="-230" t="-8511" r="-1149" b="-851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36317590-8B48-CB6B-C06A-A5613ED2801B}"/>
                  </a:ext>
                </a:extLst>
              </p:cNvPr>
              <p:cNvSpPr txBox="1"/>
              <p:nvPr/>
            </p:nvSpPr>
            <p:spPr>
              <a:xfrm>
                <a:off x="7092461" y="3541261"/>
                <a:ext cx="4705141" cy="18518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de-DE" sz="2200" dirty="0"/>
                  <a:t>System </a:t>
                </a:r>
                <a:r>
                  <a:rPr lang="de-DE" sz="2200" dirty="0" err="1"/>
                  <a:t>matrices</a:t>
                </a:r>
                <a:r>
                  <a:rPr lang="de-DE" sz="2200" dirty="0"/>
                  <a:t>:</a:t>
                </a:r>
              </a:p>
              <a:p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2200" dirty="0"/>
                  <a:t>: </a:t>
                </a:r>
                <a:r>
                  <a:rPr lang="de-DE" sz="2200" dirty="0" err="1"/>
                  <a:t>system</a:t>
                </a:r>
                <a:r>
                  <a:rPr lang="de-DE" sz="2200" dirty="0"/>
                  <a:t> </a:t>
                </a:r>
                <a:r>
                  <a:rPr lang="de-DE" sz="2200" dirty="0" err="1"/>
                  <a:t>matrix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dynamics</a:t>
                </a:r>
                <a:r>
                  <a:rPr lang="de-DE" sz="22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2200" dirty="0"/>
                  <a:t>: </a:t>
                </a:r>
                <a:r>
                  <a:rPr lang="de-DE" sz="2200" dirty="0" err="1"/>
                  <a:t>input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matrix</a:t>
                </a:r>
                <a:endParaRPr lang="de-DE" sz="2200" dirty="0"/>
              </a:p>
              <a:p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200" dirty="0"/>
                  <a:t>: </a:t>
                </a:r>
                <a:r>
                  <a:rPr lang="de-DE" sz="2200" dirty="0" err="1"/>
                  <a:t>output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matrix</a:t>
                </a:r>
                <a:endParaRPr lang="de-DE" sz="2200" dirty="0"/>
              </a:p>
              <a:p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de-DE" sz="2200" dirty="0"/>
                  <a:t>: </a:t>
                </a:r>
                <a:r>
                  <a:rPr lang="de-DE" sz="2200" dirty="0" err="1"/>
                  <a:t>feedthrough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direct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input</a:t>
                </a:r>
                <a:r>
                  <a:rPr lang="de-DE" sz="2200" dirty="0"/>
                  <a:t> → </a:t>
                </a:r>
                <a:r>
                  <a:rPr lang="de-DE" sz="2200" dirty="0" err="1"/>
                  <a:t>output</a:t>
                </a:r>
                <a:r>
                  <a:rPr lang="de-DE" sz="2200" dirty="0"/>
                  <a:t>)</a:t>
                </a: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36317590-8B48-CB6B-C06A-A5613ED28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2461" y="3541261"/>
                <a:ext cx="4705141" cy="1851854"/>
              </a:xfrm>
              <a:prstGeom prst="rect">
                <a:avLst/>
              </a:prstGeom>
              <a:blipFill>
                <a:blip r:embed="rId4"/>
                <a:stretch>
                  <a:fillRect l="-1340" t="-2027" r="-804" b="-135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6897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06C825-3FF3-172B-5FEA-034372B93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Mass</a:t>
            </a:r>
            <a:r>
              <a:rPr lang="de-DE" dirty="0"/>
              <a:t>-Spring-</a:t>
            </a:r>
            <a:r>
              <a:rPr lang="de-DE" dirty="0" err="1"/>
              <a:t>Damper</a:t>
            </a:r>
            <a:r>
              <a:rPr lang="de-DE" dirty="0"/>
              <a:t>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66C9F9-AE7F-AC9B-37F9-0DF819B010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Differential </a:t>
                </a:r>
                <a:r>
                  <a:rPr lang="de-DE" dirty="0" err="1"/>
                  <a:t>equation</a:t>
                </a:r>
                <a:r>
                  <a:rPr lang="de-DE" dirty="0"/>
                  <a:t> (</a:t>
                </a:r>
                <a:r>
                  <a:rPr lang="de-DE" dirty="0" err="1"/>
                  <a:t>Newton’s</a:t>
                </a:r>
                <a:r>
                  <a:rPr lang="de-DE" dirty="0"/>
                  <a:t> </a:t>
                </a:r>
                <a:r>
                  <a:rPr lang="de-DE" dirty="0" err="1"/>
                  <a:t>law</a:t>
                </a:r>
                <a:r>
                  <a:rPr lang="de-DE" dirty="0"/>
                  <a:t>):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𝑚</m:t>
                    </m:r>
                    <m:acc>
                      <m:accPr>
                        <m:chr m:val="̈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𝑘𝑥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Choice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state</a:t>
                </a:r>
                <a:r>
                  <a:rPr lang="de-DE" dirty="0"/>
                  <a:t> variables: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position</a:t>
                </a:r>
                <a:r>
                  <a:rPr lang="de-DE" dirty="0"/>
                  <a:t>		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velocity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State-</a:t>
                </a:r>
                <a:r>
                  <a:rPr lang="de-DE" dirty="0" err="1"/>
                  <a:t>space</a:t>
                </a:r>
                <a:r>
                  <a:rPr lang="de-DE" dirty="0"/>
                  <a:t> form: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		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Matrix </a:t>
                </a:r>
                <a:r>
                  <a:rPr lang="de-DE" dirty="0" err="1"/>
                  <a:t>representation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acc>
                          <m:accPr>
                            <m:chr m:val="⃗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num>
                                <m:den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num>
                                <m:den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mr>
                        </m:m>
                      </m:e>
                    </m:d>
                    <m:acc>
                      <m:accPr>
                        <m:chr m:val="⃗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f>
                                <m:f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mr>
                        </m:m>
                      </m:e>
                    </m:d>
                    <m:acc>
                      <m:accPr>
                        <m:chr m:val="⃗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</m:oMath>
                </a14:m>
                <a:r>
                  <a:rPr lang="de-DE" dirty="0"/>
                  <a:t>		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acc>
                      <m:accPr>
                        <m:chr m:val="⃗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66C9F9-AE7F-AC9B-37F9-0DF819B010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706F39C-A0E6-2756-6873-340201429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5DE8FD1-1275-BA01-6BE4-31CDE0E095A0}"/>
              </a:ext>
            </a:extLst>
          </p:cNvPr>
          <p:cNvSpPr txBox="1"/>
          <p:nvPr/>
        </p:nvSpPr>
        <p:spPr>
          <a:xfrm>
            <a:off x="6927573" y="2117035"/>
            <a:ext cx="2801729" cy="4924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600" dirty="0" err="1"/>
              <a:t>Physical</a:t>
            </a:r>
            <a:r>
              <a:rPr lang="de-DE" sz="2600" dirty="0"/>
              <a:t> </a:t>
            </a:r>
            <a:r>
              <a:rPr lang="de-DE" sz="2600" dirty="0" err="1"/>
              <a:t>modeling</a:t>
            </a:r>
            <a:endParaRPr lang="de-DE" sz="26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6DA79758-F6CF-21C8-F95D-7EB34BEB7BC4}"/>
              </a:ext>
            </a:extLst>
          </p:cNvPr>
          <p:cNvCxnSpPr>
            <a:stCxn id="5" idx="1"/>
          </p:cNvCxnSpPr>
          <p:nvPr/>
        </p:nvCxnSpPr>
        <p:spPr>
          <a:xfrm flipH="1">
            <a:off x="5267739" y="2363257"/>
            <a:ext cx="1659834" cy="7775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A768466-C365-061C-2D14-B0CEF2916C4E}"/>
              </a:ext>
            </a:extLst>
          </p:cNvPr>
          <p:cNvCxnSpPr/>
          <p:nvPr/>
        </p:nvCxnSpPr>
        <p:spPr>
          <a:xfrm>
            <a:off x="8328437" y="2609478"/>
            <a:ext cx="507450" cy="531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8A748BA1-33BD-AD15-F29B-CA1EEEA04047}"/>
              </a:ext>
            </a:extLst>
          </p:cNvPr>
          <p:cNvSpPr txBox="1"/>
          <p:nvPr/>
        </p:nvSpPr>
        <p:spPr>
          <a:xfrm>
            <a:off x="3581401" y="6358374"/>
            <a:ext cx="6240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sake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simplicity</a:t>
            </a:r>
            <a:r>
              <a:rPr lang="de-DE" dirty="0"/>
              <a:t>, </a:t>
            </a:r>
            <a:r>
              <a:rPr lang="de-DE" dirty="0" err="1"/>
              <a:t>we</a:t>
            </a:r>
            <a:r>
              <a:rPr lang="de-DE" dirty="0"/>
              <a:t> will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longer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vector</a:t>
            </a:r>
            <a:r>
              <a:rPr lang="de-DE" dirty="0"/>
              <a:t> </a:t>
            </a:r>
            <a:r>
              <a:rPr lang="de-DE" dirty="0" err="1"/>
              <a:t>arrows</a:t>
            </a:r>
            <a:r>
              <a:rPr lang="de-DE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675288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D80E87EB-CA9E-D94C-C85A-74733737B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Physical</a:t>
            </a:r>
            <a:r>
              <a:rPr lang="de-DE" dirty="0"/>
              <a:t> Modeling </a:t>
            </a:r>
            <a:r>
              <a:rPr lang="de-DE" dirty="0" err="1"/>
              <a:t>or</a:t>
            </a:r>
            <a:r>
              <a:rPr lang="de-DE" dirty="0"/>
              <a:t> Construction 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7B793A8-3A9A-F5E9-0D8B-F4F17148CC2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10515600" cy="3964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0E0E0E"/>
                </a:solidFill>
              </a:rPr>
              <a:t>T</a:t>
            </a:r>
            <a:r>
              <a:rPr lang="de-DE" dirty="0" err="1">
                <a:solidFill>
                  <a:srgbClr val="0E0E0E"/>
                </a:solidFill>
                <a:effectLst/>
              </a:rPr>
              <a:t>wo</a:t>
            </a:r>
            <a:r>
              <a:rPr lang="de-DE" dirty="0">
                <a:solidFill>
                  <a:srgbClr val="0E0E0E"/>
                </a:solidFill>
                <a:effectLst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</a:rPr>
              <a:t>ways</a:t>
            </a:r>
            <a:r>
              <a:rPr lang="de-DE" dirty="0">
                <a:solidFill>
                  <a:srgbClr val="0E0E0E"/>
                </a:solidFill>
                <a:effectLst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</a:rPr>
              <a:t>to</a:t>
            </a:r>
            <a:r>
              <a:rPr lang="de-DE" dirty="0">
                <a:solidFill>
                  <a:srgbClr val="0E0E0E"/>
                </a:solidFill>
                <a:effectLst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</a:rPr>
              <a:t>get</a:t>
            </a:r>
            <a:r>
              <a:rPr lang="de-DE" dirty="0">
                <a:solidFill>
                  <a:srgbClr val="0E0E0E"/>
                </a:solidFill>
                <a:effectLst/>
              </a:rPr>
              <a:t> a </a:t>
            </a:r>
            <a:r>
              <a:rPr lang="de-DE" dirty="0" err="1">
                <a:solidFill>
                  <a:srgbClr val="0E0E0E"/>
                </a:solidFill>
                <a:effectLst/>
              </a:rPr>
              <a:t>state-space</a:t>
            </a:r>
            <a:r>
              <a:rPr lang="de-DE" dirty="0">
                <a:solidFill>
                  <a:srgbClr val="0E0E0E"/>
                </a:solidFill>
                <a:effectLst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</a:rPr>
              <a:t>model</a:t>
            </a:r>
            <a:r>
              <a:rPr lang="de-DE" dirty="0">
                <a:solidFill>
                  <a:srgbClr val="0E0E0E"/>
                </a:solidFill>
                <a:effectLst/>
              </a:rPr>
              <a:t>:</a:t>
            </a:r>
          </a:p>
          <a:p>
            <a:pPr marL="0" indent="0">
              <a:buNone/>
            </a:pPr>
            <a:endParaRPr lang="de-DE" dirty="0">
              <a:solidFill>
                <a:srgbClr val="0E0E0E"/>
              </a:solidFill>
              <a:effectLst/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dirty="0" err="1">
                <a:solidFill>
                  <a:srgbClr val="0E0E0E"/>
                </a:solidFill>
                <a:effectLst/>
              </a:rPr>
              <a:t>From</a:t>
            </a:r>
            <a:r>
              <a:rPr lang="de-DE" dirty="0">
                <a:solidFill>
                  <a:srgbClr val="0E0E0E"/>
                </a:solidFill>
                <a:effectLst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</a:rPr>
              <a:t>physics</a:t>
            </a:r>
            <a:r>
              <a:rPr lang="de-DE" dirty="0">
                <a:solidFill>
                  <a:srgbClr val="0E0E0E"/>
                </a:solidFill>
                <a:effectLst/>
              </a:rPr>
              <a:t> → </a:t>
            </a:r>
            <a:r>
              <a:rPr lang="de-DE" dirty="0" err="1">
                <a:solidFill>
                  <a:srgbClr val="0E0E0E"/>
                </a:solidFill>
                <a:effectLst/>
              </a:rPr>
              <a:t>define</a:t>
            </a:r>
            <a:r>
              <a:rPr lang="de-DE" dirty="0">
                <a:solidFill>
                  <a:srgbClr val="0E0E0E"/>
                </a:solidFill>
                <a:effectLst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</a:rPr>
              <a:t>states</a:t>
            </a:r>
            <a:r>
              <a:rPr lang="de-DE" dirty="0">
                <a:solidFill>
                  <a:srgbClr val="0E0E0E"/>
                </a:solidFill>
                <a:effectLst/>
              </a:rPr>
              <a:t> → </a:t>
            </a:r>
            <a:r>
              <a:rPr lang="de-DE" dirty="0" err="1">
                <a:solidFill>
                  <a:srgbClr val="0E0E0E"/>
                </a:solidFill>
                <a:effectLst/>
              </a:rPr>
              <a:t>get</a:t>
            </a:r>
            <a:r>
              <a:rPr lang="de-DE" dirty="0">
                <a:solidFill>
                  <a:srgbClr val="0E0E0E"/>
                </a:solidFill>
                <a:effectLst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</a:rPr>
              <a:t>matrices</a:t>
            </a:r>
            <a:r>
              <a:rPr lang="de-DE" dirty="0">
                <a:solidFill>
                  <a:srgbClr val="0E0E0E"/>
                </a:solidFill>
              </a:rPr>
              <a:t>: </a:t>
            </a:r>
            <a:r>
              <a:rPr lang="de-DE" dirty="0" err="1">
                <a:solidFill>
                  <a:srgbClr val="0E0E0E"/>
                </a:solidFill>
              </a:rPr>
              <a:t>physical</a:t>
            </a:r>
            <a:r>
              <a:rPr lang="de-DE" dirty="0">
                <a:solidFill>
                  <a:srgbClr val="0E0E0E"/>
                </a:solidFill>
              </a:rPr>
              <a:t> </a:t>
            </a:r>
            <a:r>
              <a:rPr lang="de-DE" dirty="0" err="1">
                <a:solidFill>
                  <a:srgbClr val="0E0E0E"/>
                </a:solidFill>
              </a:rPr>
              <a:t>states</a:t>
            </a:r>
            <a:endParaRPr lang="de-DE" dirty="0">
              <a:solidFill>
                <a:srgbClr val="0E0E0E"/>
              </a:solidFill>
              <a:effectLst/>
            </a:endParaRPr>
          </a:p>
          <a:p>
            <a:pPr marL="342900" indent="-342900">
              <a:buFont typeface="+mj-lt"/>
              <a:buAutoNum type="arabicPeriod"/>
            </a:pPr>
            <a:endParaRPr lang="de-DE" dirty="0">
              <a:solidFill>
                <a:srgbClr val="0E0E0E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dirty="0" err="1">
                <a:solidFill>
                  <a:srgbClr val="0E0E0E"/>
                </a:solidFill>
                <a:effectLst/>
              </a:rPr>
              <a:t>From</a:t>
            </a:r>
            <a:r>
              <a:rPr lang="de-DE" dirty="0">
                <a:solidFill>
                  <a:srgbClr val="0E0E0E"/>
                </a:solidFill>
                <a:effectLst/>
              </a:rPr>
              <a:t> a </a:t>
            </a:r>
            <a:r>
              <a:rPr lang="de-DE" dirty="0" err="1">
                <a:solidFill>
                  <a:srgbClr val="0E0E0E"/>
                </a:solidFill>
                <a:effectLst/>
              </a:rPr>
              <a:t>transfer</a:t>
            </a:r>
            <a:r>
              <a:rPr lang="de-DE" dirty="0">
                <a:solidFill>
                  <a:srgbClr val="0E0E0E"/>
                </a:solidFill>
                <a:effectLst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</a:rPr>
              <a:t>function</a:t>
            </a:r>
            <a:r>
              <a:rPr lang="de-DE" dirty="0">
                <a:solidFill>
                  <a:srgbClr val="0E0E0E"/>
                </a:solidFill>
                <a:effectLst/>
              </a:rPr>
              <a:t> → </a:t>
            </a:r>
            <a:r>
              <a:rPr lang="de-DE" dirty="0" err="1">
                <a:solidFill>
                  <a:srgbClr val="0E0E0E"/>
                </a:solidFill>
                <a:effectLst/>
              </a:rPr>
              <a:t>define</a:t>
            </a:r>
            <a:r>
              <a:rPr lang="de-DE" dirty="0">
                <a:solidFill>
                  <a:srgbClr val="0E0E0E"/>
                </a:solidFill>
                <a:effectLst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</a:rPr>
              <a:t>matrices</a:t>
            </a:r>
            <a:r>
              <a:rPr lang="de-DE" dirty="0">
                <a:solidFill>
                  <a:srgbClr val="0E0E0E"/>
                </a:solidFill>
                <a:effectLst/>
              </a:rPr>
              <a:t> → </a:t>
            </a:r>
            <a:r>
              <a:rPr lang="de-DE" dirty="0" err="1">
                <a:solidFill>
                  <a:srgbClr val="0E0E0E"/>
                </a:solidFill>
                <a:effectLst/>
              </a:rPr>
              <a:t>get</a:t>
            </a:r>
            <a:r>
              <a:rPr lang="de-DE" dirty="0">
                <a:solidFill>
                  <a:srgbClr val="0E0E0E"/>
                </a:solidFill>
                <a:effectLst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</a:rPr>
              <a:t>states</a:t>
            </a:r>
            <a:r>
              <a:rPr lang="de-DE" dirty="0">
                <a:solidFill>
                  <a:srgbClr val="0E0E0E"/>
                </a:solidFill>
              </a:rPr>
              <a:t>: </a:t>
            </a:r>
            <a:r>
              <a:rPr lang="de-DE" dirty="0" err="1"/>
              <a:t>structured</a:t>
            </a:r>
            <a:r>
              <a:rPr lang="de-DE" dirty="0"/>
              <a:t>, </a:t>
            </a:r>
            <a:r>
              <a:rPr lang="de-DE" dirty="0" err="1"/>
              <a:t>useful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design (</a:t>
            </a:r>
            <a:r>
              <a:rPr lang="de-DE" dirty="0" err="1"/>
              <a:t>canonical</a:t>
            </a:r>
            <a:r>
              <a:rPr lang="de-DE" dirty="0"/>
              <a:t> </a:t>
            </a:r>
            <a:r>
              <a:rPr lang="de-DE" dirty="0" err="1"/>
              <a:t>forms</a:t>
            </a:r>
            <a:r>
              <a:rPr lang="de-DE" dirty="0"/>
              <a:t>)</a:t>
            </a:r>
            <a:endParaRPr lang="de-DE" dirty="0">
              <a:solidFill>
                <a:srgbClr val="0E0E0E"/>
              </a:solidFill>
              <a:effectLst/>
            </a:endParaRPr>
          </a:p>
          <a:p>
            <a:pPr marL="0" indent="0">
              <a:buNone/>
            </a:pPr>
            <a:endParaRPr lang="de-DE" dirty="0">
              <a:solidFill>
                <a:srgbClr val="0E0E0E"/>
              </a:solidFill>
            </a:endParaRPr>
          </a:p>
          <a:p>
            <a:pPr marL="0" indent="0">
              <a:buNone/>
            </a:pPr>
            <a:r>
              <a:rPr lang="de-DE" dirty="0">
                <a:solidFill>
                  <a:srgbClr val="0E0E0E"/>
                </a:solidFill>
                <a:sym typeface="Wingdings" pitchFamily="2" charset="2"/>
              </a:rPr>
              <a:t> </a:t>
            </a:r>
            <a:r>
              <a:rPr lang="de-DE" dirty="0">
                <a:solidFill>
                  <a:srgbClr val="0E0E0E"/>
                </a:solidFill>
              </a:rPr>
              <a:t>Same </a:t>
            </a:r>
            <a:r>
              <a:rPr lang="de-DE" dirty="0" err="1">
                <a:solidFill>
                  <a:srgbClr val="0E0E0E"/>
                </a:solidFill>
              </a:rPr>
              <a:t>system</a:t>
            </a:r>
            <a:r>
              <a:rPr lang="de-DE" dirty="0">
                <a:solidFill>
                  <a:srgbClr val="0E0E0E"/>
                </a:solidFill>
              </a:rPr>
              <a:t>, just different </a:t>
            </a:r>
            <a:r>
              <a:rPr lang="de-DE" dirty="0" err="1">
                <a:solidFill>
                  <a:srgbClr val="0E0E0E"/>
                </a:solidFill>
              </a:rPr>
              <a:t>coordinates</a:t>
            </a:r>
            <a:endParaRPr lang="de-DE" dirty="0">
              <a:solidFill>
                <a:srgbClr val="0E0E0E"/>
              </a:solidFill>
              <a:effectLst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03DA4A6-DBA6-17DA-23BE-B43444347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8678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81C27C-DA58-32A0-C177-865A416FD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From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State Space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FFBDD9F-56D7-7E5C-3B08-F11409673A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describes</a:t>
                </a:r>
                <a:r>
                  <a:rPr lang="de-DE" dirty="0"/>
                  <a:t> input-output </a:t>
                </a:r>
                <a:r>
                  <a:rPr lang="de-DE" dirty="0" err="1"/>
                  <a:t>behavior</a:t>
                </a:r>
                <a:r>
                  <a:rPr lang="de-DE" dirty="0"/>
                  <a:t> in </a:t>
                </a:r>
                <a:r>
                  <a:rPr lang="de-DE" dirty="0" err="1"/>
                  <a:t>the</a:t>
                </a:r>
                <a:r>
                  <a:rPr lang="de-DE" dirty="0"/>
                  <a:t> Laplace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controllable</a:t>
                </a:r>
                <a:r>
                  <a:rPr lang="de-DE" dirty="0"/>
                  <a:t> </a:t>
                </a:r>
                <a:r>
                  <a:rPr lang="de-DE" dirty="0" err="1"/>
                  <a:t>canonical</a:t>
                </a:r>
                <a:r>
                  <a:rPr lang="de-DE" dirty="0"/>
                  <a:t> form: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obtain</a:t>
                </a:r>
                <a:r>
                  <a:rPr lang="de-DE" dirty="0"/>
                  <a:t> time-domain </a:t>
                </a:r>
                <a:r>
                  <a:rPr lang="de-DE" dirty="0" err="1"/>
                  <a:t>equation</a:t>
                </a:r>
                <a:r>
                  <a:rPr lang="de-DE" dirty="0"/>
                  <a:t> (via inverse Laplace </a:t>
                </a:r>
                <a:r>
                  <a:rPr lang="de-DE" dirty="0" err="1"/>
                  <a:t>transform</a:t>
                </a:r>
                <a:r>
                  <a:rPr lang="de-DE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Choose</a:t>
                </a:r>
                <a:r>
                  <a:rPr lang="de-DE" dirty="0"/>
                  <a:t> </a:t>
                </a:r>
                <a:r>
                  <a:rPr lang="de-DE" dirty="0" err="1"/>
                  <a:t>state</a:t>
                </a:r>
                <a:r>
                  <a:rPr lang="de-DE" dirty="0"/>
                  <a:t> variables </a:t>
                </a:r>
                <a:r>
                  <a:rPr lang="de-DE" dirty="0" err="1"/>
                  <a:t>based</a:t>
                </a:r>
                <a:r>
                  <a:rPr lang="de-DE" dirty="0"/>
                  <a:t> on derivatives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: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de-DE" dirty="0"/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de-DE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de-DE" dirty="0"/>
                  <a:t>,  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de-DE" dirty="0"/>
                  <a:t>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d>
                          <m:d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sup>
                    </m:sSup>
                  </m:oMath>
                </a14:m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Build</a:t>
                </a:r>
                <a:r>
                  <a:rPr lang="de-DE" dirty="0"/>
                  <a:t> </a:t>
                </a:r>
                <a:r>
                  <a:rPr lang="de-DE" dirty="0" err="1"/>
                  <a:t>state</a:t>
                </a:r>
                <a:r>
                  <a:rPr lang="de-DE" dirty="0"/>
                  <a:t> </a:t>
                </a:r>
                <a:r>
                  <a:rPr lang="de-DE" dirty="0" err="1"/>
                  <a:t>equations</a:t>
                </a:r>
                <a:r>
                  <a:rPr lang="de-DE" dirty="0"/>
                  <a:t>: Express </a:t>
                </a:r>
                <a:r>
                  <a:rPr lang="de-DE" dirty="0" err="1"/>
                  <a:t>highest</a:t>
                </a:r>
                <a:r>
                  <a:rPr lang="de-DE" dirty="0"/>
                  <a:t> derivative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d>
                          <m:d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sup>
                    </m:sSup>
                  </m:oMath>
                </a14:m>
                <a:r>
                  <a:rPr lang="de-DE" dirty="0"/>
                  <a:t> by lower-order </a:t>
                </a:r>
                <a:r>
                  <a:rPr lang="de-DE" dirty="0" err="1"/>
                  <a:t>states</a:t>
                </a:r>
                <a:r>
                  <a:rPr lang="de-DE" dirty="0"/>
                  <a:t> and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Assemble</a:t>
                </a:r>
                <a:r>
                  <a:rPr lang="de-DE" dirty="0"/>
                  <a:t> </a:t>
                </a:r>
                <a:r>
                  <a:rPr lang="de-DE" dirty="0" err="1"/>
                  <a:t>into</a:t>
                </a:r>
                <a:r>
                  <a:rPr lang="de-DE" dirty="0"/>
                  <a:t> </a:t>
                </a:r>
                <a:r>
                  <a:rPr lang="de-DE" dirty="0" err="1"/>
                  <a:t>standard</a:t>
                </a:r>
                <a:r>
                  <a:rPr lang="de-DE" dirty="0"/>
                  <a:t> </a:t>
                </a:r>
                <a:r>
                  <a:rPr lang="de-DE" dirty="0" err="1"/>
                  <a:t>matrix</a:t>
                </a:r>
                <a:r>
                  <a:rPr lang="de-DE" dirty="0"/>
                  <a:t> form: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de-DE" dirty="0"/>
                  <a:t>,  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Conversion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dirty="0" err="1"/>
                  <a:t>th</a:t>
                </a:r>
                <a:r>
                  <a:rPr lang="de-DE" dirty="0"/>
                  <a:t>-order differential </a:t>
                </a:r>
                <a:r>
                  <a:rPr lang="de-DE" dirty="0" err="1"/>
                  <a:t>equation</a:t>
                </a:r>
                <a:r>
                  <a:rPr lang="de-DE" dirty="0"/>
                  <a:t> </a:t>
                </a:r>
                <a:r>
                  <a:rPr lang="de-DE" dirty="0" err="1"/>
                  <a:t>into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dirty="0"/>
                  <a:t> first-order </a:t>
                </a:r>
                <a:r>
                  <a:rPr lang="de-DE" dirty="0" err="1"/>
                  <a:t>equations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FFBDD9F-56D7-7E5C-3B08-F11409673A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0138A49-7A25-8703-6E2D-B8BCCE485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74885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A86E22-B85A-870D-5172-108556168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Second-Order System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CE6D4C8-816C-4E40-641D-88EB7199FC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+3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+2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>
                    <a:sym typeface="Wingdings" pitchFamily="2" charset="2"/>
                  </a:rPr>
                  <a:t>	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de-DE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𝑦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+3</m:t>
                    </m:r>
                    <m:acc>
                      <m:accPr>
                        <m:chr m:val="̇"/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𝑦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+2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𝑦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𝑢</m:t>
                    </m:r>
                  </m:oMath>
                </a14:m>
                <a:endParaRPr lang="de-DE" b="0" dirty="0">
                  <a:sym typeface="Wingdings" pitchFamily="2" charset="2"/>
                </a:endParaRPr>
              </a:p>
              <a:p>
                <a:pPr marL="514350" indent="-514350">
                  <a:buFont typeface="+mj-lt"/>
                  <a:buAutoNum type="arabicPeriod"/>
                </a:pPr>
                <a:endParaRPr lang="de-DE" b="0" dirty="0">
                  <a:sym typeface="Wingdings" pitchFamily="2" charset="2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>
                    <a:sym typeface="Wingdings" pitchFamily="2" charset="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𝑦</m:t>
                    </m:r>
                  </m:oMath>
                </a14:m>
                <a:r>
                  <a:rPr lang="de-DE" dirty="0"/>
                  <a:t>,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de-DE" dirty="0"/>
                  <a:t>	</a:t>
                </a:r>
                <a:r>
                  <a:rPr lang="de-DE" sz="2200" dirty="0"/>
                  <a:t>(not </a:t>
                </a:r>
                <a:r>
                  <a:rPr lang="de-DE" sz="2200" dirty="0" err="1"/>
                  <a:t>necessarily</a:t>
                </a:r>
                <a:r>
                  <a:rPr lang="de-DE" sz="2200" dirty="0"/>
                  <a:t> </a:t>
                </a:r>
                <a:r>
                  <a:rPr lang="de-DE" sz="2200" dirty="0" err="1"/>
                  <a:t>identical</a:t>
                </a:r>
                <a:r>
                  <a:rPr lang="de-DE" sz="2200" dirty="0"/>
                  <a:t> 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physical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states</a:t>
                </a:r>
                <a:r>
                  <a:rPr lang="de-DE" sz="2200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>
                    <a:sym typeface="Wingdings" pitchFamily="2" charset="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acc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,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−2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−3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𝑢</m:t>
                    </m:r>
                  </m:oMath>
                </a14:m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>
                    <a:sym typeface="Wingdings" pitchFamily="2" charset="2"/>
                  </a:rPr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sym typeface="Wingdings" pitchFamily="2" charset="2"/>
                                </a:rPr>
                                <m:t>0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sym typeface="Wingdings" pitchFamily="2" charset="2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sym typeface="Wingdings" pitchFamily="2" charset="2"/>
                                </a:rPr>
                                <m:t>−2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sym typeface="Wingdings" pitchFamily="2" charset="2"/>
                                </a:rPr>
                                <m:t>−3</m:t>
                              </m:r>
                            </m:e>
                          </m:mr>
                        </m:m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𝑥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sym typeface="Wingdings" pitchFamily="2" charset="2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sym typeface="Wingdings" pitchFamily="2" charset="2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𝑢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,	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𝑦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sym typeface="Wingdings" pitchFamily="2" charset="2"/>
                                </a:rPr>
                                <m:t>1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sym typeface="Wingdings" pitchFamily="2" charset="2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𝑥</m:t>
                    </m:r>
                  </m:oMath>
                </a14:m>
                <a:endParaRPr lang="de-DE" dirty="0">
                  <a:sym typeface="Wingdings" pitchFamily="2" charset="2"/>
                </a:endParaRP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CE6D4C8-816C-4E40-641D-88EB7199FC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872" b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8989F8-814F-385B-12B1-5A4049EC6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3651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B57BC5-B90A-E2CC-E4B2-53E5F9B89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Controllable</a:t>
            </a:r>
            <a:r>
              <a:rPr lang="de-DE" dirty="0"/>
              <a:t> </a:t>
            </a:r>
            <a:r>
              <a:rPr lang="de-DE" dirty="0" err="1"/>
              <a:t>Canonical</a:t>
            </a:r>
            <a:r>
              <a:rPr lang="de-DE" dirty="0"/>
              <a:t>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352FD62-5994-822C-32F9-760E3E3B18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 ⇄ State </a:t>
                </a:r>
                <a:r>
                  <a:rPr lang="de-DE" dirty="0" err="1"/>
                  <a:t>space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s</a:t>
                </a:r>
                <a:r>
                  <a:rPr lang="de-DE" dirty="0"/>
                  <a:t>ame </a:t>
                </a:r>
                <a:r>
                  <a:rPr lang="de-DE" dirty="0" err="1"/>
                  <a:t>system</a:t>
                </a:r>
                <a:r>
                  <a:rPr lang="de-DE" dirty="0"/>
                  <a:t>, different </a:t>
                </a:r>
                <a:r>
                  <a:rPr lang="de-DE" dirty="0" err="1"/>
                  <a:t>representations</a:t>
                </a:r>
                <a:endParaRPr lang="de-DE" dirty="0"/>
              </a:p>
              <a:p>
                <a:r>
                  <a:rPr lang="de-DE" dirty="0"/>
                  <a:t>Also multiple valid </a:t>
                </a:r>
                <a:r>
                  <a:rPr lang="de-DE" dirty="0" err="1"/>
                  <a:t>state-space</a:t>
                </a:r>
                <a:r>
                  <a:rPr lang="de-DE" dirty="0"/>
                  <a:t> </a:t>
                </a:r>
                <a:r>
                  <a:rPr lang="de-DE" dirty="0" err="1"/>
                  <a:t>models</a:t>
                </a:r>
                <a:r>
                  <a:rPr lang="de-DE" dirty="0"/>
                  <a:t> (</a:t>
                </a:r>
                <a:r>
                  <a:rPr lang="de-DE" dirty="0" err="1"/>
                  <a:t>equivalent</a:t>
                </a:r>
                <a:r>
                  <a:rPr lang="de-DE" dirty="0"/>
                  <a:t> </a:t>
                </a:r>
                <a:r>
                  <a:rPr lang="de-DE" dirty="0" err="1"/>
                  <a:t>representations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same </a:t>
                </a:r>
                <a:r>
                  <a:rPr lang="de-DE" dirty="0" err="1"/>
                  <a:t>system</a:t>
                </a:r>
                <a:r>
                  <a:rPr lang="de-DE" dirty="0"/>
                  <a:t>): </a:t>
                </a:r>
                <a:r>
                  <a:rPr lang="de-DE" dirty="0" err="1"/>
                  <a:t>choice</a:t>
                </a:r>
                <a:r>
                  <a:rPr lang="de-DE" dirty="0"/>
                  <a:t> </a:t>
                </a:r>
                <a:r>
                  <a:rPr lang="de-DE" dirty="0" err="1"/>
                  <a:t>depends</a:t>
                </a:r>
                <a:r>
                  <a:rPr lang="de-DE" dirty="0"/>
                  <a:t> on </a:t>
                </a:r>
                <a:r>
                  <a:rPr lang="de-DE" dirty="0" err="1"/>
                  <a:t>analysis</a:t>
                </a:r>
                <a:r>
                  <a:rPr lang="de-DE" dirty="0"/>
                  <a:t> </a:t>
                </a:r>
                <a:r>
                  <a:rPr lang="de-DE" dirty="0" err="1"/>
                  <a:t>or</a:t>
                </a:r>
                <a:r>
                  <a:rPr lang="de-DE" dirty="0"/>
                  <a:t> design </a:t>
                </a:r>
                <a:r>
                  <a:rPr lang="de-DE" dirty="0" err="1"/>
                  <a:t>goals</a:t>
                </a:r>
                <a:endParaRPr lang="de-DE" dirty="0"/>
              </a:p>
              <a:p>
                <a:r>
                  <a:rPr lang="de-DE" dirty="0" err="1"/>
                  <a:t>Canonical</a:t>
                </a:r>
                <a:r>
                  <a:rPr lang="de-DE" dirty="0"/>
                  <a:t> </a:t>
                </a:r>
                <a:r>
                  <a:rPr lang="de-DE" dirty="0" err="1"/>
                  <a:t>forms</a:t>
                </a:r>
                <a:r>
                  <a:rPr lang="de-DE" dirty="0"/>
                  <a:t>: </a:t>
                </a:r>
                <a:r>
                  <a:rPr lang="de-DE" dirty="0" err="1"/>
                  <a:t>designed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matrices</a:t>
                </a:r>
                <a:r>
                  <a:rPr lang="de-DE" dirty="0"/>
                  <a:t> (</a:t>
                </a:r>
                <a:r>
                  <a:rPr lang="de-DE" dirty="0" err="1"/>
                  <a:t>structured</a:t>
                </a:r>
                <a:r>
                  <a:rPr lang="de-DE" dirty="0"/>
                  <a:t> </a:t>
                </a:r>
                <a:r>
                  <a:rPr lang="de-DE" dirty="0" err="1"/>
                  <a:t>forms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Controllable</a:t>
                </a:r>
                <a:r>
                  <a:rPr lang="de-DE" dirty="0"/>
                  <a:t> </a:t>
                </a:r>
                <a:r>
                  <a:rPr lang="de-DE" dirty="0" err="1"/>
                  <a:t>canonical</a:t>
                </a:r>
                <a:r>
                  <a:rPr lang="de-DE" dirty="0"/>
                  <a:t> form: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influences</a:t>
                </a:r>
                <a:r>
                  <a:rPr lang="de-DE" dirty="0"/>
                  <a:t> all </a:t>
                </a:r>
                <a:r>
                  <a:rPr lang="de-DE" dirty="0" err="1"/>
                  <a:t>states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endParaRPr lang="de-DE" dirty="0"/>
              </a:p>
              <a:p>
                <a:r>
                  <a:rPr lang="de-DE" dirty="0"/>
                  <a:t>Example (</a:t>
                </a:r>
                <a:r>
                  <a:rPr lang="de-DE" dirty="0" err="1"/>
                  <a:t>second</a:t>
                </a:r>
                <a:r>
                  <a:rPr lang="de-DE" dirty="0"/>
                  <a:t>-order </a:t>
                </a:r>
                <a:r>
                  <a:rPr lang="de-DE" dirty="0" err="1"/>
                  <a:t>system</a:t>
                </a:r>
                <a:r>
                  <a:rPr lang="de-DE" dirty="0"/>
                  <a:t>, SISO):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de-DE" dirty="0"/>
                  <a:t>,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de-DE" dirty="0"/>
                  <a:t>,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352FD62-5994-822C-32F9-760E3E3B18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8C75837-D64D-9662-BEE9-8491556ED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3DAD9AAE-147E-6883-97E2-6D03DBAE31C3}"/>
              </a:ext>
            </a:extLst>
          </p:cNvPr>
          <p:cNvCxnSpPr/>
          <p:nvPr/>
        </p:nvCxnSpPr>
        <p:spPr>
          <a:xfrm flipH="1">
            <a:off x="5516217" y="4482548"/>
            <a:ext cx="228600" cy="12225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81606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DAF62D-58E3-F938-E8A9-80CAB6F96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Observable </a:t>
            </a:r>
            <a:r>
              <a:rPr lang="de-DE" dirty="0" err="1"/>
              <a:t>Canonical</a:t>
            </a:r>
            <a:r>
              <a:rPr lang="de-DE" dirty="0"/>
              <a:t>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AB2CCF-1588-BA65-1876-F31BB15BD3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de-DE" sz="2400" dirty="0"/>
                  <a:t>State-</a:t>
                </a:r>
                <a:r>
                  <a:rPr lang="de-DE" sz="2400" dirty="0" err="1"/>
                  <a:t>space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representation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constructed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give</a:t>
                </a:r>
                <a:r>
                  <a:rPr lang="de-DE" sz="2400" dirty="0"/>
                  <a:t> observable </a:t>
                </a:r>
                <a:r>
                  <a:rPr lang="de-DE" sz="2400" dirty="0" err="1"/>
                  <a:t>structure</a:t>
                </a:r>
                <a:endParaRPr lang="de-DE" sz="2400" dirty="0"/>
              </a:p>
              <a:p>
                <a:r>
                  <a:rPr lang="de-DE" sz="2400" dirty="0"/>
                  <a:t>Dual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controllable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canonical</a:t>
                </a:r>
                <a:r>
                  <a:rPr lang="de-DE" sz="2400" dirty="0"/>
                  <a:t> form (</a:t>
                </a:r>
                <a:r>
                  <a:rPr lang="de-DE" sz="2400" dirty="0" err="1"/>
                  <a:t>transposed</a:t>
                </a:r>
                <a:r>
                  <a:rPr lang="de-DE" sz="2400" dirty="0"/>
                  <a:t>)</a:t>
                </a:r>
              </a:p>
              <a:p>
                <a:r>
                  <a:rPr lang="de-DE" sz="2400" dirty="0"/>
                  <a:t>Example (</a:t>
                </a:r>
                <a:r>
                  <a:rPr lang="de-DE" sz="2400" dirty="0" err="1"/>
                  <a:t>second</a:t>
                </a:r>
                <a:r>
                  <a:rPr lang="de-DE" sz="2400" dirty="0"/>
                  <a:t>-order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, SISO):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de-DE" sz="2400" dirty="0"/>
                  <a:t>,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de-DE" sz="2400" dirty="0"/>
                  <a:t>,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States </a:t>
                </a:r>
                <a:r>
                  <a:rPr lang="de-DE" sz="2400" dirty="0" err="1">
                    <a:sym typeface="Wingdings" pitchFamily="2" charset="2"/>
                  </a:rPr>
                  <a:t>for</a:t>
                </a:r>
                <a:r>
                  <a:rPr lang="de-DE" sz="2400" dirty="0">
                    <a:sym typeface="Wingdings" pitchFamily="2" charset="2"/>
                  </a:rPr>
                  <a:t> observable </a:t>
                </a:r>
                <a:r>
                  <a:rPr lang="de-DE" sz="2400" dirty="0" err="1">
                    <a:sym typeface="Wingdings" pitchFamily="2" charset="2"/>
                  </a:rPr>
                  <a:t>canonical</a:t>
                </a:r>
                <a:r>
                  <a:rPr lang="de-DE" sz="2400" dirty="0">
                    <a:sym typeface="Wingdings" pitchFamily="2" charset="2"/>
                  </a:rPr>
                  <a:t> form: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𝑧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sym typeface="Wingdings" pitchFamily="2" charset="2"/>
                      </a:rPr>
                      <m:t>𝑦</m:t>
                    </m:r>
                  </m:oMath>
                </a14:m>
                <a:r>
                  <a:rPr lang="de-DE" sz="2400" dirty="0"/>
                  <a:t>,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+3</m:t>
                    </m:r>
                    <m:r>
                      <a:rPr lang="de-DE" sz="2400" i="1">
                        <a:latin typeface="Cambria Math" panose="02040503050406030204" pitchFamily="18" charset="0"/>
                        <a:sym typeface="Wingdings" pitchFamily="2" charset="2"/>
                      </a:rPr>
                      <m:t>𝑦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(</a:t>
                </a:r>
                <a:r>
                  <a:rPr lang="de-DE" sz="2400" dirty="0" err="1"/>
                  <a:t>typically</a:t>
                </a:r>
                <a:r>
                  <a:rPr lang="de-DE" sz="2400" dirty="0"/>
                  <a:t> not </a:t>
                </a:r>
                <a:r>
                  <a:rPr lang="de-DE" sz="2400" dirty="0" err="1"/>
                  <a:t>identical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physical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states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AB2CCF-1588-BA65-1876-F31BB15BD3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B25CC0B-DD40-96E8-8A6E-E6248DCC1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9DEBB14-56DE-F0F0-1718-04DE59B6DCDC}"/>
              </a:ext>
            </a:extLst>
          </p:cNvPr>
          <p:cNvSpPr txBox="1"/>
          <p:nvPr/>
        </p:nvSpPr>
        <p:spPr>
          <a:xfrm>
            <a:off x="4896277" y="4301913"/>
            <a:ext cx="50726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Output </a:t>
            </a:r>
            <a:r>
              <a:rPr lang="de-DE" sz="2400" dirty="0" err="1"/>
              <a:t>directly</a:t>
            </a:r>
            <a:r>
              <a:rPr lang="de-DE" sz="2400" dirty="0"/>
              <a:t> </a:t>
            </a:r>
            <a:r>
              <a:rPr lang="de-DE" sz="2400" dirty="0" err="1"/>
              <a:t>depends</a:t>
            </a:r>
            <a:r>
              <a:rPr lang="de-DE" sz="2400" dirty="0"/>
              <a:t> on </a:t>
            </a:r>
            <a:r>
              <a:rPr lang="de-DE" sz="2400" dirty="0" err="1"/>
              <a:t>first</a:t>
            </a:r>
            <a:r>
              <a:rPr lang="de-DE" sz="2400" dirty="0"/>
              <a:t> </a:t>
            </a:r>
            <a:r>
              <a:rPr lang="de-DE" sz="2400" dirty="0" err="1"/>
              <a:t>state</a:t>
            </a:r>
            <a:endParaRPr lang="de-DE" sz="2400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954258A3-2AAA-44BA-E3AD-ACEB87DD1E25}"/>
              </a:ext>
            </a:extLst>
          </p:cNvPr>
          <p:cNvCxnSpPr>
            <a:cxnSpLocks/>
            <a:stCxn id="13" idx="0"/>
          </p:cNvCxnSpPr>
          <p:nvPr/>
        </p:nvCxnSpPr>
        <p:spPr>
          <a:xfrm flipH="1" flipV="1">
            <a:off x="7285383" y="3945835"/>
            <a:ext cx="147230" cy="3560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16132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75A836-3932-AEAB-82C8-FBB70CD61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Controllability</a:t>
            </a:r>
            <a:r>
              <a:rPr lang="de-DE" dirty="0"/>
              <a:t> &amp; </a:t>
            </a:r>
            <a:r>
              <a:rPr lang="de-DE" dirty="0" err="1"/>
              <a:t>Observability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B63666-6054-4373-8899-F170242C66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 err="1"/>
              <a:t>Controllability</a:t>
            </a:r>
            <a:r>
              <a:rPr lang="de-DE" dirty="0"/>
              <a:t>: Can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move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anywhere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?</a:t>
            </a:r>
          </a:p>
          <a:p>
            <a:r>
              <a:rPr lang="de-DE" dirty="0" err="1"/>
              <a:t>Reaching</a:t>
            </a:r>
            <a:r>
              <a:rPr lang="de-DE" dirty="0"/>
              <a:t> all </a:t>
            </a:r>
            <a:r>
              <a:rPr lang="de-DE" dirty="0" err="1"/>
              <a:t>states</a:t>
            </a:r>
            <a:r>
              <a:rPr lang="de-DE" dirty="0"/>
              <a:t> via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signals</a:t>
            </a:r>
            <a:endParaRPr lang="de-DE" dirty="0"/>
          </a:p>
          <a:p>
            <a:r>
              <a:rPr lang="de-DE" dirty="0" err="1"/>
              <a:t>If</a:t>
            </a:r>
            <a:r>
              <a:rPr lang="de-DE" dirty="0"/>
              <a:t> a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not </a:t>
            </a:r>
            <a:r>
              <a:rPr lang="de-DE" dirty="0" err="1"/>
              <a:t>controllable</a:t>
            </a:r>
            <a:r>
              <a:rPr lang="de-DE" dirty="0"/>
              <a:t>: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influence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cannot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stabilized</a:t>
            </a:r>
            <a:endParaRPr lang="de-DE" dirty="0"/>
          </a:p>
          <a:p>
            <a:r>
              <a:rPr lang="de-DE" dirty="0"/>
              <a:t>Naturally </a:t>
            </a:r>
            <a:r>
              <a:rPr lang="de-DE" dirty="0" err="1"/>
              <a:t>emphasized</a:t>
            </a:r>
            <a:r>
              <a:rPr lang="de-DE" dirty="0"/>
              <a:t> in </a:t>
            </a:r>
            <a:r>
              <a:rPr lang="de-DE" dirty="0" err="1"/>
              <a:t>controllable</a:t>
            </a:r>
            <a:r>
              <a:rPr lang="de-DE" dirty="0"/>
              <a:t> </a:t>
            </a:r>
            <a:r>
              <a:rPr lang="de-DE" dirty="0" err="1"/>
              <a:t>canonical</a:t>
            </a:r>
            <a:r>
              <a:rPr lang="de-DE" dirty="0"/>
              <a:t> form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Observability</a:t>
            </a:r>
            <a:r>
              <a:rPr lang="de-DE" dirty="0"/>
              <a:t>: Can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figure</a:t>
            </a:r>
            <a:r>
              <a:rPr lang="de-DE" dirty="0"/>
              <a:t> out internal </a:t>
            </a:r>
            <a:r>
              <a:rPr lang="de-DE" dirty="0" err="1"/>
              <a:t>states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outputs</a:t>
            </a:r>
            <a:r>
              <a:rPr lang="de-DE" dirty="0"/>
              <a:t>?</a:t>
            </a:r>
          </a:p>
          <a:p>
            <a:r>
              <a:rPr lang="de-DE" dirty="0" err="1"/>
              <a:t>Diagnosing</a:t>
            </a:r>
            <a:r>
              <a:rPr lang="de-DE" dirty="0"/>
              <a:t> a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through</a:t>
            </a:r>
            <a:r>
              <a:rPr lang="de-DE" dirty="0"/>
              <a:t> </a:t>
            </a:r>
            <a:r>
              <a:rPr lang="de-DE" dirty="0" err="1"/>
              <a:t>measurements</a:t>
            </a:r>
            <a:r>
              <a:rPr lang="de-DE" dirty="0"/>
              <a:t> (</a:t>
            </a:r>
            <a:r>
              <a:rPr lang="de-DE" dirty="0" err="1"/>
              <a:t>outputs</a:t>
            </a:r>
            <a:r>
              <a:rPr lang="de-DE" dirty="0"/>
              <a:t>)</a:t>
            </a:r>
          </a:p>
          <a:p>
            <a:r>
              <a:rPr lang="de-DE" dirty="0" err="1"/>
              <a:t>If</a:t>
            </a:r>
            <a:r>
              <a:rPr lang="de-DE" dirty="0"/>
              <a:t> a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not observable: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affects</a:t>
            </a:r>
            <a:r>
              <a:rPr lang="de-DE" dirty="0"/>
              <a:t> </a:t>
            </a:r>
            <a:r>
              <a:rPr lang="de-DE" dirty="0" err="1"/>
              <a:t>nothing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/>
              <a:t>Naturally </a:t>
            </a:r>
            <a:r>
              <a:rPr lang="de-DE" dirty="0" err="1"/>
              <a:t>emphasized</a:t>
            </a:r>
            <a:r>
              <a:rPr lang="de-DE" dirty="0"/>
              <a:t> in observable </a:t>
            </a:r>
            <a:r>
              <a:rPr lang="de-DE" dirty="0" err="1"/>
              <a:t>canonical</a:t>
            </a:r>
            <a:r>
              <a:rPr lang="de-DE" dirty="0"/>
              <a:t> form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/>
              <a:t>A “</a:t>
            </a:r>
            <a:r>
              <a:rPr lang="de-DE" dirty="0" err="1"/>
              <a:t>good</a:t>
            </a:r>
            <a:r>
              <a:rPr lang="de-DE" dirty="0"/>
              <a:t>”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needs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controllable</a:t>
            </a:r>
            <a:r>
              <a:rPr lang="de-DE" dirty="0"/>
              <a:t> + observable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0E9D747-8C02-CB59-E428-41962EDE1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5053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74E74E-8922-3B79-3F0C-2AB330FB0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State Feedback Control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7DA807-D038-A866-DBD0-D2414998B3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Core </a:t>
                </a:r>
                <a:r>
                  <a:rPr lang="de-DE" dirty="0" err="1"/>
                  <a:t>idea</a:t>
                </a:r>
                <a:r>
                  <a:rPr lang="de-DE" dirty="0"/>
                  <a:t>: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based</a:t>
                </a:r>
                <a:r>
                  <a:rPr lang="de-DE" dirty="0"/>
                  <a:t> on </a:t>
                </a:r>
                <a:r>
                  <a:rPr lang="de-DE" dirty="0" err="1"/>
                  <a:t>full</a:t>
                </a:r>
                <a:r>
                  <a:rPr lang="de-DE" dirty="0"/>
                  <a:t> </a:t>
                </a:r>
                <a:r>
                  <a:rPr lang="de-DE" dirty="0" err="1"/>
                  <a:t>state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(</a:t>
                </a:r>
                <a:r>
                  <a:rPr lang="de-DE" dirty="0" err="1"/>
                  <a:t>use</a:t>
                </a:r>
                <a:r>
                  <a:rPr lang="de-DE" dirty="0"/>
                  <a:t> all internal variables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feedback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Goal: </a:t>
                </a:r>
                <a:r>
                  <a:rPr lang="de-DE" dirty="0" err="1"/>
                  <a:t>shape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dynamics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Faster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, </a:t>
                </a:r>
                <a:r>
                  <a:rPr lang="de-DE" dirty="0" err="1"/>
                  <a:t>improved</a:t>
                </a:r>
                <a:r>
                  <a:rPr lang="de-DE" dirty="0"/>
                  <a:t> </a:t>
                </a:r>
                <a:r>
                  <a:rPr lang="de-DE" dirty="0" err="1"/>
                  <a:t>stability</a:t>
                </a:r>
                <a:r>
                  <a:rPr lang="de-DE" dirty="0"/>
                  <a:t>, </a:t>
                </a:r>
                <a:r>
                  <a:rPr lang="de-DE" dirty="0" err="1"/>
                  <a:t>desired</a:t>
                </a:r>
                <a:r>
                  <a:rPr lang="de-DE" dirty="0"/>
                  <a:t> </a:t>
                </a:r>
                <a:r>
                  <a:rPr lang="de-DE" dirty="0" err="1"/>
                  <a:t>performance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7DA807-D038-A866-DBD0-D2414998B3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F89C0A6-2F33-F640-0DFE-36DA57CAD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6C624E4-C08E-9C9F-38A1-B3878A824025}"/>
                  </a:ext>
                </a:extLst>
              </p:cNvPr>
              <p:cNvSpPr txBox="1"/>
              <p:nvPr/>
            </p:nvSpPr>
            <p:spPr>
              <a:xfrm>
                <a:off x="6279410" y="3212647"/>
                <a:ext cx="4662380" cy="13849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DE" sz="2800" dirty="0"/>
                  <a:t>Feedback </a:t>
                </a:r>
                <a:r>
                  <a:rPr lang="de-DE" sz="2800" dirty="0" err="1"/>
                  <a:t>gains</a:t>
                </a:r>
                <a:r>
                  <a:rPr lang="de-DE" sz="2800" dirty="0"/>
                  <a:t>: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de-DE" sz="2800" dirty="0" err="1"/>
                  <a:t>For</a:t>
                </a:r>
                <a:r>
                  <a:rPr lang="de-DE" sz="2800" dirty="0"/>
                  <a:t> SISO </a:t>
                </a:r>
                <a14:m>
                  <m:oMath xmlns:m="http://schemas.openxmlformats.org/officeDocument/2006/math">
                    <m:r>
                      <a:rPr lang="de-DE" sz="2800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de-DE" sz="2800" dirty="0"/>
                  <a:t> </a:t>
                </a:r>
                <a:r>
                  <a:rPr lang="de-DE" sz="2800" dirty="0" err="1"/>
                  <a:t>is</a:t>
                </a:r>
                <a:r>
                  <a:rPr lang="de-DE" sz="2800" dirty="0"/>
                  <a:t> a </a:t>
                </a:r>
                <a:r>
                  <a:rPr lang="de-DE" sz="2800" dirty="0" err="1"/>
                  <a:t>row</a:t>
                </a:r>
                <a:r>
                  <a:rPr lang="de-DE" sz="2800" dirty="0"/>
                  <a:t> </a:t>
                </a:r>
                <a:r>
                  <a:rPr lang="de-DE" sz="2800" dirty="0" err="1"/>
                  <a:t>vector</a:t>
                </a:r>
                <a:endParaRPr lang="de-DE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de-DE" sz="2800" dirty="0" err="1"/>
                  <a:t>For</a:t>
                </a:r>
                <a:r>
                  <a:rPr lang="de-DE" sz="2800" dirty="0"/>
                  <a:t> MIMO </a:t>
                </a:r>
                <a14:m>
                  <m:oMath xmlns:m="http://schemas.openxmlformats.org/officeDocument/2006/math">
                    <m:r>
                      <a:rPr lang="de-DE" sz="2800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de-DE" sz="2800" dirty="0"/>
                  <a:t> </a:t>
                </a:r>
                <a:r>
                  <a:rPr lang="de-DE" sz="2800" dirty="0" err="1"/>
                  <a:t>is</a:t>
                </a:r>
                <a:r>
                  <a:rPr lang="de-DE" sz="2800" dirty="0"/>
                  <a:t> a </a:t>
                </a:r>
                <a:r>
                  <a:rPr lang="de-DE" sz="2800" dirty="0" err="1"/>
                  <a:t>full</a:t>
                </a:r>
                <a:r>
                  <a:rPr lang="de-DE" sz="2800" dirty="0"/>
                  <a:t> </a:t>
                </a:r>
                <a:r>
                  <a:rPr lang="de-DE" sz="2800" dirty="0" err="1"/>
                  <a:t>matrix</a:t>
                </a:r>
                <a:endParaRPr lang="de-DE" sz="2800" dirty="0"/>
              </a:p>
            </p:txBody>
          </p:sp>
        </mc:Choice>
        <mc:Fallback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6C624E4-C08E-9C9F-38A1-B3878A8240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9410" y="3212647"/>
                <a:ext cx="4662380" cy="1384995"/>
              </a:xfrm>
              <a:prstGeom prst="rect">
                <a:avLst/>
              </a:prstGeom>
              <a:blipFill>
                <a:blip r:embed="rId3"/>
                <a:stretch>
                  <a:fillRect l="-2432" t="-4505" r="-2162" b="-1081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08769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5096D8-5037-7DC0-7D12-438F9BDB0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 Placement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428B344-5BF4-2D75-9E05-DDF745344D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600" dirty="0" err="1"/>
                  <a:t>Deterministic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manual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way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design </a:t>
                </a:r>
                <a:r>
                  <a:rPr lang="de-DE" sz="2600" dirty="0" err="1"/>
                  <a:t>state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feedback</a:t>
                </a:r>
                <a:r>
                  <a:rPr lang="de-DE" sz="2600" dirty="0"/>
                  <a:t> 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600" dirty="0" err="1"/>
                  <a:t>Choose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desired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closed</a:t>
                </a:r>
                <a:r>
                  <a:rPr lang="de-DE" sz="2600" dirty="0"/>
                  <a:t>-loop pole </a:t>
                </a:r>
                <a:r>
                  <a:rPr lang="de-DE" sz="2600" dirty="0" err="1"/>
                  <a:t>locations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explicitly</a:t>
                </a:r>
                <a:endParaRPr lang="de-DE" sz="26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600" dirty="0" err="1"/>
                  <a:t>Compute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de-DE" sz="2600" dirty="0"/>
                  <a:t> such </a:t>
                </a:r>
                <a:r>
                  <a:rPr lang="de-DE" sz="2600" dirty="0" err="1"/>
                  <a:t>that</a:t>
                </a:r>
                <a:r>
                  <a:rPr lang="de-DE" sz="2600" dirty="0"/>
                  <a:t> eigenvalues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(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𝐵𝐾</m:t>
                    </m:r>
                  </m:oMath>
                </a14:m>
                <a:r>
                  <a:rPr lang="de-DE" sz="2600" dirty="0"/>
                  <a:t>) match </a:t>
                </a:r>
                <a:r>
                  <a:rPr lang="de-DE" sz="2600" dirty="0" err="1"/>
                  <a:t>these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locations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Requirement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must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controllable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r>
                  <a:rPr lang="de-DE" sz="2600" dirty="0" err="1"/>
                  <a:t>Direct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control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over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dynamics</a:t>
                </a:r>
                <a:endParaRPr lang="de-DE" sz="2600" dirty="0"/>
              </a:p>
              <a:p>
                <a:r>
                  <a:rPr lang="de-DE" sz="2600" dirty="0"/>
                  <a:t>But </a:t>
                </a:r>
                <a:r>
                  <a:rPr lang="de-DE" sz="2600" dirty="0" err="1"/>
                  <a:t>no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guidance</a:t>
                </a:r>
                <a:r>
                  <a:rPr lang="de-DE" sz="2600" dirty="0"/>
                  <a:t> on </a:t>
                </a:r>
                <a:r>
                  <a:rPr lang="de-DE" sz="2600" dirty="0" err="1"/>
                  <a:t>which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poles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are</a:t>
                </a:r>
                <a:r>
                  <a:rPr lang="de-DE" sz="2600" dirty="0"/>
                  <a:t> “</a:t>
                </a:r>
                <a:r>
                  <a:rPr lang="de-DE" sz="2600" dirty="0" err="1"/>
                  <a:t>best</a:t>
                </a:r>
                <a:r>
                  <a:rPr lang="de-DE" sz="2600" dirty="0"/>
                  <a:t>”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428B344-5BF4-2D75-9E05-DDF745344D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r="-1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7FDFFB5-FC16-9A86-B3D9-18F672040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32608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A024B2-517D-988E-21E6-5ECDE61C3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AFBF84D-4293-59A9-9C72-7E94D454EE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Insert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into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New </a:t>
                </a:r>
                <a:r>
                  <a:rPr lang="de-DE" dirty="0" err="1">
                    <a:sym typeface="Wingdings" pitchFamily="2" charset="2"/>
                  </a:rPr>
                  <a:t>system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matrix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of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losed</a:t>
                </a:r>
                <a:r>
                  <a:rPr lang="de-DE" dirty="0">
                    <a:sym typeface="Wingdings" pitchFamily="2" charset="2"/>
                  </a:rPr>
                  <a:t>-loop </a:t>
                </a:r>
                <a:r>
                  <a:rPr lang="de-DE" dirty="0" err="1">
                    <a:sym typeface="Wingdings" pitchFamily="2" charset="2"/>
                  </a:rPr>
                  <a:t>system</a:t>
                </a:r>
                <a:r>
                  <a:rPr lang="de-DE" dirty="0">
                    <a:sym typeface="Wingdings" pitchFamily="2" charset="2"/>
                  </a:rPr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…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AFBF84D-4293-59A9-9C72-7E94D454EE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7C2873-7894-9873-0AFF-DD2AB2ED0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1461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C51DB6-CDE2-801D-9A2F-FB20CB45B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</a:t>
            </a:r>
            <a:r>
              <a:rPr lang="de-DE" dirty="0" err="1"/>
              <a:t>Quadratic</a:t>
            </a:r>
            <a:r>
              <a:rPr lang="de-DE" dirty="0"/>
              <a:t> Regulator (LQR)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E072B51-7235-F792-8DE1-D90482E40F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For a linear </a:t>
                </a:r>
                <a:r>
                  <a:rPr lang="de-DE" dirty="0" err="1"/>
                  <a:t>system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find a </a:t>
                </a:r>
                <a:r>
                  <a:rPr lang="de-DE" dirty="0" err="1"/>
                  <a:t>state</a:t>
                </a:r>
                <a:r>
                  <a:rPr lang="de-DE" dirty="0"/>
                  <a:t> </a:t>
                </a:r>
                <a:r>
                  <a:rPr lang="de-DE" dirty="0" err="1"/>
                  <a:t>feedback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minimizes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quadratic</a:t>
                </a:r>
                <a:r>
                  <a:rPr lang="de-DE" dirty="0"/>
                  <a:t> </a:t>
                </a:r>
                <a:r>
                  <a:rPr lang="de-DE" dirty="0" err="1"/>
                  <a:t>cost</a:t>
                </a:r>
                <a:r>
                  <a:rPr lang="de-DE" dirty="0"/>
                  <a:t>: 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penalizes</a:t>
                </a:r>
                <a:r>
                  <a:rPr lang="de-DE" dirty="0"/>
                  <a:t> </a:t>
                </a:r>
                <a:r>
                  <a:rPr lang="de-DE" dirty="0" err="1"/>
                  <a:t>state</a:t>
                </a:r>
                <a:r>
                  <a:rPr lang="de-DE" dirty="0"/>
                  <a:t> </a:t>
                </a:r>
                <a:r>
                  <a:rPr lang="de-DE" dirty="0" err="1"/>
                  <a:t>deviation</a:t>
                </a:r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penalizes</a:t>
                </a:r>
                <a:r>
                  <a:rPr lang="de-DE" dirty="0"/>
                  <a:t>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effort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>
                    <a:sym typeface="Wingdings" pitchFamily="2" charset="2"/>
                  </a:rPr>
                  <a:t>O</a:t>
                </a:r>
                <a:r>
                  <a:rPr lang="de-DE" dirty="0"/>
                  <a:t>ptimal </a:t>
                </a:r>
                <a:r>
                  <a:rPr lang="de-DE" dirty="0" err="1"/>
                  <a:t>control</a:t>
                </a:r>
                <a:r>
                  <a:rPr lang="de-DE" dirty="0"/>
                  <a:t>: </a:t>
                </a:r>
                <a:r>
                  <a:rPr lang="de-DE" dirty="0" err="1"/>
                  <a:t>automatically</a:t>
                </a:r>
                <a:r>
                  <a:rPr lang="de-DE" dirty="0"/>
                  <a:t> </a:t>
                </a:r>
                <a:r>
                  <a:rPr lang="de-DE" dirty="0" err="1"/>
                  <a:t>computes</a:t>
                </a:r>
                <a:r>
                  <a:rPr lang="de-DE" dirty="0"/>
                  <a:t> “</a:t>
                </a:r>
                <a:r>
                  <a:rPr lang="de-DE" dirty="0" err="1"/>
                  <a:t>best</a:t>
                </a:r>
                <a:r>
                  <a:rPr lang="de-DE" dirty="0"/>
                  <a:t>” </a:t>
                </a:r>
                <a:r>
                  <a:rPr lang="de-DE" dirty="0" err="1"/>
                  <a:t>feedback</a:t>
                </a:r>
                <a:r>
                  <a:rPr lang="de-DE" dirty="0"/>
                  <a:t> </a:t>
                </a:r>
                <a:r>
                  <a:rPr lang="de-DE" dirty="0" err="1"/>
                  <a:t>gains</a:t>
                </a:r>
                <a:endParaRPr lang="de-DE" dirty="0"/>
              </a:p>
              <a:p>
                <a:r>
                  <a:rPr lang="de-DE" dirty="0" err="1"/>
                  <a:t>Systematic</a:t>
                </a:r>
                <a:r>
                  <a:rPr lang="de-DE" dirty="0"/>
                  <a:t> design (</a:t>
                </a:r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:r>
                  <a:rPr lang="de-DE" dirty="0" err="1"/>
                  <a:t>guesswork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)</a:t>
                </a:r>
              </a:p>
              <a:p>
                <a:r>
                  <a:rPr lang="de-DE" dirty="0"/>
                  <a:t>Robust and </a:t>
                </a:r>
                <a:r>
                  <a:rPr lang="de-DE" dirty="0" err="1"/>
                  <a:t>widely</a:t>
                </a:r>
                <a:r>
                  <a:rPr lang="de-DE" dirty="0"/>
                  <a:t> </a:t>
                </a:r>
                <a:r>
                  <a:rPr lang="de-DE" dirty="0" err="1"/>
                  <a:t>used</a:t>
                </a:r>
                <a:r>
                  <a:rPr lang="de-DE" dirty="0"/>
                  <a:t> in </a:t>
                </a:r>
                <a:r>
                  <a:rPr lang="de-DE" dirty="0" err="1"/>
                  <a:t>engineering</a:t>
                </a:r>
                <a:endParaRPr lang="de-DE" dirty="0"/>
              </a:p>
              <a:p>
                <a:r>
                  <a:rPr lang="de-DE" dirty="0"/>
                  <a:t>Works </a:t>
                </a:r>
                <a:r>
                  <a:rPr lang="de-DE" dirty="0" err="1"/>
                  <a:t>naturally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MIMO </a:t>
                </a:r>
                <a:r>
                  <a:rPr lang="de-DE" dirty="0" err="1"/>
                  <a:t>systems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E072B51-7235-F792-8DE1-D90482E40F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F8421B-233A-6913-10D9-ED44D6437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930A490-4725-AB24-59B6-6CA4284B0EAC}"/>
                  </a:ext>
                </a:extLst>
              </p:cNvPr>
              <p:cNvSpPr txBox="1"/>
              <p:nvPr/>
            </p:nvSpPr>
            <p:spPr>
              <a:xfrm>
                <a:off x="6408255" y="3269975"/>
                <a:ext cx="4945545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de-DE" sz="2000" dirty="0"/>
                  <a:t> and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de-DE" sz="2000" dirty="0"/>
                  <a:t> </a:t>
                </a:r>
                <a:r>
                  <a:rPr lang="de-DE" sz="2000" dirty="0" err="1"/>
                  <a:t>chosen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by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designer</a:t>
                </a:r>
                <a:r>
                  <a:rPr lang="de-DE" sz="2000" dirty="0"/>
                  <a:t>:</a:t>
                </a:r>
              </a:p>
              <a:p>
                <a:r>
                  <a:rPr lang="de-DE" sz="2000" dirty="0"/>
                  <a:t>trade-off </a:t>
                </a:r>
                <a:r>
                  <a:rPr lang="de-DE" sz="2000" dirty="0" err="1"/>
                  <a:t>between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performance</a:t>
                </a:r>
                <a:r>
                  <a:rPr lang="de-DE" sz="2000" dirty="0"/>
                  <a:t> and </a:t>
                </a:r>
                <a:r>
                  <a:rPr lang="de-DE" sz="2000" dirty="0" err="1"/>
                  <a:t>effort</a:t>
                </a:r>
                <a:endParaRPr lang="de-DE" sz="2000" dirty="0"/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930A490-4725-AB24-59B6-6CA4284B0E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8255" y="3269975"/>
                <a:ext cx="4945545" cy="707886"/>
              </a:xfrm>
              <a:prstGeom prst="rect">
                <a:avLst/>
              </a:prstGeom>
              <a:blipFill>
                <a:blip r:embed="rId3"/>
                <a:stretch>
                  <a:fillRect l="-1279" t="-3509" b="-14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Geschweifte Klammer rechts 6">
            <a:extLst>
              <a:ext uri="{FF2B5EF4-FFF2-40B4-BE49-F238E27FC236}">
                <a16:creationId xmlns:a16="http://schemas.microsoft.com/office/drawing/2014/main" id="{7CC127C8-99C7-622E-D6FA-7E6BB59A0F15}"/>
              </a:ext>
            </a:extLst>
          </p:cNvPr>
          <p:cNvSpPr/>
          <p:nvPr/>
        </p:nvSpPr>
        <p:spPr>
          <a:xfrm>
            <a:off x="6050032" y="3160644"/>
            <a:ext cx="332134" cy="651807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328FEE4-7653-A706-9E05-62039B127034}"/>
              </a:ext>
            </a:extLst>
          </p:cNvPr>
          <p:cNvSpPr txBox="1"/>
          <p:nvPr/>
        </p:nvSpPr>
        <p:spPr>
          <a:xfrm>
            <a:off x="8139612" y="1685409"/>
            <a:ext cx="36851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In </a:t>
            </a:r>
            <a:r>
              <a:rPr lang="de-DE" dirty="0" err="1"/>
              <a:t>practice</a:t>
            </a:r>
            <a:r>
              <a:rPr lang="de-DE" dirty="0"/>
              <a:t>,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numerical</a:t>
            </a:r>
            <a:r>
              <a:rPr lang="de-DE" dirty="0"/>
              <a:t> </a:t>
            </a:r>
            <a:r>
              <a:rPr lang="de-DE" dirty="0" err="1"/>
              <a:t>solvers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883859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65A4FF-C5C5-A690-4E4A-AD1D7DBC5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State </a:t>
            </a:r>
            <a:r>
              <a:rPr lang="de-DE" dirty="0" err="1"/>
              <a:t>Observers</a:t>
            </a:r>
            <a:r>
              <a:rPr lang="de-DE" dirty="0"/>
              <a:t> (State </a:t>
            </a:r>
            <a:r>
              <a:rPr lang="de-DE" dirty="0" err="1"/>
              <a:t>Estimation</a:t>
            </a:r>
            <a:r>
              <a:rPr lang="de-DE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FC7F715-7A70-6215-27B6-9B0DE6539C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Issue: </a:t>
                </a:r>
                <a:r>
                  <a:rPr lang="de-DE" dirty="0" err="1"/>
                  <a:t>often</a:t>
                </a:r>
                <a:r>
                  <a:rPr lang="de-DE" dirty="0"/>
                  <a:t> not all </a:t>
                </a:r>
                <a:r>
                  <a:rPr lang="de-DE" dirty="0" err="1"/>
                  <a:t>state</a:t>
                </a:r>
                <a:r>
                  <a:rPr lang="de-DE" dirty="0"/>
                  <a:t> variables </a:t>
                </a:r>
                <a:r>
                  <a:rPr lang="de-DE" dirty="0" err="1"/>
                  <a:t>measurable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Need </a:t>
                </a:r>
                <a:r>
                  <a:rPr lang="de-DE" dirty="0" err="1">
                    <a:sym typeface="Wingdings" pitchFamily="2" charset="2"/>
                  </a:rPr>
                  <a:t>to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r</a:t>
                </a:r>
                <a:r>
                  <a:rPr lang="de-DE" dirty="0" err="1"/>
                  <a:t>econstruct</a:t>
                </a:r>
                <a:r>
                  <a:rPr lang="de-DE" dirty="0"/>
                  <a:t> </a:t>
                </a:r>
                <a:r>
                  <a:rPr lang="de-DE" dirty="0" err="1"/>
                  <a:t>state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o</a:t>
                </a:r>
                <a:r>
                  <a:rPr lang="de-DE" dirty="0" err="1"/>
                  <a:t>bservers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Observer </a:t>
                </a:r>
                <a:r>
                  <a:rPr lang="de-DE" dirty="0" err="1"/>
                  <a:t>dynamics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acc>
                          <m:accPr>
                            <m:chr m:val="̂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̂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acc>
                          <m:accPr>
                            <m:chr m:val="̂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Key </a:t>
                </a:r>
                <a:r>
                  <a:rPr lang="de-DE" dirty="0" err="1"/>
                  <a:t>concept</a:t>
                </a:r>
                <a:r>
                  <a:rPr lang="de-DE" dirty="0"/>
                  <a:t>: </a:t>
                </a:r>
                <a:r>
                  <a:rPr lang="de-DE" dirty="0" err="1"/>
                  <a:t>estimate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Requirements</a:t>
                </a:r>
                <a:r>
                  <a:rPr lang="de-DE" dirty="0"/>
                  <a:t>: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must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observable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Enables</a:t>
                </a:r>
                <a:r>
                  <a:rPr lang="de-DE" dirty="0"/>
                  <a:t> </a:t>
                </a:r>
                <a:r>
                  <a:rPr lang="de-DE" dirty="0" err="1"/>
                  <a:t>state</a:t>
                </a:r>
                <a:r>
                  <a:rPr lang="de-DE" dirty="0"/>
                  <a:t> </a:t>
                </a:r>
                <a:r>
                  <a:rPr lang="de-DE" dirty="0" err="1"/>
                  <a:t>feedback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limited </a:t>
                </a:r>
                <a:r>
                  <a:rPr lang="de-DE" dirty="0" err="1"/>
                  <a:t>sensors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FC7F715-7A70-6215-27B6-9B0DE6539C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9DDA16F-C96E-08F7-75B8-42855DAAC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D75A131-299D-F3EB-CC7F-D4B8054647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646737"/>
            <a:ext cx="5863213" cy="2033251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42BC0289-A97A-6355-C4C6-65EA0D74C41C}"/>
              </a:ext>
            </a:extLst>
          </p:cNvPr>
          <p:cNvSpPr txBox="1"/>
          <p:nvPr/>
        </p:nvSpPr>
        <p:spPr>
          <a:xfrm>
            <a:off x="4281280" y="2734670"/>
            <a:ext cx="181472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2000" dirty="0" err="1"/>
              <a:t>observer</a:t>
            </a:r>
            <a:r>
              <a:rPr lang="de-DE" sz="2000" dirty="0"/>
              <a:t> </a:t>
            </a:r>
            <a:r>
              <a:rPr lang="de-DE" sz="2000" dirty="0" err="1"/>
              <a:t>gains</a:t>
            </a:r>
            <a:endParaRPr lang="de-DE" sz="20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4B40A6D5-5A00-1485-A669-7D56299BD97E}"/>
              </a:ext>
            </a:extLst>
          </p:cNvPr>
          <p:cNvCxnSpPr/>
          <p:nvPr/>
        </p:nvCxnSpPr>
        <p:spPr>
          <a:xfrm flipH="1">
            <a:off x="4084983" y="2922104"/>
            <a:ext cx="178904" cy="4075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1992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3B3FCF-D28A-8051-A93E-4947B46E8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Kalman Filter: Optimal State </a:t>
            </a:r>
            <a:r>
              <a:rPr lang="de-DE" dirty="0" err="1"/>
              <a:t>Estimation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88A687A-5CBE-6EF8-42A7-970E9078B9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Optimal </a:t>
                </a:r>
                <a:r>
                  <a:rPr lang="de-DE" dirty="0" err="1"/>
                  <a:t>observer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noisy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Handles </a:t>
                </a:r>
                <a:r>
                  <a:rPr lang="de-DE" dirty="0" err="1"/>
                  <a:t>measurement</a:t>
                </a:r>
                <a:r>
                  <a:rPr lang="de-DE" dirty="0"/>
                  <a:t> </a:t>
                </a:r>
                <a:r>
                  <a:rPr lang="de-DE" dirty="0" err="1"/>
                  <a:t>noise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de-DE" dirty="0"/>
                  <a:t> and </a:t>
                </a:r>
                <a:r>
                  <a:rPr lang="de-DE" dirty="0" err="1"/>
                  <a:t>process</a:t>
                </a:r>
                <a:r>
                  <a:rPr lang="de-DE" dirty="0"/>
                  <a:t> </a:t>
                </a:r>
                <a:r>
                  <a:rPr lang="de-DE" dirty="0" err="1"/>
                  <a:t>noise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𝐴𝑥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de-DE" dirty="0"/>
                  <a:t>,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𝐶𝑥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Estimator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acc>
                          <m:accPr>
                            <m:chr m:val="̂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̂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𝐶</m:t>
                        </m:r>
                        <m:acc>
                          <m:accPr>
                            <m:chr m:val="̂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Key </a:t>
                </a:r>
                <a:r>
                  <a:rPr lang="de-DE" dirty="0" err="1"/>
                  <a:t>concept</a:t>
                </a:r>
                <a:r>
                  <a:rPr lang="de-DE" dirty="0"/>
                  <a:t>: </a:t>
                </a:r>
                <a:r>
                  <a:rPr lang="de-DE" dirty="0" err="1"/>
                  <a:t>observer</a:t>
                </a:r>
                <a:r>
                  <a:rPr lang="de-DE" dirty="0"/>
                  <a:t>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optimal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minimizes</a:t>
                </a:r>
                <a:r>
                  <a:rPr lang="de-DE" dirty="0"/>
                  <a:t> </a:t>
                </a:r>
                <a:r>
                  <a:rPr lang="de-DE" dirty="0" err="1"/>
                  <a:t>estimation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 </a:t>
                </a:r>
                <a:r>
                  <a:rPr lang="de-DE" dirty="0" err="1"/>
                  <a:t>covariance</a:t>
                </a:r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Widely</a:t>
                </a:r>
                <a:r>
                  <a:rPr lang="de-DE" dirty="0"/>
                  <a:t> </a:t>
                </a:r>
                <a:r>
                  <a:rPr lang="de-DE" dirty="0" err="1"/>
                  <a:t>used</a:t>
                </a:r>
                <a:r>
                  <a:rPr lang="de-DE" dirty="0"/>
                  <a:t> in </a:t>
                </a:r>
                <a:r>
                  <a:rPr lang="de-DE" dirty="0" err="1"/>
                  <a:t>practice</a:t>
                </a:r>
                <a:r>
                  <a:rPr lang="de-DE" dirty="0"/>
                  <a:t>: </a:t>
                </a:r>
                <a:r>
                  <a:rPr lang="de-DE" dirty="0" err="1"/>
                  <a:t>robotics</a:t>
                </a:r>
                <a:r>
                  <a:rPr lang="de-DE" dirty="0"/>
                  <a:t>, </a:t>
                </a:r>
                <a:r>
                  <a:rPr lang="de-DE" dirty="0" err="1"/>
                  <a:t>aerospace</a:t>
                </a:r>
                <a:r>
                  <a:rPr lang="de-DE" dirty="0"/>
                  <a:t>, </a:t>
                </a:r>
                <a:r>
                  <a:rPr lang="de-DE" dirty="0" err="1"/>
                  <a:t>navigation</a:t>
                </a:r>
                <a:r>
                  <a:rPr lang="de-DE" dirty="0"/>
                  <a:t>, </a:t>
                </a:r>
                <a:r>
                  <a:rPr lang="de-DE" dirty="0" err="1"/>
                  <a:t>finance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88A687A-5CBE-6EF8-42A7-970E9078B9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C9A1E4-F066-5BF4-E452-2DDB3ABC4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73537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384752-917C-1888-FA95-D24D4DDA1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Modern Control Architecture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3604DDD-AC7F-6C19-3AB7-12D34809A8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 err="1"/>
                  <a:t>Combination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both</a:t>
                </a:r>
                <a:r>
                  <a:rPr lang="de-DE" dirty="0"/>
                  <a:t> </a:t>
                </a:r>
                <a:r>
                  <a:rPr lang="de-DE" dirty="0" err="1"/>
                  <a:t>ideas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Observer (</a:t>
                </a:r>
                <a:r>
                  <a:rPr lang="de-DE" dirty="0" err="1"/>
                  <a:t>estimation</a:t>
                </a:r>
                <a:r>
                  <a:rPr lang="de-DE" dirty="0"/>
                  <a:t>)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DE" dirty="0">
                    <a:sym typeface="Wingdings" pitchFamily="2" charset="2"/>
                  </a:rPr>
                  <a:t>  </a:t>
                </a:r>
                <a:r>
                  <a:rPr lang="de-DE" dirty="0"/>
                  <a:t>State Feedback (</a:t>
                </a:r>
                <a:r>
                  <a:rPr lang="de-DE" dirty="0" err="1"/>
                  <a:t>control</a:t>
                </a:r>
                <a:r>
                  <a:rPr lang="de-DE" dirty="0"/>
                  <a:t>)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3604DDD-AC7F-6C19-3AB7-12D34809A8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6787F54-82DB-6398-3434-1D6C67D7B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98D7C43-568B-37B6-9FB0-26EAD7C3EB65}"/>
              </a:ext>
            </a:extLst>
          </p:cNvPr>
          <p:cNvSpPr txBox="1"/>
          <p:nvPr/>
        </p:nvSpPr>
        <p:spPr>
          <a:xfrm>
            <a:off x="3521819" y="4001294"/>
            <a:ext cx="51483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Include </a:t>
            </a:r>
            <a:r>
              <a:rPr lang="de-DE" dirty="0" err="1"/>
              <a:t>diagram</a:t>
            </a:r>
            <a:r>
              <a:rPr lang="de-DE" dirty="0"/>
              <a:t>: Plant, Observer, Feedback loop</a:t>
            </a:r>
          </a:p>
        </p:txBody>
      </p:sp>
    </p:spTree>
    <p:extLst>
      <p:ext uri="{BB962C8B-B14F-4D97-AF65-F5344CB8AC3E}">
        <p14:creationId xmlns:p14="http://schemas.microsoft.com/office/powerpoint/2010/main" val="28755531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B91EC6-C399-4C32-4F81-94CF71048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Modern Control Architecture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7E03F4E-CFC7-E5BC-77B0-795FD078B7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de-DE" sz="2400" dirty="0"/>
                  <a:t>State </a:t>
                </a:r>
                <a:r>
                  <a:rPr lang="de-DE" sz="2400" dirty="0" err="1"/>
                  <a:t>feedback</a:t>
                </a:r>
                <a:r>
                  <a:rPr lang="de-DE" sz="2400" dirty="0"/>
                  <a:t> (LQR): </a:t>
                </a:r>
                <a:r>
                  <a:rPr lang="de-DE" sz="2400" dirty="0" err="1"/>
                  <a:t>computes</a:t>
                </a:r>
                <a:r>
                  <a:rPr lang="de-DE" sz="2400" dirty="0"/>
                  <a:t> optimal </a:t>
                </a:r>
                <a:r>
                  <a:rPr lang="de-DE" sz="2400" dirty="0" err="1"/>
                  <a:t>control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endParaRPr lang="de-DE" sz="2400" dirty="0"/>
              </a:p>
              <a:p>
                <a:r>
                  <a:rPr lang="de-DE" sz="2400" dirty="0"/>
                  <a:t>Kalman </a:t>
                </a:r>
                <a:r>
                  <a:rPr lang="de-DE" sz="2400" dirty="0" err="1"/>
                  <a:t>filter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observer</a:t>
                </a:r>
                <a:r>
                  <a:rPr lang="de-DE" sz="2400" dirty="0"/>
                  <a:t>): </a:t>
                </a:r>
                <a:r>
                  <a:rPr lang="de-DE" sz="2400" dirty="0" err="1"/>
                  <a:t>estimates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noisy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measurements</a:t>
                </a:r>
                <a:endParaRPr lang="de-DE" sz="2400" dirty="0"/>
              </a:p>
              <a:p>
                <a:r>
                  <a:rPr lang="de-DE" sz="2400" dirty="0" err="1"/>
                  <a:t>Structure</a:t>
                </a:r>
                <a:r>
                  <a:rPr lang="de-DE" sz="2400" dirty="0"/>
                  <a:t>: plant (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), </a:t>
                </a:r>
                <a:r>
                  <a:rPr lang="de-DE" sz="2400" dirty="0" err="1"/>
                  <a:t>observer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state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estimation</a:t>
                </a:r>
                <a:r>
                  <a:rPr lang="de-DE" sz="2400" dirty="0"/>
                  <a:t>), </a:t>
                </a:r>
                <a:r>
                  <a:rPr lang="de-DE" sz="2400" dirty="0" err="1"/>
                  <a:t>feedback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controller</a:t>
                </a:r>
                <a:endParaRPr lang="de-DE" sz="2400" dirty="0"/>
              </a:p>
              <a:p>
                <a:r>
                  <a:rPr lang="de-DE" sz="2400" dirty="0"/>
                  <a:t>Signal </a:t>
                </a:r>
                <a:r>
                  <a:rPr lang="de-DE" sz="2400" dirty="0" err="1"/>
                  <a:t>flow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Kalman </a:t>
                </a:r>
                <a:r>
                  <a:rPr lang="de-DE" sz="2400" dirty="0" err="1"/>
                  <a:t>filter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LQR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s</a:t>
                </a:r>
                <a:r>
                  <a:rPr lang="de-DE" sz="2400" dirty="0" err="1"/>
                  <a:t>ystem</a:t>
                </a:r>
                <a:endParaRPr lang="de-DE" sz="2400" dirty="0"/>
              </a:p>
              <a:p>
                <a:r>
                  <a:rPr lang="de-DE" sz="2400" dirty="0"/>
                  <a:t>Separation </a:t>
                </a:r>
                <a:r>
                  <a:rPr lang="de-DE" sz="2400" dirty="0" err="1"/>
                  <a:t>principle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design (LQR) and </a:t>
                </a:r>
                <a:r>
                  <a:rPr lang="de-DE" sz="2400" dirty="0" err="1"/>
                  <a:t>estimator</a:t>
                </a:r>
                <a:r>
                  <a:rPr lang="de-DE" sz="2400" dirty="0"/>
                  <a:t> design (Kalman) </a:t>
                </a:r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done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independently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Linear </a:t>
                </a:r>
                <a:r>
                  <a:rPr lang="de-DE" sz="2400" dirty="0" err="1"/>
                  <a:t>Quadratic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Gaussian</a:t>
                </a:r>
                <a:r>
                  <a:rPr lang="de-DE" sz="2400" dirty="0"/>
                  <a:t> (LQG) </a:t>
                </a:r>
                <a:r>
                  <a:rPr lang="de-DE" sz="2400" dirty="0" err="1"/>
                  <a:t>control</a:t>
                </a:r>
                <a:endParaRPr lang="de-DE" sz="2400" dirty="0"/>
              </a:p>
              <a:p>
                <a:pPr lvl="1"/>
                <a:r>
                  <a:rPr lang="de-DE" dirty="0"/>
                  <a:t>Optimal </a:t>
                </a:r>
                <a:r>
                  <a:rPr lang="de-DE" dirty="0" err="1"/>
                  <a:t>control</a:t>
                </a:r>
                <a:r>
                  <a:rPr lang="de-DE" dirty="0"/>
                  <a:t> (LQR) + optimal </a:t>
                </a:r>
                <a:r>
                  <a:rPr lang="de-DE" dirty="0" err="1"/>
                  <a:t>estimation</a:t>
                </a:r>
                <a:r>
                  <a:rPr lang="de-DE" dirty="0"/>
                  <a:t> (Kalman)</a:t>
                </a:r>
              </a:p>
              <a:p>
                <a:pPr lvl="1"/>
                <a:r>
                  <a:rPr lang="de-DE" dirty="0" err="1"/>
                  <a:t>Foundation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modern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: </a:t>
                </a:r>
                <a:r>
                  <a:rPr lang="de-DE" dirty="0" err="1"/>
                  <a:t>used</a:t>
                </a:r>
                <a:r>
                  <a:rPr lang="de-DE" dirty="0"/>
                  <a:t> in </a:t>
                </a:r>
                <a:r>
                  <a:rPr lang="de-DE" dirty="0" err="1"/>
                  <a:t>aerospace</a:t>
                </a:r>
                <a:r>
                  <a:rPr lang="de-DE" dirty="0"/>
                  <a:t>, </a:t>
                </a:r>
                <a:r>
                  <a:rPr lang="de-DE" dirty="0" err="1"/>
                  <a:t>robotics</a:t>
                </a:r>
                <a:r>
                  <a:rPr lang="de-DE" dirty="0"/>
                  <a:t>, </a:t>
                </a:r>
                <a:r>
                  <a:rPr lang="de-DE" dirty="0" err="1"/>
                  <a:t>automotive</a:t>
                </a:r>
                <a:r>
                  <a:rPr lang="de-DE" dirty="0"/>
                  <a:t>, </a:t>
                </a:r>
                <a:r>
                  <a:rPr lang="de-DE" dirty="0" err="1"/>
                  <a:t>process</a:t>
                </a:r>
                <a:r>
                  <a:rPr lang="de-DE" dirty="0"/>
                  <a:t> </a:t>
                </a:r>
                <a:r>
                  <a:rPr lang="de-DE" dirty="0" err="1"/>
                  <a:t>control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7E03F4E-CFC7-E5BC-77B0-795FD078B7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0FF965-E647-81B4-8073-1C8B62944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76818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02B773-4C73-5AEF-AAD9-386BD4943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Discrete</a:t>
            </a:r>
            <a:r>
              <a:rPr lang="de-DE" dirty="0"/>
              <a:t>-Time Note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9436714-DA30-E111-6EAA-56D3AD73CD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Everything also </a:t>
                </a:r>
                <a:r>
                  <a:rPr lang="de-DE" dirty="0" err="1"/>
                  <a:t>exists</a:t>
                </a:r>
                <a:r>
                  <a:rPr lang="de-DE" dirty="0"/>
                  <a:t> in </a:t>
                </a:r>
                <a:r>
                  <a:rPr lang="de-DE" dirty="0" err="1"/>
                  <a:t>discrete</a:t>
                </a:r>
                <a:r>
                  <a:rPr lang="de-DE" dirty="0"/>
                  <a:t> time: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…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9436714-DA30-E111-6EAA-56D3AD73CD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4455EFB-05AC-C43A-10F8-7B512348B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65595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A213F5-67B0-7D0D-B1CA-B810BAA54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Predator-Prey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B59F277-BD17-124D-A233-51F12F94BA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1CEB704-35AA-F52A-C164-C1A88C7E1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6495AC2-3AF6-8D74-3B5B-C768E19723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012854"/>
            <a:ext cx="5951135" cy="168042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663C20C-EF56-0440-B05B-9FDD0CA3B8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304435"/>
            <a:ext cx="5951136" cy="2079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455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2CBD8D-5E8F-50E7-A46F-784F57DA4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Key Takeaways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AB63711-64A3-D5D9-DA5E-20A551ECAB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State </a:t>
            </a:r>
            <a:r>
              <a:rPr lang="de-DE" dirty="0" err="1"/>
              <a:t>space</a:t>
            </a:r>
            <a:r>
              <a:rPr lang="de-DE" dirty="0"/>
              <a:t> = internal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description</a:t>
            </a:r>
            <a:endParaRPr lang="de-DE" dirty="0"/>
          </a:p>
          <a:p>
            <a:r>
              <a:rPr lang="de-DE" dirty="0" err="1"/>
              <a:t>Enables</a:t>
            </a:r>
            <a:r>
              <a:rPr lang="de-DE" dirty="0"/>
              <a:t> MIMO + modern </a:t>
            </a:r>
            <a:r>
              <a:rPr lang="de-DE" dirty="0" err="1"/>
              <a:t>control</a:t>
            </a:r>
            <a:endParaRPr lang="de-DE" dirty="0"/>
          </a:p>
          <a:p>
            <a:r>
              <a:rPr lang="de-DE" dirty="0" err="1"/>
              <a:t>Controllability</a:t>
            </a:r>
            <a:r>
              <a:rPr lang="de-DE" dirty="0"/>
              <a:t> &amp; </a:t>
            </a:r>
            <a:r>
              <a:rPr lang="de-DE" dirty="0" err="1"/>
              <a:t>observability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fundamental</a:t>
            </a:r>
          </a:p>
          <a:p>
            <a:r>
              <a:rPr lang="de-DE" dirty="0"/>
              <a:t>State </a:t>
            </a:r>
            <a:r>
              <a:rPr lang="de-DE" dirty="0" err="1"/>
              <a:t>feedback</a:t>
            </a:r>
            <a:r>
              <a:rPr lang="de-DE" dirty="0"/>
              <a:t> + </a:t>
            </a:r>
            <a:r>
              <a:rPr lang="de-DE" dirty="0" err="1"/>
              <a:t>observers</a:t>
            </a:r>
            <a:r>
              <a:rPr lang="de-DE" dirty="0"/>
              <a:t> → </a:t>
            </a:r>
            <a:r>
              <a:rPr lang="de-DE" dirty="0" err="1"/>
              <a:t>full</a:t>
            </a:r>
            <a:r>
              <a:rPr lang="de-DE" dirty="0"/>
              <a:t> </a:t>
            </a:r>
            <a:r>
              <a:rPr lang="de-DE" dirty="0" err="1"/>
              <a:t>control</a:t>
            </a:r>
            <a:endParaRPr lang="de-DE" dirty="0"/>
          </a:p>
          <a:p>
            <a:r>
              <a:rPr lang="de-DE" dirty="0"/>
              <a:t>LQR &amp; Kalman → optimal design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4B25FB8-1E6F-669E-2557-8391ADF40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69815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1509</Words>
  <Application>Microsoft Macintosh PowerPoint</Application>
  <PresentationFormat>Breitbild</PresentationFormat>
  <Paragraphs>246</Paragraphs>
  <Slides>24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Arial</vt:lpstr>
      <vt:lpstr>Cambria Math</vt:lpstr>
      <vt:lpstr>Wingdings</vt:lpstr>
      <vt:lpstr>Office Theme</vt:lpstr>
      <vt:lpstr>State Space Representation</vt:lpstr>
      <vt:lpstr>Course Schedule</vt:lpstr>
      <vt:lpstr>State Space Representation</vt:lpstr>
      <vt:lpstr>Multi-Input Multi-Output (MIMO) Systems</vt:lpstr>
      <vt:lpstr>State Variables</vt:lpstr>
      <vt:lpstr>State Equations</vt:lpstr>
      <vt:lpstr>Example: Mass-Spring-Damper System</vt:lpstr>
      <vt:lpstr>Physical Modeling or Construction </vt:lpstr>
      <vt:lpstr>From Transfer Function to State Space</vt:lpstr>
      <vt:lpstr>Example: Second-Order System</vt:lpstr>
      <vt:lpstr>Controllable Canonical Form</vt:lpstr>
      <vt:lpstr>Observable Canonical Form</vt:lpstr>
      <vt:lpstr>Controllability &amp; Observability</vt:lpstr>
      <vt:lpstr>State Feedback Control</vt:lpstr>
      <vt:lpstr>Pole Placement</vt:lpstr>
      <vt:lpstr>Derivation</vt:lpstr>
      <vt:lpstr>Linear Quadratic Regulator (LQR)</vt:lpstr>
      <vt:lpstr>State Observers (State Estimation)</vt:lpstr>
      <vt:lpstr>Kalman Filter: Optimal State Estimation</vt:lpstr>
      <vt:lpstr>Modern Control Architecture</vt:lpstr>
      <vt:lpstr>Modern Control Architecture</vt:lpstr>
      <vt:lpstr>Discrete-Time Note</vt:lpstr>
      <vt:lpstr>Example: Predator-Prey</vt:lpstr>
      <vt:lpstr>Key Takeaways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159</cp:revision>
  <dcterms:created xsi:type="dcterms:W3CDTF">2025-01-08T09:27:30Z</dcterms:created>
  <dcterms:modified xsi:type="dcterms:W3CDTF">2026-04-05T10:29:10Z</dcterms:modified>
</cp:coreProperties>
</file>
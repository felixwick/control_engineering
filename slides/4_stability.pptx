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65" r:id="rId3"/>
    <p:sldId id="266" r:id="rId4"/>
    <p:sldId id="267" r:id="rId5"/>
    <p:sldId id="293" r:id="rId6"/>
    <p:sldId id="295" r:id="rId7"/>
    <p:sldId id="306" r:id="rId8"/>
    <p:sldId id="272" r:id="rId9"/>
    <p:sldId id="296" r:id="rId10"/>
    <p:sldId id="294" r:id="rId11"/>
    <p:sldId id="297" r:id="rId12"/>
    <p:sldId id="299" r:id="rId13"/>
    <p:sldId id="298" r:id="rId14"/>
    <p:sldId id="271" r:id="rId15"/>
    <p:sldId id="270" r:id="rId16"/>
    <p:sldId id="300" r:id="rId17"/>
    <p:sldId id="273" r:id="rId18"/>
    <p:sldId id="301" r:id="rId19"/>
    <p:sldId id="274" r:id="rId20"/>
    <p:sldId id="304" r:id="rId21"/>
    <p:sldId id="302" r:id="rId22"/>
    <p:sldId id="275" r:id="rId23"/>
    <p:sldId id="303" r:id="rId24"/>
    <p:sldId id="305" r:id="rId25"/>
    <p:sldId id="323" r:id="rId26"/>
    <p:sldId id="324" r:id="rId27"/>
    <p:sldId id="325" r:id="rId28"/>
    <p:sldId id="328" r:id="rId29"/>
    <p:sldId id="329" r:id="rId30"/>
    <p:sldId id="326" r:id="rId31"/>
    <p:sldId id="32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7" d="100"/>
          <a:sy n="127" d="100"/>
        </p:scale>
        <p:origin x="536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dirty="0">
                  <a:sym typeface="Wingdings" pitchFamily="2" charset="2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, i.e., on </a:t>
                </a:r>
                <a:r>
                  <a:rPr lang="de-DE" dirty="0" err="1">
                    <a:sym typeface="Wingdings" pitchFamily="2" charset="2"/>
                  </a:rPr>
                  <a:t>imaginary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axis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>
                    <a:sym typeface="Wingdings" pitchFamily="2" charset="2"/>
                  </a:rPr>
                  <a:t>purely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oscillatory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marginally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9A4A0C7-4207-6835-16D3-3E557356C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dirty="0" err="1">
                <a:solidFill>
                  <a:srgbClr val="333333"/>
                </a:solidFill>
              </a:rPr>
              <a:t>Bounded</a:t>
            </a:r>
            <a:r>
              <a:rPr lang="de-DE" sz="4200" dirty="0">
                <a:solidFill>
                  <a:srgbClr val="333333"/>
                </a:solidFill>
              </a:rPr>
              <a:t> Input </a:t>
            </a:r>
            <a:r>
              <a:rPr lang="de-DE" sz="4200" dirty="0" err="1">
                <a:solidFill>
                  <a:srgbClr val="333333"/>
                </a:solidFill>
              </a:rPr>
              <a:t>Bounded</a:t>
            </a:r>
            <a:r>
              <a:rPr lang="de-DE" sz="4200" dirty="0">
                <a:solidFill>
                  <a:srgbClr val="333333"/>
                </a:solidFill>
              </a:rPr>
              <a:t> Output (BIBO) </a:t>
            </a:r>
            <a:r>
              <a:rPr lang="de-DE" sz="4200" dirty="0" err="1">
                <a:solidFill>
                  <a:srgbClr val="333333"/>
                </a:solidFill>
              </a:rPr>
              <a:t>Stability</a:t>
            </a:r>
            <a:endParaRPr lang="de-DE" sz="4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5B96D3-8C8C-5245-76D0-DDB0ABD9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2770E324-4BDC-052F-A525-701F6CD65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480985"/>
            <a:ext cx="6096000" cy="3182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ghtbox">
            <a:extLst>
              <a:ext uri="{FF2B5EF4-FFF2-40B4-BE49-F238E27FC236}">
                <a16:creationId xmlns:a16="http://schemas.microsoft.com/office/drawing/2014/main" id="{EAAEB25C-9B6A-B6AF-CA8D-558BF2E0D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82" y="1708656"/>
            <a:ext cx="4906617" cy="202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ghtbox">
            <a:extLst>
              <a:ext uri="{FF2B5EF4-FFF2-40B4-BE49-F238E27FC236}">
                <a16:creationId xmlns:a16="http://schemas.microsoft.com/office/drawing/2014/main" id="{50175002-C24B-3B55-AA01-344A8BA4AD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82" y="4471451"/>
            <a:ext cx="4906617" cy="202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8071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all </a:t>
            </a:r>
            <a:r>
              <a:rPr lang="de-DE" sz="2400" dirty="0" err="1"/>
              <a:t>poles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negative real </a:t>
            </a:r>
            <a:r>
              <a:rPr lang="de-DE" sz="2400" dirty="0" err="1"/>
              <a:t>part</a:t>
            </a:r>
            <a:endParaRPr lang="de-DE" sz="2400" dirty="0"/>
          </a:p>
          <a:p>
            <a:r>
              <a:rPr lang="de-DE" sz="2400" dirty="0" err="1"/>
              <a:t>Marginally</a:t>
            </a:r>
            <a:r>
              <a:rPr lang="de-DE" sz="2400" dirty="0"/>
              <a:t>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r>
              <a:rPr lang="de-DE" sz="2400" dirty="0"/>
              <a:t> on </a:t>
            </a:r>
            <a:r>
              <a:rPr lang="de-DE" sz="2400" dirty="0" err="1"/>
              <a:t>imaginary</a:t>
            </a:r>
            <a:r>
              <a:rPr lang="de-DE" sz="2400" dirty="0"/>
              <a:t> </a:t>
            </a:r>
            <a:r>
              <a:rPr lang="de-DE" sz="2400" dirty="0" err="1"/>
              <a:t>axis</a:t>
            </a:r>
            <a:endParaRPr lang="de-DE" sz="2400" dirty="0"/>
          </a:p>
          <a:p>
            <a:r>
              <a:rPr lang="de-DE" sz="2400" dirty="0" err="1"/>
              <a:t>Unstable</a:t>
            </a:r>
            <a:r>
              <a:rPr lang="de-DE" sz="2400" dirty="0"/>
              <a:t> </a:t>
            </a:r>
            <a:r>
              <a:rPr lang="de-DE" sz="2400" dirty="0" err="1"/>
              <a:t>otherwise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 err="1"/>
              <a:t>checks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 </a:t>
            </a:r>
            <a:r>
              <a:rPr lang="de-DE" sz="2400" dirty="0" err="1"/>
              <a:t>known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Numerical</a:t>
            </a:r>
            <a:r>
              <a:rPr lang="de-DE" sz="2400" dirty="0"/>
              <a:t> </a:t>
            </a:r>
            <a:r>
              <a:rPr lang="de-DE" sz="2400" dirty="0" err="1"/>
              <a:t>solver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root </a:t>
            </a:r>
            <a:r>
              <a:rPr lang="de-DE" sz="2400" dirty="0" err="1"/>
              <a:t>finding</a:t>
            </a:r>
            <a:r>
              <a:rPr lang="de-DE" sz="2400" dirty="0"/>
              <a:t>: </a:t>
            </a:r>
            <a:r>
              <a:rPr lang="de-DE" sz="2400" dirty="0" err="1"/>
              <a:t>easiest</a:t>
            </a:r>
            <a:r>
              <a:rPr lang="de-DE" sz="2400" dirty="0"/>
              <a:t> and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practice</a:t>
            </a:r>
            <a:endParaRPr lang="de-DE" sz="2400" dirty="0"/>
          </a:p>
          <a:p>
            <a:r>
              <a:rPr lang="de-DE" sz="2400" dirty="0"/>
              <a:t>Analytical alternatives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computing</a:t>
            </a:r>
            <a:r>
              <a:rPr lang="de-DE" sz="2400" dirty="0"/>
              <a:t> </a:t>
            </a:r>
            <a:r>
              <a:rPr lang="de-DE" sz="2400" dirty="0" err="1"/>
              <a:t>any</a:t>
            </a:r>
            <a:r>
              <a:rPr lang="de-DE" sz="2400" dirty="0"/>
              <a:t> </a:t>
            </a:r>
            <a:r>
              <a:rPr lang="de-DE" sz="2400" dirty="0" err="1"/>
              <a:t>roots</a:t>
            </a:r>
            <a:r>
              <a:rPr lang="de-DE" sz="2400" dirty="0"/>
              <a:t>, e.g., </a:t>
            </a:r>
            <a:r>
              <a:rPr lang="de-DE" sz="2400" dirty="0" err="1"/>
              <a:t>Hurwitz</a:t>
            </a:r>
            <a:r>
              <a:rPr lang="de-DE" sz="2400" dirty="0"/>
              <a:t> </a:t>
            </a:r>
            <a:r>
              <a:rPr lang="de-DE" sz="2400" dirty="0" err="1"/>
              <a:t>criterion</a:t>
            </a:r>
            <a:r>
              <a:rPr lang="de-DE" sz="2400" dirty="0"/>
              <a:t> (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determinants</a:t>
            </a:r>
            <a:r>
              <a:rPr lang="de-DE" sz="2400" dirty="0"/>
              <a:t>):</a:t>
            </a:r>
          </a:p>
          <a:p>
            <a:pPr lvl="1"/>
            <a:r>
              <a:rPr lang="de-DE" sz="2000" dirty="0"/>
              <a:t>Are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RHP </a:t>
            </a:r>
            <a:r>
              <a:rPr lang="de-DE" sz="2000" dirty="0" err="1"/>
              <a:t>poles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Does</a:t>
            </a:r>
            <a:r>
              <a:rPr lang="de-DE" sz="2000" dirty="0"/>
              <a:t> </a:t>
            </a:r>
            <a:r>
              <a:rPr lang="de-DE" sz="2000" dirty="0" err="1"/>
              <a:t>stability</a:t>
            </a:r>
            <a:r>
              <a:rPr lang="de-DE" sz="2000" dirty="0"/>
              <a:t> </a:t>
            </a:r>
            <a:r>
              <a:rPr lang="de-DE" sz="2000" dirty="0" err="1"/>
              <a:t>change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a </a:t>
            </a:r>
            <a:r>
              <a:rPr lang="de-DE" sz="2000" dirty="0" err="1"/>
              <a:t>parameter</a:t>
            </a:r>
            <a:r>
              <a:rPr lang="de-DE" sz="2000" dirty="0"/>
              <a:t>? (root </a:t>
            </a:r>
            <a:r>
              <a:rPr lang="de-DE" sz="2000" dirty="0" err="1"/>
              <a:t>finding</a:t>
            </a:r>
            <a:r>
              <a:rPr lang="de-DE" sz="2000" dirty="0"/>
              <a:t> </a:t>
            </a:r>
            <a:r>
              <a:rPr lang="de-DE" sz="2000" dirty="0" err="1"/>
              <a:t>would</a:t>
            </a:r>
            <a:r>
              <a:rPr lang="de-DE" sz="2000" dirty="0"/>
              <a:t> </a:t>
            </a:r>
            <a:r>
              <a:rPr lang="de-DE" sz="2000" dirty="0" err="1"/>
              <a:t>require</a:t>
            </a:r>
            <a:r>
              <a:rPr lang="de-DE" sz="2000" dirty="0"/>
              <a:t> </a:t>
            </a:r>
            <a:r>
              <a:rPr lang="de-DE" sz="2000" dirty="0" err="1"/>
              <a:t>parameter</a:t>
            </a:r>
            <a:r>
              <a:rPr lang="de-DE" sz="2000" dirty="0"/>
              <a:t> </a:t>
            </a:r>
            <a:r>
              <a:rPr lang="de-DE" sz="2000" dirty="0" err="1"/>
              <a:t>scan</a:t>
            </a:r>
            <a:r>
              <a:rPr lang="de-DE" sz="20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9206D4F-F1A8-A93A-E5A3-DB96E7E19587}"/>
                  </a:ext>
                </a:extLst>
              </p:cNvPr>
              <p:cNvSpPr txBox="1"/>
              <p:nvPr/>
            </p:nvSpPr>
            <p:spPr>
              <a:xfrm>
                <a:off x="7600292" y="260676"/>
                <a:ext cx="4280082" cy="19185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z</a:t>
                </a:r>
                <a:r>
                  <a:rPr lang="de-DE" dirty="0" err="1"/>
                  <a:t>ero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de-DE" dirty="0"/>
                  <a:t>:</a:t>
                </a:r>
              </a:p>
              <a:p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rest</m:t>
                            </m:r>
                          </m:sub>
                        </m:sSub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b="0" dirty="0"/>
              </a:p>
              <a:p>
                <a:r>
                  <a:rPr lang="de-DE" dirty="0"/>
                  <a:t>inverse 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:</a:t>
                </a:r>
              </a:p>
              <a:p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endParaRPr lang="de-DE" dirty="0"/>
              </a:p>
              <a:p>
                <a:r>
                  <a:rPr lang="de-DE" dirty="0" err="1"/>
                  <a:t>zero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=+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de-DE" dirty="0"/>
                  <a:t>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9206D4F-F1A8-A93A-E5A3-DB96E7E19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0292" y="260676"/>
                <a:ext cx="4280082" cy="1918539"/>
              </a:xfrm>
              <a:prstGeom prst="rect">
                <a:avLst/>
              </a:prstGeom>
              <a:blipFill>
                <a:blip r:embed="rId2"/>
                <a:stretch>
                  <a:fillRect l="-1180" t="-1316" b="-460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F552C05-0443-F3AF-5474-8295522B2D89}"/>
                  </a:ext>
                </a:extLst>
              </p:cNvPr>
              <p:cNvSpPr txBox="1"/>
              <p:nvPr/>
            </p:nvSpPr>
            <p:spPr>
              <a:xfrm>
                <a:off x="7600291" y="3024081"/>
                <a:ext cx="4280081" cy="80983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=+90°</m:t>
                    </m:r>
                  </m:oMath>
                </a14:m>
                <a:r>
                  <a:rPr lang="de-DE" dirty="0"/>
                  <a:t>	(LHP pole: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=−90°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8F552C05-0443-F3AF-5474-8295522B2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0291" y="3024081"/>
                <a:ext cx="4280081" cy="809837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343222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32366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 -90°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calculated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Stability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inferred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i.e., </a:t>
                </a:r>
                <a:r>
                  <a:rPr lang="de-DE" sz="2600" dirty="0" err="1"/>
                  <a:t>examination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600" dirty="0"/>
              </a:p>
              <a:p>
                <a:r>
                  <a:rPr lang="de-DE" sz="2600" dirty="0" err="1"/>
                  <a:t>Purely</a:t>
                </a:r>
                <a:r>
                  <a:rPr lang="de-DE" sz="2600" dirty="0"/>
                  <a:t> experimental </a:t>
                </a:r>
                <a:r>
                  <a:rPr lang="de-DE" sz="2600" dirty="0" err="1"/>
                  <a:t>approach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mathematical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needed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explicit pole </a:t>
                </a:r>
                <a:r>
                  <a:rPr lang="de-DE" sz="2600" dirty="0" err="1"/>
                  <a:t>calculation</a:t>
                </a:r>
                <a:endParaRPr lang="de-DE" sz="2600" dirty="0"/>
              </a:p>
              <a:p>
                <a:r>
                  <a:rPr lang="de-DE" sz="2600" dirty="0" err="1"/>
                  <a:t>Graphical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instead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numerical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methods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,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So </a:t>
                </a:r>
                <a:r>
                  <a:rPr lang="de-DE" sz="2600" dirty="0" err="1"/>
                  <a:t>far</a:t>
                </a:r>
                <a:r>
                  <a:rPr lang="de-DE" sz="2600" dirty="0"/>
                  <a:t>: open-loop </a:t>
                </a:r>
                <a:r>
                  <a:rPr lang="de-DE" sz="2600" dirty="0" err="1"/>
                  <a:t>analysis</a:t>
                </a:r>
                <a:r>
                  <a:rPr lang="de-DE" sz="2600" dirty="0"/>
                  <a:t> via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Now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Given an open-loop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9ED36-91BE-6966-D5EF-6F327905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Given an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negative </a:t>
                </a:r>
                <a:r>
                  <a:rPr lang="de-DE" dirty="0" err="1"/>
                  <a:t>feedback</a:t>
                </a:r>
                <a:r>
                  <a:rPr lang="de-DE" dirty="0"/>
                  <a:t>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reads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 lies in RHP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E60DA-4975-1021-EC76-A48FC45FE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9FBA90F-DB98-46B0-3BF8-07E81D37F651}"/>
              </a:ext>
            </a:extLst>
          </p:cNvPr>
          <p:cNvSpPr txBox="1"/>
          <p:nvPr/>
        </p:nvSpPr>
        <p:spPr>
          <a:xfrm>
            <a:off x="5567013" y="4339877"/>
            <a:ext cx="1394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loop </a:t>
            </a:r>
            <a:r>
              <a:rPr lang="de-DE" sz="2400" dirty="0" err="1"/>
              <a:t>gain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D6FFE9-3BFD-8E37-B50F-B0B119EED47E}"/>
              </a:ext>
            </a:extLst>
          </p:cNvPr>
          <p:cNvSpPr txBox="1"/>
          <p:nvPr/>
        </p:nvSpPr>
        <p:spPr>
          <a:xfrm>
            <a:off x="5567013" y="2967335"/>
            <a:ext cx="1871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</a:t>
            </a:r>
            <a:r>
              <a:rPr lang="de-DE" sz="2400" dirty="0" err="1"/>
              <a:t>path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DC74A13-5E56-7588-1E09-FFDD12F1E938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124313" y="3198168"/>
            <a:ext cx="442700" cy="230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E44A2FA-B432-2ADD-4065-E0BB4A27E43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124313" y="4055165"/>
            <a:ext cx="442700" cy="51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D442959D-695E-10C5-0209-5E767479F004}"/>
              </a:ext>
            </a:extLst>
          </p:cNvPr>
          <p:cNvGrpSpPr/>
          <p:nvPr/>
        </p:nvGrpSpPr>
        <p:grpSpPr>
          <a:xfrm>
            <a:off x="7584645" y="35542"/>
            <a:ext cx="4385704" cy="1605924"/>
            <a:chOff x="5722177" y="251837"/>
            <a:chExt cx="4385704" cy="1605924"/>
          </a:xfrm>
        </p:grpSpPr>
        <p:sp>
          <p:nvSpPr>
            <p:cNvPr id="19" name="Verbindungsstelle 18">
              <a:extLst>
                <a:ext uri="{FF2B5EF4-FFF2-40B4-BE49-F238E27FC236}">
                  <a16:creationId xmlns:a16="http://schemas.microsoft.com/office/drawing/2014/main" id="{B2B72736-C70B-2E99-5A1D-A1BC63843F8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119501" y="551919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6764B5CB-4697-CB60-9CDE-D121A283943D}"/>
                </a:ext>
              </a:extLst>
            </p:cNvPr>
            <p:cNvCxnSpPr>
              <a:cxnSpLocks/>
            </p:cNvCxnSpPr>
            <p:nvPr/>
          </p:nvCxnSpPr>
          <p:spPr>
            <a:xfrm>
              <a:off x="9163887" y="596305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F48BC205-338A-D685-F982-DB8C98905425}"/>
                    </a:ext>
                  </a:extLst>
                </p:cNvPr>
                <p:cNvSpPr txBox="1"/>
                <p:nvPr/>
              </p:nvSpPr>
              <p:spPr>
                <a:xfrm>
                  <a:off x="9611783" y="254949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F48BC205-338A-D685-F982-DB8C989054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1783" y="254949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 Verbindung 21">
              <a:extLst>
                <a:ext uri="{FF2B5EF4-FFF2-40B4-BE49-F238E27FC236}">
                  <a16:creationId xmlns:a16="http://schemas.microsoft.com/office/drawing/2014/main" id="{F67CE540-11BC-4060-69D2-907798BE023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>
              <a:off x="9163887" y="640691"/>
              <a:ext cx="0" cy="918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ing 22">
              <a:extLst>
                <a:ext uri="{FF2B5EF4-FFF2-40B4-BE49-F238E27FC236}">
                  <a16:creationId xmlns:a16="http://schemas.microsoft.com/office/drawing/2014/main" id="{2D64C68F-B5F4-A9A8-DA17-711DC0B7BA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3197" y="553476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E066199A-32E0-1E0D-0134-14391AEB2E57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6758197" y="643476"/>
              <a:ext cx="0" cy="90796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86524401-7460-92C6-5786-BA951679934B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6803197" y="598476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D086C4E1-3C29-3051-C642-559A78486D50}"/>
                </a:ext>
              </a:extLst>
            </p:cNvPr>
            <p:cNvCxnSpPr>
              <a:cxnSpLocks/>
              <a:endCxn id="23" idx="2"/>
            </p:cNvCxnSpPr>
            <p:nvPr/>
          </p:nvCxnSpPr>
          <p:spPr>
            <a:xfrm>
              <a:off x="5874209" y="598476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9D208964-DF1A-B55A-5A6D-805C216E4714}"/>
                    </a:ext>
                  </a:extLst>
                </p:cNvPr>
                <p:cNvSpPr txBox="1"/>
                <p:nvPr/>
              </p:nvSpPr>
              <p:spPr>
                <a:xfrm>
                  <a:off x="5722177" y="251837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9D208964-DF1A-B55A-5A6D-805C216E47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2177" y="251837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3227DD23-9ED1-0B2E-F29B-98BEF931EB57}"/>
                    </a:ext>
                  </a:extLst>
                </p:cNvPr>
                <p:cNvSpPr txBox="1"/>
                <p:nvPr/>
              </p:nvSpPr>
              <p:spPr>
                <a:xfrm>
                  <a:off x="6799404" y="707096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3227DD23-9ED1-0B2E-F29B-98BEF931E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9404" y="707096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Prozess 28">
                  <a:extLst>
                    <a:ext uri="{FF2B5EF4-FFF2-40B4-BE49-F238E27FC236}">
                      <a16:creationId xmlns:a16="http://schemas.microsoft.com/office/drawing/2014/main" id="{5550313D-F431-5BAA-3D57-41C5AD80269E}"/>
                    </a:ext>
                  </a:extLst>
                </p:cNvPr>
                <p:cNvSpPr/>
                <p:nvPr/>
              </p:nvSpPr>
              <p:spPr>
                <a:xfrm>
                  <a:off x="7508453" y="293661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Prozess 28">
                  <a:extLst>
                    <a:ext uri="{FF2B5EF4-FFF2-40B4-BE49-F238E27FC236}">
                      <a16:creationId xmlns:a16="http://schemas.microsoft.com/office/drawing/2014/main" id="{5550313D-F431-5BAA-3D57-41C5AD8026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8453" y="293661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Gerade Verbindung 29">
              <a:extLst>
                <a:ext uri="{FF2B5EF4-FFF2-40B4-BE49-F238E27FC236}">
                  <a16:creationId xmlns:a16="http://schemas.microsoft.com/office/drawing/2014/main" id="{23DB8B8C-2DF5-612D-A622-B229E58FC706}"/>
                </a:ext>
              </a:extLst>
            </p:cNvPr>
            <p:cNvCxnSpPr>
              <a:cxnSpLocks/>
            </p:cNvCxnSpPr>
            <p:nvPr/>
          </p:nvCxnSpPr>
          <p:spPr>
            <a:xfrm>
              <a:off x="8422853" y="596305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Prozess 31">
                  <a:extLst>
                    <a:ext uri="{FF2B5EF4-FFF2-40B4-BE49-F238E27FC236}">
                      <a16:creationId xmlns:a16="http://schemas.microsoft.com/office/drawing/2014/main" id="{8794284A-54CB-0A28-4ECC-7706C421B314}"/>
                    </a:ext>
                  </a:extLst>
                </p:cNvPr>
                <p:cNvSpPr/>
                <p:nvPr/>
              </p:nvSpPr>
              <p:spPr>
                <a:xfrm>
                  <a:off x="7508453" y="124511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Prozess 31">
                  <a:extLst>
                    <a:ext uri="{FF2B5EF4-FFF2-40B4-BE49-F238E27FC236}">
                      <a16:creationId xmlns:a16="http://schemas.microsoft.com/office/drawing/2014/main" id="{8794284A-54CB-0A28-4ECC-7706C421B3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8453" y="1245113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44DB01D6-EC66-43EC-AEF0-5C60D845F7C5}"/>
                </a:ext>
              </a:extLst>
            </p:cNvPr>
            <p:cNvCxnSpPr>
              <a:cxnSpLocks/>
              <a:endCxn id="32" idx="3"/>
            </p:cNvCxnSpPr>
            <p:nvPr/>
          </p:nvCxnSpPr>
          <p:spPr>
            <a:xfrm flipH="1">
              <a:off x="8422853" y="1551437"/>
              <a:ext cx="74103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 Verbindung 38">
              <a:extLst>
                <a:ext uri="{FF2B5EF4-FFF2-40B4-BE49-F238E27FC236}">
                  <a16:creationId xmlns:a16="http://schemas.microsoft.com/office/drawing/2014/main" id="{2D221A9F-C8F2-2E91-75E9-34E787FC5910}"/>
                </a:ext>
              </a:extLst>
            </p:cNvPr>
            <p:cNvCxnSpPr>
              <a:cxnSpLocks/>
              <a:stCxn id="32" idx="1"/>
            </p:cNvCxnSpPr>
            <p:nvPr/>
          </p:nvCxnSpPr>
          <p:spPr>
            <a:xfrm flipH="1">
              <a:off x="6758197" y="1551437"/>
              <a:ext cx="7502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FC6C9B03-634C-A782-027C-40393ECD3BCA}"/>
              </a:ext>
            </a:extLst>
          </p:cNvPr>
          <p:cNvSpPr txBox="1"/>
          <p:nvPr/>
        </p:nvSpPr>
        <p:spPr>
          <a:xfrm>
            <a:off x="-467139" y="-725557"/>
            <a:ext cx="1847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CD31E237-ABCE-94BD-45DB-DAD2DE3381FF}"/>
                  </a:ext>
                </a:extLst>
              </p:cNvPr>
              <p:cNvSpPr txBox="1"/>
              <p:nvPr/>
            </p:nvSpPr>
            <p:spPr>
              <a:xfrm>
                <a:off x="8076111" y="3731999"/>
                <a:ext cx="3720389" cy="92333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Typically,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and a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included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forward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CD31E237-ABCE-94BD-45DB-DAD2DE338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6111" y="3731999"/>
                <a:ext cx="3720389" cy="923330"/>
              </a:xfrm>
              <a:prstGeom prst="rect">
                <a:avLst/>
              </a:prstGeom>
              <a:blipFill>
                <a:blip r:embed="rId8"/>
                <a:stretch>
                  <a:fillRect l="-1356" t="-2667" r="-1017" b="-4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8420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e</a:t>
                </a:r>
                <a:r>
                  <a:rPr lang="de-DE" sz="2400" dirty="0" err="1"/>
                  <a:t>valuation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along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boundary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Critical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-loop pole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,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has </a:t>
                </a:r>
                <a:r>
                  <a:rPr lang="de-DE" sz="2400" dirty="0" err="1"/>
                  <a:t>solutions</a:t>
                </a:r>
                <a:r>
                  <a:rPr lang="de-DE" sz="2400" dirty="0"/>
                  <a:t> in RHP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 loop </a:t>
                </a:r>
                <a:r>
                  <a:rPr lang="de-DE" sz="2400" dirty="0" err="1">
                    <a:sym typeface="Wingdings" pitchFamily="2" charset="2"/>
                  </a:rPr>
                  <a:t>unstable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topological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root </a:t>
                </a:r>
                <a:r>
                  <a:rPr lang="de-DE" sz="2400" dirty="0" err="1"/>
                  <a:t>inside</a:t>
                </a:r>
                <a:r>
                  <a:rPr lang="de-DE" sz="2400" dirty="0"/>
                  <a:t>. </a:t>
                </a:r>
                <a:r>
                  <a:rPr lang="de-DE" sz="2400" dirty="0" err="1"/>
                  <a:t>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both</a:t>
                </a:r>
                <a:r>
                  <a:rPr lang="de-DE" sz="2400" dirty="0"/>
                  <a:t> positive-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negative-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branches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:−∞→+∞</m:t>
                    </m:r>
                  </m:oMath>
                </a14:m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  <a:blipFill>
                <a:blip r:embed="rId2"/>
                <a:stretch>
                  <a:fillRect l="-1518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4FF782-4E84-BA12-3F7C-27131846C3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9324" y="2118473"/>
            <a:ext cx="4662676" cy="351183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D5F9AD0-872D-1DB9-C798-4EE5637DFA00}"/>
              </a:ext>
            </a:extLst>
          </p:cNvPr>
          <p:cNvSpPr txBox="1"/>
          <p:nvPr/>
        </p:nvSpPr>
        <p:spPr>
          <a:xfrm>
            <a:off x="8960895" y="1754945"/>
            <a:ext cx="2042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Stable</a:t>
            </a:r>
            <a:r>
              <a:rPr lang="de-DE" dirty="0"/>
              <a:t> PT2 </a:t>
            </a:r>
            <a:r>
              <a:rPr lang="de-DE" dirty="0" err="1"/>
              <a:t>system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/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blipFill>
                <a:blip r:embed="rId5"/>
                <a:stretch>
                  <a:fillRect l="-5882" r="-705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/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Im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blipFill>
                <a:blip r:embed="rId6"/>
                <a:stretch>
                  <a:fillRect t="-8140" r="-34783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4A70F2-723A-C281-2565-DB05C7C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0CB9ED4-DB62-B4A2-34DC-8783EE69D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565" y="0"/>
            <a:ext cx="6834870" cy="685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8CB6CB6B-7EC6-9ECF-CB71-8A1686A5D7DF}"/>
              </a:ext>
            </a:extLst>
          </p:cNvPr>
          <p:cNvSpPr txBox="1"/>
          <p:nvPr/>
        </p:nvSpPr>
        <p:spPr>
          <a:xfrm>
            <a:off x="1361661" y="4860235"/>
            <a:ext cx="1059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498DE1B-5B06-E90C-F0B8-4F10C8A337DD}"/>
              </a:ext>
            </a:extLst>
          </p:cNvPr>
          <p:cNvCxnSpPr>
            <a:stCxn id="6" idx="3"/>
          </p:cNvCxnSpPr>
          <p:nvPr/>
        </p:nvCxnSpPr>
        <p:spPr>
          <a:xfrm flipV="1">
            <a:off x="2420925" y="4442791"/>
            <a:ext cx="1972171" cy="60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0757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D0819-63A4-5FE2-C3BC-F96F50CE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Number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plot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reflects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An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plant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stabilized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6B3FA0-89A5-6D59-0860-E7F83C41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6280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b="1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(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</a:t>
                </a:r>
                <a:r>
                  <a:rPr lang="de-DE" dirty="0" err="1"/>
                  <a:t>ractical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indicators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Instability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polar form: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     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=−180°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less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stable</a:t>
                </a:r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greater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Margins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dangerous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endParaRPr lang="de-DE" dirty="0"/>
              </a:p>
              <a:p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increased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tolerated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413211B-6B0F-D6B5-2986-85580905E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83" y="1978847"/>
            <a:ext cx="6735417" cy="415689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5F2C1E1-478C-0BD9-8D82-4876E525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Crossover </a:t>
            </a:r>
            <a:r>
              <a:rPr lang="de-DE" dirty="0" err="1"/>
              <a:t>Frequencies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𝑝𝑐</m:t>
                            </m:r>
                          </m:sub>
                        </m:sSub>
                      </m:e>
                    </m:d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𝑝𝑐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𝑔𝑐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𝑃𝑀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180°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𝑔𝑐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  <a:blipFill>
                <a:blip r:embed="rId3"/>
                <a:stretch>
                  <a:fillRect l="-2025" t="-2616" r="-2025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AABD63-47D9-6DAA-DBC5-4FF44639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1728122-EEA6-FB12-AC4A-3F62F7695D8D}"/>
              </a:ext>
            </a:extLst>
          </p:cNvPr>
          <p:cNvSpPr txBox="1"/>
          <p:nvPr/>
        </p:nvSpPr>
        <p:spPr>
          <a:xfrm>
            <a:off x="8468140" y="1541966"/>
            <a:ext cx="1944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just </a:t>
            </a:r>
            <a:r>
              <a:rPr lang="de-DE" dirty="0" err="1"/>
              <a:t>barely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78820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A7948B-6ED8-7CF1-490A-B18406C6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2A853D-0B20-D918-284F-7BFB156CE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44081"/>
            <a:ext cx="7772400" cy="476983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7647B81-CEBA-DCA7-48F6-FE52BF214224}"/>
              </a:ext>
            </a:extLst>
          </p:cNvPr>
          <p:cNvSpPr txBox="1"/>
          <p:nvPr/>
        </p:nvSpPr>
        <p:spPr>
          <a:xfrm>
            <a:off x="5519079" y="501649"/>
            <a:ext cx="1124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667790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A91FBE-99C9-8927-00D6-37A02814F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+4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+5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stable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Classify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(</a:t>
                </a:r>
                <a:r>
                  <a:rPr lang="de-DE" dirty="0" err="1"/>
                  <a:t>overdamped</a:t>
                </a:r>
                <a:r>
                  <a:rPr lang="de-DE" dirty="0"/>
                  <a:t>, </a:t>
                </a:r>
                <a:r>
                  <a:rPr lang="de-DE" dirty="0" err="1"/>
                  <a:t>critically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, </a:t>
                </a:r>
                <a:r>
                  <a:rPr lang="de-DE" dirty="0" err="1"/>
                  <a:t>underdamped</a:t>
                </a:r>
                <a:r>
                  <a:rPr lang="de-DE" dirty="0"/>
                  <a:t>).</a:t>
                </a:r>
              </a:p>
              <a:p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qualitatively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 r="-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BE623A-89FC-8C25-F95D-A8CA62EA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8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54AC5-9411-F599-5E69-5D44365B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5A744-EBBA-242F-93A9-93BF14691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3182DB-EEF2-C6AD-E924-454CA5524A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Compare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+2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Do </a:t>
                </a:r>
                <a:r>
                  <a:rPr lang="de-DE" dirty="0" err="1"/>
                  <a:t>both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same </a:t>
                </a:r>
                <a:r>
                  <a:rPr lang="de-DE" dirty="0" err="1"/>
                  <a:t>poles</a:t>
                </a:r>
                <a:r>
                  <a:rPr lang="de-DE" dirty="0"/>
                  <a:t>?</a:t>
                </a:r>
              </a:p>
              <a:p>
                <a:r>
                  <a:rPr lang="de-DE" dirty="0"/>
                  <a:t>How </a:t>
                </a:r>
                <a:r>
                  <a:rPr lang="de-DE" dirty="0" err="1"/>
                  <a:t>does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</a:t>
                </a:r>
                <a:r>
                  <a:rPr lang="de-DE" dirty="0" err="1"/>
                  <a:t>affect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?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83182DB-EEF2-C6AD-E924-454CA5524A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45FC2A-41F2-6A3E-8B5D-CF1226306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8384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8EF13-337D-C5E4-C7D1-39FC82EA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2AD4D8-B8B5-04C3-AFDA-013C50C62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F29C92C-8F14-092A-5D9B-E98B1456E5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For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, </a:t>
                </a: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+2)(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+3)</m:t>
                        </m:r>
                      </m:den>
                    </m:f>
                  </m:oMath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+2)</m:t>
                        </m:r>
                      </m:den>
                    </m:f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+2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F29C92C-8F14-092A-5D9B-E98B1456E5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C9A75F-353C-AEA5-B0D7-46A628C9B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3453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6E7A3-F07B-4AB0-381B-F17AC680C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4F1AF5-97A4-9E59-4CC7-39B5548E7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FB307CD-9F70-F771-2856-6B0112B38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poles</a:t>
                </a:r>
                <a:r>
                  <a:rPr lang="de-DE" dirty="0"/>
                  <a:t>: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=−1±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=−10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Which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FB307CD-9F70-F771-2856-6B0112B38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82B3D9-900F-2860-A55C-9E6D7721A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9172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1BB6D-CCF9-B075-7653-1593C1A54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3B17E-615C-E354-7367-71553DE3A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59028D8-E17B-EA19-875B-533D965A37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following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+2)(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+4)</m:t>
                        </m:r>
                      </m:den>
                    </m:f>
                  </m:oMath>
                </a14:m>
                <a:r>
                  <a:rPr lang="de-DE" dirty="0"/>
                  <a:t>,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+2)(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+4)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both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Compare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Predict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affects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special</a:t>
                </a:r>
                <a:r>
                  <a:rPr lang="de-DE" dirty="0"/>
                  <a:t> </a:t>
                </a:r>
                <a:r>
                  <a:rPr lang="de-DE" dirty="0" err="1"/>
                  <a:t>about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</a:t>
                </a:r>
                <a:r>
                  <a:rPr lang="de-DE" dirty="0" err="1"/>
                  <a:t>location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?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59028D8-E17B-EA19-875B-533D965A37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76B73D-6D6B-823B-853B-95E451F78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45492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84F68-E9E5-066D-B446-BDAACF919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5532FB-43FC-1E15-DFC5-FF6F09006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9DB56D-8391-A08C-AD27-E40A00BE9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Given: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Let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=0.2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resonance</a:t>
                </a:r>
                <a:r>
                  <a:rPr lang="de-DE" dirty="0"/>
                  <a:t> </a:t>
                </a:r>
                <a:r>
                  <a:rPr lang="de-DE" dirty="0" err="1"/>
                  <a:t>expected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peak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strong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weak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59DB56D-8391-A08C-AD27-E40A00BE9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D76F8-465D-6764-8497-69FA3AC9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77972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98005-5C48-E765-4EE6-DE1561535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D9EDFF-FE54-079A-CD99-7D2B04B66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7496F6-12CD-AB21-93E7-4D7C3DBA56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You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given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Gain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𝑔𝑐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rad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Phase at </a:t>
                </a:r>
                <a:r>
                  <a:rPr lang="de-DE" dirty="0" err="1"/>
                  <a:t>crossover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−150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b="1" dirty="0"/>
              </a:p>
              <a:p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07496F6-12CD-AB21-93E7-4D7C3DBA5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09774" cy="4351338"/>
              </a:xfrm>
              <a:blipFill>
                <a:blip r:embed="rId2"/>
                <a:stretch>
                  <a:fillRect l="-1133" t="-43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8A0A15-A4B4-69CE-DF4C-7468541C0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7610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1592</Words>
  <Application>Microsoft Macintosh PowerPoint</Application>
  <PresentationFormat>Breitbild</PresentationFormat>
  <Paragraphs>282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Bounded Input Bounded Output (BIBO) Stability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Closed-Loop Stability</vt:lpstr>
      <vt:lpstr>Nyquist Stability Criterion</vt:lpstr>
      <vt:lpstr>PowerPoint-Präsentation</vt:lpstr>
      <vt:lpstr>Nyquist Formula</vt:lpstr>
      <vt:lpstr>Gain and Phase Margins</vt:lpstr>
      <vt:lpstr>Crossover Frequencies</vt:lpstr>
      <vt:lpstr>PowerPoint-Präsentation</vt:lpstr>
      <vt:lpstr>Exercise 1</vt:lpstr>
      <vt:lpstr>Exercise 2</vt:lpstr>
      <vt:lpstr>Exercise 3</vt:lpstr>
      <vt:lpstr>Exercise 4</vt:lpstr>
      <vt:lpstr>Exercise 5</vt:lpstr>
      <vt:lpstr>Exercise 6</vt:lpstr>
      <vt:lpstr>Exercise 7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185</cp:revision>
  <dcterms:created xsi:type="dcterms:W3CDTF">2025-01-08T09:27:30Z</dcterms:created>
  <dcterms:modified xsi:type="dcterms:W3CDTF">2026-04-29T12:31:10Z</dcterms:modified>
</cp:coreProperties>
</file>
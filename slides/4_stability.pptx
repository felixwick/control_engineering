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6"/>
  </p:notesMasterIdLst>
  <p:sldIdLst>
    <p:sldId id="256" r:id="rId2"/>
    <p:sldId id="265" r:id="rId3"/>
    <p:sldId id="266" r:id="rId4"/>
    <p:sldId id="267" r:id="rId5"/>
    <p:sldId id="293" r:id="rId6"/>
    <p:sldId id="295" r:id="rId7"/>
    <p:sldId id="306" r:id="rId8"/>
    <p:sldId id="272" r:id="rId9"/>
    <p:sldId id="296" r:id="rId10"/>
    <p:sldId id="294" r:id="rId11"/>
    <p:sldId id="297" r:id="rId12"/>
    <p:sldId id="299" r:id="rId13"/>
    <p:sldId id="298" r:id="rId14"/>
    <p:sldId id="271" r:id="rId15"/>
    <p:sldId id="270" r:id="rId16"/>
    <p:sldId id="300" r:id="rId17"/>
    <p:sldId id="273" r:id="rId18"/>
    <p:sldId id="301" r:id="rId19"/>
    <p:sldId id="274" r:id="rId20"/>
    <p:sldId id="304" r:id="rId21"/>
    <p:sldId id="302" r:id="rId22"/>
    <p:sldId id="275" r:id="rId23"/>
    <p:sldId id="303" r:id="rId24"/>
    <p:sldId id="30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28" autoAdjust="0"/>
  </p:normalViewPr>
  <p:slideViewPr>
    <p:cSldViewPr snapToGrid="0">
      <p:cViewPr varScale="1">
        <p:scale>
          <a:sx n="127" d="100"/>
          <a:sy n="127" d="100"/>
        </p:scale>
        <p:origin x="5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29/04/2026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Control Engineering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Systems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Continuous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Laplace Domain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Controller Design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Discrete</a:t>
            </a:r>
            <a:r>
              <a:rPr lang="de-DE" dirty="0"/>
              <a:t>-time Controllers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State Space </a:t>
            </a:r>
            <a:r>
              <a:rPr lang="de-DE" dirty="0" err="1"/>
              <a:t>Representation</a:t>
            </a:r>
            <a:endParaRPr lang="de-DE" dirty="0"/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Advanced</a:t>
            </a:r>
            <a:r>
              <a:rPr lang="de-DE" dirty="0"/>
              <a:t> Control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92B2E04-27B7-8A9A-6143-C8831F83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Poles/Zeros &amp; </a:t>
            </a:r>
            <a:r>
              <a:rPr lang="de-DE" dirty="0" err="1"/>
              <a:t>Stability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599745-405B-0FFD-67CC-A4CA1E668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Effect</a:t>
            </a:r>
            <a:r>
              <a:rPr lang="de-DE" dirty="0"/>
              <a:t> on transient </a:t>
            </a:r>
            <a:r>
              <a:rPr lang="de-DE" dirty="0" err="1"/>
              <a:t>response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Resonance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Frequency</a:t>
            </a:r>
            <a:r>
              <a:rPr lang="de-DE" dirty="0"/>
              <a:t>-domain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analysis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2405FE-CC14-5A9E-E6BC-374EBECB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13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A20BD-D64E-AC2D-EBB8-24EB8C73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Poles and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6FDBE5-DC6B-E55D-D642-F4079BD9A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∏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∏"/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de-D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d>
                                <m:dPr>
                                  <m:ctrlPr>
                                    <a:rPr lang="de-D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de-DE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de-DE" i="1">
                                          <a:latin typeface="Cambria Math" panose="02040503050406030204" pitchFamily="18" charset="0"/>
                                        </a:rPr>
                                        <m:t>𝑝𝑖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Poles: </a:t>
                </a:r>
                <a:r>
                  <a:rPr lang="de-DE" dirty="0" err="1"/>
                  <a:t>roots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denominator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Zeros: </a:t>
                </a:r>
                <a:r>
                  <a:rPr lang="de-DE" dirty="0" err="1"/>
                  <a:t>roots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numerator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Determine</a:t>
                </a:r>
                <a:r>
                  <a:rPr lang="de-DE" dirty="0"/>
                  <a:t>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166FDBE5-DC6B-E55D-D642-F4079BD9A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171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E555DB-F3FB-0878-C6F4-F332B7EE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50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AE154C-424D-C203-2075-F6C80B025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Interpretation </a:t>
            </a:r>
            <a:r>
              <a:rPr lang="de-DE" dirty="0" err="1"/>
              <a:t>of</a:t>
            </a:r>
            <a:r>
              <a:rPr lang="de-DE" dirty="0"/>
              <a:t> Poles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65B0AF-C18E-51FA-36D7-9E4468275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de-DE" sz="2400" dirty="0" err="1"/>
                  <a:t>System’s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natural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response</a:t>
                </a:r>
                <a:r>
                  <a:rPr lang="de-DE" sz="2400" dirty="0"/>
                  <a:t>:</a:t>
                </a:r>
              </a:p>
              <a:p>
                <a:pPr marL="0" indent="0">
                  <a:buNone/>
                </a:pPr>
                <a:r>
                  <a:rPr lang="de-DE" sz="2400" dirty="0" err="1"/>
                  <a:t>sum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terms</a:t>
                </a:r>
                <a:r>
                  <a:rPr lang="de-DE" sz="2400" dirty="0"/>
                  <a:t> like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de-DE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de-DE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one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term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each</a:t>
                </a:r>
                <a:r>
                  <a:rPr lang="de-DE" sz="2400" dirty="0"/>
                  <a:t> pole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de-DE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de-DE" sz="2400" dirty="0"/>
                  <a:t>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Real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2400" dirty="0"/>
                  <a:t>: </a:t>
                </a:r>
                <a:r>
                  <a:rPr lang="de-DE" sz="2400" dirty="0" err="1"/>
                  <a:t>purely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exponential</a:t>
                </a:r>
                <a:r>
                  <a:rPr lang="de-DE" sz="2400" dirty="0"/>
                  <a:t>, </a:t>
                </a:r>
                <a:r>
                  <a:rPr lang="de-DE" sz="2400" dirty="0" err="1"/>
                  <a:t>no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oscillation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Complex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de-DE" sz="2400" dirty="0"/>
                  <a:t>: (</a:t>
                </a:r>
                <a:r>
                  <a:rPr lang="de-DE" sz="2400" dirty="0" err="1"/>
                  <a:t>damped</a:t>
                </a:r>
                <a:r>
                  <a:rPr lang="de-DE" sz="2400" dirty="0"/>
                  <a:t>) </a:t>
                </a:r>
                <a:r>
                  <a:rPr lang="de-DE" sz="2400" dirty="0" err="1"/>
                  <a:t>oscillation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r>
                  <a:rPr lang="de-DE" sz="2400" dirty="0">
                    <a:sym typeface="Wingdings" pitchFamily="2" charset="2"/>
                  </a:rPr>
                  <a:t>Single real pole: PT1</a:t>
                </a:r>
              </a:p>
              <a:p>
                <a:r>
                  <a:rPr lang="de-DE" sz="2400" dirty="0" err="1">
                    <a:sym typeface="Wingdings" pitchFamily="2" charset="2"/>
                  </a:rPr>
                  <a:t>Two</a:t>
                </a:r>
                <a:r>
                  <a:rPr lang="de-DE" sz="2400" dirty="0">
                    <a:sym typeface="Wingdings" pitchFamily="2" charset="2"/>
                  </a:rPr>
                  <a:t> real </a:t>
                </a:r>
                <a:r>
                  <a:rPr lang="de-DE" sz="2400" dirty="0" err="1">
                    <a:sym typeface="Wingdings" pitchFamily="2" charset="2"/>
                  </a:rPr>
                  <a:t>poles</a:t>
                </a:r>
                <a:r>
                  <a:rPr lang="de-DE" sz="2400" dirty="0">
                    <a:sym typeface="Wingdings" pitchFamily="2" charset="2"/>
                  </a:rPr>
                  <a:t>: </a:t>
                </a:r>
                <a:r>
                  <a:rPr lang="de-DE" sz="2400" dirty="0" err="1">
                    <a:sym typeface="Wingdings" pitchFamily="2" charset="2"/>
                  </a:rPr>
                  <a:t>aperiodic</a:t>
                </a:r>
                <a:r>
                  <a:rPr lang="de-DE" sz="2400" dirty="0">
                    <a:sym typeface="Wingdings" pitchFamily="2" charset="2"/>
                  </a:rPr>
                  <a:t> PT2 (</a:t>
                </a:r>
                <a:r>
                  <a:rPr lang="de-DE" sz="2400" dirty="0" err="1">
                    <a:sym typeface="Wingdings" pitchFamily="2" charset="2"/>
                  </a:rPr>
                  <a:t>sum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of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two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exponential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:r>
                  <a:rPr lang="de-DE" sz="2400" dirty="0" err="1">
                    <a:sym typeface="Wingdings" pitchFamily="2" charset="2"/>
                  </a:rPr>
                  <a:t>terms</a:t>
                </a:r>
                <a:r>
                  <a:rPr lang="de-DE" sz="2400" dirty="0">
                    <a:sym typeface="Wingdings" pitchFamily="2" charset="2"/>
                  </a:rPr>
                  <a:t>)</a:t>
                </a:r>
              </a:p>
              <a:p>
                <a:r>
                  <a:rPr lang="de-DE" sz="2400" dirty="0" err="1">
                    <a:sym typeface="Wingdings" pitchFamily="2" charset="2"/>
                  </a:rPr>
                  <a:t>Conjugate</a:t>
                </a:r>
                <a:r>
                  <a:rPr lang="de-DE" sz="2400" dirty="0">
                    <a:sym typeface="Wingdings" pitchFamily="2" charset="2"/>
                  </a:rPr>
                  <a:t> pole pair: </a:t>
                </a:r>
                <a:r>
                  <a:rPr lang="de-DE" sz="2400" dirty="0" err="1">
                    <a:sym typeface="Wingdings" pitchFamily="2" charset="2"/>
                  </a:rPr>
                  <a:t>oscillating</a:t>
                </a:r>
                <a:r>
                  <a:rPr lang="de-DE" sz="2400" dirty="0">
                    <a:sym typeface="Wingdings" pitchFamily="2" charset="2"/>
                  </a:rPr>
                  <a:t> PT2</a:t>
                </a:r>
                <a:endParaRPr lang="de-DE" sz="2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E65B0AF-C18E-51FA-36D7-9E4468275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90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80A277-EABA-D25C-37DF-1CE92DC9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3669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6F9A38-8992-E7C7-CEBD-AC1A098C1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 Location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62C7A46-3151-BCA2-732D-A5FE2D3F78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Pole real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determines</a:t>
                </a:r>
                <a:r>
                  <a:rPr lang="de-DE" dirty="0"/>
                  <a:t> </a:t>
                </a:r>
                <a:r>
                  <a:rPr lang="de-DE" dirty="0" err="1"/>
                  <a:t>decay</a:t>
                </a:r>
                <a:r>
                  <a:rPr lang="de-DE" dirty="0"/>
                  <a:t>/</a:t>
                </a:r>
                <a:r>
                  <a:rPr lang="de-DE" dirty="0" err="1"/>
                  <a:t>growth</a:t>
                </a:r>
                <a:r>
                  <a:rPr lang="de-DE" dirty="0"/>
                  <a:t> rate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)&lt;0</m:t>
                    </m:r>
                  </m:oMath>
                </a14:m>
                <a:r>
                  <a:rPr lang="de-DE" dirty="0"/>
                  <a:t>, i.e., left half-plane (LHP): </a:t>
                </a:r>
                <a:r>
                  <a:rPr lang="de-DE" dirty="0" err="1"/>
                  <a:t>exponential</a:t>
                </a:r>
                <a:r>
                  <a:rPr lang="de-DE" dirty="0"/>
                  <a:t> </a:t>
                </a:r>
                <a:r>
                  <a:rPr lang="de-DE" dirty="0" err="1"/>
                  <a:t>decay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stable</a:t>
                </a:r>
                <a:endParaRPr lang="de-DE" dirty="0">
                  <a:sym typeface="Wingdings" pitchFamily="2" charset="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, i.e., on </a:t>
                </a:r>
                <a:r>
                  <a:rPr lang="de-DE" dirty="0" err="1">
                    <a:sym typeface="Wingdings" pitchFamily="2" charset="2"/>
                  </a:rPr>
                  <a:t>imaginary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axis</a:t>
                </a:r>
                <a:r>
                  <a:rPr lang="de-DE" dirty="0">
                    <a:sym typeface="Wingdings" pitchFamily="2" charset="2"/>
                  </a:rPr>
                  <a:t>: </a:t>
                </a:r>
                <a:r>
                  <a:rPr lang="de-DE" dirty="0" err="1">
                    <a:sym typeface="Wingdings" pitchFamily="2" charset="2"/>
                  </a:rPr>
                  <a:t>purely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oscillatory</a:t>
                </a:r>
                <a:r>
                  <a:rPr lang="de-DE" dirty="0">
                    <a:sym typeface="Wingdings" pitchFamily="2" charset="2"/>
                  </a:rPr>
                  <a:t>  </a:t>
                </a:r>
                <a:r>
                  <a:rPr lang="de-DE" dirty="0" err="1">
                    <a:sym typeface="Wingdings" pitchFamily="2" charset="2"/>
                  </a:rPr>
                  <a:t>marginally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stable</a:t>
                </a:r>
                <a:endParaRPr lang="de-DE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>
                            <a:latin typeface="Cambria Math" panose="02040503050406030204" pitchFamily="18" charset="0"/>
                          </a:rPr>
                          <m:t>Re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de-DE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e-DE" i="1">
                        <a:latin typeface="Cambria Math" panose="02040503050406030204" pitchFamily="18" charset="0"/>
                      </a:rPr>
                      <m:t>)&gt;0</m:t>
                    </m:r>
                  </m:oMath>
                </a14:m>
                <a:r>
                  <a:rPr lang="de-DE" dirty="0"/>
                  <a:t> , i.e., </a:t>
                </a:r>
                <a:r>
                  <a:rPr lang="de-DE" dirty="0" err="1"/>
                  <a:t>right</a:t>
                </a:r>
                <a:r>
                  <a:rPr lang="de-DE" dirty="0"/>
                  <a:t> half-plane (RHP): </a:t>
                </a:r>
                <a:r>
                  <a:rPr lang="de-DE" dirty="0" err="1"/>
                  <a:t>exponential</a:t>
                </a:r>
                <a:r>
                  <a:rPr lang="de-DE" dirty="0"/>
                  <a:t> </a:t>
                </a:r>
                <a:r>
                  <a:rPr lang="de-DE" dirty="0" err="1"/>
                  <a:t>growth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unstable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 err="1"/>
                  <a:t>Far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left</a:t>
                </a:r>
                <a:r>
                  <a:rPr lang="de-DE" dirty="0"/>
                  <a:t>: fast </a:t>
                </a:r>
                <a:r>
                  <a:rPr lang="de-DE" dirty="0" err="1"/>
                  <a:t>decay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de-DE" dirty="0"/>
              </a:p>
              <a:p>
                <a:r>
                  <a:rPr lang="de-DE" dirty="0"/>
                  <a:t>Closer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imaginary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r>
                  <a:rPr lang="de-DE" dirty="0"/>
                  <a:t>: </a:t>
                </a:r>
                <a:r>
                  <a:rPr lang="de-DE" dirty="0" err="1"/>
                  <a:t>slower</a:t>
                </a:r>
                <a:r>
                  <a:rPr lang="de-DE" dirty="0"/>
                  <a:t> </a:t>
                </a:r>
                <a:r>
                  <a:rPr lang="de-DE" dirty="0" err="1"/>
                  <a:t>decay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r>
                  <a:rPr lang="de-DE" dirty="0"/>
                  <a:t>Overall transient </a:t>
                </a:r>
                <a:r>
                  <a:rPr lang="de-DE" dirty="0" err="1"/>
                  <a:t>dominated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pole </a:t>
                </a:r>
                <a:r>
                  <a:rPr lang="de-DE" dirty="0" err="1"/>
                  <a:t>closest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imaginary</a:t>
                </a:r>
                <a:r>
                  <a:rPr lang="de-DE" dirty="0"/>
                  <a:t> </a:t>
                </a:r>
                <a:r>
                  <a:rPr lang="de-DE" dirty="0" err="1"/>
                  <a:t>axis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62C7A46-3151-BCA2-732D-A5FE2D3F78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616" b="-8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AA6DAE-C973-9649-A3CB-300E719F6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008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69A4A0C7-4207-6835-16D3-3E557356C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200" dirty="0" err="1">
                <a:solidFill>
                  <a:srgbClr val="333333"/>
                </a:solidFill>
              </a:rPr>
              <a:t>Bounded</a:t>
            </a:r>
            <a:r>
              <a:rPr lang="de-DE" sz="4200" dirty="0">
                <a:solidFill>
                  <a:srgbClr val="333333"/>
                </a:solidFill>
              </a:rPr>
              <a:t> Input </a:t>
            </a:r>
            <a:r>
              <a:rPr lang="de-DE" sz="4200" dirty="0" err="1">
                <a:solidFill>
                  <a:srgbClr val="333333"/>
                </a:solidFill>
              </a:rPr>
              <a:t>Bounded</a:t>
            </a:r>
            <a:r>
              <a:rPr lang="de-DE" sz="4200" dirty="0">
                <a:solidFill>
                  <a:srgbClr val="333333"/>
                </a:solidFill>
              </a:rPr>
              <a:t> Output (BIBO) </a:t>
            </a:r>
            <a:r>
              <a:rPr lang="de-DE" sz="4200" dirty="0" err="1">
                <a:solidFill>
                  <a:srgbClr val="333333"/>
                </a:solidFill>
              </a:rPr>
              <a:t>Stability</a:t>
            </a:r>
            <a:endParaRPr lang="de-DE" sz="42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5B96D3-8C8C-5245-76D0-DDB0ABD96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7</a:t>
            </a:fld>
            <a:endParaRPr lang="en-GB"/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2770E324-4BDC-052F-A525-701F6CD65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80985"/>
            <a:ext cx="6096000" cy="318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ghtbox">
            <a:extLst>
              <a:ext uri="{FF2B5EF4-FFF2-40B4-BE49-F238E27FC236}">
                <a16:creationId xmlns:a16="http://schemas.microsoft.com/office/drawing/2014/main" id="{EAAEB25C-9B6A-B6AF-CA8D-558BF2E0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82" y="1708656"/>
            <a:ext cx="4906617" cy="202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ightbox">
            <a:extLst>
              <a:ext uri="{FF2B5EF4-FFF2-40B4-BE49-F238E27FC236}">
                <a16:creationId xmlns:a16="http://schemas.microsoft.com/office/drawing/2014/main" id="{50175002-C24B-3B55-AA01-344A8BA4A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82" y="4471451"/>
            <a:ext cx="4906617" cy="202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07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3EB291-3617-973F-8E27-86ACF15D8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-Time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956592-B7CC-DA1D-26BD-9F6DCF27D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 err="1"/>
              <a:t>Stable</a:t>
            </a:r>
            <a:r>
              <a:rPr lang="de-DE" sz="2400" dirty="0"/>
              <a:t> </a:t>
            </a:r>
            <a:r>
              <a:rPr lang="de-DE" sz="2400" dirty="0" err="1"/>
              <a:t>if</a:t>
            </a:r>
            <a:r>
              <a:rPr lang="de-DE" sz="2400" dirty="0"/>
              <a:t> all </a:t>
            </a:r>
            <a:r>
              <a:rPr lang="de-DE" sz="2400" dirty="0" err="1"/>
              <a:t>poles</a:t>
            </a:r>
            <a:r>
              <a:rPr lang="de-DE" sz="2400" dirty="0"/>
              <a:t> </a:t>
            </a:r>
            <a:r>
              <a:rPr lang="de-DE" sz="2400" dirty="0" err="1"/>
              <a:t>have</a:t>
            </a:r>
            <a:r>
              <a:rPr lang="de-DE" sz="2400" dirty="0"/>
              <a:t> negative real </a:t>
            </a:r>
            <a:r>
              <a:rPr lang="de-DE" sz="2400" dirty="0" err="1"/>
              <a:t>part</a:t>
            </a:r>
            <a:endParaRPr lang="de-DE" sz="2400" dirty="0"/>
          </a:p>
          <a:p>
            <a:r>
              <a:rPr lang="de-DE" sz="2400" dirty="0" err="1"/>
              <a:t>Marginally</a:t>
            </a:r>
            <a:r>
              <a:rPr lang="de-DE" sz="2400" dirty="0"/>
              <a:t> </a:t>
            </a:r>
            <a:r>
              <a:rPr lang="de-DE" sz="2400" dirty="0" err="1"/>
              <a:t>stable</a:t>
            </a:r>
            <a:r>
              <a:rPr lang="de-DE" sz="2400" dirty="0"/>
              <a:t> </a:t>
            </a:r>
            <a:r>
              <a:rPr lang="de-DE" sz="2400" dirty="0" err="1"/>
              <a:t>if</a:t>
            </a:r>
            <a:r>
              <a:rPr lang="de-DE" sz="2400" dirty="0"/>
              <a:t> </a:t>
            </a:r>
            <a:r>
              <a:rPr lang="de-DE" sz="2400" dirty="0" err="1"/>
              <a:t>poles</a:t>
            </a:r>
            <a:r>
              <a:rPr lang="de-DE" sz="2400" dirty="0"/>
              <a:t> on </a:t>
            </a:r>
            <a:r>
              <a:rPr lang="de-DE" sz="2400" dirty="0" err="1"/>
              <a:t>imaginary</a:t>
            </a:r>
            <a:r>
              <a:rPr lang="de-DE" sz="2400" dirty="0"/>
              <a:t> </a:t>
            </a:r>
            <a:r>
              <a:rPr lang="de-DE" sz="2400" dirty="0" err="1"/>
              <a:t>axis</a:t>
            </a:r>
            <a:endParaRPr lang="de-DE" sz="2400" dirty="0"/>
          </a:p>
          <a:p>
            <a:r>
              <a:rPr lang="de-DE" sz="2400" dirty="0" err="1"/>
              <a:t>Unstable</a:t>
            </a:r>
            <a:r>
              <a:rPr lang="de-DE" sz="2400" dirty="0"/>
              <a:t> </a:t>
            </a:r>
            <a:r>
              <a:rPr lang="de-DE" sz="2400" dirty="0" err="1"/>
              <a:t>otherwise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 err="1"/>
              <a:t>Stability</a:t>
            </a:r>
            <a:r>
              <a:rPr lang="de-DE" sz="2400" dirty="0"/>
              <a:t> </a:t>
            </a:r>
            <a:r>
              <a:rPr lang="de-DE" sz="2400" dirty="0" err="1"/>
              <a:t>checks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a </a:t>
            </a:r>
            <a:r>
              <a:rPr lang="de-DE" sz="2400" dirty="0" err="1"/>
              <a:t>known</a:t>
            </a:r>
            <a:r>
              <a:rPr lang="de-DE" sz="2400" dirty="0"/>
              <a:t> </a:t>
            </a:r>
            <a:r>
              <a:rPr lang="de-DE" sz="2400" dirty="0" err="1"/>
              <a:t>fixed</a:t>
            </a:r>
            <a:r>
              <a:rPr lang="de-DE" sz="2400" dirty="0"/>
              <a:t> </a:t>
            </a:r>
            <a:r>
              <a:rPr lang="de-DE" sz="2400" dirty="0" err="1"/>
              <a:t>transfer</a:t>
            </a:r>
            <a:r>
              <a:rPr lang="de-DE" sz="2400" dirty="0"/>
              <a:t> </a:t>
            </a:r>
            <a:r>
              <a:rPr lang="de-DE" sz="2400" dirty="0" err="1"/>
              <a:t>function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</a:t>
            </a:r>
            <a:r>
              <a:rPr lang="de-DE" sz="2400" dirty="0" err="1"/>
              <a:t>higher</a:t>
            </a:r>
            <a:r>
              <a:rPr lang="de-DE" sz="2400" dirty="0"/>
              <a:t> </a:t>
            </a:r>
            <a:r>
              <a:rPr lang="de-DE" sz="2400" dirty="0" err="1"/>
              <a:t>order</a:t>
            </a:r>
            <a:r>
              <a:rPr lang="de-DE" sz="2400" dirty="0"/>
              <a:t>:</a:t>
            </a:r>
          </a:p>
          <a:p>
            <a:r>
              <a:rPr lang="de-DE" sz="2400" dirty="0" err="1"/>
              <a:t>Numerical</a:t>
            </a:r>
            <a:r>
              <a:rPr lang="de-DE" sz="2400" dirty="0"/>
              <a:t> </a:t>
            </a:r>
            <a:r>
              <a:rPr lang="de-DE" sz="2400" dirty="0" err="1"/>
              <a:t>solver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root </a:t>
            </a:r>
            <a:r>
              <a:rPr lang="de-DE" sz="2400" dirty="0" err="1"/>
              <a:t>finding</a:t>
            </a:r>
            <a:r>
              <a:rPr lang="de-DE" sz="2400" dirty="0"/>
              <a:t>: </a:t>
            </a:r>
            <a:r>
              <a:rPr lang="de-DE" sz="2400" dirty="0" err="1"/>
              <a:t>easiest</a:t>
            </a:r>
            <a:r>
              <a:rPr lang="de-DE" sz="2400" dirty="0"/>
              <a:t> and </a:t>
            </a:r>
            <a:r>
              <a:rPr lang="de-DE" sz="2400" dirty="0" err="1"/>
              <a:t>standard</a:t>
            </a:r>
            <a:r>
              <a:rPr lang="de-DE" sz="2400" dirty="0"/>
              <a:t> </a:t>
            </a:r>
            <a:r>
              <a:rPr lang="de-DE" sz="2400" dirty="0" err="1"/>
              <a:t>practice</a:t>
            </a:r>
            <a:endParaRPr lang="de-DE" sz="2400" dirty="0"/>
          </a:p>
          <a:p>
            <a:r>
              <a:rPr lang="de-DE" sz="2400" dirty="0"/>
              <a:t>Analytical alternatives </a:t>
            </a:r>
            <a:r>
              <a:rPr lang="de-DE" sz="2400" dirty="0" err="1"/>
              <a:t>without</a:t>
            </a:r>
            <a:r>
              <a:rPr lang="de-DE" sz="2400" dirty="0"/>
              <a:t> </a:t>
            </a:r>
            <a:r>
              <a:rPr lang="de-DE" sz="2400" dirty="0" err="1"/>
              <a:t>computing</a:t>
            </a:r>
            <a:r>
              <a:rPr lang="de-DE" sz="2400" dirty="0"/>
              <a:t> </a:t>
            </a:r>
            <a:r>
              <a:rPr lang="de-DE" sz="2400" dirty="0" err="1"/>
              <a:t>any</a:t>
            </a:r>
            <a:r>
              <a:rPr lang="de-DE" sz="2400" dirty="0"/>
              <a:t> </a:t>
            </a:r>
            <a:r>
              <a:rPr lang="de-DE" sz="2400" dirty="0" err="1"/>
              <a:t>roots</a:t>
            </a:r>
            <a:r>
              <a:rPr lang="de-DE" sz="2400" dirty="0"/>
              <a:t>, e.g., </a:t>
            </a:r>
            <a:r>
              <a:rPr lang="de-DE" sz="2400" dirty="0" err="1"/>
              <a:t>Hurwitz</a:t>
            </a:r>
            <a:r>
              <a:rPr lang="de-DE" sz="2400" dirty="0"/>
              <a:t> </a:t>
            </a:r>
            <a:r>
              <a:rPr lang="de-DE" sz="2400" dirty="0" err="1"/>
              <a:t>criterion</a:t>
            </a:r>
            <a:r>
              <a:rPr lang="de-DE" sz="2400" dirty="0"/>
              <a:t> (</a:t>
            </a:r>
            <a:r>
              <a:rPr lang="de-DE" sz="2400" dirty="0" err="1"/>
              <a:t>using</a:t>
            </a:r>
            <a:r>
              <a:rPr lang="de-DE" sz="2400" dirty="0"/>
              <a:t> </a:t>
            </a:r>
            <a:r>
              <a:rPr lang="de-DE" sz="2400" dirty="0" err="1"/>
              <a:t>determinants</a:t>
            </a:r>
            <a:r>
              <a:rPr lang="de-DE" sz="2400" dirty="0"/>
              <a:t>):</a:t>
            </a:r>
          </a:p>
          <a:p>
            <a:pPr lvl="1"/>
            <a:r>
              <a:rPr lang="de-DE" sz="2000" dirty="0"/>
              <a:t>Are </a:t>
            </a:r>
            <a:r>
              <a:rPr lang="de-DE" sz="2000" dirty="0" err="1"/>
              <a:t>there</a:t>
            </a:r>
            <a:r>
              <a:rPr lang="de-DE" sz="2000" dirty="0"/>
              <a:t> </a:t>
            </a:r>
            <a:r>
              <a:rPr lang="de-DE" sz="2000" dirty="0" err="1"/>
              <a:t>any</a:t>
            </a:r>
            <a:r>
              <a:rPr lang="de-DE" sz="2000" dirty="0"/>
              <a:t> RHP </a:t>
            </a:r>
            <a:r>
              <a:rPr lang="de-DE" sz="2000" dirty="0" err="1"/>
              <a:t>poles</a:t>
            </a:r>
            <a:r>
              <a:rPr lang="de-DE" sz="2000" dirty="0"/>
              <a:t>?</a:t>
            </a:r>
          </a:p>
          <a:p>
            <a:pPr lvl="1"/>
            <a:r>
              <a:rPr lang="de-DE" sz="2000" dirty="0" err="1"/>
              <a:t>Does</a:t>
            </a:r>
            <a:r>
              <a:rPr lang="de-DE" sz="2000" dirty="0"/>
              <a:t> </a:t>
            </a:r>
            <a:r>
              <a:rPr lang="de-DE" sz="2000" dirty="0" err="1"/>
              <a:t>stability</a:t>
            </a:r>
            <a:r>
              <a:rPr lang="de-DE" sz="2000" dirty="0"/>
              <a:t> </a:t>
            </a:r>
            <a:r>
              <a:rPr lang="de-DE" sz="2000" dirty="0" err="1"/>
              <a:t>change</a:t>
            </a:r>
            <a:r>
              <a:rPr lang="de-DE" sz="2000" dirty="0"/>
              <a:t> </a:t>
            </a:r>
            <a:r>
              <a:rPr lang="de-DE" sz="2000" dirty="0" err="1"/>
              <a:t>with</a:t>
            </a:r>
            <a:r>
              <a:rPr lang="de-DE" sz="2000" dirty="0"/>
              <a:t> a </a:t>
            </a:r>
            <a:r>
              <a:rPr lang="de-DE" sz="2000" dirty="0" err="1"/>
              <a:t>parameter</a:t>
            </a:r>
            <a:r>
              <a:rPr lang="de-DE" sz="2000" dirty="0"/>
              <a:t>? (root </a:t>
            </a:r>
            <a:r>
              <a:rPr lang="de-DE" sz="2000" dirty="0" err="1"/>
              <a:t>finding</a:t>
            </a:r>
            <a:r>
              <a:rPr lang="de-DE" sz="2000" dirty="0"/>
              <a:t> </a:t>
            </a:r>
            <a:r>
              <a:rPr lang="de-DE" sz="2000" dirty="0" err="1"/>
              <a:t>would</a:t>
            </a:r>
            <a:r>
              <a:rPr lang="de-DE" sz="2000" dirty="0"/>
              <a:t> </a:t>
            </a:r>
            <a:r>
              <a:rPr lang="de-DE" sz="2000" dirty="0" err="1"/>
              <a:t>require</a:t>
            </a:r>
            <a:r>
              <a:rPr lang="de-DE" sz="2000" dirty="0"/>
              <a:t> </a:t>
            </a:r>
            <a:r>
              <a:rPr lang="de-DE" sz="2000" dirty="0" err="1"/>
              <a:t>parameter</a:t>
            </a:r>
            <a:r>
              <a:rPr lang="de-DE" sz="2000" dirty="0"/>
              <a:t> </a:t>
            </a:r>
            <a:r>
              <a:rPr lang="de-DE" sz="2000" dirty="0" err="1"/>
              <a:t>scan</a:t>
            </a:r>
            <a:r>
              <a:rPr lang="de-DE" sz="2000" dirty="0"/>
              <a:t>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D91BC1F-3367-2175-29F8-BD9E03A1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89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4229D-E0D0-4F27-687E-14E5F50EF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Zero Location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B4A523-7894-C0D4-3451-DAD8F7E33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0322"/>
            <a:ext cx="10515600" cy="514115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Zeros in LHP:</a:t>
            </a:r>
          </a:p>
          <a:p>
            <a:r>
              <a:rPr lang="de-DE" dirty="0" err="1"/>
              <a:t>speed</a:t>
            </a:r>
            <a:r>
              <a:rPr lang="de-DE" dirty="0"/>
              <a:t> </a:t>
            </a:r>
            <a:r>
              <a:rPr lang="de-DE" dirty="0" err="1"/>
              <a:t>up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 (derivative </a:t>
            </a:r>
            <a:r>
              <a:rPr lang="de-DE" dirty="0" err="1"/>
              <a:t>behavior</a:t>
            </a:r>
            <a:r>
              <a:rPr lang="de-DE" dirty="0"/>
              <a:t>)</a:t>
            </a:r>
          </a:p>
          <a:p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increase</a:t>
            </a:r>
            <a:r>
              <a:rPr lang="de-DE" dirty="0"/>
              <a:t> </a:t>
            </a:r>
            <a:r>
              <a:rPr lang="de-DE" dirty="0" err="1"/>
              <a:t>overshoot</a:t>
            </a:r>
            <a:r>
              <a:rPr lang="de-DE" dirty="0"/>
              <a:t> (</a:t>
            </a:r>
            <a:r>
              <a:rPr lang="de-DE" dirty="0" err="1"/>
              <a:t>caused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complex</a:t>
            </a:r>
            <a:r>
              <a:rPr lang="de-DE" dirty="0"/>
              <a:t> </a:t>
            </a:r>
            <a:r>
              <a:rPr lang="de-DE" dirty="0" err="1"/>
              <a:t>poles</a:t>
            </a:r>
            <a:r>
              <a:rPr lang="de-DE" dirty="0"/>
              <a:t>)</a:t>
            </a:r>
          </a:p>
          <a:p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(LHP </a:t>
            </a:r>
            <a:r>
              <a:rPr lang="de-DE" dirty="0" err="1"/>
              <a:t>poles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negative </a:t>
            </a:r>
            <a:r>
              <a:rPr lang="de-DE" dirty="0" err="1"/>
              <a:t>phase</a:t>
            </a:r>
            <a:r>
              <a:rPr lang="de-DE" dirty="0"/>
              <a:t>, so LHP </a:t>
            </a:r>
            <a:r>
              <a:rPr lang="de-DE" dirty="0" err="1"/>
              <a:t>zeros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smallest</a:t>
            </a:r>
            <a:r>
              <a:rPr lang="de-DE" dirty="0"/>
              <a:t> possible </a:t>
            </a:r>
            <a:r>
              <a:rPr lang="de-DE" dirty="0" err="1"/>
              <a:t>phase</a:t>
            </a:r>
            <a:r>
              <a:rPr lang="de-DE" dirty="0"/>
              <a:t> lag </a:t>
            </a:r>
            <a:r>
              <a:rPr lang="de-DE" dirty="0">
                <a:sym typeface="Wingdings" pitchFamily="2" charset="2"/>
              </a:rPr>
              <a:t> minimum-phase </a:t>
            </a:r>
            <a:r>
              <a:rPr lang="de-DE" dirty="0" err="1">
                <a:sym typeface="Wingdings" pitchFamily="2" charset="2"/>
              </a:rPr>
              <a:t>zeros</a:t>
            </a:r>
            <a:r>
              <a:rPr lang="de-DE" dirty="0"/>
              <a:t>)</a:t>
            </a:r>
            <a:endParaRPr lang="de-DE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Zeros in RHP:</a:t>
            </a:r>
          </a:p>
          <a:p>
            <a:r>
              <a:rPr lang="de-DE" dirty="0" err="1"/>
              <a:t>cause</a:t>
            </a:r>
            <a:r>
              <a:rPr lang="de-DE" dirty="0"/>
              <a:t> inverse </a:t>
            </a:r>
            <a:r>
              <a:rPr lang="de-DE" dirty="0" err="1"/>
              <a:t>response</a:t>
            </a:r>
            <a:r>
              <a:rPr lang="de-DE" dirty="0"/>
              <a:t> (initial </a:t>
            </a:r>
            <a:r>
              <a:rPr lang="de-DE" dirty="0" err="1"/>
              <a:t>motion</a:t>
            </a:r>
            <a:r>
              <a:rPr lang="de-DE" dirty="0"/>
              <a:t> </a:t>
            </a:r>
            <a:r>
              <a:rPr lang="de-DE" dirty="0" err="1"/>
              <a:t>opposite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final </a:t>
            </a:r>
            <a:r>
              <a:rPr lang="de-DE" dirty="0" err="1"/>
              <a:t>steady-state</a:t>
            </a:r>
            <a:r>
              <a:rPr lang="de-DE" dirty="0"/>
              <a:t> </a:t>
            </a:r>
            <a:r>
              <a:rPr lang="de-DE" dirty="0" err="1"/>
              <a:t>direction</a:t>
            </a:r>
            <a:r>
              <a:rPr lang="de-DE" dirty="0"/>
              <a:t>)</a:t>
            </a:r>
            <a:endParaRPr lang="de-DE" i="1" dirty="0"/>
          </a:p>
          <a:p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phase</a:t>
            </a:r>
            <a:r>
              <a:rPr lang="de-DE" dirty="0"/>
              <a:t> lag (</a:t>
            </a:r>
            <a:r>
              <a:rPr lang="de-DE" dirty="0">
                <a:sym typeface="Wingdings" pitchFamily="2" charset="2"/>
              </a:rPr>
              <a:t> n</a:t>
            </a:r>
            <a:r>
              <a:rPr lang="de-DE" dirty="0"/>
              <a:t>on-minimum-phase </a:t>
            </a:r>
            <a:r>
              <a:rPr lang="de-DE" dirty="0" err="1"/>
              <a:t>zeros</a:t>
            </a:r>
            <a:r>
              <a:rPr lang="de-DE" dirty="0"/>
              <a:t>)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Zeros at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origin</a:t>
            </a:r>
            <a:r>
              <a:rPr lang="de-DE" dirty="0"/>
              <a:t> </a:t>
            </a:r>
            <a:r>
              <a:rPr lang="de-DE" dirty="0" err="1"/>
              <a:t>introduce</a:t>
            </a:r>
            <a:r>
              <a:rPr lang="de-DE" dirty="0"/>
              <a:t> </a:t>
            </a:r>
            <a:r>
              <a:rPr lang="de-DE" dirty="0" err="1"/>
              <a:t>differentiating</a:t>
            </a:r>
            <a:r>
              <a:rPr lang="de-DE" dirty="0"/>
              <a:t> </a:t>
            </a:r>
            <a:r>
              <a:rPr lang="de-DE" dirty="0" err="1"/>
              <a:t>behavior</a:t>
            </a:r>
            <a:endParaRPr lang="de-DE" dirty="0"/>
          </a:p>
          <a:p>
            <a:r>
              <a:rPr lang="de-DE" dirty="0"/>
              <a:t>Zeros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poles</a:t>
            </a:r>
            <a:r>
              <a:rPr lang="de-DE" dirty="0"/>
              <a:t> </a:t>
            </a:r>
            <a:r>
              <a:rPr lang="de-DE" dirty="0" err="1"/>
              <a:t>modify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cancel</a:t>
            </a:r>
            <a:r>
              <a:rPr lang="de-DE" dirty="0"/>
              <a:t> </a:t>
            </a:r>
            <a:r>
              <a:rPr lang="de-DE" dirty="0" err="1"/>
              <a:t>dynamic</a:t>
            </a:r>
            <a:r>
              <a:rPr lang="de-DE" dirty="0"/>
              <a:t> </a:t>
            </a:r>
            <a:r>
              <a:rPr lang="de-DE" dirty="0" err="1"/>
              <a:t>modes</a:t>
            </a:r>
            <a:endParaRPr lang="de-DE" dirty="0"/>
          </a:p>
          <a:p>
            <a:r>
              <a:rPr lang="de-DE" dirty="0"/>
              <a:t>An LHP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imaginary</a:t>
            </a:r>
            <a:r>
              <a:rPr lang="de-DE" dirty="0"/>
              <a:t> </a:t>
            </a:r>
            <a:r>
              <a:rPr lang="de-DE" dirty="0" err="1"/>
              <a:t>axis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a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close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a dominant pole (</a:t>
            </a:r>
            <a:r>
              <a:rPr lang="de-DE" dirty="0" err="1"/>
              <a:t>slowest-decaying</a:t>
            </a:r>
            <a:r>
              <a:rPr lang="de-DE" dirty="0"/>
              <a:t> </a:t>
            </a:r>
            <a:r>
              <a:rPr lang="de-DE" dirty="0" err="1"/>
              <a:t>exponential</a:t>
            </a:r>
            <a:r>
              <a:rPr lang="de-DE" dirty="0"/>
              <a:t>, i.e., pole </a:t>
            </a:r>
            <a:r>
              <a:rPr lang="de-DE" dirty="0" err="1"/>
              <a:t>with</a:t>
            </a:r>
            <a:r>
              <a:rPr lang="de-DE" dirty="0"/>
              <a:t> least negative real </a:t>
            </a:r>
            <a:r>
              <a:rPr lang="de-DE" dirty="0" err="1"/>
              <a:t>part</a:t>
            </a:r>
            <a:r>
              <a:rPr lang="de-DE" dirty="0"/>
              <a:t>)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increase</a:t>
            </a:r>
            <a:r>
              <a:rPr lang="de-DE" dirty="0"/>
              <a:t> </a:t>
            </a:r>
            <a:r>
              <a:rPr lang="de-DE" dirty="0" err="1"/>
              <a:t>overshoot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A5D622-9649-01DA-F740-FED2720B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9206D4F-F1A8-A93A-E5A3-DB96E7E19587}"/>
                  </a:ext>
                </a:extLst>
              </p:cNvPr>
              <p:cNvSpPr txBox="1"/>
              <p:nvPr/>
            </p:nvSpPr>
            <p:spPr>
              <a:xfrm>
                <a:off x="7600292" y="260676"/>
                <a:ext cx="4280082" cy="191853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z</a:t>
                </a:r>
                <a:r>
                  <a:rPr lang="de-DE" dirty="0" err="1"/>
                  <a:t>ero</a:t>
                </a:r>
                <a:r>
                  <a:rPr lang="de-DE" dirty="0"/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dirty="0"/>
                  <a:t>:</a:t>
                </a:r>
              </a:p>
              <a:p>
                <a:pPr/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DE" b="0" i="0" smtClean="0">
                                <a:latin typeface="Cambria Math" panose="02040503050406030204" pitchFamily="18" charset="0"/>
                              </a:rPr>
                              <m:t>rest</m:t>
                            </m:r>
                          </m:sub>
                        </m:sSub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de-DE" b="0" dirty="0"/>
              </a:p>
              <a:p>
                <a:pPr/>
                <a:r>
                  <a:rPr lang="de-DE" dirty="0"/>
                  <a:t>inverse Laplace </a:t>
                </a:r>
                <a:r>
                  <a:rPr lang="de-DE" dirty="0" err="1"/>
                  <a:t>transform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:</a:t>
                </a:r>
              </a:p>
              <a:p>
                <a:pPr/>
                <a:r>
                  <a:rPr lang="de-DE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/>
                <a:endParaRPr lang="de-DE" dirty="0"/>
              </a:p>
              <a:p>
                <a:pPr/>
                <a:r>
                  <a:rPr lang="de-DE" dirty="0" err="1"/>
                  <a:t>zero</a:t>
                </a:r>
                <a:r>
                  <a:rPr lang="de-DE" dirty="0"/>
                  <a:t>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de-DE" b="0" i="0" smtClean="0">
                        <a:latin typeface="Cambria Math" panose="02040503050406030204" pitchFamily="18" charset="0"/>
                      </a:rPr>
                      <m:t>=+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de-DE" dirty="0"/>
                  <a:t>:	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49206D4F-F1A8-A93A-E5A3-DB96E7E19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292" y="260676"/>
                <a:ext cx="4280082" cy="1918539"/>
              </a:xfrm>
              <a:prstGeom prst="rect">
                <a:avLst/>
              </a:prstGeom>
              <a:blipFill>
                <a:blip r:embed="rId2"/>
                <a:stretch>
                  <a:fillRect l="-1180" t="-1316" b="-460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F552C05-0443-F3AF-5474-8295522B2D89}"/>
                  </a:ext>
                </a:extLst>
              </p:cNvPr>
              <p:cNvSpPr txBox="1"/>
              <p:nvPr/>
            </p:nvSpPr>
            <p:spPr>
              <a:xfrm>
                <a:off x="7600291" y="3024081"/>
                <a:ext cx="4280081" cy="80983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de-DE"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de-D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de-DE" dirty="0"/>
              </a:p>
              <a:p>
                <a:pPr/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=+90°</m:t>
                    </m:r>
                  </m:oMath>
                </a14:m>
                <a:r>
                  <a:rPr lang="de-DE" dirty="0"/>
                  <a:t>	(LHP pole: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=−90°</m:t>
                    </m:r>
                  </m:oMath>
                </a14:m>
                <a:r>
                  <a:rPr lang="de-DE" dirty="0"/>
                  <a:t>)</a:t>
                </a:r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8F552C05-0443-F3AF-5474-8295522B2D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0291" y="3024081"/>
                <a:ext cx="4280081" cy="809837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296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400246-61A5-767F-909C-8A5B4C446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Interpretation </a:t>
            </a:r>
            <a:r>
              <a:rPr lang="de-DE" dirty="0" err="1"/>
              <a:t>of</a:t>
            </a:r>
            <a:r>
              <a:rPr lang="de-DE" dirty="0"/>
              <a:t> Zeros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EECDF6-3FEB-A177-D7A8-7BB023178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Zeros </a:t>
                </a:r>
                <a:r>
                  <a:rPr lang="de-DE" dirty="0" err="1"/>
                  <a:t>correspond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multiplications</a:t>
                </a:r>
                <a:r>
                  <a:rPr lang="de-DE" dirty="0"/>
                  <a:t> 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</a:t>
                </a:r>
                <a:r>
                  <a:rPr lang="de-DE" dirty="0"/>
                  <a:t> derivatives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endParaRPr lang="de-DE" dirty="0"/>
              </a:p>
              <a:p>
                <a:r>
                  <a:rPr lang="de-DE" dirty="0" err="1"/>
                  <a:t>Describe</a:t>
                </a:r>
                <a:r>
                  <a:rPr lang="de-DE" dirty="0"/>
                  <a:t>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excites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natural</a:t>
                </a:r>
                <a:r>
                  <a:rPr lang="de-DE" dirty="0"/>
                  <a:t> </a:t>
                </a:r>
                <a:r>
                  <a:rPr lang="de-DE" dirty="0" err="1"/>
                  <a:t>modes</a:t>
                </a:r>
                <a:r>
                  <a:rPr lang="de-DE" dirty="0"/>
                  <a:t> (</a:t>
                </a:r>
                <a:r>
                  <a:rPr lang="de-DE" dirty="0" err="1"/>
                  <a:t>described</a:t>
                </a:r>
                <a:r>
                  <a:rPr lang="de-DE" dirty="0"/>
                  <a:t> </a:t>
                </a:r>
                <a:r>
                  <a:rPr lang="de-DE" dirty="0" err="1"/>
                  <a:t>by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)</a:t>
                </a:r>
              </a:p>
              <a:p>
                <a:r>
                  <a:rPr lang="de-DE" dirty="0" err="1"/>
                  <a:t>Creates</a:t>
                </a:r>
                <a:r>
                  <a:rPr lang="de-DE" dirty="0"/>
                  <a:t> </a:t>
                </a:r>
                <a:r>
                  <a:rPr lang="de-DE" dirty="0" err="1"/>
                  <a:t>impulse</a:t>
                </a:r>
                <a:r>
                  <a:rPr lang="de-DE" dirty="0"/>
                  <a:t>-like </a:t>
                </a:r>
                <a:r>
                  <a:rPr lang="de-DE" dirty="0" err="1"/>
                  <a:t>behavior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step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lang="de-DE" dirty="0"/>
                  <a:t>)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faster</a:t>
                </a:r>
                <a:r>
                  <a:rPr lang="de-DE" dirty="0">
                    <a:sym typeface="Wingdings" pitchFamily="2" charset="2"/>
                  </a:rPr>
                  <a:t> initial </a:t>
                </a:r>
                <a:r>
                  <a:rPr lang="de-DE" dirty="0" err="1">
                    <a:sym typeface="Wingdings" pitchFamily="2" charset="2"/>
                  </a:rPr>
                  <a:t>rise</a:t>
                </a:r>
                <a:endParaRPr lang="de-DE" dirty="0"/>
              </a:p>
              <a:p>
                <a:r>
                  <a:rPr lang="de-DE" dirty="0" err="1">
                    <a:sym typeface="Wingdings" pitchFamily="2" charset="2"/>
                  </a:rPr>
                  <a:t>One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can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cancel</a:t>
                </a:r>
                <a:r>
                  <a:rPr lang="de-DE" dirty="0">
                    <a:sym typeface="Wingdings" pitchFamily="2" charset="2"/>
                  </a:rPr>
                  <a:t> a pole </a:t>
                </a:r>
                <a:r>
                  <a:rPr lang="de-DE" dirty="0" err="1">
                    <a:sym typeface="Wingdings" pitchFamily="2" charset="2"/>
                  </a:rPr>
                  <a:t>with</a:t>
                </a:r>
                <a:r>
                  <a:rPr lang="de-DE" dirty="0">
                    <a:sym typeface="Wingdings" pitchFamily="2" charset="2"/>
                  </a:rPr>
                  <a:t> a </a:t>
                </a:r>
                <a:r>
                  <a:rPr lang="de-DE" dirty="0" err="1">
                    <a:sym typeface="Wingdings" pitchFamily="2" charset="2"/>
                  </a:rPr>
                  <a:t>zero</a:t>
                </a:r>
                <a:r>
                  <a:rPr lang="de-DE" dirty="0">
                    <a:sym typeface="Wingdings" pitchFamily="2" charset="2"/>
                  </a:rPr>
                  <a:t>  </a:t>
                </a:r>
                <a:r>
                  <a:rPr lang="de-DE" dirty="0" err="1">
                    <a:sym typeface="Wingdings" pitchFamily="2" charset="2"/>
                  </a:rPr>
                  <a:t>corresponding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/>
                  <a:t>exponential</a:t>
                </a:r>
                <a:r>
                  <a:rPr lang="de-DE" dirty="0"/>
                  <a:t> </a:t>
                </a:r>
                <a:r>
                  <a:rPr lang="de-DE" dirty="0" err="1"/>
                  <a:t>term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pole </a:t>
                </a:r>
                <a:r>
                  <a:rPr lang="de-DE" dirty="0" err="1"/>
                  <a:t>disappears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forced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endParaRPr lang="de-DE" dirty="0"/>
              </a:p>
              <a:p>
                <a:r>
                  <a:rPr lang="de-DE" dirty="0" err="1"/>
                  <a:t>Amplification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higher</a:t>
                </a:r>
                <a:r>
                  <a:rPr lang="de-DE" dirty="0"/>
                  <a:t> </a:t>
                </a:r>
                <a:r>
                  <a:rPr lang="de-DE" dirty="0" err="1"/>
                  <a:t>frequencies</a:t>
                </a:r>
                <a:r>
                  <a:rPr lang="de-DE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de-DE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func>
                      <m:func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func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DE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func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Frequency-selective</a:t>
                </a:r>
                <a:r>
                  <a:rPr lang="de-DE" dirty="0"/>
                  <a:t> </a:t>
                </a:r>
                <a:r>
                  <a:rPr lang="de-DE" dirty="0" err="1"/>
                  <a:t>property</a:t>
                </a:r>
                <a:r>
                  <a:rPr lang="de-DE" dirty="0"/>
                  <a:t>: </a:t>
                </a:r>
                <a:r>
                  <a:rPr lang="de-DE" dirty="0" err="1"/>
                  <a:t>system</a:t>
                </a:r>
                <a:r>
                  <a:rPr lang="de-DE" dirty="0"/>
                  <a:t> </a:t>
                </a:r>
                <a:r>
                  <a:rPr lang="de-DE" dirty="0" err="1"/>
                  <a:t>blocks</a:t>
                </a:r>
                <a:r>
                  <a:rPr lang="de-DE" dirty="0"/>
                  <a:t> </a:t>
                </a:r>
                <a:r>
                  <a:rPr lang="de-DE" dirty="0" err="1"/>
                  <a:t>steady-state</a:t>
                </a:r>
                <a:r>
                  <a:rPr lang="de-DE" dirty="0"/>
                  <a:t> </a:t>
                </a:r>
                <a:r>
                  <a:rPr lang="de-DE" dirty="0" err="1"/>
                  <a:t>sinusoidal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a </a:t>
                </a:r>
                <a:r>
                  <a:rPr lang="de-DE" dirty="0" err="1"/>
                  <a:t>zero</a:t>
                </a:r>
                <a:r>
                  <a:rPr lang="de-DE" dirty="0"/>
                  <a:t> (</a:t>
                </a:r>
                <a:r>
                  <a:rPr lang="de-DE" dirty="0" err="1"/>
                  <a:t>despite</a:t>
                </a:r>
                <a:r>
                  <a:rPr lang="de-DE" dirty="0"/>
                  <a:t> </a:t>
                </a:r>
                <a:r>
                  <a:rPr lang="de-DE" dirty="0" err="1"/>
                  <a:t>nonzero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More </a:t>
                </a:r>
                <a:r>
                  <a:rPr lang="de-DE" dirty="0" err="1"/>
                  <a:t>zeros</a:t>
                </a:r>
                <a:r>
                  <a:rPr lang="de-DE" dirty="0"/>
                  <a:t> </a:t>
                </a:r>
                <a:r>
                  <a:rPr lang="de-DE" dirty="0" err="1"/>
                  <a:t>mean</a:t>
                </a:r>
                <a:r>
                  <a:rPr lang="de-DE" dirty="0"/>
                  <a:t> a </a:t>
                </a:r>
                <a:r>
                  <a:rPr lang="de-DE" dirty="0" err="1"/>
                  <a:t>stronger</a:t>
                </a:r>
                <a:r>
                  <a:rPr lang="de-DE" dirty="0"/>
                  <a:t> </a:t>
                </a:r>
                <a:r>
                  <a:rPr lang="de-DE" dirty="0" err="1"/>
                  <a:t>shaping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input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and an </a:t>
                </a:r>
                <a:r>
                  <a:rPr lang="de-DE" dirty="0" err="1"/>
                  <a:t>increase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high-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gain</a:t>
                </a:r>
                <a:r>
                  <a:rPr lang="de-DE" dirty="0"/>
                  <a:t>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EECDF6-3FEB-A177-D7A8-7BB023178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 r="-121" b="-23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5A1E12-F588-EDED-8AD9-0CC86AD6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10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10F2AA-6871-F9EE-6FE9-AA54AF034574}"/>
              </a:ext>
            </a:extLst>
          </p:cNvPr>
          <p:cNvSpPr txBox="1"/>
          <p:nvPr/>
        </p:nvSpPr>
        <p:spPr>
          <a:xfrm>
            <a:off x="8368748" y="230188"/>
            <a:ext cx="351679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/>
              <a:t>Zeros </a:t>
            </a:r>
            <a:r>
              <a:rPr lang="de-DE" dirty="0" err="1"/>
              <a:t>alone</a:t>
            </a:r>
            <a:r>
              <a:rPr lang="de-DE" dirty="0"/>
              <a:t> do not </a:t>
            </a:r>
            <a:r>
              <a:rPr lang="de-DE" dirty="0" err="1"/>
              <a:t>make</a:t>
            </a:r>
            <a:r>
              <a:rPr lang="de-DE" dirty="0"/>
              <a:t> a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unstable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poles</a:t>
            </a:r>
            <a:r>
              <a:rPr lang="de-DE" dirty="0"/>
              <a:t> in RHP do.</a:t>
            </a:r>
          </a:p>
        </p:txBody>
      </p:sp>
    </p:spTree>
    <p:extLst>
      <p:ext uri="{BB962C8B-B14F-4D97-AF65-F5344CB8AC3E}">
        <p14:creationId xmlns:p14="http://schemas.microsoft.com/office/powerpoint/2010/main" val="7751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DC14D80D-9884-46DC-498B-99F092C6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PT2 </a:t>
            </a:r>
            <a:r>
              <a:rPr lang="de-DE" dirty="0" err="1"/>
              <a:t>with</a:t>
            </a:r>
            <a:r>
              <a:rPr lang="de-DE" dirty="0"/>
              <a:t> LHP and RHP Zero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729D9CC-BE20-5150-683A-F70E1A722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11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4025D890-30AC-76BD-EF89-6FE72F7EC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86" y="1612814"/>
            <a:ext cx="7717854" cy="492609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92F3C590-F620-D9AC-7113-6FFD282C2900}"/>
              </a:ext>
            </a:extLst>
          </p:cNvPr>
          <p:cNvSpPr txBox="1"/>
          <p:nvPr/>
        </p:nvSpPr>
        <p:spPr>
          <a:xfrm>
            <a:off x="172560" y="1958009"/>
            <a:ext cx="3365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LHP </a:t>
            </a:r>
            <a:r>
              <a:rPr lang="de-DE" sz="2200" dirty="0" err="1"/>
              <a:t>zero</a:t>
            </a:r>
            <a:r>
              <a:rPr lang="de-DE" sz="2200" dirty="0"/>
              <a:t>: </a:t>
            </a:r>
            <a:r>
              <a:rPr lang="de-DE" sz="2200" dirty="0" err="1"/>
              <a:t>faster</a:t>
            </a:r>
            <a:r>
              <a:rPr lang="de-DE" sz="2200" dirty="0"/>
              <a:t> </a:t>
            </a:r>
            <a:r>
              <a:rPr lang="de-DE" sz="2200" dirty="0" err="1"/>
              <a:t>response</a:t>
            </a:r>
            <a:r>
              <a:rPr lang="de-DE" sz="2200" dirty="0"/>
              <a:t>, </a:t>
            </a:r>
            <a:r>
              <a:rPr lang="de-DE" sz="2200" dirty="0" err="1"/>
              <a:t>increased</a:t>
            </a:r>
            <a:r>
              <a:rPr lang="de-DE" sz="2200" dirty="0"/>
              <a:t> </a:t>
            </a:r>
            <a:r>
              <a:rPr lang="de-DE" sz="2200" dirty="0" err="1"/>
              <a:t>overshoot</a:t>
            </a:r>
            <a:endParaRPr lang="de-DE" sz="22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29A930AC-DD7B-E33E-CE62-28D1B265AC63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538330" y="2342730"/>
            <a:ext cx="884583" cy="161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3052DF6C-0E49-5705-CEF1-9D753D6078C0}"/>
              </a:ext>
            </a:extLst>
          </p:cNvPr>
          <p:cNvSpPr txBox="1"/>
          <p:nvPr/>
        </p:nvSpPr>
        <p:spPr>
          <a:xfrm>
            <a:off x="172560" y="5024324"/>
            <a:ext cx="347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200" dirty="0"/>
              <a:t>RHP </a:t>
            </a:r>
            <a:r>
              <a:rPr lang="de-DE" sz="2200" dirty="0" err="1"/>
              <a:t>zero</a:t>
            </a:r>
            <a:r>
              <a:rPr lang="de-DE" sz="2200" dirty="0"/>
              <a:t>: inverse </a:t>
            </a:r>
            <a:r>
              <a:rPr lang="de-DE" sz="2200" dirty="0" err="1"/>
              <a:t>response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(initial </a:t>
            </a:r>
            <a:r>
              <a:rPr lang="de-DE" sz="2200" dirty="0" err="1">
                <a:sym typeface="Wingdings" pitchFamily="2" charset="2"/>
              </a:rPr>
              <a:t>dip</a:t>
            </a:r>
            <a:r>
              <a:rPr lang="de-DE" sz="2200" dirty="0">
                <a:sym typeface="Wingdings" pitchFamily="2" charset="2"/>
              </a:rPr>
              <a:t>)</a:t>
            </a:r>
            <a:endParaRPr lang="de-DE" sz="2200" dirty="0"/>
          </a:p>
        </p:txBody>
      </p: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C031EFAE-F109-B148-1884-D68FFE6118B0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3647660" y="5409045"/>
            <a:ext cx="636105" cy="2200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71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1AB49-B735-7ABD-9A76-36030B23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PT2 </a:t>
            </a:r>
            <a:r>
              <a:rPr lang="de-DE" dirty="0" err="1"/>
              <a:t>with</a:t>
            </a:r>
            <a:r>
              <a:rPr lang="de-DE" dirty="0"/>
              <a:t> LHP and RHP Zero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C883CDC-34B6-3A26-EF2C-E286CA1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12</a:t>
            </a:fld>
            <a:endParaRPr lang="en-GB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BAF34D-91C9-8649-1EC3-A30D8607A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38" y="1820675"/>
            <a:ext cx="7772400" cy="503732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5658B4C-AC10-7F49-8680-937F67392DEC}"/>
              </a:ext>
            </a:extLst>
          </p:cNvPr>
          <p:cNvSpPr txBox="1"/>
          <p:nvPr/>
        </p:nvSpPr>
        <p:spPr>
          <a:xfrm>
            <a:off x="178905" y="2777195"/>
            <a:ext cx="33097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/>
              <a:t>RHP </a:t>
            </a:r>
            <a:r>
              <a:rPr lang="de-DE" sz="2200" dirty="0" err="1"/>
              <a:t>zero</a:t>
            </a:r>
            <a:r>
              <a:rPr lang="de-DE" sz="2200" dirty="0"/>
              <a:t> </a:t>
            </a:r>
            <a:r>
              <a:rPr lang="de-DE" sz="2200" dirty="0" err="1"/>
              <a:t>closer</a:t>
            </a:r>
            <a:r>
              <a:rPr lang="de-DE" sz="2200" dirty="0"/>
              <a:t> </a:t>
            </a:r>
            <a:r>
              <a:rPr lang="de-DE" sz="2200" dirty="0" err="1"/>
              <a:t>to</a:t>
            </a:r>
            <a:r>
              <a:rPr lang="de-DE" sz="2200" dirty="0"/>
              <a:t> </a:t>
            </a:r>
            <a:r>
              <a:rPr lang="de-DE" sz="2200" dirty="0" err="1"/>
              <a:t>origin</a:t>
            </a:r>
            <a:r>
              <a:rPr lang="de-DE" sz="22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stronger</a:t>
            </a:r>
            <a:r>
              <a:rPr lang="de-DE" sz="2200" dirty="0"/>
              <a:t> </a:t>
            </a:r>
            <a:r>
              <a:rPr lang="de-DE" sz="2200" dirty="0" err="1"/>
              <a:t>dip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higher</a:t>
            </a:r>
            <a:r>
              <a:rPr lang="de-DE" sz="2200" dirty="0"/>
              <a:t> </a:t>
            </a:r>
            <a:r>
              <a:rPr lang="de-DE" sz="2200" dirty="0" err="1"/>
              <a:t>overshoot</a:t>
            </a:r>
            <a:endParaRPr lang="de-D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200" dirty="0" err="1"/>
              <a:t>more</a:t>
            </a:r>
            <a:r>
              <a:rPr lang="de-DE" sz="2200" dirty="0"/>
              <a:t> </a:t>
            </a:r>
            <a:r>
              <a:rPr lang="de-DE" sz="2200" dirty="0" err="1"/>
              <a:t>sluggish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0276300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0DAD6DF8-6F83-43F5-EE29-F63CDFA9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Example</a:t>
            </a:r>
            <a:r>
              <a:rPr lang="de-DE" dirty="0"/>
              <a:t>: PT2 </a:t>
            </a:r>
            <a:r>
              <a:rPr lang="de-DE" dirty="0" err="1"/>
              <a:t>with</a:t>
            </a:r>
            <a:r>
              <a:rPr lang="de-DE" dirty="0"/>
              <a:t> LHP and RHP Zero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DB4680E-CA38-644F-7D27-23CCF858F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13</a:t>
            </a:fld>
            <a:endParaRPr lang="en-GB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1639D8C-F0B8-C389-624E-00C7E4D74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5410"/>
            <a:ext cx="6178826" cy="537259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99766FA-8E8B-881A-1609-65F6CB2D28EC}"/>
              </a:ext>
            </a:extLst>
          </p:cNvPr>
          <p:cNvSpPr txBox="1"/>
          <p:nvPr/>
        </p:nvSpPr>
        <p:spPr>
          <a:xfrm>
            <a:off x="7300704" y="1690688"/>
            <a:ext cx="43181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2200" dirty="0">
                <a:solidFill>
                  <a:srgbClr val="0E0E0E"/>
                </a:solidFill>
                <a:latin typeface=".AppleSystemUIFont"/>
              </a:rPr>
              <a:t>Z</a:t>
            </a:r>
            <a:r>
              <a:rPr lang="de-DE" sz="2200" dirty="0">
                <a:solidFill>
                  <a:srgbClr val="0E0E0E"/>
                </a:solidFill>
                <a:effectLst/>
                <a:latin typeface=".AppleSystemUIFont"/>
              </a:rPr>
              <a:t>eros </a:t>
            </a:r>
            <a:r>
              <a:rPr lang="de-DE" sz="2200" dirty="0" err="1">
                <a:solidFill>
                  <a:srgbClr val="0E0E0E"/>
                </a:solidFill>
                <a:effectLst/>
                <a:latin typeface=".AppleSystemUIFont"/>
              </a:rPr>
              <a:t>increase</a:t>
            </a:r>
            <a:r>
              <a:rPr lang="de-DE" sz="2200" dirty="0">
                <a:solidFill>
                  <a:srgbClr val="0E0E0E"/>
                </a:solidFill>
                <a:effectLst/>
                <a:latin typeface=".AppleSystemUIFont"/>
              </a:rPr>
              <a:t> high-</a:t>
            </a:r>
            <a:r>
              <a:rPr lang="de-DE" sz="2200" dirty="0" err="1">
                <a:solidFill>
                  <a:srgbClr val="0E0E0E"/>
                </a:solidFill>
                <a:effectLst/>
                <a:latin typeface=".AppleSystemUIFont"/>
              </a:rPr>
              <a:t>frequency</a:t>
            </a:r>
            <a:r>
              <a:rPr lang="de-DE" sz="2200" dirty="0">
                <a:solidFill>
                  <a:srgbClr val="0E0E0E"/>
                </a:solidFill>
                <a:effectLst/>
                <a:latin typeface=".AppleSystemUIFont"/>
              </a:rPr>
              <a:t> </a:t>
            </a:r>
            <a:r>
              <a:rPr lang="de-DE" sz="2200" dirty="0" err="1">
                <a:solidFill>
                  <a:srgbClr val="0E0E0E"/>
                </a:solidFill>
                <a:effectLst/>
                <a:latin typeface=".AppleSystemUIFont"/>
              </a:rPr>
              <a:t>slope</a:t>
            </a:r>
            <a:r>
              <a:rPr lang="de-DE" sz="2200" dirty="0">
                <a:solidFill>
                  <a:srgbClr val="0E0E0E"/>
                </a:solidFill>
                <a:effectLst/>
                <a:latin typeface=".AppleSystemUIFont"/>
              </a:rPr>
              <a:t> in </a:t>
            </a:r>
            <a:r>
              <a:rPr lang="de-DE" sz="2200" dirty="0" err="1">
                <a:solidFill>
                  <a:srgbClr val="0E0E0E"/>
                </a:solidFill>
                <a:effectLst/>
                <a:latin typeface=".AppleSystemUIFont"/>
              </a:rPr>
              <a:t>the</a:t>
            </a:r>
            <a:r>
              <a:rPr lang="de-DE" sz="2200" dirty="0">
                <a:solidFill>
                  <a:srgbClr val="0E0E0E"/>
                </a:solidFill>
                <a:effectLst/>
                <a:latin typeface=".AppleSystemUIFont"/>
              </a:rPr>
              <a:t> same </a:t>
            </a:r>
            <a:r>
              <a:rPr lang="de-DE" sz="2200" dirty="0" err="1">
                <a:solidFill>
                  <a:srgbClr val="0E0E0E"/>
                </a:solidFill>
                <a:effectLst/>
                <a:latin typeface=".AppleSystemUIFont"/>
              </a:rPr>
              <a:t>way</a:t>
            </a:r>
            <a:endParaRPr lang="de-DE" sz="2200" dirty="0">
              <a:solidFill>
                <a:srgbClr val="0E0E0E"/>
              </a:solidFill>
              <a:effectLst/>
              <a:latin typeface=".AppleSystemUIFont"/>
            </a:endParaRPr>
          </a:p>
        </p:txBody>
      </p: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6C9547C6-AFDE-0D11-D800-55CA7BB307B3}"/>
              </a:ext>
            </a:extLst>
          </p:cNvPr>
          <p:cNvCxnSpPr>
            <a:stCxn id="8" idx="1"/>
          </p:cNvCxnSpPr>
          <p:nvPr/>
        </p:nvCxnSpPr>
        <p:spPr>
          <a:xfrm flipH="1">
            <a:off x="5923722" y="2075409"/>
            <a:ext cx="1376982" cy="270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A42CDFCF-51D4-72EA-9E87-669AF324145A}"/>
              </a:ext>
            </a:extLst>
          </p:cNvPr>
          <p:cNvSpPr txBox="1"/>
          <p:nvPr/>
        </p:nvSpPr>
        <p:spPr>
          <a:xfrm>
            <a:off x="7300704" y="4171705"/>
            <a:ext cx="343222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LHP </a:t>
            </a:r>
            <a:r>
              <a:rPr lang="de-DE" sz="2200" dirty="0" err="1"/>
              <a:t>zero</a:t>
            </a:r>
            <a:r>
              <a:rPr lang="de-DE" sz="2200" dirty="0"/>
              <a:t>: </a:t>
            </a:r>
            <a:r>
              <a:rPr lang="de-DE" sz="2200" dirty="0" err="1"/>
              <a:t>phase</a:t>
            </a:r>
            <a:r>
              <a:rPr lang="de-DE" sz="2200" dirty="0"/>
              <a:t> </a:t>
            </a:r>
            <a:r>
              <a:rPr lang="de-DE" sz="2200" dirty="0" err="1"/>
              <a:t>lead</a:t>
            </a:r>
            <a:r>
              <a:rPr lang="de-DE" sz="2200" dirty="0"/>
              <a:t> +90°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82F1E1B-C466-8872-C27A-44D716CE0B23}"/>
              </a:ext>
            </a:extLst>
          </p:cNvPr>
          <p:cNvSpPr txBox="1"/>
          <p:nvPr/>
        </p:nvSpPr>
        <p:spPr>
          <a:xfrm>
            <a:off x="7300703" y="5705645"/>
            <a:ext cx="323665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200" dirty="0"/>
              <a:t>RHP </a:t>
            </a:r>
            <a:r>
              <a:rPr lang="de-DE" sz="2200" dirty="0" err="1"/>
              <a:t>zero</a:t>
            </a:r>
            <a:r>
              <a:rPr lang="de-DE" sz="2200" dirty="0"/>
              <a:t>: </a:t>
            </a:r>
            <a:r>
              <a:rPr lang="de-DE" sz="2200" dirty="0" err="1"/>
              <a:t>phase</a:t>
            </a:r>
            <a:r>
              <a:rPr lang="de-DE" sz="2200" dirty="0"/>
              <a:t> lag -90°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71D820FA-F9D2-BF5A-6F21-928943BB54AB}"/>
              </a:ext>
            </a:extLst>
          </p:cNvPr>
          <p:cNvCxnSpPr>
            <a:stCxn id="11" idx="1"/>
          </p:cNvCxnSpPr>
          <p:nvPr/>
        </p:nvCxnSpPr>
        <p:spPr>
          <a:xfrm flipH="1">
            <a:off x="6612213" y="4387149"/>
            <a:ext cx="688491" cy="562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 Verbindung mit Pfeil 15">
            <a:extLst>
              <a:ext uri="{FF2B5EF4-FFF2-40B4-BE49-F238E27FC236}">
                <a16:creationId xmlns:a16="http://schemas.microsoft.com/office/drawing/2014/main" id="{921358FB-8DD3-5095-A5C2-45B1F05E35B5}"/>
              </a:ext>
            </a:extLst>
          </p:cNvPr>
          <p:cNvCxnSpPr>
            <a:stCxn id="12" idx="1"/>
          </p:cNvCxnSpPr>
          <p:nvPr/>
        </p:nvCxnSpPr>
        <p:spPr>
          <a:xfrm flipH="1">
            <a:off x="6539948" y="5921089"/>
            <a:ext cx="760755" cy="3505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860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9F1FF-5A04-077E-D84A-6C578EAA0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Pole-Zero </a:t>
            </a:r>
            <a:r>
              <a:rPr lang="de-DE" dirty="0" err="1"/>
              <a:t>Diagrams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3CA8AA-BDFD-EE45-F29F-F739D984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Graphical</a:t>
            </a:r>
            <a:r>
              <a:rPr lang="de-DE" dirty="0"/>
              <a:t> </a:t>
            </a:r>
            <a:r>
              <a:rPr lang="de-DE" dirty="0" err="1"/>
              <a:t>representation</a:t>
            </a:r>
            <a:r>
              <a:rPr lang="de-DE" dirty="0"/>
              <a:t> in </a:t>
            </a:r>
            <a:r>
              <a:rPr lang="de-DE" dirty="0" err="1"/>
              <a:t>complex</a:t>
            </a:r>
            <a:r>
              <a:rPr lang="de-DE" dirty="0"/>
              <a:t> plane</a:t>
            </a:r>
          </a:p>
          <a:p>
            <a:r>
              <a:rPr lang="de-DE" dirty="0" err="1"/>
              <a:t>Stability</a:t>
            </a:r>
            <a:r>
              <a:rPr lang="de-DE" dirty="0"/>
              <a:t> visible at a </a:t>
            </a:r>
            <a:r>
              <a:rPr lang="de-DE" dirty="0" err="1"/>
              <a:t>glance</a:t>
            </a:r>
            <a:endParaRPr lang="de-DE" dirty="0"/>
          </a:p>
          <a:p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calculated</a:t>
            </a:r>
            <a:r>
              <a:rPr lang="de-DE" dirty="0"/>
              <a:t> </a:t>
            </a:r>
            <a:r>
              <a:rPr lang="de-DE" dirty="0" err="1"/>
              <a:t>numerically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7928FD-EA29-8BF1-2D4C-EFF827F6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14</a:t>
            </a:fld>
            <a:endParaRPr lang="en-GB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CB5E5E2-CA40-A303-38DF-1262BDFA0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4" y="3358183"/>
            <a:ext cx="3947293" cy="336329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F99521C-C7EE-60AD-C979-030A92A35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922" y="3358183"/>
            <a:ext cx="3947294" cy="3363291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70BADD84-9978-C5EE-F261-BBB05E7D5DEC}"/>
              </a:ext>
            </a:extLst>
          </p:cNvPr>
          <p:cNvSpPr txBox="1"/>
          <p:nvPr/>
        </p:nvSpPr>
        <p:spPr>
          <a:xfrm>
            <a:off x="4397937" y="3429000"/>
            <a:ext cx="2966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/>
              <a:t>Example</a:t>
            </a:r>
            <a:r>
              <a:rPr lang="de-DE" sz="2000" dirty="0"/>
              <a:t> </a:t>
            </a:r>
            <a:r>
              <a:rPr lang="de-DE" sz="2000" dirty="0" err="1"/>
              <a:t>from</a:t>
            </a:r>
            <a:r>
              <a:rPr lang="de-DE" sz="2000" dirty="0"/>
              <a:t> last </a:t>
            </a:r>
            <a:r>
              <a:rPr lang="de-DE" sz="2000" dirty="0" err="1"/>
              <a:t>slides</a:t>
            </a:r>
            <a:r>
              <a:rPr lang="de-DE" sz="2000" dirty="0"/>
              <a:t>: </a:t>
            </a:r>
            <a:r>
              <a:rPr lang="de-DE" sz="2000" dirty="0" err="1"/>
              <a:t>both</a:t>
            </a:r>
            <a:r>
              <a:rPr lang="de-DE" sz="2000" dirty="0"/>
              <a:t> </a:t>
            </a:r>
            <a:r>
              <a:rPr lang="de-DE" sz="2000" dirty="0" err="1"/>
              <a:t>systems</a:t>
            </a:r>
            <a:r>
              <a:rPr lang="de-DE" sz="2000" dirty="0"/>
              <a:t> </a:t>
            </a:r>
            <a:r>
              <a:rPr lang="de-DE" sz="2000" dirty="0" err="1"/>
              <a:t>stable</a:t>
            </a:r>
            <a:endParaRPr lang="de-DE" sz="2000" dirty="0"/>
          </a:p>
          <a:p>
            <a:r>
              <a:rPr lang="de-DE" sz="2000" dirty="0"/>
              <a:t>(</a:t>
            </a:r>
            <a:r>
              <a:rPr lang="de-DE" sz="2000" dirty="0" err="1"/>
              <a:t>poles</a:t>
            </a:r>
            <a:r>
              <a:rPr lang="de-DE" sz="2000" dirty="0"/>
              <a:t> in LHP)</a:t>
            </a:r>
          </a:p>
        </p:txBody>
      </p:sp>
    </p:spTree>
    <p:extLst>
      <p:ext uri="{BB962C8B-B14F-4D97-AF65-F5344CB8AC3E}">
        <p14:creationId xmlns:p14="http://schemas.microsoft.com/office/powerpoint/2010/main" val="3732035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DFCC16-0D2B-21AE-232A-0DDA54364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Resonance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744DD0-77F3-3905-9B5D-BBD6569595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Large </a:t>
                </a:r>
                <a:r>
                  <a:rPr lang="de-DE" dirty="0" err="1"/>
                  <a:t>response</a:t>
                </a:r>
                <a:r>
                  <a:rPr lang="de-DE" dirty="0"/>
                  <a:t> at </a:t>
                </a:r>
                <a:r>
                  <a:rPr lang="de-DE" dirty="0" err="1"/>
                  <a:t>certain</a:t>
                </a:r>
                <a:r>
                  <a:rPr lang="de-DE" dirty="0"/>
                  <a:t> </a:t>
                </a:r>
                <a:r>
                  <a:rPr lang="de-DE" dirty="0" err="1"/>
                  <a:t>frequencies</a:t>
                </a:r>
                <a:r>
                  <a:rPr lang="de-DE" dirty="0"/>
                  <a:t> (</a:t>
                </a: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system’s</a:t>
                </a:r>
                <a:r>
                  <a:rPr lang="de-DE" dirty="0"/>
                  <a:t> </a:t>
                </a:r>
                <a:r>
                  <a:rPr lang="de-DE" dirty="0" err="1"/>
                  <a:t>energy</a:t>
                </a:r>
                <a:r>
                  <a:rPr lang="de-DE" dirty="0"/>
                  <a:t> </a:t>
                </a:r>
                <a:r>
                  <a:rPr lang="de-DE" dirty="0" err="1"/>
                  <a:t>storage</a:t>
                </a:r>
                <a:r>
                  <a:rPr lang="de-DE" dirty="0"/>
                  <a:t> </a:t>
                </a:r>
                <a:r>
                  <a:rPr lang="de-DE" dirty="0" err="1"/>
                  <a:t>allows</a:t>
                </a:r>
                <a:r>
                  <a:rPr lang="de-DE" dirty="0"/>
                  <a:t> </a:t>
                </a:r>
                <a:r>
                  <a:rPr lang="de-DE" dirty="0" err="1"/>
                  <a:t>buildup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peaks</a:t>
                </a:r>
                <a:r>
                  <a:rPr lang="de-DE" dirty="0"/>
                  <a:t> in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 (Bode </a:t>
                </a:r>
                <a:r>
                  <a:rPr lang="de-DE" dirty="0" err="1"/>
                  <a:t>magnitude</a:t>
                </a:r>
                <a:r>
                  <a:rPr lang="de-DE" dirty="0"/>
                  <a:t>, </a:t>
                </a:r>
                <a:r>
                  <a:rPr lang="de-DE" dirty="0" err="1"/>
                  <a:t>sinusoidal</a:t>
                </a:r>
                <a:r>
                  <a:rPr lang="de-DE" dirty="0"/>
                  <a:t> </a:t>
                </a:r>
                <a:r>
                  <a:rPr lang="de-DE" dirty="0" err="1"/>
                  <a:t>response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Due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lightly</a:t>
                </a:r>
                <a:r>
                  <a:rPr lang="de-DE" dirty="0"/>
                  <a:t> </a:t>
                </a:r>
                <a:r>
                  <a:rPr lang="de-DE" dirty="0" err="1"/>
                  <a:t>damped</a:t>
                </a:r>
                <a:r>
                  <a:rPr lang="de-DE" dirty="0"/>
                  <a:t> </a:t>
                </a:r>
                <a:r>
                  <a:rPr lang="de-DE" dirty="0" err="1"/>
                  <a:t>complex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r>
                  <a:rPr lang="de-DE" dirty="0"/>
                  <a:t> (</a:t>
                </a:r>
                <a:r>
                  <a:rPr lang="de-DE" dirty="0" err="1"/>
                  <a:t>natural</a:t>
                </a:r>
                <a:r>
                  <a:rPr lang="de-DE" dirty="0"/>
                  <a:t> </a:t>
                </a:r>
                <a:r>
                  <a:rPr lang="de-DE" dirty="0" err="1"/>
                  <a:t>modes</a:t>
                </a:r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Resonant </a:t>
                </a:r>
                <a:r>
                  <a:rPr lang="de-DE" dirty="0" err="1"/>
                  <a:t>frequency</a:t>
                </a:r>
                <a:r>
                  <a:rPr lang="de-DE" dirty="0"/>
                  <a:t> </a:t>
                </a:r>
                <a:r>
                  <a:rPr lang="de-DE" dirty="0" err="1"/>
                  <a:t>near</a:t>
                </a:r>
                <a:r>
                  <a:rPr lang="de-DE" dirty="0"/>
                  <a:t> </a:t>
                </a:r>
                <a:r>
                  <a:rPr lang="de-DE" dirty="0" err="1"/>
                  <a:t>imaginary</a:t>
                </a:r>
                <a:r>
                  <a:rPr lang="de-DE" dirty="0"/>
                  <a:t> </a:t>
                </a:r>
                <a:r>
                  <a:rPr lang="de-DE" dirty="0" err="1"/>
                  <a:t>part</a:t>
                </a:r>
                <a:r>
                  <a:rPr lang="de-DE" dirty="0"/>
                  <a:t> 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pole</a:t>
                </a:r>
              </a:p>
              <a:p>
                <a:pPr marL="0" indent="0">
                  <a:buNone/>
                </a:pPr>
                <a:r>
                  <a:rPr lang="de-DE" dirty="0" err="1"/>
                  <a:t>For</a:t>
                </a:r>
                <a:r>
                  <a:rPr lang="de-DE" dirty="0"/>
                  <a:t> second-order system: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1−2</m:t>
                        </m:r>
                        <m:sSup>
                          <m:sSup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𝜁</m:t>
                            </m:r>
                          </m:e>
                          <m:sup>
                            <m:r>
                              <a:rPr lang="de-DE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de-DE" dirty="0"/>
                  <a:t>   (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de-DE" dirty="0"/>
                  <a:t>)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Mechanical</a:t>
                </a:r>
                <a:r>
                  <a:rPr lang="de-DE" dirty="0"/>
                  <a:t> </a:t>
                </a:r>
                <a:r>
                  <a:rPr lang="de-DE" dirty="0" err="1"/>
                  <a:t>systems</a:t>
                </a:r>
                <a:r>
                  <a:rPr lang="de-DE" dirty="0"/>
                  <a:t> </a:t>
                </a:r>
                <a:r>
                  <a:rPr lang="de-DE" dirty="0" err="1"/>
                  <a:t>often</a:t>
                </a:r>
                <a:r>
                  <a:rPr lang="de-DE" dirty="0"/>
                  <a:t> </a:t>
                </a:r>
                <a:r>
                  <a:rPr lang="de-DE" dirty="0" err="1"/>
                  <a:t>have</a:t>
                </a:r>
                <a:r>
                  <a:rPr lang="de-DE" dirty="0"/>
                  <a:t> </a:t>
                </a:r>
                <a:r>
                  <a:rPr lang="de-DE" dirty="0" err="1"/>
                  <a:t>very</a:t>
                </a:r>
                <a:r>
                  <a:rPr lang="de-DE" dirty="0"/>
                  <a:t> </a:t>
                </a:r>
                <a:r>
                  <a:rPr lang="de-DE" dirty="0" err="1"/>
                  <a:t>small</a:t>
                </a:r>
                <a:r>
                  <a:rPr lang="de-DE" dirty="0"/>
                  <a:t> </a:t>
                </a:r>
                <a:r>
                  <a:rPr lang="de-DE" dirty="0" err="1"/>
                  <a:t>damping</a:t>
                </a:r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</a:t>
                </a:r>
                <a:r>
                  <a:rPr lang="de-DE" dirty="0"/>
                  <a:t> </a:t>
                </a:r>
                <a:r>
                  <a:rPr lang="de-DE" dirty="0" err="1"/>
                  <a:t>resonances</a:t>
                </a:r>
                <a:r>
                  <a:rPr lang="de-DE" dirty="0"/>
                  <a:t> </a:t>
                </a:r>
                <a:r>
                  <a:rPr lang="de-DE" dirty="0" err="1"/>
                  <a:t>dominate</a:t>
                </a:r>
                <a:r>
                  <a:rPr lang="de-DE" dirty="0"/>
                  <a:t> </a:t>
                </a:r>
                <a:r>
                  <a:rPr lang="de-DE" dirty="0" err="1"/>
                  <a:t>behavior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/>
                  <a:t>Controllers </a:t>
                </a:r>
                <a:r>
                  <a:rPr lang="de-DE" dirty="0" err="1"/>
                  <a:t>must</a:t>
                </a:r>
                <a:r>
                  <a:rPr lang="de-DE" dirty="0"/>
                  <a:t> </a:t>
                </a:r>
                <a:r>
                  <a:rPr lang="de-DE" dirty="0" err="1"/>
                  <a:t>avoid</a:t>
                </a:r>
                <a:r>
                  <a:rPr lang="de-DE" dirty="0"/>
                  <a:t> </a:t>
                </a:r>
                <a:r>
                  <a:rPr lang="de-DE" dirty="0" err="1"/>
                  <a:t>exciting</a:t>
                </a:r>
                <a:r>
                  <a:rPr lang="de-DE" dirty="0"/>
                  <a:t> </a:t>
                </a:r>
                <a:r>
                  <a:rPr lang="de-DE" dirty="0" err="1"/>
                  <a:t>lightly</a:t>
                </a:r>
                <a:r>
                  <a:rPr lang="de-DE" dirty="0"/>
                  <a:t> </a:t>
                </a:r>
                <a:r>
                  <a:rPr lang="de-DE" dirty="0" err="1"/>
                  <a:t>damped</a:t>
                </a:r>
                <a:r>
                  <a:rPr lang="de-DE" dirty="0"/>
                  <a:t> </a:t>
                </a:r>
                <a:r>
                  <a:rPr lang="de-DE" dirty="0" err="1"/>
                  <a:t>poles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9744DD0-77F3-3905-9B5D-BBD6569595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 r="-36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8F3785-E407-2135-F374-A57AC02B3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908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C5013F-77AC-6401-3AAE-E98E5D82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16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E35B5B5-0C0A-5C50-EF3F-AF09BB1E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1" y="2400661"/>
            <a:ext cx="5677114" cy="260948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2D73B4A-B1BB-6DFB-4C6F-807E944A8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9575" y="522171"/>
            <a:ext cx="6229964" cy="290682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DD3D5BF-5E2D-B506-24A5-C0BC924C3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41724"/>
            <a:ext cx="6096000" cy="281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69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E5387-4C13-F9A0-420D-3C1E54D9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Frequency</a:t>
            </a:r>
            <a:r>
              <a:rPr lang="de-DE" dirty="0"/>
              <a:t>-Domain </a:t>
            </a:r>
            <a:r>
              <a:rPr lang="de-DE" dirty="0" err="1"/>
              <a:t>Stability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53D7CE1-C65E-F11F-3A4B-8EC03F1E1B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600" dirty="0" err="1"/>
                  <a:t>Stability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inferred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from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frequency</a:t>
                </a:r>
                <a:r>
                  <a:rPr lang="de-DE" sz="2600" dirty="0"/>
                  <a:t> </a:t>
                </a:r>
                <a:r>
                  <a:rPr lang="de-DE" sz="2600" dirty="0" err="1"/>
                  <a:t>response</a:t>
                </a:r>
                <a:r>
                  <a:rPr lang="de-DE" sz="2600" dirty="0"/>
                  <a:t>, i.e., </a:t>
                </a:r>
                <a:r>
                  <a:rPr lang="de-DE" sz="2600" dirty="0" err="1"/>
                  <a:t>examination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14:m>
                  <m:oMath xmlns:m="http://schemas.openxmlformats.org/officeDocument/2006/math">
                    <m:r>
                      <a:rPr lang="de-DE" sz="2600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sz="2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de-DE" sz="2600" dirty="0"/>
              </a:p>
              <a:p>
                <a:r>
                  <a:rPr lang="de-DE" sz="2600" dirty="0" err="1"/>
                  <a:t>Purely</a:t>
                </a:r>
                <a:r>
                  <a:rPr lang="de-DE" sz="2600" dirty="0"/>
                  <a:t> experimental </a:t>
                </a:r>
                <a:r>
                  <a:rPr lang="de-DE" sz="2600" dirty="0" err="1"/>
                  <a:t>approach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no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mathematical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model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needed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no</a:t>
                </a:r>
                <a:r>
                  <a:rPr lang="de-DE" sz="2600" dirty="0"/>
                  <a:t> explicit pole </a:t>
                </a:r>
                <a:r>
                  <a:rPr lang="de-DE" sz="2600" dirty="0" err="1"/>
                  <a:t>calculation</a:t>
                </a:r>
                <a:endParaRPr lang="de-DE" sz="2600" dirty="0"/>
              </a:p>
              <a:p>
                <a:r>
                  <a:rPr lang="de-DE" sz="2600" dirty="0" err="1"/>
                  <a:t>Graphical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instead</a:t>
                </a:r>
                <a:r>
                  <a:rPr lang="de-DE" sz="2600" dirty="0"/>
                  <a:t> </a:t>
                </a:r>
                <a:r>
                  <a:rPr lang="de-DE" sz="2600" dirty="0" err="1"/>
                  <a:t>of</a:t>
                </a:r>
                <a:r>
                  <a:rPr lang="de-DE" sz="2600" dirty="0"/>
                  <a:t> </a:t>
                </a:r>
                <a:r>
                  <a:rPr lang="de-DE" sz="2600" dirty="0" err="1"/>
                  <a:t>numerical</a:t>
                </a:r>
                <a:r>
                  <a:rPr lang="de-DE" sz="2600" dirty="0"/>
                  <a:t> </a:t>
                </a:r>
                <a:r>
                  <a:rPr lang="de-DE" sz="2600" dirty="0" err="1"/>
                  <a:t>methods</a:t>
                </a:r>
                <a:r>
                  <a:rPr lang="de-DE" sz="2600" dirty="0"/>
                  <a:t>: </a:t>
                </a:r>
                <a:r>
                  <a:rPr lang="de-DE" sz="2600" dirty="0" err="1"/>
                  <a:t>Nyquist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curve</a:t>
                </a:r>
                <a:r>
                  <a:rPr lang="de-DE" sz="2600" dirty="0"/>
                  <a:t>, Bode </a:t>
                </a:r>
                <a:r>
                  <a:rPr lang="de-DE" sz="2600" dirty="0" err="1"/>
                  <a:t>plots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/>
                  <a:t>So </a:t>
                </a:r>
                <a:r>
                  <a:rPr lang="de-DE" sz="2600" dirty="0" err="1"/>
                  <a:t>far</a:t>
                </a:r>
                <a:r>
                  <a:rPr lang="de-DE" sz="2600" dirty="0"/>
                  <a:t>: open-loop </a:t>
                </a:r>
                <a:r>
                  <a:rPr lang="de-DE" sz="2600" dirty="0" err="1"/>
                  <a:t>analysis</a:t>
                </a:r>
                <a:r>
                  <a:rPr lang="de-DE" sz="2600" dirty="0"/>
                  <a:t> via Bode </a:t>
                </a:r>
                <a:r>
                  <a:rPr lang="de-DE" sz="2600" dirty="0" err="1"/>
                  <a:t>plots</a:t>
                </a:r>
                <a:endParaRPr lang="de-DE" sz="2600" dirty="0"/>
              </a:p>
              <a:p>
                <a:pPr marL="0" indent="0">
                  <a:buNone/>
                </a:pPr>
                <a:endParaRPr lang="de-DE" sz="2600" dirty="0"/>
              </a:p>
              <a:p>
                <a:pPr marL="0" indent="0">
                  <a:buNone/>
                </a:pPr>
                <a:r>
                  <a:rPr lang="de-DE" sz="2600" dirty="0" err="1"/>
                  <a:t>Now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consider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closed</a:t>
                </a:r>
                <a:r>
                  <a:rPr lang="de-DE" sz="2600" dirty="0"/>
                  <a:t>-loop </a:t>
                </a:r>
                <a:r>
                  <a:rPr lang="de-DE" sz="2600" dirty="0" err="1"/>
                  <a:t>stability</a:t>
                </a:r>
                <a:r>
                  <a:rPr lang="de-DE" sz="2600" dirty="0"/>
                  <a:t> (</a:t>
                </a:r>
                <a:r>
                  <a:rPr lang="de-DE" sz="2600" dirty="0" err="1"/>
                  <a:t>feedback</a:t>
                </a:r>
                <a:r>
                  <a:rPr lang="de-DE" sz="2600" dirty="0"/>
                  <a:t> </a:t>
                </a:r>
                <a:r>
                  <a:rPr lang="de-DE" sz="2600" dirty="0" err="1"/>
                  <a:t>systems</a:t>
                </a:r>
                <a:r>
                  <a:rPr lang="de-DE" sz="2600" dirty="0"/>
                  <a:t>):</a:t>
                </a:r>
              </a:p>
              <a:p>
                <a:pPr marL="0" indent="0">
                  <a:buNone/>
                </a:pPr>
                <a:r>
                  <a:rPr lang="de-DE" sz="2600" dirty="0"/>
                  <a:t>Given an open-loop </a:t>
                </a:r>
                <a:r>
                  <a:rPr lang="de-DE" sz="2600" dirty="0" err="1"/>
                  <a:t>transfer</a:t>
                </a:r>
                <a:r>
                  <a:rPr lang="de-DE" sz="2600" dirty="0"/>
                  <a:t> </a:t>
                </a:r>
                <a:r>
                  <a:rPr lang="de-DE" sz="2600" dirty="0" err="1"/>
                  <a:t>function</a:t>
                </a:r>
                <a:r>
                  <a:rPr lang="de-DE" sz="2600" dirty="0"/>
                  <a:t>, </a:t>
                </a:r>
                <a:r>
                  <a:rPr lang="de-DE" sz="2600" dirty="0" err="1"/>
                  <a:t>is</a:t>
                </a:r>
                <a:r>
                  <a:rPr lang="de-DE" sz="2600" dirty="0"/>
                  <a:t> </a:t>
                </a:r>
                <a:r>
                  <a:rPr lang="de-DE" sz="2600" dirty="0" err="1"/>
                  <a:t>the</a:t>
                </a:r>
                <a:r>
                  <a:rPr lang="de-DE" sz="2600" dirty="0"/>
                  <a:t> </a:t>
                </a:r>
                <a:r>
                  <a:rPr lang="de-DE" sz="2600" dirty="0" err="1"/>
                  <a:t>closed</a:t>
                </a:r>
                <a:r>
                  <a:rPr lang="de-DE" sz="2600" dirty="0"/>
                  <a:t> loop </a:t>
                </a:r>
                <a:r>
                  <a:rPr lang="de-DE" sz="2600" dirty="0" err="1"/>
                  <a:t>stable</a:t>
                </a:r>
                <a:r>
                  <a:rPr lang="de-DE" sz="2600" dirty="0"/>
                  <a:t>?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453D7CE1-C65E-F11F-3A4B-8EC03F1E1B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854C762-1E44-BE87-DF59-C1B9C35E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260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C9ED36-91BE-6966-D5EF-6F327905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Closed</a:t>
            </a:r>
            <a:r>
              <a:rPr lang="de-DE" dirty="0"/>
              <a:t>-Loop </a:t>
            </a:r>
            <a:r>
              <a:rPr lang="de-DE" dirty="0" err="1"/>
              <a:t>Stability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D72C74-EA2A-7E93-E737-35EBB0F1C4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Given an open-loop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dirty="0"/>
                  <a:t>,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transfer</a:t>
                </a:r>
                <a:r>
                  <a:rPr lang="de-DE" dirty="0"/>
                  <a:t> </a:t>
                </a:r>
                <a:r>
                  <a:rPr lang="de-DE" dirty="0" err="1"/>
                  <a:t>function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negative </a:t>
                </a:r>
                <a:r>
                  <a:rPr lang="de-DE" dirty="0" err="1"/>
                  <a:t>feedback</a:t>
                </a:r>
                <a:r>
                  <a:rPr lang="de-DE" dirty="0"/>
                  <a:t> (</a:t>
                </a:r>
                <a:r>
                  <a:rPr lang="de-DE" dirty="0" err="1"/>
                  <a:t>with</a:t>
                </a:r>
                <a:r>
                  <a:rPr lang="de-DE" dirty="0"/>
                  <a:t> </a:t>
                </a:r>
                <a:r>
                  <a:rPr lang="de-DE" dirty="0" err="1"/>
                  <a:t>feedback</a:t>
                </a:r>
                <a:r>
                  <a:rPr lang="de-DE" dirty="0"/>
                  <a:t> </a:t>
                </a:r>
                <a:r>
                  <a:rPr lang="de-DE" dirty="0" err="1"/>
                  <a:t>path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de-DE" dirty="0"/>
                  <a:t>) </a:t>
                </a:r>
                <a:r>
                  <a:rPr lang="de-DE" dirty="0" err="1"/>
                  <a:t>reads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de-D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b="0" dirty="0"/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de-DE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de-DE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For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closed</a:t>
                </a:r>
                <a:r>
                  <a:rPr lang="de-DE" dirty="0">
                    <a:sym typeface="Wingdings" pitchFamily="2" charset="2"/>
                  </a:rPr>
                  <a:t>-loop </a:t>
                </a:r>
                <a:r>
                  <a:rPr lang="de-DE" dirty="0" err="1">
                    <a:sym typeface="Wingdings" pitchFamily="2" charset="2"/>
                  </a:rPr>
                  <a:t>poles</a:t>
                </a:r>
                <a:r>
                  <a:rPr lang="de-DE" dirty="0"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Unstable</a:t>
                </a:r>
                <a:r>
                  <a:rPr lang="de-DE" dirty="0"/>
                  <a:t> </a:t>
                </a:r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any</a:t>
                </a:r>
                <a:r>
                  <a:rPr lang="de-DE" dirty="0"/>
                  <a:t> </a:t>
                </a:r>
                <a:r>
                  <a:rPr lang="de-DE" dirty="0" err="1"/>
                  <a:t>solution</a:t>
                </a:r>
                <a:r>
                  <a:rPr lang="de-DE" dirty="0"/>
                  <a:t> </a:t>
                </a:r>
                <a:r>
                  <a:rPr lang="de-DE" dirty="0" err="1"/>
                  <a:t>for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dirty="0"/>
                  <a:t> lies in RHP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5D72C74-EA2A-7E93-E737-35EBB0F1C4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49E60DA-4975-1021-EC76-A48FC45FE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18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9FBA90F-DB98-46B0-3BF8-07E81D37F651}"/>
              </a:ext>
            </a:extLst>
          </p:cNvPr>
          <p:cNvSpPr txBox="1"/>
          <p:nvPr/>
        </p:nvSpPr>
        <p:spPr>
          <a:xfrm>
            <a:off x="5567013" y="4339877"/>
            <a:ext cx="1394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loop </a:t>
            </a:r>
            <a:r>
              <a:rPr lang="de-DE" sz="2400" dirty="0" err="1"/>
              <a:t>gain</a:t>
            </a:r>
            <a:endParaRPr lang="de-DE" sz="240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BD6FFE9-3BFD-8E37-B50F-B0B119EED47E}"/>
              </a:ext>
            </a:extLst>
          </p:cNvPr>
          <p:cNvSpPr txBox="1"/>
          <p:nvPr/>
        </p:nvSpPr>
        <p:spPr>
          <a:xfrm>
            <a:off x="5567013" y="2967335"/>
            <a:ext cx="1871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/>
              <a:t>forward</a:t>
            </a:r>
            <a:r>
              <a:rPr lang="de-DE" sz="2400" dirty="0"/>
              <a:t> </a:t>
            </a:r>
            <a:r>
              <a:rPr lang="de-DE" sz="2400" dirty="0" err="1"/>
              <a:t>path</a:t>
            </a:r>
            <a:endParaRPr lang="de-DE" sz="2400" dirty="0"/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0DC74A13-5E56-7588-1E09-FFDD12F1E938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5124313" y="3198168"/>
            <a:ext cx="442700" cy="230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1E44A2FA-B432-2ADD-4065-E0BB4A27E431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5124313" y="4055165"/>
            <a:ext cx="442700" cy="5155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442959D-695E-10C5-0209-5E767479F004}"/>
              </a:ext>
            </a:extLst>
          </p:cNvPr>
          <p:cNvGrpSpPr/>
          <p:nvPr/>
        </p:nvGrpSpPr>
        <p:grpSpPr>
          <a:xfrm>
            <a:off x="7584645" y="35542"/>
            <a:ext cx="4385704" cy="1605924"/>
            <a:chOff x="5722177" y="251837"/>
            <a:chExt cx="4385704" cy="1605924"/>
          </a:xfrm>
        </p:grpSpPr>
        <p:sp>
          <p:nvSpPr>
            <p:cNvPr id="19" name="Verbindungsstelle 18">
              <a:extLst>
                <a:ext uri="{FF2B5EF4-FFF2-40B4-BE49-F238E27FC236}">
                  <a16:creationId xmlns:a16="http://schemas.microsoft.com/office/drawing/2014/main" id="{B2B72736-C70B-2E99-5A1D-A1BC63843F81}"/>
                </a:ext>
              </a:extLst>
            </p:cNvPr>
            <p:cNvSpPr>
              <a:spLocks noChangeAspect="1"/>
            </p:cNvSpPr>
            <p:nvPr/>
          </p:nvSpPr>
          <p:spPr>
            <a:xfrm flipV="1">
              <a:off x="9119501" y="551919"/>
              <a:ext cx="88772" cy="88772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6764B5CB-4697-CB60-9CDE-D121A283943D}"/>
                </a:ext>
              </a:extLst>
            </p:cNvPr>
            <p:cNvCxnSpPr>
              <a:cxnSpLocks/>
            </p:cNvCxnSpPr>
            <p:nvPr/>
          </p:nvCxnSpPr>
          <p:spPr>
            <a:xfrm>
              <a:off x="9163887" y="596305"/>
              <a:ext cx="828436" cy="155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F48BC205-338A-D685-F982-DB8C98905425}"/>
                    </a:ext>
                  </a:extLst>
                </p:cNvPr>
                <p:cNvSpPr txBox="1"/>
                <p:nvPr/>
              </p:nvSpPr>
              <p:spPr>
                <a:xfrm>
                  <a:off x="9611783" y="254949"/>
                  <a:ext cx="49609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F48BC205-338A-D685-F982-DB8C98905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1783" y="254949"/>
                  <a:ext cx="496098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00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Gerade Verbindung 21">
              <a:extLst>
                <a:ext uri="{FF2B5EF4-FFF2-40B4-BE49-F238E27FC236}">
                  <a16:creationId xmlns:a16="http://schemas.microsoft.com/office/drawing/2014/main" id="{F67CE540-11BC-4060-69D2-907798BE0236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>
              <a:off x="9163887" y="640691"/>
              <a:ext cx="0" cy="91852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ing 22">
              <a:extLst>
                <a:ext uri="{FF2B5EF4-FFF2-40B4-BE49-F238E27FC236}">
                  <a16:creationId xmlns:a16="http://schemas.microsoft.com/office/drawing/2014/main" id="{2D64C68F-B5F4-A9A8-DA17-711DC0B7BA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13197" y="553476"/>
              <a:ext cx="90000" cy="90000"/>
            </a:xfrm>
            <a:prstGeom prst="donut">
              <a:avLst>
                <a:gd name="adj" fmla="val 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E066199A-32E0-1E0D-0134-14391AEB2E57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6758197" y="643476"/>
              <a:ext cx="0" cy="9079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86524401-7460-92C6-5786-BA951679934B}"/>
                </a:ext>
              </a:extLst>
            </p:cNvPr>
            <p:cNvCxnSpPr>
              <a:cxnSpLocks/>
              <a:stCxn id="23" idx="6"/>
            </p:cNvCxnSpPr>
            <p:nvPr/>
          </p:nvCxnSpPr>
          <p:spPr>
            <a:xfrm>
              <a:off x="6803197" y="598476"/>
              <a:ext cx="698596" cy="15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 Verbindung mit Pfeil 25">
              <a:extLst>
                <a:ext uri="{FF2B5EF4-FFF2-40B4-BE49-F238E27FC236}">
                  <a16:creationId xmlns:a16="http://schemas.microsoft.com/office/drawing/2014/main" id="{D086C4E1-3C29-3051-C642-559A78486D50}"/>
                </a:ext>
              </a:extLst>
            </p:cNvPr>
            <p:cNvCxnSpPr>
              <a:cxnSpLocks/>
              <a:endCxn id="23" idx="2"/>
            </p:cNvCxnSpPr>
            <p:nvPr/>
          </p:nvCxnSpPr>
          <p:spPr>
            <a:xfrm>
              <a:off x="5874209" y="598476"/>
              <a:ext cx="83898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9D208964-DF1A-B55A-5A6D-805C216E4714}"/>
                    </a:ext>
                  </a:extLst>
                </p:cNvPr>
                <p:cNvSpPr txBox="1"/>
                <p:nvPr/>
              </p:nvSpPr>
              <p:spPr>
                <a:xfrm>
                  <a:off x="5722177" y="251837"/>
                  <a:ext cx="50520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9D208964-DF1A-B55A-5A6D-805C216E4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2177" y="251837"/>
                  <a:ext cx="505203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2500" r="-17500" b="-34783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3227DD23-9ED1-0B2E-F29B-98BEF931EB57}"/>
                    </a:ext>
                  </a:extLst>
                </p:cNvPr>
                <p:cNvSpPr txBox="1"/>
                <p:nvPr/>
              </p:nvSpPr>
              <p:spPr>
                <a:xfrm>
                  <a:off x="6799404" y="707096"/>
                  <a:ext cx="219612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de-DE" dirty="0"/>
                </a:p>
              </p:txBody>
            </p:sp>
          </mc:Choice>
          <mc:Fallback xmlns="">
            <p:sp>
              <p:nvSpPr>
                <p:cNvPr id="28" name="Textfeld 27">
                  <a:extLst>
                    <a:ext uri="{FF2B5EF4-FFF2-40B4-BE49-F238E27FC236}">
                      <a16:creationId xmlns:a16="http://schemas.microsoft.com/office/drawing/2014/main" id="{3227DD23-9ED1-0B2E-F29B-98BEF931EB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9404" y="707096"/>
                  <a:ext cx="219612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1111" r="-5556"/>
                  </a:stretch>
                </a:blipFill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Prozess 28">
                  <a:extLst>
                    <a:ext uri="{FF2B5EF4-FFF2-40B4-BE49-F238E27FC236}">
                      <a16:creationId xmlns:a16="http://schemas.microsoft.com/office/drawing/2014/main" id="{5550313D-F431-5BAA-3D57-41C5AD80269E}"/>
                    </a:ext>
                  </a:extLst>
                </p:cNvPr>
                <p:cNvSpPr/>
                <p:nvPr/>
              </p:nvSpPr>
              <p:spPr>
                <a:xfrm>
                  <a:off x="7508453" y="293661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Prozess 28">
                  <a:extLst>
                    <a:ext uri="{FF2B5EF4-FFF2-40B4-BE49-F238E27FC236}">
                      <a16:creationId xmlns:a16="http://schemas.microsoft.com/office/drawing/2014/main" id="{5550313D-F431-5BAA-3D57-41C5AD80269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8453" y="293661"/>
                  <a:ext cx="914400" cy="612648"/>
                </a:xfrm>
                <a:prstGeom prst="flowChartProcess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Gerade Verbindung 29">
              <a:extLst>
                <a:ext uri="{FF2B5EF4-FFF2-40B4-BE49-F238E27FC236}">
                  <a16:creationId xmlns:a16="http://schemas.microsoft.com/office/drawing/2014/main" id="{23DB8B8C-2DF5-612D-A622-B229E58FC706}"/>
                </a:ext>
              </a:extLst>
            </p:cNvPr>
            <p:cNvCxnSpPr>
              <a:cxnSpLocks/>
            </p:cNvCxnSpPr>
            <p:nvPr/>
          </p:nvCxnSpPr>
          <p:spPr>
            <a:xfrm>
              <a:off x="8422853" y="596305"/>
              <a:ext cx="69245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Prozess 31">
                  <a:extLst>
                    <a:ext uri="{FF2B5EF4-FFF2-40B4-BE49-F238E27FC236}">
                      <a16:creationId xmlns:a16="http://schemas.microsoft.com/office/drawing/2014/main" id="{8794284A-54CB-0A28-4ECC-7706C421B314}"/>
                    </a:ext>
                  </a:extLst>
                </p:cNvPr>
                <p:cNvSpPr/>
                <p:nvPr/>
              </p:nvSpPr>
              <p:spPr>
                <a:xfrm>
                  <a:off x="7508453" y="1245113"/>
                  <a:ext cx="914400" cy="612648"/>
                </a:xfrm>
                <a:prstGeom prst="flowChartProcess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de-DE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de-DE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Prozess 31">
                  <a:extLst>
                    <a:ext uri="{FF2B5EF4-FFF2-40B4-BE49-F238E27FC236}">
                      <a16:creationId xmlns:a16="http://schemas.microsoft.com/office/drawing/2014/main" id="{8794284A-54CB-0A28-4ECC-7706C421B3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8453" y="1245113"/>
                  <a:ext cx="914400" cy="612648"/>
                </a:xfrm>
                <a:prstGeom prst="flowChartProcess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Gerade Verbindung mit Pfeil 32">
              <a:extLst>
                <a:ext uri="{FF2B5EF4-FFF2-40B4-BE49-F238E27FC236}">
                  <a16:creationId xmlns:a16="http://schemas.microsoft.com/office/drawing/2014/main" id="{44DB01D6-EC66-43EC-AEF0-5C60D845F7C5}"/>
                </a:ext>
              </a:extLst>
            </p:cNvPr>
            <p:cNvCxnSpPr>
              <a:cxnSpLocks/>
              <a:endCxn id="32" idx="3"/>
            </p:cNvCxnSpPr>
            <p:nvPr/>
          </p:nvCxnSpPr>
          <p:spPr>
            <a:xfrm flipH="1">
              <a:off x="8422853" y="1551437"/>
              <a:ext cx="741034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38">
              <a:extLst>
                <a:ext uri="{FF2B5EF4-FFF2-40B4-BE49-F238E27FC236}">
                  <a16:creationId xmlns:a16="http://schemas.microsoft.com/office/drawing/2014/main" id="{2D221A9F-C8F2-2E91-75E9-34E787FC5910}"/>
                </a:ext>
              </a:extLst>
            </p:cNvPr>
            <p:cNvCxnSpPr>
              <a:cxnSpLocks/>
              <a:stCxn id="32" idx="1"/>
            </p:cNvCxnSpPr>
            <p:nvPr/>
          </p:nvCxnSpPr>
          <p:spPr>
            <a:xfrm flipH="1">
              <a:off x="6758197" y="1551437"/>
              <a:ext cx="7502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Textfeld 41">
            <a:extLst>
              <a:ext uri="{FF2B5EF4-FFF2-40B4-BE49-F238E27FC236}">
                <a16:creationId xmlns:a16="http://schemas.microsoft.com/office/drawing/2014/main" id="{FC6C9B03-634C-A782-027C-40393ECD3BCA}"/>
              </a:ext>
            </a:extLst>
          </p:cNvPr>
          <p:cNvSpPr txBox="1"/>
          <p:nvPr/>
        </p:nvSpPr>
        <p:spPr>
          <a:xfrm>
            <a:off x="-467139" y="-725557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CD31E237-ABCE-94BD-45DB-DAD2DE3381FF}"/>
                  </a:ext>
                </a:extLst>
              </p:cNvPr>
              <p:cNvSpPr txBox="1"/>
              <p:nvPr/>
            </p:nvSpPr>
            <p:spPr>
              <a:xfrm>
                <a:off x="8076111" y="3731999"/>
                <a:ext cx="3720389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/>
                  <a:t>Typically,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dirty="0"/>
                  <a:t> and a </a:t>
                </a:r>
                <a:r>
                  <a:rPr lang="de-DE" dirty="0" err="1"/>
                  <a:t>controller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included</a:t>
                </a:r>
                <a:r>
                  <a:rPr lang="de-DE" dirty="0"/>
                  <a:t> in </a:t>
                </a:r>
                <a:r>
                  <a:rPr lang="de-DE" dirty="0" err="1"/>
                  <a:t>the</a:t>
                </a:r>
                <a:r>
                  <a:rPr lang="de-DE" dirty="0"/>
                  <a:t> </a:t>
                </a:r>
                <a:r>
                  <a:rPr lang="de-DE" dirty="0" err="1"/>
                  <a:t>forward</a:t>
                </a:r>
                <a:r>
                  <a:rPr lang="de-DE" dirty="0"/>
                  <a:t> </a:t>
                </a:r>
                <a:r>
                  <a:rPr lang="de-DE" dirty="0" err="1"/>
                  <a:t>path</a:t>
                </a:r>
                <a:r>
                  <a:rPr lang="de-DE" dirty="0"/>
                  <a:t>:</a:t>
                </a:r>
              </a:p>
              <a:p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)∙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</p:txBody>
          </p:sp>
        </mc:Choice>
        <mc:Fallback xmlns=""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CD31E237-ABCE-94BD-45DB-DAD2DE338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6111" y="3731999"/>
                <a:ext cx="3720389" cy="923330"/>
              </a:xfrm>
              <a:prstGeom prst="rect">
                <a:avLst/>
              </a:prstGeom>
              <a:blipFill>
                <a:blip r:embed="rId8"/>
                <a:stretch>
                  <a:fillRect l="-1356" t="-2667" r="-1017" b="-4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420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22470-E3B4-6307-0EA5-F1B7F5548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Nyquist</a:t>
            </a:r>
            <a:r>
              <a:rPr lang="de-DE" dirty="0"/>
              <a:t> </a:t>
            </a:r>
            <a:r>
              <a:rPr lang="de-DE" dirty="0" err="1"/>
              <a:t>Stability</a:t>
            </a:r>
            <a:r>
              <a:rPr lang="de-DE" dirty="0"/>
              <a:t> </a:t>
            </a:r>
            <a:r>
              <a:rPr lang="de-DE" dirty="0" err="1"/>
              <a:t>Criterion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2AFC97-0C0F-D7E6-966D-ED72FE1147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691124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Consider </a:t>
                </a:r>
                <a:r>
                  <a:rPr lang="de-DE" sz="2400" dirty="0" err="1"/>
                  <a:t>Nyquist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curve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for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e</a:t>
                </a:r>
                <a:r>
                  <a:rPr lang="de-DE" sz="2400" dirty="0" err="1"/>
                  <a:t>valuation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along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imaginary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axis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de-DE" sz="2400" dirty="0"/>
                  <a:t> (</a:t>
                </a:r>
                <a:r>
                  <a:rPr lang="de-DE" sz="2400" dirty="0" err="1"/>
                  <a:t>boundary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RHP)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Critical </a:t>
                </a:r>
                <a:r>
                  <a:rPr lang="de-DE" sz="2400" dirty="0" err="1"/>
                  <a:t>point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−1+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de-DE" sz="2400" dirty="0">
                    <a:sym typeface="Wingdings" pitchFamily="2" charset="2"/>
                  </a:rPr>
                  <a:t>: </a:t>
                </a:r>
                <a:r>
                  <a:rPr lang="de-DE" sz="2400" dirty="0" err="1">
                    <a:sym typeface="Wingdings" pitchFamily="2" charset="2"/>
                  </a:rPr>
                  <a:t>closed</a:t>
                </a:r>
                <a:r>
                  <a:rPr lang="de-DE" sz="2400" dirty="0">
                    <a:sym typeface="Wingdings" pitchFamily="2" charset="2"/>
                  </a:rPr>
                  <a:t>-loop pole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 err="1"/>
                  <a:t>If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curve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encircles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critical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point</a:t>
                </a:r>
                <a:r>
                  <a:rPr lang="de-DE" sz="2400" dirty="0"/>
                  <a:t>,</a:t>
                </a:r>
                <a:r>
                  <a:rPr lang="de-DE" sz="24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r>
                  <a:rPr lang="de-DE" sz="2400" dirty="0"/>
                  <a:t> has </a:t>
                </a:r>
                <a:r>
                  <a:rPr lang="de-DE" sz="2400" dirty="0" err="1"/>
                  <a:t>solutions</a:t>
                </a:r>
                <a:r>
                  <a:rPr lang="de-DE" sz="2400" dirty="0"/>
                  <a:t> in RHP </a:t>
                </a: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 err="1">
                    <a:sym typeface="Wingdings" pitchFamily="2" charset="2"/>
                  </a:rPr>
                  <a:t>closed</a:t>
                </a:r>
                <a:r>
                  <a:rPr lang="de-DE" sz="2400" dirty="0">
                    <a:sym typeface="Wingdings" pitchFamily="2" charset="2"/>
                  </a:rPr>
                  <a:t> loop </a:t>
                </a:r>
                <a:r>
                  <a:rPr lang="de-DE" sz="2400" dirty="0" err="1">
                    <a:sym typeface="Wingdings" pitchFamily="2" charset="2"/>
                  </a:rPr>
                  <a:t>unstable</a:t>
                </a: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/>
                  <a:t>(</a:t>
                </a:r>
                <a:r>
                  <a:rPr lang="de-DE" sz="2400" dirty="0" err="1"/>
                  <a:t>Encirclement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is</a:t>
                </a:r>
                <a:r>
                  <a:rPr lang="de-DE" sz="2400" dirty="0"/>
                  <a:t> a </a:t>
                </a:r>
                <a:r>
                  <a:rPr lang="de-DE" sz="2400" dirty="0" err="1"/>
                  <a:t>topological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signature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a root </a:t>
                </a:r>
                <a:r>
                  <a:rPr lang="de-DE" sz="2400" dirty="0" err="1"/>
                  <a:t>inside</a:t>
                </a:r>
                <a:r>
                  <a:rPr lang="de-DE" sz="2400" dirty="0"/>
                  <a:t>. </a:t>
                </a:r>
                <a:r>
                  <a:rPr lang="de-DE" sz="2400" dirty="0" err="1"/>
                  <a:t>It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considers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both</a:t>
                </a:r>
                <a:r>
                  <a:rPr lang="de-DE" sz="2400" dirty="0"/>
                  <a:t> positive-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 and negative-</a:t>
                </a:r>
                <a:r>
                  <a:rPr lang="de-DE" sz="2400" dirty="0" err="1"/>
                  <a:t>frequency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branches</a:t>
                </a:r>
                <a:r>
                  <a:rPr lang="de-DE" sz="2400" dirty="0"/>
                  <a:t>: </a:t>
                </a:r>
                <a14:m>
                  <m:oMath xmlns:m="http://schemas.openxmlformats.org/officeDocument/2006/math">
                    <m:r>
                      <a:rPr lang="de-DE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  <m:r>
                      <a:rPr lang="de-DE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:−∞→+∞</m:t>
                    </m:r>
                  </m:oMath>
                </a14:m>
                <a:r>
                  <a:rPr lang="de-DE" sz="2400" dirty="0"/>
                  <a:t>)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C52AFC97-0C0F-D7E6-966D-ED72FE1147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691124" cy="4667250"/>
              </a:xfrm>
              <a:blipFill>
                <a:blip r:embed="rId2"/>
                <a:stretch>
                  <a:fillRect l="-1518" t="-18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95D79B-140F-ED0F-12F1-D63F0CD77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19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54FF782-4E84-BA12-3F7C-27131846C3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9324" y="2118473"/>
            <a:ext cx="4662676" cy="351183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D5F9AD0-872D-1DB9-C798-4EE5637DFA00}"/>
              </a:ext>
            </a:extLst>
          </p:cNvPr>
          <p:cNvSpPr txBox="1"/>
          <p:nvPr/>
        </p:nvSpPr>
        <p:spPr>
          <a:xfrm>
            <a:off x="8960895" y="1754945"/>
            <a:ext cx="2042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Stable</a:t>
            </a:r>
            <a:r>
              <a:rPr lang="de-DE" dirty="0"/>
              <a:t> PT2 </a:t>
            </a:r>
            <a:r>
              <a:rPr lang="de-DE" dirty="0" err="1"/>
              <a:t>system</a:t>
            </a:r>
            <a:r>
              <a:rPr lang="de-D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7E210C8-E109-EF33-DEEA-6DE2BF901B68}"/>
                  </a:ext>
                </a:extLst>
              </p:cNvPr>
              <p:cNvSpPr txBox="1"/>
              <p:nvPr/>
            </p:nvSpPr>
            <p:spPr>
              <a:xfrm>
                <a:off x="9435576" y="5581505"/>
                <a:ext cx="10654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Re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17E210C8-E109-EF33-DEEA-6DE2BF901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5576" y="5581505"/>
                <a:ext cx="1065420" cy="276999"/>
              </a:xfrm>
              <a:prstGeom prst="rect">
                <a:avLst/>
              </a:prstGeom>
              <a:blipFill>
                <a:blip r:embed="rId5"/>
                <a:stretch>
                  <a:fillRect l="-5882" r="-7059" b="-3478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0FC0F33-8594-06B5-7542-62F48ACACB3A}"/>
                  </a:ext>
                </a:extLst>
              </p:cNvPr>
              <p:cNvSpPr txBox="1"/>
              <p:nvPr/>
            </p:nvSpPr>
            <p:spPr>
              <a:xfrm rot="16200000">
                <a:off x="7127099" y="3735892"/>
                <a:ext cx="1081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de-DE" b="0" i="0" smtClean="0">
                          <a:latin typeface="Cambria Math" panose="02040503050406030204" pitchFamily="18" charset="0"/>
                        </a:rPr>
                        <m:t>Im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de-DE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0FC0F33-8594-06B5-7542-62F48ACAC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127099" y="3735892"/>
                <a:ext cx="1081450" cy="276999"/>
              </a:xfrm>
              <a:prstGeom prst="rect">
                <a:avLst/>
              </a:prstGeom>
              <a:blipFill>
                <a:blip r:embed="rId6"/>
                <a:stretch>
                  <a:fillRect t="-8140" r="-34783" b="-46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33218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54A70F2-723A-C281-2565-DB05C7C3A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20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CB9ED4-DB62-B4A2-34DC-8783EE69D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565" y="0"/>
            <a:ext cx="6834870" cy="6858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8CB6CB6B-7EC6-9ECF-CB71-8A1686A5D7DF}"/>
              </a:ext>
            </a:extLst>
          </p:cNvPr>
          <p:cNvSpPr txBox="1"/>
          <p:nvPr/>
        </p:nvSpPr>
        <p:spPr>
          <a:xfrm>
            <a:off x="1361661" y="4860235"/>
            <a:ext cx="105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unstable</a:t>
            </a:r>
            <a:endParaRPr lang="de-DE" dirty="0"/>
          </a:p>
        </p:txBody>
      </p: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D498DE1B-5B06-E90C-F0B8-4F10C8A337DD}"/>
              </a:ext>
            </a:extLst>
          </p:cNvPr>
          <p:cNvCxnSpPr>
            <a:stCxn id="6" idx="3"/>
          </p:cNvCxnSpPr>
          <p:nvPr/>
        </p:nvCxnSpPr>
        <p:spPr>
          <a:xfrm flipV="1">
            <a:off x="2420925" y="4442791"/>
            <a:ext cx="1972171" cy="602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757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D0819-63A4-5FE2-C3BC-F96F50CE9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Nyquist</a:t>
            </a:r>
            <a:r>
              <a:rPr lang="de-DE" dirty="0"/>
              <a:t>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DF119EF-E5CD-E6C3-DBEF-451E2BB0BE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e-DE" sz="2400" dirty="0"/>
                  <a:t>Number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encirclements</a:t>
                </a:r>
                <a:r>
                  <a:rPr lang="de-DE" sz="2400" dirty="0"/>
                  <a:t> </a:t>
                </a:r>
                <a:r>
                  <a:rPr lang="de-DE" sz="2400" dirty="0">
                    <a:sym typeface="Wingdings" pitchFamily="2" charset="2"/>
                  </a:rPr>
                  <a:t></a:t>
                </a:r>
                <a:r>
                  <a:rPr lang="de-DE" sz="2400" dirty="0"/>
                  <a:t> </a:t>
                </a:r>
                <a:r>
                  <a:rPr lang="de-DE" sz="2400" dirty="0" err="1"/>
                  <a:t>how</a:t>
                </a:r>
                <a:r>
                  <a:rPr lang="de-DE" sz="2400" dirty="0"/>
                  <a:t> </a:t>
                </a:r>
                <a:r>
                  <a:rPr lang="de-DE" sz="2400" dirty="0" err="1"/>
                  <a:t>many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poles</a:t>
                </a:r>
                <a:r>
                  <a:rPr lang="de-DE" sz="2400" dirty="0"/>
                  <a:t> in RHP</a:t>
                </a:r>
              </a:p>
              <a:p>
                <a:pPr marL="0" indent="0">
                  <a:buNone/>
                </a:pPr>
                <a:endParaRPr lang="de-DE" sz="2400" dirty="0"/>
              </a:p>
              <a:p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number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RHP </a:t>
                </a:r>
                <a:r>
                  <a:rPr lang="de-DE" sz="2400" dirty="0" err="1"/>
                  <a:t>poles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sz="2400" dirty="0"/>
              </a:p>
              <a:p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number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closed</a:t>
                </a:r>
                <a:r>
                  <a:rPr lang="de-DE" sz="2400" dirty="0"/>
                  <a:t>-loop </a:t>
                </a:r>
                <a:r>
                  <a:rPr lang="de-DE" sz="2400" dirty="0" err="1"/>
                  <a:t>poles</a:t>
                </a:r>
                <a:r>
                  <a:rPr lang="de-DE" sz="2400" dirty="0"/>
                  <a:t> in RHP (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r>
                  <a:rPr lang="de-DE" sz="2400" dirty="0"/>
                  <a:t> )</a:t>
                </a:r>
              </a:p>
              <a:p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number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encirclements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Nyquist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plot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of</a:t>
                </a:r>
                <a:r>
                  <a:rPr lang="de-DE" sz="2400" dirty="0"/>
                  <a:t>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sz="2400" dirty="0"/>
                  <a:t>, </a:t>
                </a:r>
                <a:r>
                  <a:rPr lang="de-DE" sz="2400" dirty="0" err="1"/>
                  <a:t>where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sign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reflects</a:t>
                </a:r>
                <a:r>
                  <a:rPr lang="de-DE" sz="2400" dirty="0"/>
                  <a:t> </a:t>
                </a:r>
                <a:r>
                  <a:rPr lang="de-DE" sz="2400" dirty="0" err="1"/>
                  <a:t>the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encirclement</a:t>
                </a:r>
                <a:r>
                  <a:rPr lang="de-DE" sz="2400" dirty="0"/>
                  <a:t> </a:t>
                </a:r>
                <a:r>
                  <a:rPr lang="de-DE" sz="2400" dirty="0" err="1"/>
                  <a:t>direction</a:t>
                </a:r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de-DE" sz="2400" dirty="0"/>
              </a:p>
              <a:p>
                <a:pPr marL="0" indent="0">
                  <a:buNone/>
                </a:pPr>
                <a:endParaRPr lang="de-DE" sz="2400" dirty="0"/>
              </a:p>
              <a:p>
                <a:pPr marL="0" indent="0">
                  <a:buNone/>
                </a:pPr>
                <a:r>
                  <a:rPr lang="de-DE" sz="2400" dirty="0">
                    <a:sym typeface="Wingdings" pitchFamily="2" charset="2"/>
                  </a:rPr>
                  <a:t> </a:t>
                </a:r>
                <a:r>
                  <a:rPr lang="de-DE" sz="2400" dirty="0"/>
                  <a:t>An </a:t>
                </a:r>
                <a:r>
                  <a:rPr lang="de-DE" sz="2400" dirty="0" err="1"/>
                  <a:t>unstable</a:t>
                </a:r>
                <a:r>
                  <a:rPr lang="de-DE" sz="2400" dirty="0"/>
                  <a:t> plant (e.g.,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de-DE" sz="2400" dirty="0"/>
                  <a:t>) </a:t>
                </a:r>
                <a:r>
                  <a:rPr lang="de-DE" sz="2400" dirty="0" err="1"/>
                  <a:t>can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be</a:t>
                </a:r>
                <a:r>
                  <a:rPr lang="de-DE" sz="2400" dirty="0"/>
                  <a:t> </a:t>
                </a:r>
                <a:r>
                  <a:rPr lang="de-DE" sz="2400" dirty="0" err="1"/>
                  <a:t>stabilized</a:t>
                </a:r>
                <a:r>
                  <a:rPr lang="de-DE" sz="2400" dirty="0"/>
                  <a:t> </a:t>
                </a:r>
                <a:r>
                  <a:rPr lang="de-DE" sz="2400" dirty="0" err="1"/>
                  <a:t>by</a:t>
                </a:r>
                <a:r>
                  <a:rPr lang="de-DE" sz="2400" dirty="0"/>
                  <a:t> </a:t>
                </a:r>
                <a:r>
                  <a:rPr lang="de-DE" sz="2400" dirty="0" err="1"/>
                  <a:t>feedback</a:t>
                </a:r>
                <a:r>
                  <a:rPr lang="de-DE" sz="2400" dirty="0"/>
                  <a:t> (e.g., </a:t>
                </a:r>
                <a14:m>
                  <m:oMath xmlns:m="http://schemas.openxmlformats.org/officeDocument/2006/math">
                    <m:r>
                      <a:rPr lang="de-DE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de-DE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de-DE" sz="2400" dirty="0"/>
                  <a:t>).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7DF119EF-E5CD-E6C3-DBEF-451E2BB0BE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 b="-174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6B3FA0-89A5-6D59-0860-E7F83C41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6280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D76B9D-A952-FA61-3FEA-B2C35BC9E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Gain</a:t>
            </a:r>
            <a:r>
              <a:rPr lang="de-DE" dirty="0"/>
              <a:t> and Phase </a:t>
            </a:r>
            <a:r>
              <a:rPr lang="de-DE" dirty="0" err="1"/>
              <a:t>Margins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41DCEC5-E062-73EC-599B-965A44B5F6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de-DE" dirty="0"/>
                  <a:t>Idea: </a:t>
                </a:r>
                <a:r>
                  <a:rPr lang="de-DE" b="1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distance</a:t>
                </a:r>
                <a:r>
                  <a:rPr lang="de-DE" dirty="0"/>
                  <a:t> </a:t>
                </a:r>
                <a:r>
                  <a:rPr lang="de-DE" dirty="0" err="1"/>
                  <a:t>to</a:t>
                </a:r>
                <a:r>
                  <a:rPr lang="de-DE" dirty="0"/>
                  <a:t> </a:t>
                </a:r>
                <a:r>
                  <a:rPr lang="de-DE" dirty="0" err="1"/>
                  <a:t>instability</a:t>
                </a:r>
                <a:r>
                  <a:rPr lang="de-DE" dirty="0"/>
                  <a:t> (</a:t>
                </a:r>
                <a:r>
                  <a:rPr lang="de-DE" dirty="0" err="1"/>
                  <a:t>of</a:t>
                </a:r>
                <a:r>
                  <a:rPr lang="de-DE" dirty="0"/>
                  <a:t> </a:t>
                </a:r>
                <a:r>
                  <a:rPr lang="de-DE" dirty="0" err="1"/>
                  <a:t>closed</a:t>
                </a:r>
                <a:r>
                  <a:rPr lang="de-DE" dirty="0"/>
                  <a:t>-loop </a:t>
                </a:r>
                <a:r>
                  <a:rPr lang="de-DE" dirty="0" err="1"/>
                  <a:t>system</a:t>
                </a:r>
                <a:r>
                  <a:rPr lang="de-DE" dirty="0"/>
                  <a:t>) </a:t>
                </a:r>
                <a:r>
                  <a:rPr lang="de-DE" dirty="0" err="1"/>
                  <a:t>from</a:t>
                </a:r>
                <a:r>
                  <a:rPr lang="de-DE" dirty="0"/>
                  <a:t> Bode </a:t>
                </a:r>
                <a:r>
                  <a:rPr lang="de-DE" dirty="0" err="1"/>
                  <a:t>plots</a:t>
                </a:r>
                <a:endParaRPr lang="de-DE" dirty="0"/>
              </a:p>
              <a:p>
                <a:pPr marL="0" indent="0">
                  <a:buNone/>
                </a:pP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p</a:t>
                </a:r>
                <a:r>
                  <a:rPr lang="de-DE" dirty="0" err="1"/>
                  <a:t>ractical</a:t>
                </a:r>
                <a:r>
                  <a:rPr lang="de-DE" dirty="0"/>
                  <a:t> </a:t>
                </a:r>
                <a:r>
                  <a:rPr lang="de-DE" dirty="0" err="1"/>
                  <a:t>robustness</a:t>
                </a:r>
                <a:r>
                  <a:rPr lang="de-DE" dirty="0"/>
                  <a:t> </a:t>
                </a:r>
                <a:r>
                  <a:rPr lang="de-DE" dirty="0" err="1"/>
                  <a:t>indicators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Instability</a:t>
                </a:r>
                <a:r>
                  <a:rPr lang="de-DE" dirty="0"/>
                  <a:t>: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In polar form: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     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=−180°</m:t>
                    </m:r>
                  </m:oMath>
                </a14:m>
                <a:endParaRPr lang="de-DE" dirty="0"/>
              </a:p>
              <a:p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magnitude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less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phase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−180°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  </a:t>
                </a:r>
                <a:r>
                  <a:rPr lang="de-DE" dirty="0" err="1"/>
                  <a:t>stable</a:t>
                </a:r>
                <a:endParaRPr lang="de-DE" dirty="0"/>
              </a:p>
              <a:p>
                <a:r>
                  <a:rPr lang="de-DE" dirty="0" err="1"/>
                  <a:t>If</a:t>
                </a:r>
                <a:r>
                  <a:rPr lang="de-DE" dirty="0"/>
                  <a:t> </a:t>
                </a:r>
                <a:r>
                  <a:rPr lang="de-DE" dirty="0" err="1"/>
                  <a:t>magnitude</a:t>
                </a:r>
                <a:r>
                  <a:rPr lang="de-DE" dirty="0"/>
                  <a:t> </a:t>
                </a:r>
                <a:r>
                  <a:rPr lang="de-DE" dirty="0" err="1"/>
                  <a:t>is</a:t>
                </a:r>
                <a:r>
                  <a:rPr lang="de-DE" dirty="0"/>
                  <a:t> </a:t>
                </a:r>
                <a:r>
                  <a:rPr lang="de-DE" dirty="0" err="1"/>
                  <a:t>greater</a:t>
                </a:r>
                <a:r>
                  <a:rPr lang="de-DE" dirty="0"/>
                  <a:t> </a:t>
                </a:r>
                <a:r>
                  <a:rPr lang="de-DE" dirty="0" err="1"/>
                  <a:t>than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dirty="0"/>
                  <a:t> at </a:t>
                </a:r>
                <a:r>
                  <a:rPr lang="de-DE" dirty="0" err="1"/>
                  <a:t>phase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−180°</m:t>
                    </m:r>
                  </m:oMath>
                </a14:m>
                <a:r>
                  <a:rPr lang="de-DE" dirty="0"/>
                  <a:t> </a:t>
                </a:r>
                <a:r>
                  <a:rPr lang="de-DE" dirty="0">
                    <a:sym typeface="Wingdings" pitchFamily="2" charset="2"/>
                  </a:rPr>
                  <a:t> </a:t>
                </a:r>
                <a:r>
                  <a:rPr lang="de-DE" dirty="0" err="1"/>
                  <a:t>unstable</a:t>
                </a:r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Margins</a:t>
                </a:r>
                <a:r>
                  <a:rPr lang="de-DE" dirty="0"/>
                  <a:t> </a:t>
                </a:r>
                <a:r>
                  <a:rPr lang="de-DE" dirty="0" err="1"/>
                  <a:t>measure</a:t>
                </a:r>
                <a:r>
                  <a:rPr lang="de-DE" dirty="0"/>
                  <a:t> </a:t>
                </a:r>
                <a:r>
                  <a:rPr lang="de-DE" dirty="0" err="1"/>
                  <a:t>distance</a:t>
                </a:r>
                <a:r>
                  <a:rPr lang="de-DE" dirty="0"/>
                  <a:t> </a:t>
                </a:r>
                <a:r>
                  <a:rPr lang="de-DE" dirty="0" err="1"/>
                  <a:t>from</a:t>
                </a:r>
                <a:r>
                  <a:rPr lang="de-DE" dirty="0"/>
                  <a:t> </a:t>
                </a:r>
                <a:r>
                  <a:rPr lang="de-DE" dirty="0" err="1"/>
                  <a:t>that</a:t>
                </a:r>
                <a:r>
                  <a:rPr lang="de-DE" dirty="0"/>
                  <a:t> </a:t>
                </a:r>
                <a:r>
                  <a:rPr lang="de-DE" dirty="0" err="1"/>
                  <a:t>dangerous</a:t>
                </a:r>
                <a:r>
                  <a:rPr lang="de-DE" dirty="0"/>
                  <a:t> </a:t>
                </a:r>
                <a:r>
                  <a:rPr lang="de-DE" dirty="0" err="1"/>
                  <a:t>condition</a:t>
                </a:r>
                <a:endParaRPr lang="de-DE" dirty="0"/>
              </a:p>
              <a:p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margin</a:t>
                </a:r>
                <a:r>
                  <a:rPr lang="de-DE" dirty="0"/>
                  <a:t>: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much</a:t>
                </a:r>
                <a:r>
                  <a:rPr lang="de-DE" dirty="0"/>
                  <a:t> </a:t>
                </a:r>
                <a:r>
                  <a:rPr lang="de-DE" dirty="0" err="1"/>
                  <a:t>the</a:t>
                </a:r>
                <a:r>
                  <a:rPr lang="de-DE" dirty="0"/>
                  <a:t> loop </a:t>
                </a: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increased</a:t>
                </a:r>
                <a:r>
                  <a:rPr lang="de-DE" dirty="0"/>
                  <a:t> </a:t>
                </a:r>
                <a:r>
                  <a:rPr lang="de-DE" dirty="0" err="1"/>
                  <a:t>before</a:t>
                </a:r>
                <a:r>
                  <a:rPr lang="de-DE" dirty="0"/>
                  <a:t> </a:t>
                </a:r>
                <a:r>
                  <a:rPr lang="de-DE" dirty="0" err="1"/>
                  <a:t>instability</a:t>
                </a:r>
                <a:endParaRPr lang="de-DE" dirty="0"/>
              </a:p>
              <a:p>
                <a:r>
                  <a:rPr lang="de-DE" dirty="0"/>
                  <a:t>Phase </a:t>
                </a:r>
                <a:r>
                  <a:rPr lang="de-DE" dirty="0" err="1"/>
                  <a:t>margin</a:t>
                </a:r>
                <a:r>
                  <a:rPr lang="de-DE" dirty="0"/>
                  <a:t>: </a:t>
                </a:r>
                <a:r>
                  <a:rPr lang="de-DE" dirty="0" err="1"/>
                  <a:t>how</a:t>
                </a:r>
                <a:r>
                  <a:rPr lang="de-DE" dirty="0"/>
                  <a:t> </a:t>
                </a:r>
                <a:r>
                  <a:rPr lang="de-DE" dirty="0" err="1"/>
                  <a:t>much</a:t>
                </a:r>
                <a:r>
                  <a:rPr lang="de-DE" dirty="0"/>
                  <a:t> </a:t>
                </a:r>
                <a:r>
                  <a:rPr lang="de-DE" dirty="0" err="1"/>
                  <a:t>more</a:t>
                </a:r>
                <a:r>
                  <a:rPr lang="de-DE" dirty="0"/>
                  <a:t> </a:t>
                </a:r>
                <a:r>
                  <a:rPr lang="de-DE" dirty="0" err="1"/>
                  <a:t>phase</a:t>
                </a:r>
                <a:r>
                  <a:rPr lang="de-DE" dirty="0"/>
                  <a:t> lag </a:t>
                </a:r>
                <a:r>
                  <a:rPr lang="de-DE" dirty="0" err="1"/>
                  <a:t>can</a:t>
                </a:r>
                <a:r>
                  <a:rPr lang="de-DE" dirty="0"/>
                  <a:t> </a:t>
                </a:r>
                <a:r>
                  <a:rPr lang="de-DE" dirty="0" err="1"/>
                  <a:t>be</a:t>
                </a:r>
                <a:r>
                  <a:rPr lang="de-DE" dirty="0"/>
                  <a:t> </a:t>
                </a:r>
                <a:r>
                  <a:rPr lang="de-DE" dirty="0" err="1"/>
                  <a:t>tolerated</a:t>
                </a:r>
                <a:r>
                  <a:rPr lang="de-DE" dirty="0"/>
                  <a:t> </a:t>
                </a:r>
                <a:r>
                  <a:rPr lang="de-DE" dirty="0" err="1"/>
                  <a:t>before</a:t>
                </a:r>
                <a:r>
                  <a:rPr lang="de-DE" dirty="0"/>
                  <a:t> </a:t>
                </a:r>
                <a:r>
                  <a:rPr lang="de-DE" dirty="0" err="1"/>
                  <a:t>instability</a:t>
                </a: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841DCEC5-E062-73EC-599B-965A44B5F6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31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C0EBA0-2646-D649-137B-265D744CE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092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413211B-6B0F-D6B5-2986-85580905E8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583" y="1978847"/>
            <a:ext cx="6735417" cy="415689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5F2C1E1-478C-0BD9-8D82-4876E525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Crossover </a:t>
            </a:r>
            <a:r>
              <a:rPr lang="de-DE" dirty="0" err="1"/>
              <a:t>Frequencies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BA2F6C-A63D-4870-28C6-4BE78A35D9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1247" y="1825625"/>
                <a:ext cx="499607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de-DE" dirty="0"/>
                  <a:t>Phase </a:t>
                </a:r>
                <a:r>
                  <a:rPr lang="de-DE" dirty="0" err="1"/>
                  <a:t>crossover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:</a:t>
                </a:r>
                <a:endParaRPr lang="de-DE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𝑝𝑐</m:t>
                            </m:r>
                          </m:sub>
                        </m:sSub>
                      </m:e>
                    </m:d>
                    <m:r>
                      <a:rPr lang="de-D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−180°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margin</a:t>
                </a:r>
                <a:r>
                  <a:rPr lang="de-DE" dirty="0"/>
                  <a:t> (</a:t>
                </a:r>
                <a:r>
                  <a:rPr lang="de-DE" dirty="0" err="1"/>
                  <a:t>unstable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&lt;0):</a:t>
                </a:r>
              </a:p>
              <a:p>
                <a:pPr marL="0" indent="0">
                  <a:buNone/>
                </a:pPr>
                <a:r>
                  <a:rPr lang="de-DE" dirty="0"/>
                  <a:t>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𝐺𝑀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  <m:d>
                              <m:dPr>
                                <m:ctrlPr>
                                  <a:rPr lang="de-D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sSub>
                                  <m:sSubPr>
                                    <m:ctrlP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de-DE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𝑝𝑐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den>
                    </m:f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 err="1"/>
                  <a:t>Gain</a:t>
                </a:r>
                <a:r>
                  <a:rPr lang="de-DE" dirty="0"/>
                  <a:t> </a:t>
                </a:r>
                <a:r>
                  <a:rPr lang="de-DE" dirty="0" err="1"/>
                  <a:t>crossover</a:t>
                </a:r>
                <a:r>
                  <a:rPr lang="de-DE" dirty="0"/>
                  <a:t> </a:t>
                </a:r>
                <a:r>
                  <a:rPr lang="de-DE" dirty="0" err="1"/>
                  <a:t>frequency</a:t>
                </a:r>
                <a:r>
                  <a:rPr lang="de-DE" dirty="0"/>
                  <a:t>:</a:t>
                </a:r>
              </a:p>
              <a:p>
                <a:pPr marL="0" indent="0">
                  <a:buNone/>
                </a:pPr>
                <a:r>
                  <a:rPr lang="de-DE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d>
                          <m:dPr>
                            <m:ctrlPr>
                              <a:rPr lang="de-D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de-DE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𝑔𝑐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Phase </a:t>
                </a:r>
                <a:r>
                  <a:rPr lang="de-DE" dirty="0" err="1"/>
                  <a:t>margin</a:t>
                </a:r>
                <a:r>
                  <a:rPr lang="de-DE" dirty="0"/>
                  <a:t> (</a:t>
                </a:r>
                <a:r>
                  <a:rPr lang="de-DE" dirty="0" err="1"/>
                  <a:t>unstable</a:t>
                </a:r>
                <a:r>
                  <a:rPr lang="de-DE" dirty="0"/>
                  <a:t> </a:t>
                </a:r>
                <a:r>
                  <a:rPr lang="de-DE" dirty="0" err="1"/>
                  <a:t>when</a:t>
                </a:r>
                <a:r>
                  <a:rPr lang="de-DE" dirty="0"/>
                  <a:t> &lt;0):</a:t>
                </a:r>
              </a:p>
              <a:p>
                <a:pPr marL="0" indent="0">
                  <a:buNone/>
                </a:pPr>
                <a:r>
                  <a:rPr lang="de-DE" b="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𝑃𝑀</m:t>
                    </m:r>
                    <m:r>
                      <a:rPr lang="de-D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180°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D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de-D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𝑔𝑐</m:t>
                            </m:r>
                          </m:sub>
                        </m:sSub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7BA2F6C-A63D-4870-28C6-4BE78A35D9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1247" y="1825625"/>
                <a:ext cx="4996070" cy="4351338"/>
              </a:xfrm>
              <a:blipFill>
                <a:blip r:embed="rId3"/>
                <a:stretch>
                  <a:fillRect l="-2025" t="-2616" r="-2025" b="-116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AABD63-47D9-6DAA-DBC5-4FF44639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23</a:t>
            </a:fld>
            <a:endParaRPr lang="en-GB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1728122-EEA6-FB12-AC4A-3F62F7695D8D}"/>
              </a:ext>
            </a:extLst>
          </p:cNvPr>
          <p:cNvSpPr txBox="1"/>
          <p:nvPr/>
        </p:nvSpPr>
        <p:spPr>
          <a:xfrm>
            <a:off x="8468140" y="1541966"/>
            <a:ext cx="1944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just </a:t>
            </a:r>
            <a:r>
              <a:rPr lang="de-DE" dirty="0" err="1"/>
              <a:t>barely</a:t>
            </a:r>
            <a:r>
              <a:rPr lang="de-DE" dirty="0"/>
              <a:t> </a:t>
            </a:r>
            <a:r>
              <a:rPr lang="de-DE" dirty="0" err="1"/>
              <a:t>stable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178820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FA7948B-6ED8-7CF1-490A-B18406C6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24</a:t>
            </a:fld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42A853D-0B20-D918-284F-7BFB156CE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44081"/>
            <a:ext cx="7772400" cy="476983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7647B81-CEBA-DCA7-48F6-FE52BF214224}"/>
              </a:ext>
            </a:extLst>
          </p:cNvPr>
          <p:cNvSpPr txBox="1"/>
          <p:nvPr/>
        </p:nvSpPr>
        <p:spPr>
          <a:xfrm>
            <a:off x="5519079" y="501649"/>
            <a:ext cx="1124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unstable</a:t>
            </a:r>
            <a:r>
              <a:rPr lang="de-D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66779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1349</Words>
  <Application>Microsoft Macintosh PowerPoint</Application>
  <PresentationFormat>Breitbild</PresentationFormat>
  <Paragraphs>223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1" baseType="lpstr">
      <vt:lpstr>.AppleSystemUIFont</vt:lpstr>
      <vt:lpstr>Aptos</vt:lpstr>
      <vt:lpstr>Aptos Display</vt:lpstr>
      <vt:lpstr>Arial</vt:lpstr>
      <vt:lpstr>Cambria Math</vt:lpstr>
      <vt:lpstr>Wingdings</vt:lpstr>
      <vt:lpstr>Office Theme</vt:lpstr>
      <vt:lpstr>Poles/Zeros &amp; Stability</vt:lpstr>
      <vt:lpstr>Course Schedule</vt:lpstr>
      <vt:lpstr>Poles/Zeros &amp; Stability</vt:lpstr>
      <vt:lpstr>Poles and Zeros</vt:lpstr>
      <vt:lpstr>Interpretation of Poles</vt:lpstr>
      <vt:lpstr>Pole Location</vt:lpstr>
      <vt:lpstr>Bounded Input Bounded Output (BIBO) Stability</vt:lpstr>
      <vt:lpstr>Stability of Continuous-Time Systems</vt:lpstr>
      <vt:lpstr>Zero Location</vt:lpstr>
      <vt:lpstr>Interpretation of Zeros</vt:lpstr>
      <vt:lpstr>Example: PT2 with LHP and RHP Zero</vt:lpstr>
      <vt:lpstr>Example: PT2 with LHP and RHP Zero</vt:lpstr>
      <vt:lpstr>Example: PT2 with LHP and RHP Zero</vt:lpstr>
      <vt:lpstr>Pole-Zero Diagrams</vt:lpstr>
      <vt:lpstr>Resonance</vt:lpstr>
      <vt:lpstr>PowerPoint-Präsentation</vt:lpstr>
      <vt:lpstr>Frequency-Domain Stability</vt:lpstr>
      <vt:lpstr>Closed-Loop Stability</vt:lpstr>
      <vt:lpstr>Nyquist Stability Criterion</vt:lpstr>
      <vt:lpstr>PowerPoint-Präsentation</vt:lpstr>
      <vt:lpstr>Nyquist Formula</vt:lpstr>
      <vt:lpstr>Gain and Phase Margins</vt:lpstr>
      <vt:lpstr>Crossover Frequencies</vt:lpstr>
      <vt:lpstr>PowerPoint-Präsentation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180</cp:revision>
  <dcterms:created xsi:type="dcterms:W3CDTF">2025-01-08T09:27:30Z</dcterms:created>
  <dcterms:modified xsi:type="dcterms:W3CDTF">2026-04-29T05:37:00Z</dcterms:modified>
</cp:coreProperties>
</file>
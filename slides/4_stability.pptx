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6"/>
  </p:notesMasterIdLst>
  <p:sldIdLst>
    <p:sldId id="256" r:id="rId2"/>
    <p:sldId id="265" r:id="rId3"/>
    <p:sldId id="266" r:id="rId4"/>
    <p:sldId id="267" r:id="rId5"/>
    <p:sldId id="293" r:id="rId6"/>
    <p:sldId id="295" r:id="rId7"/>
    <p:sldId id="294" r:id="rId8"/>
    <p:sldId id="296" r:id="rId9"/>
    <p:sldId id="270" r:id="rId10"/>
    <p:sldId id="271" r:id="rId11"/>
    <p:sldId id="272" r:id="rId12"/>
    <p:sldId id="273" r:id="rId13"/>
    <p:sldId id="274" r:id="rId14"/>
    <p:sldId id="275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07/02/2026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07/02/2026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07/02/2026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07/02/2026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07/02/2026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07/02/2026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07/02/2026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Effect</a:t>
            </a:r>
            <a:r>
              <a:rPr lang="de-DE" dirty="0"/>
              <a:t> on transient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 err="1"/>
              <a:t>Resonance</a:t>
            </a:r>
            <a:endParaRPr lang="de-DE" dirty="0"/>
          </a:p>
          <a:p>
            <a:r>
              <a:rPr lang="de-DE" dirty="0"/>
              <a:t>Pole-zero </a:t>
            </a:r>
            <a:r>
              <a:rPr lang="de-DE" dirty="0" err="1"/>
              <a:t>diagrams</a:t>
            </a:r>
            <a:endParaRPr lang="de-DE" dirty="0"/>
          </a:p>
          <a:p>
            <a:r>
              <a:rPr lang="de-DE" dirty="0" err="1"/>
              <a:t>Frequency</a:t>
            </a:r>
            <a:r>
              <a:rPr lang="de-DE" dirty="0"/>
              <a:t>-domain </a:t>
            </a:r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analysis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2A20BD-D64E-AC2D-EBB8-24EB8C731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 and Zeros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6FDBE5-DC6B-E55D-D642-F4079BD9A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Poles: </a:t>
            </a:r>
            <a:r>
              <a:rPr lang="de-DE" dirty="0" err="1"/>
              <a:t>roots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denominator</a:t>
            </a:r>
            <a:endParaRPr lang="de-DE" dirty="0"/>
          </a:p>
          <a:p>
            <a:r>
              <a:rPr lang="de-DE" dirty="0"/>
              <a:t>Zeros: </a:t>
            </a:r>
            <a:r>
              <a:rPr lang="de-DE" dirty="0" err="1"/>
              <a:t>roots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numerator</a:t>
            </a:r>
            <a:endParaRPr lang="de-DE" dirty="0"/>
          </a:p>
          <a:p>
            <a:r>
              <a:rPr lang="de-DE" dirty="0" err="1"/>
              <a:t>Determine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E555DB-F3FB-0878-C6F4-F332B7EE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4502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AE154C-424D-C203-2075-F6C80B025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Interpretation </a:t>
            </a:r>
            <a:r>
              <a:rPr lang="de-DE" dirty="0" err="1"/>
              <a:t>of</a:t>
            </a:r>
            <a:r>
              <a:rPr lang="de-DE" dirty="0"/>
              <a:t> Poles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E65B0AF-C18E-51FA-36D7-9E44682754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If real: </a:t>
                </a:r>
                <a:r>
                  <a:rPr lang="de-DE" dirty="0" err="1"/>
                  <a:t>purely</a:t>
                </a:r>
                <a:r>
                  <a:rPr lang="de-DE" dirty="0"/>
                  <a:t> </a:t>
                </a:r>
                <a:r>
                  <a:rPr lang="de-DE" dirty="0" err="1"/>
                  <a:t>exponential</a:t>
                </a:r>
                <a:r>
                  <a:rPr lang="de-DE" dirty="0"/>
                  <a:t>, </a:t>
                </a:r>
                <a:r>
                  <a:rPr lang="de-DE" dirty="0" err="1"/>
                  <a:t>no</a:t>
                </a:r>
                <a:r>
                  <a:rPr lang="de-DE" dirty="0"/>
                  <a:t> </a:t>
                </a:r>
                <a:r>
                  <a:rPr lang="de-DE" dirty="0" err="1"/>
                  <a:t>oscillation</a:t>
                </a: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)&lt;0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decay</a:t>
                </a: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growth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instability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Single real pole: PT1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: (</a:t>
                </a:r>
                <a:r>
                  <a:rPr lang="de-DE" dirty="0" err="1"/>
                  <a:t>damped</a:t>
                </a:r>
                <a:r>
                  <a:rPr lang="de-DE" dirty="0"/>
                  <a:t>) </a:t>
                </a:r>
                <a:r>
                  <a:rPr lang="de-DE" dirty="0" err="1"/>
                  <a:t>oscillation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Two</a:t>
                </a:r>
                <a:r>
                  <a:rPr lang="de-DE" dirty="0">
                    <a:sym typeface="Wingdings" pitchFamily="2" charset="2"/>
                  </a:rPr>
                  <a:t> real </a:t>
                </a:r>
                <a:r>
                  <a:rPr lang="de-DE" dirty="0" err="1">
                    <a:sym typeface="Wingdings" pitchFamily="2" charset="2"/>
                  </a:rPr>
                  <a:t>poles</a:t>
                </a:r>
                <a:r>
                  <a:rPr lang="de-DE" dirty="0">
                    <a:sym typeface="Wingdings" pitchFamily="2" charset="2"/>
                  </a:rPr>
                  <a:t>: </a:t>
                </a:r>
                <a:r>
                  <a:rPr lang="de-DE" dirty="0" err="1">
                    <a:sym typeface="Wingdings" pitchFamily="2" charset="2"/>
                  </a:rPr>
                  <a:t>aperiodic</a:t>
                </a:r>
                <a:r>
                  <a:rPr lang="de-DE" dirty="0">
                    <a:sym typeface="Wingdings" pitchFamily="2" charset="2"/>
                  </a:rPr>
                  <a:t> PT2 (</a:t>
                </a:r>
                <a:r>
                  <a:rPr lang="de-DE" dirty="0" err="1">
                    <a:sym typeface="Wingdings" pitchFamily="2" charset="2"/>
                  </a:rPr>
                  <a:t>sum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of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two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exponential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terms</a:t>
                </a:r>
                <a:r>
                  <a:rPr lang="de-DE" dirty="0">
                    <a:sym typeface="Wingdings" pitchFamily="2" charset="2"/>
                  </a:rPr>
                  <a:t>)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Conjugate</a:t>
                </a:r>
                <a:r>
                  <a:rPr lang="de-DE" dirty="0">
                    <a:sym typeface="Wingdings" pitchFamily="2" charset="2"/>
                  </a:rPr>
                  <a:t> pole pair: </a:t>
                </a:r>
                <a:r>
                  <a:rPr lang="de-DE" dirty="0" err="1">
                    <a:sym typeface="Wingdings" pitchFamily="2" charset="2"/>
                  </a:rPr>
                  <a:t>oscillating</a:t>
                </a:r>
                <a:r>
                  <a:rPr lang="de-DE" dirty="0">
                    <a:sym typeface="Wingdings" pitchFamily="2" charset="2"/>
                  </a:rPr>
                  <a:t> PT2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E65B0AF-C18E-51FA-36D7-9E44682754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E80A277-EABA-D25C-37DF-1CE92DC9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1C34838-0C4B-EE78-789F-FC094D2A34A6}"/>
                  </a:ext>
                </a:extLst>
              </p:cNvPr>
              <p:cNvSpPr txBox="1"/>
              <p:nvPr/>
            </p:nvSpPr>
            <p:spPr>
              <a:xfrm>
                <a:off x="2760953" y="4313878"/>
                <a:ext cx="2059622" cy="5233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de-DE" sz="26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1C34838-0C4B-EE78-789F-FC094D2A34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953" y="4313878"/>
                <a:ext cx="2059622" cy="523348"/>
              </a:xfrm>
              <a:prstGeom prst="rect">
                <a:avLst/>
              </a:prstGeom>
              <a:blipFill>
                <a:blip r:embed="rId3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B6CE1D18-FDED-9E60-C451-0F5CBA67C7A2}"/>
              </a:ext>
            </a:extLst>
          </p:cNvPr>
          <p:cNvCxnSpPr>
            <a:cxnSpLocks/>
          </p:cNvCxnSpPr>
          <p:nvPr/>
        </p:nvCxnSpPr>
        <p:spPr>
          <a:xfrm>
            <a:off x="3462287" y="4185152"/>
            <a:ext cx="230819" cy="310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9073C81-2635-6669-91BA-470FD3850C9F}"/>
              </a:ext>
            </a:extLst>
          </p:cNvPr>
          <p:cNvCxnSpPr>
            <a:cxnSpLocks/>
          </p:cNvCxnSpPr>
          <p:nvPr/>
        </p:nvCxnSpPr>
        <p:spPr>
          <a:xfrm flipH="1">
            <a:off x="4509857" y="4178941"/>
            <a:ext cx="190131" cy="310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CF580F19-875F-D665-7ADB-17773E0F3910}"/>
              </a:ext>
            </a:extLst>
          </p:cNvPr>
          <p:cNvSpPr txBox="1"/>
          <p:nvPr/>
        </p:nvSpPr>
        <p:spPr>
          <a:xfrm>
            <a:off x="9982200" y="1027906"/>
            <a:ext cx="162288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/>
              <a:t>PT1: </a:t>
            </a:r>
            <a:r>
              <a:rPr lang="de-DE" dirty="0" err="1"/>
              <a:t>one</a:t>
            </a:r>
            <a:r>
              <a:rPr lang="de-DE" dirty="0"/>
              <a:t> pole</a:t>
            </a:r>
          </a:p>
          <a:p>
            <a:r>
              <a:rPr lang="de-DE" dirty="0"/>
              <a:t>PT2: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poles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03669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6F9A38-8992-E7C7-CEBD-AC1A098C1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 Location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62C7A46-3151-BCA2-732D-A5FE2D3F7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Determines</a:t>
            </a:r>
            <a:r>
              <a:rPr lang="de-DE" dirty="0"/>
              <a:t> </a:t>
            </a:r>
            <a:r>
              <a:rPr lang="de-DE" dirty="0" err="1"/>
              <a:t>speed</a:t>
            </a:r>
            <a:r>
              <a:rPr lang="de-DE" dirty="0"/>
              <a:t> and </a:t>
            </a:r>
            <a:r>
              <a:rPr lang="de-DE" dirty="0" err="1"/>
              <a:t>damping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AAA6DAE-C973-9649-A3CB-300E719F6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008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00246-61A5-767F-909C-8A5B4C446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Interpretation </a:t>
            </a:r>
            <a:r>
              <a:rPr lang="de-DE" dirty="0" err="1"/>
              <a:t>of</a:t>
            </a:r>
            <a:r>
              <a:rPr lang="de-DE" dirty="0"/>
              <a:t> Zeros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DEECDF6-3FEB-A177-D7A8-7BB0231780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More </a:t>
            </a:r>
            <a:r>
              <a:rPr lang="de-DE" dirty="0" err="1"/>
              <a:t>zeros</a:t>
            </a:r>
            <a:r>
              <a:rPr lang="de-DE" dirty="0"/>
              <a:t> </a:t>
            </a:r>
            <a:r>
              <a:rPr lang="de-DE" dirty="0" err="1"/>
              <a:t>mean</a:t>
            </a:r>
            <a:endParaRPr lang="de-DE" dirty="0"/>
          </a:p>
          <a:p>
            <a:r>
              <a:rPr lang="de-DE" dirty="0" err="1"/>
              <a:t>stronger</a:t>
            </a:r>
            <a:r>
              <a:rPr lang="de-DE" dirty="0"/>
              <a:t> </a:t>
            </a:r>
            <a:r>
              <a:rPr lang="de-DE" dirty="0" err="1"/>
              <a:t>shaping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/>
              <a:t>high-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gain</a:t>
            </a:r>
            <a:r>
              <a:rPr lang="de-DE" dirty="0"/>
              <a:t> </a:t>
            </a:r>
            <a:r>
              <a:rPr lang="de-DE" dirty="0" err="1"/>
              <a:t>increases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If</a:t>
            </a:r>
            <a:r>
              <a:rPr lang="de-DE" dirty="0"/>
              <a:t> real: </a:t>
            </a:r>
            <a:r>
              <a:rPr lang="de-DE" dirty="0" err="1"/>
              <a:t>affect</a:t>
            </a:r>
            <a:r>
              <a:rPr lang="de-DE" dirty="0"/>
              <a:t> </a:t>
            </a:r>
            <a:r>
              <a:rPr lang="de-DE" dirty="0" err="1"/>
              <a:t>slope</a:t>
            </a:r>
            <a:r>
              <a:rPr lang="de-DE" dirty="0"/>
              <a:t> and initial </a:t>
            </a:r>
            <a:r>
              <a:rPr lang="de-DE" dirty="0" err="1"/>
              <a:t>behavior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: </a:t>
            </a:r>
            <a:r>
              <a:rPr lang="de-DE" dirty="0" err="1"/>
              <a:t>affect</a:t>
            </a:r>
            <a:r>
              <a:rPr lang="de-DE" dirty="0"/>
              <a:t> </a:t>
            </a:r>
            <a:r>
              <a:rPr lang="de-DE" dirty="0" err="1"/>
              <a:t>phase</a:t>
            </a:r>
            <a:r>
              <a:rPr lang="de-DE" dirty="0"/>
              <a:t> and </a:t>
            </a:r>
            <a:r>
              <a:rPr lang="de-DE" dirty="0" err="1"/>
              <a:t>shape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transient </a:t>
            </a:r>
            <a:r>
              <a:rPr lang="de-DE" dirty="0" err="1"/>
              <a:t>response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75A1E12-F588-EDED-8AD9-0CC86AD6B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5164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74229D-E0D0-4F27-687E-14E5F50EF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Zero Location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DB4A523-7894-C0D4-3451-DAD8F7E33D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Zeros in </a:t>
                </a:r>
                <a:r>
                  <a:rPr lang="de-DE" dirty="0" err="1"/>
                  <a:t>left</a:t>
                </a:r>
                <a:r>
                  <a:rPr lang="de-DE" dirty="0"/>
                  <a:t> half-plane (LHP), i.e.,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)&lt;0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called</a:t>
                </a:r>
                <a:r>
                  <a:rPr lang="de-DE" dirty="0"/>
                  <a:t> minimum-phase </a:t>
                </a:r>
                <a:r>
                  <a:rPr lang="de-DE" dirty="0" err="1"/>
                  <a:t>zeros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 err="1"/>
                  <a:t>speed</a:t>
                </a:r>
                <a:r>
                  <a:rPr lang="de-DE" dirty="0"/>
                  <a:t> </a:t>
                </a:r>
                <a:r>
                  <a:rPr lang="de-DE" dirty="0" err="1"/>
                  <a:t>up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,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increase</a:t>
                </a:r>
                <a:r>
                  <a:rPr lang="de-DE" dirty="0"/>
                  <a:t> </a:t>
                </a:r>
                <a:r>
                  <a:rPr lang="de-DE" dirty="0" err="1"/>
                  <a:t>overshoot</a:t>
                </a:r>
                <a:r>
                  <a:rPr lang="de-DE" dirty="0"/>
                  <a:t> (</a:t>
                </a:r>
                <a:r>
                  <a:rPr lang="de-DE" dirty="0" err="1"/>
                  <a:t>caused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), </a:t>
                </a:r>
                <a:r>
                  <a:rPr lang="de-DE" dirty="0" err="1"/>
                  <a:t>add</a:t>
                </a:r>
                <a:r>
                  <a:rPr lang="de-DE" dirty="0"/>
                  <a:t> </a:t>
                </a:r>
                <a:r>
                  <a:rPr lang="de-DE" dirty="0" err="1"/>
                  <a:t>phase</a:t>
                </a:r>
                <a:r>
                  <a:rPr lang="de-DE" dirty="0"/>
                  <a:t> </a:t>
                </a:r>
                <a:r>
                  <a:rPr lang="de-DE" dirty="0" err="1"/>
                  <a:t>lead</a:t>
                </a:r>
                <a:r>
                  <a:rPr lang="de-DE" dirty="0"/>
                  <a:t> 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Zeros in </a:t>
                </a:r>
                <a:r>
                  <a:rPr lang="de-DE" dirty="0" err="1"/>
                  <a:t>right</a:t>
                </a:r>
                <a:r>
                  <a:rPr lang="de-DE" dirty="0"/>
                  <a:t> half-plane (RHP), i.e.,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)&lt;0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called</a:t>
                </a:r>
                <a:r>
                  <a:rPr lang="de-DE" dirty="0"/>
                  <a:t> non-minimum-phase </a:t>
                </a:r>
                <a:r>
                  <a:rPr lang="de-DE" dirty="0" err="1"/>
                  <a:t>zeros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 err="1"/>
                  <a:t>cause</a:t>
                </a:r>
                <a:r>
                  <a:rPr lang="de-DE" dirty="0"/>
                  <a:t> inverse </a:t>
                </a:r>
                <a:r>
                  <a:rPr lang="de-DE" dirty="0" err="1"/>
                  <a:t>response</a:t>
                </a:r>
                <a:r>
                  <a:rPr lang="de-DE" i="1" dirty="0"/>
                  <a:t>, </a:t>
                </a:r>
                <a:r>
                  <a:rPr lang="de-DE" dirty="0" err="1"/>
                  <a:t>add</a:t>
                </a:r>
                <a:r>
                  <a:rPr lang="de-DE" dirty="0"/>
                  <a:t> </a:t>
                </a:r>
                <a:r>
                  <a:rPr lang="de-DE" dirty="0" err="1"/>
                  <a:t>phase</a:t>
                </a:r>
                <a:r>
                  <a:rPr lang="de-DE" dirty="0"/>
                  <a:t> lag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At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origin</a:t>
                </a:r>
                <a:r>
                  <a:rPr lang="de-DE" dirty="0"/>
                  <a:t>: </a:t>
                </a:r>
                <a:r>
                  <a:rPr lang="de-DE" dirty="0" err="1"/>
                  <a:t>introduce</a:t>
                </a:r>
                <a:r>
                  <a:rPr lang="de-DE" dirty="0"/>
                  <a:t> </a:t>
                </a:r>
                <a:r>
                  <a:rPr lang="de-DE" dirty="0" err="1"/>
                  <a:t>differentiating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Near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: </a:t>
                </a:r>
                <a:r>
                  <a:rPr lang="de-DE" dirty="0" err="1"/>
                  <a:t>modify</a:t>
                </a:r>
                <a:r>
                  <a:rPr lang="de-DE" dirty="0"/>
                  <a:t> </a:t>
                </a:r>
                <a:r>
                  <a:rPr lang="de-DE" dirty="0" err="1"/>
                  <a:t>or</a:t>
                </a:r>
                <a:r>
                  <a:rPr lang="de-DE" dirty="0"/>
                  <a:t> </a:t>
                </a:r>
                <a:r>
                  <a:rPr lang="de-DE" dirty="0" err="1"/>
                  <a:t>cancel</a:t>
                </a:r>
                <a:r>
                  <a:rPr lang="de-DE" dirty="0"/>
                  <a:t> </a:t>
                </a:r>
                <a:r>
                  <a:rPr lang="de-DE" dirty="0" err="1"/>
                  <a:t>dynamic</a:t>
                </a:r>
                <a:r>
                  <a:rPr lang="de-DE" dirty="0"/>
                  <a:t> </a:t>
                </a:r>
                <a:r>
                  <a:rPr lang="de-DE" dirty="0" err="1"/>
                  <a:t>modes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An LHP </a:t>
                </a:r>
                <a:r>
                  <a:rPr lang="de-DE" dirty="0" err="1"/>
                  <a:t>zero</a:t>
                </a:r>
                <a:r>
                  <a:rPr lang="de-DE" dirty="0"/>
                  <a:t> </a:t>
                </a:r>
                <a:r>
                  <a:rPr lang="de-DE" dirty="0" err="1"/>
                  <a:t>close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axis</a:t>
                </a:r>
                <a:r>
                  <a:rPr lang="de-DE" dirty="0"/>
                  <a:t> </a:t>
                </a:r>
                <a:r>
                  <a:rPr lang="de-DE" dirty="0" err="1"/>
                  <a:t>or</a:t>
                </a:r>
                <a:r>
                  <a:rPr lang="de-DE" dirty="0"/>
                  <a:t> a </a:t>
                </a:r>
                <a:r>
                  <a:rPr lang="de-DE" dirty="0" err="1"/>
                  <a:t>zero</a:t>
                </a:r>
                <a:r>
                  <a:rPr lang="de-DE" dirty="0"/>
                  <a:t> </a:t>
                </a:r>
                <a:r>
                  <a:rPr lang="de-DE" dirty="0" err="1"/>
                  <a:t>close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dominant pole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increase</a:t>
                </a:r>
                <a:r>
                  <a:rPr lang="de-DE" dirty="0"/>
                  <a:t> </a:t>
                </a:r>
                <a:r>
                  <a:rPr lang="de-DE" dirty="0" err="1"/>
                  <a:t>overshoot</a:t>
                </a:r>
                <a:r>
                  <a:rPr lang="de-DE" dirty="0"/>
                  <a:t> </a:t>
                </a:r>
                <a:r>
                  <a:rPr lang="de-DE" dirty="0" err="1"/>
                  <a:t>significantly</a:t>
                </a:r>
                <a:r>
                  <a:rPr lang="de-DE" dirty="0"/>
                  <a:t>.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DB4A523-7894-C0D4-3451-DAD8F7E33D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1A5D622-9649-01DA-F740-FED2720BD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72969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DFCC16-0D2B-21AE-232A-0DDA54364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Resonance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744DD0-77F3-3905-9B5D-BBD656959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Large </a:t>
            </a:r>
            <a:r>
              <a:rPr lang="de-DE" dirty="0" err="1"/>
              <a:t>response</a:t>
            </a:r>
            <a:r>
              <a:rPr lang="de-DE" dirty="0"/>
              <a:t> at </a:t>
            </a:r>
            <a:r>
              <a:rPr lang="de-DE" dirty="0" err="1"/>
              <a:t>certain</a:t>
            </a:r>
            <a:r>
              <a:rPr lang="de-DE" dirty="0"/>
              <a:t> </a:t>
            </a:r>
            <a:r>
              <a:rPr lang="de-DE" dirty="0" err="1"/>
              <a:t>frequencies</a:t>
            </a:r>
            <a:endParaRPr lang="de-DE" dirty="0"/>
          </a:p>
          <a:p>
            <a:r>
              <a:rPr lang="de-DE" dirty="0" err="1"/>
              <a:t>Related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lightly</a:t>
            </a:r>
            <a:r>
              <a:rPr lang="de-DE" dirty="0"/>
              <a:t> </a:t>
            </a:r>
            <a:r>
              <a:rPr lang="de-DE" dirty="0" err="1"/>
              <a:t>damped</a:t>
            </a:r>
            <a:r>
              <a:rPr lang="de-DE" dirty="0"/>
              <a:t> </a:t>
            </a:r>
            <a:r>
              <a:rPr lang="de-DE" dirty="0" err="1"/>
              <a:t>poles</a:t>
            </a:r>
            <a:endParaRPr lang="de-DE" dirty="0"/>
          </a:p>
          <a:p>
            <a:r>
              <a:rPr lang="de-DE" dirty="0" err="1"/>
              <a:t>Important</a:t>
            </a:r>
            <a:r>
              <a:rPr lang="de-DE" dirty="0"/>
              <a:t> in </a:t>
            </a:r>
            <a:r>
              <a:rPr lang="de-DE" dirty="0" err="1"/>
              <a:t>mechanical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18F3785-E407-2135-F374-A57AC02B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09086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99F1FF-5A04-077E-D84A-6C578EAA0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Pole-Zero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3CA8AA-BDFD-EE45-F29F-F739D98499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Graphical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r>
              <a:rPr lang="de-DE" dirty="0"/>
              <a:t> in </a:t>
            </a:r>
            <a:r>
              <a:rPr lang="de-DE" dirty="0" err="1"/>
              <a:t>complex</a:t>
            </a:r>
            <a:r>
              <a:rPr lang="de-DE" dirty="0"/>
              <a:t> plane</a:t>
            </a:r>
          </a:p>
          <a:p>
            <a:r>
              <a:rPr lang="de-DE" dirty="0" err="1"/>
              <a:t>Stability</a:t>
            </a:r>
            <a:r>
              <a:rPr lang="de-DE" dirty="0"/>
              <a:t> visible at a </a:t>
            </a:r>
            <a:r>
              <a:rPr lang="de-DE" dirty="0" err="1"/>
              <a:t>glance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Image:</a:t>
            </a:r>
            <a:r>
              <a:rPr lang="de-DE" dirty="0"/>
              <a:t> s-plane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and </a:t>
            </a:r>
            <a:r>
              <a:rPr lang="de-DE" dirty="0" err="1"/>
              <a:t>zeros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A7928FD-EA29-8BF1-2D4C-EFF827F68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2035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3EB291-3617-973F-8E27-86ACF15D8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Continuous</a:t>
            </a:r>
            <a:r>
              <a:rPr lang="de-DE" dirty="0"/>
              <a:t>-Time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956592-B7CC-DA1D-26BD-9F6DCF27D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Stable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all </a:t>
            </a:r>
            <a:r>
              <a:rPr lang="de-DE" dirty="0" err="1"/>
              <a:t>poles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negative real </a:t>
            </a:r>
            <a:r>
              <a:rPr lang="de-DE" dirty="0" err="1"/>
              <a:t>part</a:t>
            </a:r>
            <a:endParaRPr lang="de-DE" dirty="0"/>
          </a:p>
          <a:p>
            <a:r>
              <a:rPr lang="de-DE" dirty="0" err="1"/>
              <a:t>Marginally</a:t>
            </a:r>
            <a:r>
              <a:rPr lang="de-DE" dirty="0"/>
              <a:t> </a:t>
            </a:r>
            <a:r>
              <a:rPr lang="de-DE" dirty="0" err="1"/>
              <a:t>stable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on </a:t>
            </a:r>
            <a:r>
              <a:rPr lang="de-DE" dirty="0" err="1"/>
              <a:t>imaginary</a:t>
            </a:r>
            <a:r>
              <a:rPr lang="de-DE" dirty="0"/>
              <a:t> </a:t>
            </a:r>
            <a:r>
              <a:rPr lang="de-DE" dirty="0" err="1"/>
              <a:t>axis</a:t>
            </a:r>
            <a:endParaRPr lang="de-DE" dirty="0"/>
          </a:p>
          <a:p>
            <a:r>
              <a:rPr lang="de-DE" dirty="0" err="1"/>
              <a:t>Unstable</a:t>
            </a:r>
            <a:r>
              <a:rPr lang="de-DE" dirty="0"/>
              <a:t> </a:t>
            </a:r>
            <a:r>
              <a:rPr lang="de-DE" dirty="0" err="1"/>
              <a:t>otherwise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91BC1F-3367-2175-29F8-BD9E03A1D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38953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FE5387-4C13-F9A0-420D-3C1E54D94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-Domain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53D7CE1-C65E-F11F-3A4B-8EC03F1E1B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inferred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 err="1"/>
              <a:t>Avoids</a:t>
            </a:r>
            <a:r>
              <a:rPr lang="de-DE" dirty="0"/>
              <a:t> explicit pole </a:t>
            </a:r>
            <a:r>
              <a:rPr lang="de-DE" dirty="0" err="1"/>
              <a:t>calculation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854C762-1E44-BE87-DF59-C1B9C35E2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02609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122470-E3B4-6307-0EA5-F1B7F5548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Nyquist</a:t>
            </a:r>
            <a:r>
              <a:rPr lang="de-DE" dirty="0"/>
              <a:t> </a:t>
            </a:r>
            <a:r>
              <a:rPr lang="de-DE" dirty="0" err="1"/>
              <a:t>Criterion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2AFC97-0C0F-D7E6-966D-ED72FE114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Encirclement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critical</a:t>
            </a:r>
            <a:r>
              <a:rPr lang="de-DE" dirty="0"/>
              <a:t> </a:t>
            </a:r>
            <a:r>
              <a:rPr lang="de-DE" dirty="0" err="1"/>
              <a:t>point</a:t>
            </a:r>
            <a:endParaRPr lang="de-DE" dirty="0"/>
          </a:p>
          <a:p>
            <a:r>
              <a:rPr lang="de-DE" dirty="0"/>
              <a:t>Links 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stability</a:t>
            </a:r>
            <a:endParaRPr lang="de-DE" dirty="0"/>
          </a:p>
          <a:p>
            <a:r>
              <a:rPr lang="de-DE" dirty="0"/>
              <a:t>Powerful but </a:t>
            </a:r>
            <a:r>
              <a:rPr lang="de-DE" dirty="0" err="1"/>
              <a:t>conceptually</a:t>
            </a:r>
            <a:r>
              <a:rPr lang="de-DE" dirty="0"/>
              <a:t> </a:t>
            </a:r>
            <a:r>
              <a:rPr lang="de-DE" dirty="0" err="1"/>
              <a:t>challenging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95D79B-140F-ED0F-12F1-D63F0CD77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33218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D76B9D-A952-FA61-3FEA-B2C35BC9E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Gain</a:t>
            </a:r>
            <a:r>
              <a:rPr lang="de-DE" dirty="0"/>
              <a:t> and Phase </a:t>
            </a:r>
            <a:r>
              <a:rPr lang="de-DE" dirty="0" err="1"/>
              <a:t>Margins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1DCEC5-E062-73EC-599B-965A44B5F6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instability</a:t>
            </a:r>
            <a:endParaRPr lang="de-DE" dirty="0"/>
          </a:p>
          <a:p>
            <a:r>
              <a:rPr lang="de-DE" dirty="0" err="1"/>
              <a:t>Practical</a:t>
            </a:r>
            <a:r>
              <a:rPr lang="de-DE" dirty="0"/>
              <a:t> </a:t>
            </a:r>
            <a:r>
              <a:rPr lang="de-DE" dirty="0" err="1"/>
              <a:t>robustness</a:t>
            </a:r>
            <a:r>
              <a:rPr lang="de-DE" dirty="0"/>
              <a:t> </a:t>
            </a:r>
            <a:r>
              <a:rPr lang="de-DE" dirty="0" err="1"/>
              <a:t>indicators</a:t>
            </a:r>
            <a:endParaRPr lang="de-DE" dirty="0"/>
          </a:p>
          <a:p>
            <a:r>
              <a:rPr lang="de-DE" dirty="0"/>
              <a:t>Read </a:t>
            </a:r>
            <a:r>
              <a:rPr lang="de-DE" dirty="0" err="1"/>
              <a:t>directly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Bode </a:t>
            </a:r>
            <a:r>
              <a:rPr lang="de-DE" dirty="0" err="1"/>
              <a:t>plots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C0EBA0-2646-D649-137B-265D744CE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40925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383</Words>
  <Application>Microsoft Macintosh PowerPoint</Application>
  <PresentationFormat>Breitbild</PresentationFormat>
  <Paragraphs>99</Paragraphs>
  <Slides>14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Cambria Math</vt:lpstr>
      <vt:lpstr>Wingdings</vt:lpstr>
      <vt:lpstr>Office Theme</vt:lpstr>
      <vt:lpstr>Poles/Zeros &amp; Stability</vt:lpstr>
      <vt:lpstr>Course Schedule</vt:lpstr>
      <vt:lpstr>Poles/Zeros &amp; Stability</vt:lpstr>
      <vt:lpstr>Poles and Zeros</vt:lpstr>
      <vt:lpstr>Interpretation of Poles</vt:lpstr>
      <vt:lpstr>Pole Location</vt:lpstr>
      <vt:lpstr>Interpretation of Zeros</vt:lpstr>
      <vt:lpstr>Zero Location</vt:lpstr>
      <vt:lpstr>Resonance</vt:lpstr>
      <vt:lpstr>Pole-Zero Diagrams</vt:lpstr>
      <vt:lpstr>Stability of Continuous-Time Systems</vt:lpstr>
      <vt:lpstr>Frequency-Domain Stability</vt:lpstr>
      <vt:lpstr>Nyquist Criterion</vt:lpstr>
      <vt:lpstr>Gain and Phase Margins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58</cp:revision>
  <dcterms:created xsi:type="dcterms:W3CDTF">2025-01-08T09:27:30Z</dcterms:created>
  <dcterms:modified xsi:type="dcterms:W3CDTF">2026-02-07T14:20:58Z</dcterms:modified>
</cp:coreProperties>
</file>
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sldIdLst>
    <p:sldId id="256" r:id="rId2"/>
    <p:sldId id="265" r:id="rId3"/>
    <p:sldId id="266" r:id="rId4"/>
    <p:sldId id="267" r:id="rId5"/>
    <p:sldId id="293" r:id="rId6"/>
    <p:sldId id="295" r:id="rId7"/>
    <p:sldId id="306" r:id="rId8"/>
    <p:sldId id="272" r:id="rId9"/>
    <p:sldId id="296" r:id="rId10"/>
    <p:sldId id="294" r:id="rId11"/>
    <p:sldId id="297" r:id="rId12"/>
    <p:sldId id="299" r:id="rId13"/>
    <p:sldId id="298" r:id="rId14"/>
    <p:sldId id="271" r:id="rId15"/>
    <p:sldId id="270" r:id="rId16"/>
    <p:sldId id="300" r:id="rId17"/>
    <p:sldId id="273" r:id="rId18"/>
    <p:sldId id="301" r:id="rId19"/>
    <p:sldId id="274" r:id="rId20"/>
    <p:sldId id="304" r:id="rId21"/>
    <p:sldId id="302" r:id="rId22"/>
    <p:sldId id="275" r:id="rId23"/>
    <p:sldId id="303" r:id="rId24"/>
    <p:sldId id="305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11/03/2026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11/03/2026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11/03/2026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Effect</a:t>
            </a:r>
            <a:r>
              <a:rPr lang="de-DE" dirty="0"/>
              <a:t> on transient </a:t>
            </a:r>
            <a:r>
              <a:rPr lang="de-DE" dirty="0" err="1"/>
              <a:t>response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Resonance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analysis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2A20BD-D64E-AC2D-EBB8-24EB8C731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6FDBE5-DC6B-E55D-D642-F4079BD9AB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num>
                        <m:den>
                          <m:nary>
                            <m:naryPr>
                              <m:chr m:val="∏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𝑝𝑖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Poles: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denominator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Zeros: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numerator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6FDBE5-DC6B-E55D-D642-F4079BD9AB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71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555DB-F3FB-0878-C6F4-F332B7EE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4502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AE154C-424D-C203-2075-F6C80B025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Poles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System’s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terms</a:t>
                </a:r>
                <a:r>
                  <a:rPr lang="de-DE" sz="2400" dirty="0"/>
                  <a:t> like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one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term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each</a:t>
                </a:r>
                <a:r>
                  <a:rPr lang="de-DE" sz="2400" dirty="0"/>
                  <a:t> pole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Real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purely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exponential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Complex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: (</a:t>
                </a:r>
                <a:r>
                  <a:rPr lang="de-DE" sz="2400" dirty="0" err="1"/>
                  <a:t>damped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Single real pole: PT1</a:t>
                </a:r>
              </a:p>
              <a:p>
                <a:r>
                  <a:rPr lang="de-DE" sz="2400" dirty="0" err="1">
                    <a:sym typeface="Wingdings" pitchFamily="2" charset="2"/>
                  </a:rPr>
                  <a:t>Two</a:t>
                </a:r>
                <a:r>
                  <a:rPr lang="de-DE" sz="2400" dirty="0">
                    <a:sym typeface="Wingdings" pitchFamily="2" charset="2"/>
                  </a:rPr>
                  <a:t> real </a:t>
                </a:r>
                <a:r>
                  <a:rPr lang="de-DE" sz="2400" dirty="0" err="1">
                    <a:sym typeface="Wingdings" pitchFamily="2" charset="2"/>
                  </a:rPr>
                  <a:t>poles</a:t>
                </a:r>
                <a:r>
                  <a:rPr lang="de-DE" sz="2400" dirty="0">
                    <a:sym typeface="Wingdings" pitchFamily="2" charset="2"/>
                  </a:rPr>
                  <a:t>: </a:t>
                </a:r>
                <a:r>
                  <a:rPr lang="de-DE" sz="2400" dirty="0" err="1">
                    <a:sym typeface="Wingdings" pitchFamily="2" charset="2"/>
                  </a:rPr>
                  <a:t>aperiodic</a:t>
                </a:r>
                <a:r>
                  <a:rPr lang="de-DE" sz="2400" dirty="0">
                    <a:sym typeface="Wingdings" pitchFamily="2" charset="2"/>
                  </a:rPr>
                  <a:t> PT2 (</a:t>
                </a:r>
                <a:r>
                  <a:rPr lang="de-DE" sz="2400" dirty="0" err="1">
                    <a:sym typeface="Wingdings" pitchFamily="2" charset="2"/>
                  </a:rPr>
                  <a:t>sum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of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two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exponential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terms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</a:p>
              <a:p>
                <a:r>
                  <a:rPr lang="de-DE" sz="2400" dirty="0" err="1">
                    <a:sym typeface="Wingdings" pitchFamily="2" charset="2"/>
                  </a:rPr>
                  <a:t>Conjugate</a:t>
                </a:r>
                <a:r>
                  <a:rPr lang="de-DE" sz="2400" dirty="0">
                    <a:sym typeface="Wingdings" pitchFamily="2" charset="2"/>
                  </a:rPr>
                  <a:t> pole pair: </a:t>
                </a:r>
                <a:r>
                  <a:rPr lang="de-DE" sz="2400" dirty="0" err="1">
                    <a:sym typeface="Wingdings" pitchFamily="2" charset="2"/>
                  </a:rPr>
                  <a:t>oscillating</a:t>
                </a:r>
                <a:r>
                  <a:rPr lang="de-DE" sz="2400" dirty="0">
                    <a:sym typeface="Wingdings" pitchFamily="2" charset="2"/>
                  </a:rPr>
                  <a:t> PT2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90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80A277-EABA-D25C-37DF-1CE92DC9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3669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6F9A38-8992-E7C7-CEBD-AC1A098C1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 Location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62C7A46-3151-BCA2-732D-A5FE2D3F78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Pole real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determines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r>
                  <a:rPr lang="de-DE" dirty="0"/>
                  <a:t>/</a:t>
                </a:r>
                <a:r>
                  <a:rPr lang="de-DE" dirty="0" err="1"/>
                  <a:t>growth</a:t>
                </a:r>
                <a:r>
                  <a:rPr lang="de-DE" dirty="0"/>
                  <a:t> rate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de-DE" dirty="0"/>
                  <a:t>, i.e., left half-plane (LHP):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stable</a:t>
                </a:r>
                <a:endParaRPr lang="de-DE" dirty="0">
                  <a:sym typeface="Wingdings" pitchFamily="2" charset="2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, i.e., on </a:t>
                </a:r>
                <a:r>
                  <a:rPr lang="de-DE" dirty="0" err="1">
                    <a:sym typeface="Wingdings" pitchFamily="2" charset="2"/>
                  </a:rPr>
                  <a:t>imaginary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axis</a:t>
                </a:r>
                <a:r>
                  <a:rPr lang="de-DE" dirty="0">
                    <a:sym typeface="Wingdings" pitchFamily="2" charset="2"/>
                  </a:rPr>
                  <a:t>: </a:t>
                </a:r>
                <a:r>
                  <a:rPr lang="de-DE" dirty="0" err="1">
                    <a:sym typeface="Wingdings" pitchFamily="2" charset="2"/>
                  </a:rPr>
                  <a:t>purely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oscillatory</a:t>
                </a:r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>
                    <a:sym typeface="Wingdings" pitchFamily="2" charset="2"/>
                  </a:rPr>
                  <a:t>marginally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stable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)&gt;0</m:t>
                    </m:r>
                  </m:oMath>
                </a14:m>
                <a:r>
                  <a:rPr lang="de-DE" dirty="0"/>
                  <a:t> , i.e., </a:t>
                </a:r>
                <a:r>
                  <a:rPr lang="de-DE" dirty="0" err="1"/>
                  <a:t>right</a:t>
                </a:r>
                <a:r>
                  <a:rPr lang="de-DE" dirty="0"/>
                  <a:t> half-plane (RHP):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growth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unstable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Far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left</a:t>
                </a:r>
                <a:r>
                  <a:rPr lang="de-DE" dirty="0"/>
                  <a:t>: fast </a:t>
                </a:r>
                <a:r>
                  <a:rPr lang="de-DE" dirty="0" err="1"/>
                  <a:t>decay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r>
                  <a:rPr lang="de-DE" dirty="0"/>
                  <a:t>Closer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r>
                  <a:rPr lang="de-DE" dirty="0"/>
                  <a:t>: </a:t>
                </a:r>
                <a:r>
                  <a:rPr lang="de-DE" dirty="0" err="1"/>
                  <a:t>slower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Overall transient </a:t>
                </a:r>
                <a:r>
                  <a:rPr lang="de-DE" dirty="0" err="1"/>
                  <a:t>dominated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pole </a:t>
                </a:r>
                <a:r>
                  <a:rPr lang="de-DE" dirty="0" err="1"/>
                  <a:t>closest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62C7A46-3151-BCA2-732D-A5FE2D3F78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AA6DAE-C973-9649-A3CB-300E719F6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008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9A4A0C7-4207-6835-16D3-3E557356C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200" dirty="0" err="1">
                <a:solidFill>
                  <a:srgbClr val="333333"/>
                </a:solidFill>
              </a:rPr>
              <a:t>Bounded</a:t>
            </a:r>
            <a:r>
              <a:rPr lang="de-DE" sz="4200" dirty="0">
                <a:solidFill>
                  <a:srgbClr val="333333"/>
                </a:solidFill>
              </a:rPr>
              <a:t> Input </a:t>
            </a:r>
            <a:r>
              <a:rPr lang="de-DE" sz="4200" dirty="0" err="1">
                <a:solidFill>
                  <a:srgbClr val="333333"/>
                </a:solidFill>
              </a:rPr>
              <a:t>Bounded</a:t>
            </a:r>
            <a:r>
              <a:rPr lang="de-DE" sz="4200" dirty="0">
                <a:solidFill>
                  <a:srgbClr val="333333"/>
                </a:solidFill>
              </a:rPr>
              <a:t> Output (BIBO) </a:t>
            </a:r>
            <a:r>
              <a:rPr lang="de-DE" sz="4200" dirty="0" err="1">
                <a:solidFill>
                  <a:srgbClr val="333333"/>
                </a:solidFill>
              </a:rPr>
              <a:t>Stability</a:t>
            </a:r>
            <a:endParaRPr lang="de-DE" sz="42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A5B96D3-8C8C-5245-76D0-DDB0ABD96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p:pic>
        <p:nvPicPr>
          <p:cNvPr id="1026" name="Picture 2" descr="Lightbox">
            <a:extLst>
              <a:ext uri="{FF2B5EF4-FFF2-40B4-BE49-F238E27FC236}">
                <a16:creationId xmlns:a16="http://schemas.microsoft.com/office/drawing/2014/main" id="{2770E324-4BDC-052F-A525-701F6CD654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480985"/>
            <a:ext cx="6096000" cy="3182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ghtbox">
            <a:extLst>
              <a:ext uri="{FF2B5EF4-FFF2-40B4-BE49-F238E27FC236}">
                <a16:creationId xmlns:a16="http://schemas.microsoft.com/office/drawing/2014/main" id="{EAAEB25C-9B6A-B6AF-CA8D-558BF2E0D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082" y="1708656"/>
            <a:ext cx="4906617" cy="2021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ightbox">
            <a:extLst>
              <a:ext uri="{FF2B5EF4-FFF2-40B4-BE49-F238E27FC236}">
                <a16:creationId xmlns:a16="http://schemas.microsoft.com/office/drawing/2014/main" id="{50175002-C24B-3B55-AA01-344A8BA4AD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082" y="4471451"/>
            <a:ext cx="4906617" cy="2021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8071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3EB291-3617-973F-8E27-86ACF15D8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Continuous</a:t>
            </a:r>
            <a:r>
              <a:rPr lang="de-DE" dirty="0"/>
              <a:t>-Time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56592-B7CC-DA1D-26BD-9F6DCF27D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400" dirty="0" err="1"/>
              <a:t>Stable</a:t>
            </a:r>
            <a:r>
              <a:rPr lang="de-DE" sz="2400" dirty="0"/>
              <a:t> </a:t>
            </a:r>
            <a:r>
              <a:rPr lang="de-DE" sz="2400" dirty="0" err="1"/>
              <a:t>if</a:t>
            </a:r>
            <a:r>
              <a:rPr lang="de-DE" sz="2400" dirty="0"/>
              <a:t> all </a:t>
            </a:r>
            <a:r>
              <a:rPr lang="de-DE" sz="2400" dirty="0" err="1"/>
              <a:t>poles</a:t>
            </a:r>
            <a:r>
              <a:rPr lang="de-DE" sz="2400" dirty="0"/>
              <a:t> </a:t>
            </a:r>
            <a:r>
              <a:rPr lang="de-DE" sz="2400" dirty="0" err="1"/>
              <a:t>have</a:t>
            </a:r>
            <a:r>
              <a:rPr lang="de-DE" sz="2400" dirty="0"/>
              <a:t> negative real </a:t>
            </a:r>
            <a:r>
              <a:rPr lang="de-DE" sz="2400" dirty="0" err="1"/>
              <a:t>part</a:t>
            </a:r>
            <a:endParaRPr lang="de-DE" sz="2400" dirty="0"/>
          </a:p>
          <a:p>
            <a:r>
              <a:rPr lang="de-DE" sz="2400" dirty="0" err="1"/>
              <a:t>Marginally</a:t>
            </a:r>
            <a:r>
              <a:rPr lang="de-DE" sz="2400" dirty="0"/>
              <a:t> </a:t>
            </a:r>
            <a:r>
              <a:rPr lang="de-DE" sz="2400" dirty="0" err="1"/>
              <a:t>stable</a:t>
            </a:r>
            <a:r>
              <a:rPr lang="de-DE" sz="2400" dirty="0"/>
              <a:t> </a:t>
            </a:r>
            <a:r>
              <a:rPr lang="de-DE" sz="2400" dirty="0" err="1"/>
              <a:t>if</a:t>
            </a:r>
            <a:r>
              <a:rPr lang="de-DE" sz="2400" dirty="0"/>
              <a:t> </a:t>
            </a:r>
            <a:r>
              <a:rPr lang="de-DE" sz="2400" dirty="0" err="1"/>
              <a:t>poles</a:t>
            </a:r>
            <a:r>
              <a:rPr lang="de-DE" sz="2400" dirty="0"/>
              <a:t> on </a:t>
            </a:r>
            <a:r>
              <a:rPr lang="de-DE" sz="2400" dirty="0" err="1"/>
              <a:t>imaginary</a:t>
            </a:r>
            <a:r>
              <a:rPr lang="de-DE" sz="2400" dirty="0"/>
              <a:t> </a:t>
            </a:r>
            <a:r>
              <a:rPr lang="de-DE" sz="2400" dirty="0" err="1"/>
              <a:t>axis</a:t>
            </a:r>
            <a:endParaRPr lang="de-DE" sz="2400" dirty="0"/>
          </a:p>
          <a:p>
            <a:r>
              <a:rPr lang="de-DE" sz="2400" dirty="0" err="1"/>
              <a:t>Unstable</a:t>
            </a:r>
            <a:r>
              <a:rPr lang="de-DE" sz="2400" dirty="0"/>
              <a:t> </a:t>
            </a:r>
            <a:r>
              <a:rPr lang="de-DE" sz="2400" dirty="0" err="1"/>
              <a:t>otherwise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Stability</a:t>
            </a:r>
            <a:r>
              <a:rPr lang="de-DE" sz="2400" dirty="0"/>
              <a:t> </a:t>
            </a:r>
            <a:r>
              <a:rPr lang="de-DE" sz="2400" dirty="0" err="1"/>
              <a:t>checks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a </a:t>
            </a:r>
            <a:r>
              <a:rPr lang="de-DE" sz="2400" dirty="0" err="1"/>
              <a:t>known</a:t>
            </a:r>
            <a:r>
              <a:rPr lang="de-DE" sz="2400" dirty="0"/>
              <a:t> </a:t>
            </a:r>
            <a:r>
              <a:rPr lang="de-DE" sz="2400" dirty="0" err="1"/>
              <a:t>fixed</a:t>
            </a:r>
            <a:r>
              <a:rPr lang="de-DE" sz="2400" dirty="0"/>
              <a:t> </a:t>
            </a:r>
            <a:r>
              <a:rPr lang="de-DE" sz="2400" dirty="0" err="1"/>
              <a:t>transfer</a:t>
            </a:r>
            <a:r>
              <a:rPr lang="de-DE" sz="2400" dirty="0"/>
              <a:t> </a:t>
            </a:r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higher</a:t>
            </a:r>
            <a:r>
              <a:rPr lang="de-DE" sz="2400" dirty="0"/>
              <a:t> </a:t>
            </a:r>
            <a:r>
              <a:rPr lang="de-DE" sz="2400" dirty="0" err="1"/>
              <a:t>order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Numerical</a:t>
            </a:r>
            <a:r>
              <a:rPr lang="de-DE" sz="2400" dirty="0"/>
              <a:t> </a:t>
            </a:r>
            <a:r>
              <a:rPr lang="de-DE" sz="2400" dirty="0" err="1"/>
              <a:t>solver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root </a:t>
            </a:r>
            <a:r>
              <a:rPr lang="de-DE" sz="2400" dirty="0" err="1"/>
              <a:t>finding</a:t>
            </a:r>
            <a:r>
              <a:rPr lang="de-DE" sz="2400" dirty="0"/>
              <a:t>: </a:t>
            </a:r>
            <a:r>
              <a:rPr lang="de-DE" sz="2400" dirty="0" err="1"/>
              <a:t>easiest</a:t>
            </a:r>
            <a:r>
              <a:rPr lang="de-DE" sz="2400" dirty="0"/>
              <a:t> and </a:t>
            </a:r>
            <a:r>
              <a:rPr lang="de-DE" sz="2400" dirty="0" err="1"/>
              <a:t>standard</a:t>
            </a:r>
            <a:r>
              <a:rPr lang="de-DE" sz="2400" dirty="0"/>
              <a:t> </a:t>
            </a:r>
            <a:r>
              <a:rPr lang="de-DE" sz="2400" dirty="0" err="1"/>
              <a:t>practice</a:t>
            </a:r>
            <a:endParaRPr lang="de-DE" sz="2400" dirty="0"/>
          </a:p>
          <a:p>
            <a:r>
              <a:rPr lang="de-DE" sz="2400" dirty="0"/>
              <a:t>Analytical alternatives </a:t>
            </a:r>
            <a:r>
              <a:rPr lang="de-DE" sz="2400" dirty="0" err="1"/>
              <a:t>without</a:t>
            </a:r>
            <a:r>
              <a:rPr lang="de-DE" sz="2400" dirty="0"/>
              <a:t> </a:t>
            </a:r>
            <a:r>
              <a:rPr lang="de-DE" sz="2400" dirty="0" err="1"/>
              <a:t>computing</a:t>
            </a:r>
            <a:r>
              <a:rPr lang="de-DE" sz="2400" dirty="0"/>
              <a:t> </a:t>
            </a:r>
            <a:r>
              <a:rPr lang="de-DE" sz="2400" dirty="0" err="1"/>
              <a:t>any</a:t>
            </a:r>
            <a:r>
              <a:rPr lang="de-DE" sz="2400" dirty="0"/>
              <a:t> </a:t>
            </a:r>
            <a:r>
              <a:rPr lang="de-DE" sz="2400" dirty="0" err="1"/>
              <a:t>roots</a:t>
            </a:r>
            <a:r>
              <a:rPr lang="de-DE" sz="2400" dirty="0"/>
              <a:t>, e.g., </a:t>
            </a:r>
            <a:r>
              <a:rPr lang="de-DE" sz="2400" dirty="0" err="1"/>
              <a:t>Hurwitz</a:t>
            </a:r>
            <a:r>
              <a:rPr lang="de-DE" sz="2400" dirty="0"/>
              <a:t> </a:t>
            </a:r>
            <a:r>
              <a:rPr lang="de-DE" sz="2400" dirty="0" err="1"/>
              <a:t>criterion</a:t>
            </a:r>
            <a:r>
              <a:rPr lang="de-DE" sz="2400" dirty="0"/>
              <a:t> (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determinants</a:t>
            </a:r>
            <a:r>
              <a:rPr lang="de-DE" sz="2400" dirty="0"/>
              <a:t>):</a:t>
            </a:r>
          </a:p>
          <a:p>
            <a:pPr lvl="1"/>
            <a:r>
              <a:rPr lang="de-DE" sz="2000" dirty="0"/>
              <a:t>Are </a:t>
            </a:r>
            <a:r>
              <a:rPr lang="de-DE" sz="2000" dirty="0" err="1"/>
              <a:t>there</a:t>
            </a:r>
            <a:r>
              <a:rPr lang="de-DE" sz="2000" dirty="0"/>
              <a:t> </a:t>
            </a:r>
            <a:r>
              <a:rPr lang="de-DE" sz="2000" dirty="0" err="1"/>
              <a:t>any</a:t>
            </a:r>
            <a:r>
              <a:rPr lang="de-DE" sz="2000" dirty="0"/>
              <a:t> RHP </a:t>
            </a:r>
            <a:r>
              <a:rPr lang="de-DE" sz="2000" dirty="0" err="1"/>
              <a:t>poles</a:t>
            </a:r>
            <a:r>
              <a:rPr lang="de-DE" sz="2000" dirty="0"/>
              <a:t>?</a:t>
            </a:r>
          </a:p>
          <a:p>
            <a:pPr lvl="1"/>
            <a:r>
              <a:rPr lang="de-DE" sz="2000" dirty="0" err="1"/>
              <a:t>Does</a:t>
            </a:r>
            <a:r>
              <a:rPr lang="de-DE" sz="2000" dirty="0"/>
              <a:t> </a:t>
            </a:r>
            <a:r>
              <a:rPr lang="de-DE" sz="2000" dirty="0" err="1"/>
              <a:t>stability</a:t>
            </a:r>
            <a:r>
              <a:rPr lang="de-DE" sz="2000" dirty="0"/>
              <a:t> </a:t>
            </a:r>
            <a:r>
              <a:rPr lang="de-DE" sz="2000" dirty="0" err="1"/>
              <a:t>change</a:t>
            </a:r>
            <a:r>
              <a:rPr lang="de-DE" sz="2000" dirty="0"/>
              <a:t> </a:t>
            </a:r>
            <a:r>
              <a:rPr lang="de-DE" sz="2000" dirty="0" err="1"/>
              <a:t>with</a:t>
            </a:r>
            <a:r>
              <a:rPr lang="de-DE" sz="2000" dirty="0"/>
              <a:t> a </a:t>
            </a:r>
            <a:r>
              <a:rPr lang="de-DE" sz="2000" dirty="0" err="1"/>
              <a:t>parameter</a:t>
            </a:r>
            <a:r>
              <a:rPr lang="de-DE" sz="2000" dirty="0"/>
              <a:t>? (root </a:t>
            </a:r>
            <a:r>
              <a:rPr lang="de-DE" sz="2000" dirty="0" err="1"/>
              <a:t>finding</a:t>
            </a:r>
            <a:r>
              <a:rPr lang="de-DE" sz="2000" dirty="0"/>
              <a:t> </a:t>
            </a:r>
            <a:r>
              <a:rPr lang="de-DE" sz="2000" dirty="0" err="1"/>
              <a:t>would</a:t>
            </a:r>
            <a:r>
              <a:rPr lang="de-DE" sz="2000" dirty="0"/>
              <a:t> </a:t>
            </a:r>
            <a:r>
              <a:rPr lang="de-DE" sz="2000" dirty="0" err="1"/>
              <a:t>require</a:t>
            </a:r>
            <a:r>
              <a:rPr lang="de-DE" sz="2000" dirty="0"/>
              <a:t> </a:t>
            </a:r>
            <a:r>
              <a:rPr lang="de-DE" sz="2000" dirty="0" err="1"/>
              <a:t>parameter</a:t>
            </a:r>
            <a:r>
              <a:rPr lang="de-DE" sz="2000" dirty="0"/>
              <a:t> </a:t>
            </a:r>
            <a:r>
              <a:rPr lang="de-DE" sz="2000" dirty="0" err="1"/>
              <a:t>scan</a:t>
            </a:r>
            <a:r>
              <a:rPr lang="de-DE" sz="20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91BC1F-3367-2175-29F8-BD9E03A1D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3895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74229D-E0D0-4F27-687E-14E5F50EF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 Location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B4A523-7894-C0D4-3451-DAD8F7E33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322"/>
            <a:ext cx="10515600" cy="514115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/>
              <a:t>Zeros in LHP:</a:t>
            </a:r>
          </a:p>
          <a:p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(derivative </a:t>
            </a:r>
            <a:r>
              <a:rPr lang="de-DE" dirty="0" err="1"/>
              <a:t>behavior</a:t>
            </a:r>
            <a:r>
              <a:rPr lang="de-DE" dirty="0"/>
              <a:t>)</a:t>
            </a:r>
          </a:p>
          <a:p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overshoot</a:t>
            </a:r>
            <a:r>
              <a:rPr lang="de-DE" dirty="0"/>
              <a:t> (</a:t>
            </a:r>
            <a:r>
              <a:rPr lang="de-DE" dirty="0" err="1"/>
              <a:t>caused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)</a:t>
            </a:r>
          </a:p>
          <a:p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(LHP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negative </a:t>
            </a:r>
            <a:r>
              <a:rPr lang="de-DE" dirty="0" err="1"/>
              <a:t>phase</a:t>
            </a:r>
            <a:r>
              <a:rPr lang="de-DE" dirty="0"/>
              <a:t>, so LHP </a:t>
            </a:r>
            <a:r>
              <a:rPr lang="de-DE" dirty="0" err="1"/>
              <a:t>zeros</a:t>
            </a:r>
            <a:r>
              <a:rPr lang="de-DE" dirty="0"/>
              <a:t>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smallest</a:t>
            </a:r>
            <a:r>
              <a:rPr lang="de-DE" dirty="0"/>
              <a:t> possible </a:t>
            </a:r>
            <a:r>
              <a:rPr lang="de-DE" dirty="0" err="1"/>
              <a:t>phase</a:t>
            </a:r>
            <a:r>
              <a:rPr lang="de-DE" dirty="0"/>
              <a:t> lag </a:t>
            </a:r>
            <a:r>
              <a:rPr lang="de-DE" dirty="0">
                <a:sym typeface="Wingdings" pitchFamily="2" charset="2"/>
              </a:rPr>
              <a:t> minimum-phase </a:t>
            </a:r>
            <a:r>
              <a:rPr lang="de-DE" dirty="0" err="1">
                <a:sym typeface="Wingdings" pitchFamily="2" charset="2"/>
              </a:rPr>
              <a:t>zeros</a:t>
            </a:r>
            <a:r>
              <a:rPr lang="de-DE" dirty="0"/>
              <a:t>)</a:t>
            </a:r>
            <a:endParaRPr lang="de-DE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Zeros in RHP:</a:t>
            </a:r>
          </a:p>
          <a:p>
            <a:r>
              <a:rPr lang="de-DE" dirty="0" err="1"/>
              <a:t>cause</a:t>
            </a:r>
            <a:r>
              <a:rPr lang="de-DE" dirty="0"/>
              <a:t> inverse </a:t>
            </a:r>
            <a:r>
              <a:rPr lang="de-DE" dirty="0" err="1"/>
              <a:t>response</a:t>
            </a:r>
            <a:r>
              <a:rPr lang="de-DE" dirty="0"/>
              <a:t> (initial </a:t>
            </a:r>
            <a:r>
              <a:rPr lang="de-DE" dirty="0" err="1"/>
              <a:t>motion</a:t>
            </a:r>
            <a:r>
              <a:rPr lang="de-DE" dirty="0"/>
              <a:t> </a:t>
            </a:r>
            <a:r>
              <a:rPr lang="de-DE" dirty="0" err="1"/>
              <a:t>opposite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final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direction</a:t>
            </a:r>
            <a:r>
              <a:rPr lang="de-DE" dirty="0"/>
              <a:t>)</a:t>
            </a:r>
            <a:endParaRPr lang="de-DE" i="1" dirty="0"/>
          </a:p>
          <a:p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lag (</a:t>
            </a:r>
            <a:r>
              <a:rPr lang="de-DE" dirty="0">
                <a:sym typeface="Wingdings" pitchFamily="2" charset="2"/>
              </a:rPr>
              <a:t> n</a:t>
            </a:r>
            <a:r>
              <a:rPr lang="de-DE" dirty="0"/>
              <a:t>on-minimum-phase </a:t>
            </a:r>
            <a:r>
              <a:rPr lang="de-DE" dirty="0" err="1"/>
              <a:t>zeros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Zeros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origin</a:t>
            </a:r>
            <a:r>
              <a:rPr lang="de-DE" dirty="0"/>
              <a:t> </a:t>
            </a:r>
            <a:r>
              <a:rPr lang="de-DE" dirty="0" err="1"/>
              <a:t>introduce</a:t>
            </a:r>
            <a:r>
              <a:rPr lang="de-DE" dirty="0"/>
              <a:t>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Zeros </a:t>
            </a:r>
            <a:r>
              <a:rPr lang="de-DE" dirty="0" err="1"/>
              <a:t>near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modify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cancel</a:t>
            </a:r>
            <a:r>
              <a:rPr lang="de-DE" dirty="0"/>
              <a:t>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modes</a:t>
            </a:r>
            <a:endParaRPr lang="de-DE" dirty="0"/>
          </a:p>
          <a:p>
            <a:r>
              <a:rPr lang="de-DE" dirty="0"/>
              <a:t>An LHP </a:t>
            </a:r>
            <a:r>
              <a:rPr lang="de-DE" dirty="0" err="1"/>
              <a:t>zero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imaginary</a:t>
            </a:r>
            <a:r>
              <a:rPr lang="de-DE" dirty="0"/>
              <a:t> </a:t>
            </a:r>
            <a:r>
              <a:rPr lang="de-DE" dirty="0" err="1"/>
              <a:t>axis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a </a:t>
            </a:r>
            <a:r>
              <a:rPr lang="de-DE" dirty="0" err="1"/>
              <a:t>zero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a dominant pole (</a:t>
            </a:r>
            <a:r>
              <a:rPr lang="de-DE" dirty="0" err="1"/>
              <a:t>slowest-decaying</a:t>
            </a:r>
            <a:r>
              <a:rPr lang="de-DE" dirty="0"/>
              <a:t> </a:t>
            </a:r>
            <a:r>
              <a:rPr lang="de-DE" dirty="0" err="1"/>
              <a:t>exponential</a:t>
            </a:r>
            <a:r>
              <a:rPr lang="de-DE" dirty="0"/>
              <a:t>, i.e., pole </a:t>
            </a:r>
            <a:r>
              <a:rPr lang="de-DE" dirty="0" err="1"/>
              <a:t>with</a:t>
            </a:r>
            <a:r>
              <a:rPr lang="de-DE" dirty="0"/>
              <a:t> least negative real </a:t>
            </a:r>
            <a:r>
              <a:rPr lang="de-DE" dirty="0" err="1"/>
              <a:t>part</a:t>
            </a:r>
            <a:r>
              <a:rPr lang="de-DE" dirty="0"/>
              <a:t>)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overshoot</a:t>
            </a:r>
            <a:r>
              <a:rPr lang="de-DE" dirty="0"/>
              <a:t> </a:t>
            </a:r>
            <a:r>
              <a:rPr lang="de-DE" dirty="0" err="1"/>
              <a:t>significantly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1A5D622-9649-01DA-F740-FED2720BD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72969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00246-61A5-767F-909C-8A5B4C446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EECDF6-3FEB-A177-D7A8-7BB0231780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Zeros </a:t>
                </a:r>
                <a:r>
                  <a:rPr lang="de-DE" dirty="0" err="1"/>
                  <a:t>correspond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multiplications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</a:t>
                </a:r>
                <a:r>
                  <a:rPr lang="de-DE" dirty="0"/>
                  <a:t> derivatives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endParaRPr lang="de-DE" dirty="0"/>
              </a:p>
              <a:p>
                <a:r>
                  <a:rPr lang="de-DE" dirty="0" err="1"/>
                  <a:t>Describe</a:t>
                </a:r>
                <a:r>
                  <a:rPr lang="de-DE" dirty="0"/>
                  <a:t>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excites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natural</a:t>
                </a:r>
                <a:r>
                  <a:rPr lang="de-DE" dirty="0"/>
                  <a:t> </a:t>
                </a:r>
                <a:r>
                  <a:rPr lang="de-DE" dirty="0" err="1"/>
                  <a:t>modes</a:t>
                </a:r>
                <a:r>
                  <a:rPr lang="de-DE" dirty="0"/>
                  <a:t> (</a:t>
                </a:r>
                <a:r>
                  <a:rPr lang="de-DE" dirty="0" err="1"/>
                  <a:t>described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Creates</a:t>
                </a:r>
                <a:r>
                  <a:rPr lang="de-DE" dirty="0"/>
                  <a:t> </a:t>
                </a:r>
                <a:r>
                  <a:rPr lang="de-DE" dirty="0" err="1"/>
                  <a:t>impulse</a:t>
                </a:r>
                <a:r>
                  <a:rPr lang="de-DE" dirty="0"/>
                  <a:t>-like </a:t>
                </a:r>
                <a:r>
                  <a:rPr lang="de-DE" dirty="0" err="1"/>
                  <a:t>behavior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faster</a:t>
                </a:r>
                <a:r>
                  <a:rPr lang="de-DE" dirty="0">
                    <a:sym typeface="Wingdings" pitchFamily="2" charset="2"/>
                  </a:rPr>
                  <a:t> initial </a:t>
                </a:r>
                <a:r>
                  <a:rPr lang="de-DE" dirty="0" err="1">
                    <a:sym typeface="Wingdings" pitchFamily="2" charset="2"/>
                  </a:rPr>
                  <a:t>rise</a:t>
                </a:r>
                <a:endParaRPr lang="de-DE" dirty="0"/>
              </a:p>
              <a:p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can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cancel</a:t>
                </a:r>
                <a:r>
                  <a:rPr lang="de-DE" dirty="0">
                    <a:sym typeface="Wingdings" pitchFamily="2" charset="2"/>
                  </a:rPr>
                  <a:t> a pole </a:t>
                </a:r>
                <a:r>
                  <a:rPr lang="de-DE" dirty="0" err="1">
                    <a:sym typeface="Wingdings" pitchFamily="2" charset="2"/>
                  </a:rPr>
                  <a:t>with</a:t>
                </a:r>
                <a:r>
                  <a:rPr lang="de-DE" dirty="0">
                    <a:sym typeface="Wingdings" pitchFamily="2" charset="2"/>
                  </a:rPr>
                  <a:t> a </a:t>
                </a:r>
                <a:r>
                  <a:rPr lang="de-DE" dirty="0" err="1">
                    <a:sym typeface="Wingdings" pitchFamily="2" charset="2"/>
                  </a:rPr>
                  <a:t>zero</a:t>
                </a:r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>
                    <a:sym typeface="Wingdings" pitchFamily="2" charset="2"/>
                  </a:rPr>
                  <a:t>corresponding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term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pole </a:t>
                </a:r>
                <a:r>
                  <a:rPr lang="de-DE" dirty="0" err="1"/>
                  <a:t>disappears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forced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r>
                  <a:rPr lang="de-DE" dirty="0" err="1"/>
                  <a:t>Amplification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higher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func>
                      <m:func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Frequency-selective</a:t>
                </a:r>
                <a:r>
                  <a:rPr lang="de-DE" dirty="0"/>
                  <a:t> </a:t>
                </a:r>
                <a:r>
                  <a:rPr lang="de-DE" dirty="0" err="1"/>
                  <a:t>property</a:t>
                </a:r>
                <a:r>
                  <a:rPr lang="de-DE" dirty="0"/>
                  <a:t>: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blocks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zero</a:t>
                </a:r>
                <a:r>
                  <a:rPr lang="de-DE" dirty="0"/>
                  <a:t> (</a:t>
                </a:r>
                <a:r>
                  <a:rPr lang="de-DE" dirty="0" err="1"/>
                  <a:t>despite</a:t>
                </a:r>
                <a:r>
                  <a:rPr lang="de-DE" dirty="0"/>
                  <a:t> </a:t>
                </a:r>
                <a:r>
                  <a:rPr lang="de-DE" dirty="0" err="1"/>
                  <a:t>nonzero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More </a:t>
                </a:r>
                <a:r>
                  <a:rPr lang="de-DE" dirty="0" err="1"/>
                  <a:t>zeros</a:t>
                </a:r>
                <a:r>
                  <a:rPr lang="de-DE" dirty="0"/>
                  <a:t> </a:t>
                </a:r>
                <a:r>
                  <a:rPr lang="de-DE" dirty="0" err="1"/>
                  <a:t>mean</a:t>
                </a:r>
                <a:r>
                  <a:rPr lang="de-DE" dirty="0"/>
                  <a:t> a </a:t>
                </a:r>
                <a:r>
                  <a:rPr lang="de-DE" dirty="0" err="1"/>
                  <a:t>stronger</a:t>
                </a:r>
                <a:r>
                  <a:rPr lang="de-DE" dirty="0"/>
                  <a:t> </a:t>
                </a:r>
                <a:r>
                  <a:rPr lang="de-DE" dirty="0" err="1"/>
                  <a:t>shaping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and an </a:t>
                </a:r>
                <a:r>
                  <a:rPr lang="de-DE" dirty="0" err="1"/>
                  <a:t>increase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high-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EECDF6-3FEB-A177-D7A8-7BB0231780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 r="-121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5A1E12-F588-EDED-8AD9-0CC86AD6B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E10F2AA-6871-F9EE-6FE9-AA54AF034574}"/>
              </a:ext>
            </a:extLst>
          </p:cNvPr>
          <p:cNvSpPr txBox="1"/>
          <p:nvPr/>
        </p:nvSpPr>
        <p:spPr>
          <a:xfrm>
            <a:off x="8368748" y="230188"/>
            <a:ext cx="351679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/>
              <a:t>Zeros </a:t>
            </a:r>
            <a:r>
              <a:rPr lang="de-DE" dirty="0" err="1"/>
              <a:t>alone</a:t>
            </a:r>
            <a:r>
              <a:rPr lang="de-DE" dirty="0"/>
              <a:t> do not </a:t>
            </a:r>
            <a:r>
              <a:rPr lang="de-DE" dirty="0" err="1"/>
              <a:t>make</a:t>
            </a:r>
            <a:r>
              <a:rPr lang="de-DE" dirty="0"/>
              <a:t> a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unstable</a:t>
            </a:r>
            <a:r>
              <a:rPr lang="de-DE" dirty="0"/>
              <a:t>,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in RHP do.</a:t>
            </a:r>
          </a:p>
        </p:txBody>
      </p:sp>
    </p:spTree>
    <p:extLst>
      <p:ext uri="{BB962C8B-B14F-4D97-AF65-F5344CB8AC3E}">
        <p14:creationId xmlns:p14="http://schemas.microsoft.com/office/powerpoint/2010/main" val="77516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C14D80D-9884-46DC-498B-99F092C65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29D9CC-BE20-5150-683A-F70E1A722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25D890-30AC-76BD-EF89-6FE72F7EC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986" y="1612814"/>
            <a:ext cx="7717854" cy="492609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92F3C590-F620-D9AC-7113-6FFD282C2900}"/>
              </a:ext>
            </a:extLst>
          </p:cNvPr>
          <p:cNvSpPr txBox="1"/>
          <p:nvPr/>
        </p:nvSpPr>
        <p:spPr>
          <a:xfrm>
            <a:off x="172560" y="1958009"/>
            <a:ext cx="33657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LHP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faster</a:t>
            </a:r>
            <a:r>
              <a:rPr lang="de-DE" sz="2200" dirty="0"/>
              <a:t> </a:t>
            </a:r>
            <a:r>
              <a:rPr lang="de-DE" sz="2200" dirty="0" err="1"/>
              <a:t>response</a:t>
            </a:r>
            <a:r>
              <a:rPr lang="de-DE" sz="2200" dirty="0"/>
              <a:t>, </a:t>
            </a:r>
            <a:r>
              <a:rPr lang="de-DE" sz="2200" dirty="0" err="1"/>
              <a:t>increased</a:t>
            </a:r>
            <a:r>
              <a:rPr lang="de-DE" sz="2200" dirty="0"/>
              <a:t> </a:t>
            </a:r>
            <a:r>
              <a:rPr lang="de-DE" sz="2200" dirty="0" err="1"/>
              <a:t>overshoot</a:t>
            </a:r>
            <a:endParaRPr lang="de-DE" sz="22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29A930AC-DD7B-E33E-CE62-28D1B265AC63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538330" y="2342730"/>
            <a:ext cx="884583" cy="1619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3052DF6C-0E49-5705-CEF1-9D753D6078C0}"/>
              </a:ext>
            </a:extLst>
          </p:cNvPr>
          <p:cNvSpPr txBox="1"/>
          <p:nvPr/>
        </p:nvSpPr>
        <p:spPr>
          <a:xfrm>
            <a:off x="172560" y="5024324"/>
            <a:ext cx="34751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: inverse </a:t>
            </a:r>
            <a:r>
              <a:rPr lang="de-DE" sz="2200" dirty="0" err="1"/>
              <a:t>response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(initial </a:t>
            </a:r>
            <a:r>
              <a:rPr lang="de-DE" sz="2200" dirty="0" err="1">
                <a:sym typeface="Wingdings" pitchFamily="2" charset="2"/>
              </a:rPr>
              <a:t>dip</a:t>
            </a:r>
            <a:r>
              <a:rPr lang="de-DE" sz="2200" dirty="0">
                <a:sym typeface="Wingdings" pitchFamily="2" charset="2"/>
              </a:rPr>
              <a:t>)</a:t>
            </a:r>
            <a:endParaRPr lang="de-DE" sz="22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C031EFAE-F109-B148-1884-D68FFE6118B0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647660" y="5409045"/>
            <a:ext cx="636105" cy="2200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7719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A1AB49-B735-7ABD-9A76-36030B236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C883CDC-34B6-3A26-EF2C-E286CA1F5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3BAF34D-91C9-8649-1EC3-A30D8607A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838" y="1820675"/>
            <a:ext cx="7772400" cy="5037325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E5658B4C-AC10-7F49-8680-937F67392DEC}"/>
              </a:ext>
            </a:extLst>
          </p:cNvPr>
          <p:cNvSpPr txBox="1"/>
          <p:nvPr/>
        </p:nvSpPr>
        <p:spPr>
          <a:xfrm>
            <a:off x="178905" y="2777195"/>
            <a:ext cx="330972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 </a:t>
            </a:r>
            <a:r>
              <a:rPr lang="de-DE" sz="2200" dirty="0" err="1"/>
              <a:t>closer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origin</a:t>
            </a:r>
            <a:r>
              <a:rPr lang="de-DE" sz="22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stronger</a:t>
            </a:r>
            <a:r>
              <a:rPr lang="de-DE" sz="2200" dirty="0"/>
              <a:t> </a:t>
            </a:r>
            <a:r>
              <a:rPr lang="de-DE" sz="2200" dirty="0" err="1"/>
              <a:t>dip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higher</a:t>
            </a:r>
            <a:r>
              <a:rPr lang="de-DE" sz="2200" dirty="0"/>
              <a:t> </a:t>
            </a:r>
            <a:r>
              <a:rPr lang="de-DE" sz="2200" dirty="0" err="1"/>
              <a:t>overshoot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more</a:t>
            </a:r>
            <a:r>
              <a:rPr lang="de-DE" sz="2200" dirty="0"/>
              <a:t> </a:t>
            </a:r>
            <a:r>
              <a:rPr lang="de-DE" sz="2200" dirty="0" err="1"/>
              <a:t>sluggish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20276300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DAD6DF8-6F83-43F5-EE29-F63CDFA9C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B4680E-CA38-644F-7D27-23CCF858F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1639D8C-F0B8-C389-624E-00C7E4D74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85410"/>
            <a:ext cx="6178826" cy="5372590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999766FA-8E8B-881A-1609-65F6CB2D28EC}"/>
              </a:ext>
            </a:extLst>
          </p:cNvPr>
          <p:cNvSpPr txBox="1"/>
          <p:nvPr/>
        </p:nvSpPr>
        <p:spPr>
          <a:xfrm>
            <a:off x="7300704" y="1690688"/>
            <a:ext cx="43181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>
                <a:solidFill>
                  <a:srgbClr val="0E0E0E"/>
                </a:solidFill>
                <a:latin typeface=".AppleSystemUIFont"/>
              </a:rPr>
              <a:t>Z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eros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increase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high-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frequency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slope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in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same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way</a:t>
            </a:r>
            <a:endParaRPr lang="de-DE" sz="2200" dirty="0">
              <a:solidFill>
                <a:srgbClr val="0E0E0E"/>
              </a:solidFill>
              <a:effectLst/>
              <a:latin typeface=".AppleSystemUIFont"/>
            </a:endParaRP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C9547C6-AFDE-0D11-D800-55CA7BB307B3}"/>
              </a:ext>
            </a:extLst>
          </p:cNvPr>
          <p:cNvCxnSpPr>
            <a:stCxn id="8" idx="1"/>
          </p:cNvCxnSpPr>
          <p:nvPr/>
        </p:nvCxnSpPr>
        <p:spPr>
          <a:xfrm flipH="1">
            <a:off x="5923722" y="2075409"/>
            <a:ext cx="1376982" cy="270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A42CDFCF-51D4-72EA-9E87-669AF324145A}"/>
              </a:ext>
            </a:extLst>
          </p:cNvPr>
          <p:cNvSpPr txBox="1"/>
          <p:nvPr/>
        </p:nvSpPr>
        <p:spPr>
          <a:xfrm>
            <a:off x="7300704" y="4171705"/>
            <a:ext cx="467576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LHP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phase</a:t>
            </a:r>
            <a:r>
              <a:rPr lang="de-DE" sz="2200" dirty="0"/>
              <a:t> </a:t>
            </a:r>
            <a:r>
              <a:rPr lang="de-DE" sz="2200" dirty="0" err="1"/>
              <a:t>lead</a:t>
            </a:r>
            <a:r>
              <a:rPr lang="de-DE" sz="2200" dirty="0"/>
              <a:t>, </a:t>
            </a:r>
            <a:r>
              <a:rPr lang="de-DE" sz="2200" dirty="0" err="1"/>
              <a:t>from</a:t>
            </a:r>
            <a:r>
              <a:rPr lang="de-DE" sz="2200" dirty="0"/>
              <a:t> 0° </a:t>
            </a:r>
            <a:r>
              <a:rPr lang="de-DE" sz="2200" dirty="0" err="1"/>
              <a:t>to</a:t>
            </a:r>
            <a:r>
              <a:rPr lang="de-DE" sz="2200" dirty="0"/>
              <a:t> +90°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82F1E1B-C466-8872-C27A-44D716CE0B23}"/>
              </a:ext>
            </a:extLst>
          </p:cNvPr>
          <p:cNvSpPr txBox="1"/>
          <p:nvPr/>
        </p:nvSpPr>
        <p:spPr>
          <a:xfrm>
            <a:off x="7300703" y="5705645"/>
            <a:ext cx="45347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phase</a:t>
            </a:r>
            <a:r>
              <a:rPr lang="de-DE" sz="2200" dirty="0"/>
              <a:t> lag, </a:t>
            </a:r>
            <a:r>
              <a:rPr lang="de-DE" sz="2200" dirty="0" err="1"/>
              <a:t>from</a:t>
            </a:r>
            <a:r>
              <a:rPr lang="de-DE" sz="2200" dirty="0"/>
              <a:t> 0° </a:t>
            </a:r>
            <a:r>
              <a:rPr lang="de-DE" sz="2200" dirty="0" err="1"/>
              <a:t>to</a:t>
            </a:r>
            <a:r>
              <a:rPr lang="de-DE" sz="2200" dirty="0"/>
              <a:t> +90°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1D820FA-F9D2-BF5A-6F21-928943BB54AB}"/>
              </a:ext>
            </a:extLst>
          </p:cNvPr>
          <p:cNvCxnSpPr>
            <a:stCxn id="11" idx="1"/>
          </p:cNvCxnSpPr>
          <p:nvPr/>
        </p:nvCxnSpPr>
        <p:spPr>
          <a:xfrm flipH="1">
            <a:off x="6612213" y="4387149"/>
            <a:ext cx="688491" cy="5625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21358FB-8DD3-5095-A5C2-45B1F05E35B5}"/>
              </a:ext>
            </a:extLst>
          </p:cNvPr>
          <p:cNvCxnSpPr>
            <a:stCxn id="12" idx="1"/>
          </p:cNvCxnSpPr>
          <p:nvPr/>
        </p:nvCxnSpPr>
        <p:spPr>
          <a:xfrm flipH="1">
            <a:off x="6539948" y="5921089"/>
            <a:ext cx="760755" cy="350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8609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99F1FF-5A04-077E-D84A-6C578EAA0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Pole-Zero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3CA8AA-BDFD-EE45-F29F-F739D9849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r>
              <a:rPr lang="de-DE" dirty="0"/>
              <a:t> in </a:t>
            </a:r>
            <a:r>
              <a:rPr lang="de-DE" dirty="0" err="1"/>
              <a:t>complex</a:t>
            </a:r>
            <a:r>
              <a:rPr lang="de-DE" dirty="0"/>
              <a:t> plane</a:t>
            </a:r>
          </a:p>
          <a:p>
            <a:r>
              <a:rPr lang="de-DE" dirty="0" err="1"/>
              <a:t>Stability</a:t>
            </a:r>
            <a:r>
              <a:rPr lang="de-DE" dirty="0"/>
              <a:t> visible at a </a:t>
            </a:r>
            <a:r>
              <a:rPr lang="de-DE" dirty="0" err="1"/>
              <a:t>glance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calculated</a:t>
            </a:r>
            <a:r>
              <a:rPr lang="de-DE" dirty="0"/>
              <a:t> </a:t>
            </a:r>
            <a:r>
              <a:rPr lang="de-DE" dirty="0" err="1"/>
              <a:t>numerically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7928FD-EA29-8BF1-2D4C-EFF827F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CB5E5E2-CA40-A303-38DF-1262BDFA0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4" y="3358183"/>
            <a:ext cx="3947293" cy="3363291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F99521C-C7EE-60AD-C979-030A92A35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922" y="3358183"/>
            <a:ext cx="3947294" cy="3363291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70BADD84-9978-C5EE-F261-BBB05E7D5DEC}"/>
              </a:ext>
            </a:extLst>
          </p:cNvPr>
          <p:cNvSpPr txBox="1"/>
          <p:nvPr/>
        </p:nvSpPr>
        <p:spPr>
          <a:xfrm>
            <a:off x="4397937" y="3429000"/>
            <a:ext cx="296695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 err="1"/>
              <a:t>Example</a:t>
            </a:r>
            <a:r>
              <a:rPr lang="de-DE" sz="2000" dirty="0"/>
              <a:t> </a:t>
            </a:r>
            <a:r>
              <a:rPr lang="de-DE" sz="2000" dirty="0" err="1"/>
              <a:t>from</a:t>
            </a:r>
            <a:r>
              <a:rPr lang="de-DE" sz="2000" dirty="0"/>
              <a:t> last </a:t>
            </a:r>
            <a:r>
              <a:rPr lang="de-DE" sz="2000" dirty="0" err="1"/>
              <a:t>slides</a:t>
            </a:r>
            <a:r>
              <a:rPr lang="de-DE" sz="2000" dirty="0"/>
              <a:t>: </a:t>
            </a:r>
            <a:r>
              <a:rPr lang="de-DE" sz="2000" dirty="0" err="1"/>
              <a:t>both</a:t>
            </a:r>
            <a:r>
              <a:rPr lang="de-DE" sz="2000" dirty="0"/>
              <a:t> </a:t>
            </a:r>
            <a:r>
              <a:rPr lang="de-DE" sz="2000" dirty="0" err="1"/>
              <a:t>systems</a:t>
            </a:r>
            <a:r>
              <a:rPr lang="de-DE" sz="2000" dirty="0"/>
              <a:t> </a:t>
            </a:r>
            <a:r>
              <a:rPr lang="de-DE" sz="2000" dirty="0" err="1"/>
              <a:t>stable</a:t>
            </a:r>
            <a:endParaRPr lang="de-DE" sz="2000" dirty="0"/>
          </a:p>
          <a:p>
            <a:r>
              <a:rPr lang="de-DE" sz="2000" dirty="0"/>
              <a:t>(</a:t>
            </a:r>
            <a:r>
              <a:rPr lang="de-DE" sz="2000" dirty="0" err="1"/>
              <a:t>poles</a:t>
            </a:r>
            <a:r>
              <a:rPr lang="de-DE" sz="2000" dirty="0"/>
              <a:t> in LHP)</a:t>
            </a:r>
          </a:p>
        </p:txBody>
      </p:sp>
    </p:spTree>
    <p:extLst>
      <p:ext uri="{BB962C8B-B14F-4D97-AF65-F5344CB8AC3E}">
        <p14:creationId xmlns:p14="http://schemas.microsoft.com/office/powerpoint/2010/main" val="37320355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DFCC16-0D2B-21AE-232A-0DDA54364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Resonance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744DD0-77F3-3905-9B5D-BBD6569595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Large </a:t>
                </a:r>
                <a:r>
                  <a:rPr lang="de-DE" dirty="0" err="1"/>
                  <a:t>response</a:t>
                </a:r>
                <a:r>
                  <a:rPr lang="de-DE" dirty="0"/>
                  <a:t> at </a:t>
                </a:r>
                <a:r>
                  <a:rPr lang="de-DE" dirty="0" err="1"/>
                  <a:t>certain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(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system’s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 </a:t>
                </a:r>
                <a:r>
                  <a:rPr lang="de-DE" dirty="0" err="1"/>
                  <a:t>allows</a:t>
                </a:r>
                <a:r>
                  <a:rPr lang="de-DE" dirty="0"/>
                  <a:t> </a:t>
                </a:r>
                <a:r>
                  <a:rPr lang="de-DE" dirty="0" err="1"/>
                  <a:t>buildup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peaks</a:t>
                </a:r>
                <a:r>
                  <a:rPr lang="de-DE" dirty="0"/>
                  <a:t> in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(Bode </a:t>
                </a:r>
                <a:r>
                  <a:rPr lang="de-DE" dirty="0" err="1"/>
                  <a:t>magnitude</a:t>
                </a:r>
                <a:r>
                  <a:rPr lang="de-DE" dirty="0"/>
                  <a:t>,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Due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lightly</a:t>
                </a:r>
                <a:r>
                  <a:rPr lang="de-DE" dirty="0"/>
                  <a:t> </a:t>
                </a:r>
                <a:r>
                  <a:rPr lang="de-DE" dirty="0" err="1"/>
                  <a:t>damped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(</a:t>
                </a:r>
                <a:r>
                  <a:rPr lang="de-DE" dirty="0" err="1"/>
                  <a:t>natural</a:t>
                </a:r>
                <a:r>
                  <a:rPr lang="de-DE" dirty="0"/>
                  <a:t> </a:t>
                </a:r>
                <a:r>
                  <a:rPr lang="de-DE" dirty="0" err="1"/>
                  <a:t>modes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Resonant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near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pole</a:t>
                </a:r>
              </a:p>
              <a:p>
                <a:pPr marL="0" indent="0">
                  <a:buNone/>
                </a:pPr>
                <a:r>
                  <a:rPr lang="de-DE" dirty="0" err="1"/>
                  <a:t>For</a:t>
                </a:r>
                <a:r>
                  <a:rPr lang="de-DE" dirty="0"/>
                  <a:t> second-order system: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1−2</m:t>
                        </m:r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de-DE" dirty="0"/>
                  <a:t>   (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Mechanical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 </a:t>
                </a:r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</a:t>
                </a:r>
                <a:r>
                  <a:rPr lang="de-DE" dirty="0" err="1"/>
                  <a:t>very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resonances</a:t>
                </a:r>
                <a:r>
                  <a:rPr lang="de-DE" dirty="0"/>
                  <a:t> </a:t>
                </a:r>
                <a:r>
                  <a:rPr lang="de-DE" dirty="0" err="1"/>
                  <a:t>dominate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Controllers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avoid</a:t>
                </a:r>
                <a:r>
                  <a:rPr lang="de-DE" dirty="0"/>
                  <a:t> </a:t>
                </a:r>
                <a:r>
                  <a:rPr lang="de-DE" dirty="0" err="1"/>
                  <a:t>exciting</a:t>
                </a:r>
                <a:r>
                  <a:rPr lang="de-DE" dirty="0"/>
                  <a:t> </a:t>
                </a:r>
                <a:r>
                  <a:rPr lang="de-DE" dirty="0" err="1"/>
                  <a:t>lightly</a:t>
                </a:r>
                <a:r>
                  <a:rPr lang="de-DE" dirty="0"/>
                  <a:t> </a:t>
                </a:r>
                <a:r>
                  <a:rPr lang="de-DE" dirty="0" err="1"/>
                  <a:t>damped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744DD0-77F3-3905-9B5D-BBD6569595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2616" r="-3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18F3785-E407-2135-F374-A57AC02B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09086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C5013F-77AC-6401-3AAE-E98E5D82C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E35B5B5-0C0A-5C50-EF3F-AF09BB1EB1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1" y="2400661"/>
            <a:ext cx="5677114" cy="260948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2D73B4A-B1BB-6DFB-4C6F-807E944A8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575" y="522171"/>
            <a:ext cx="6229964" cy="290682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DD3D5BF-5E2D-B506-24A5-C0BC924C3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541724"/>
            <a:ext cx="6096000" cy="281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5695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FE5387-4C13-F9A0-420D-3C1E54D94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53D7CE1-C65E-F11F-3A4B-8EC03F1E1B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 err="1"/>
                  <a:t>Stability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inferred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, i.e., </a:t>
                </a:r>
                <a:r>
                  <a:rPr lang="de-DE" sz="2600" dirty="0" err="1"/>
                  <a:t>examination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de-DE" sz="2600" dirty="0"/>
              </a:p>
              <a:p>
                <a:r>
                  <a:rPr lang="de-DE" sz="2600" dirty="0" err="1"/>
                  <a:t>Purely</a:t>
                </a:r>
                <a:r>
                  <a:rPr lang="de-DE" sz="2600" dirty="0"/>
                  <a:t> experimental </a:t>
                </a:r>
                <a:r>
                  <a:rPr lang="de-DE" sz="2600" dirty="0" err="1"/>
                  <a:t>approach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no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mathematical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model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needed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no</a:t>
                </a:r>
                <a:r>
                  <a:rPr lang="de-DE" sz="2600" dirty="0"/>
                  <a:t> explicit pole </a:t>
                </a:r>
                <a:r>
                  <a:rPr lang="de-DE" sz="2600" dirty="0" err="1"/>
                  <a:t>calculation</a:t>
                </a:r>
                <a:endParaRPr lang="de-DE" sz="2600" dirty="0"/>
              </a:p>
              <a:p>
                <a:r>
                  <a:rPr lang="de-DE" sz="2600" dirty="0" err="1"/>
                  <a:t>Graphical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instead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numerical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methods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Nyquist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curve</a:t>
                </a:r>
                <a:r>
                  <a:rPr lang="de-DE" sz="2600" dirty="0"/>
                  <a:t>, Bode </a:t>
                </a:r>
                <a:r>
                  <a:rPr lang="de-DE" sz="2600" dirty="0" err="1"/>
                  <a:t>plots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So </a:t>
                </a:r>
                <a:r>
                  <a:rPr lang="de-DE" sz="2600" dirty="0" err="1"/>
                  <a:t>far</a:t>
                </a:r>
                <a:r>
                  <a:rPr lang="de-DE" sz="2600" dirty="0"/>
                  <a:t>: open-loop </a:t>
                </a:r>
                <a:r>
                  <a:rPr lang="de-DE" sz="2600" dirty="0" err="1"/>
                  <a:t>analysis</a:t>
                </a:r>
                <a:r>
                  <a:rPr lang="de-DE" sz="2600" dirty="0"/>
                  <a:t> via Bode </a:t>
                </a:r>
                <a:r>
                  <a:rPr lang="de-DE" sz="2600" dirty="0" err="1"/>
                  <a:t>plots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Now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consider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-loop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feedback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systems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r>
                  <a:rPr lang="de-DE" sz="2600" dirty="0"/>
                  <a:t>Given an open-loop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 loop </a:t>
                </a:r>
                <a:r>
                  <a:rPr lang="de-DE" sz="2600" dirty="0" err="1"/>
                  <a:t>stable</a:t>
                </a:r>
                <a:r>
                  <a:rPr lang="de-DE" sz="2600" dirty="0"/>
                  <a:t>?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53D7CE1-C65E-F11F-3A4B-8EC03F1E1B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54C762-1E44-BE87-DF59-C1B9C35E2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02609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C9ED36-91BE-6966-D5EF-6F327905D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Stability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D72C74-EA2A-7E93-E737-35EBB0F1C4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Given an open-loop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negative </a:t>
                </a:r>
                <a:r>
                  <a:rPr lang="de-DE" dirty="0" err="1"/>
                  <a:t>feedback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dirty="0"/>
                  <a:t> </a:t>
                </a:r>
                <a:r>
                  <a:rPr lang="de-DE" dirty="0" err="1"/>
                  <a:t>path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reads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For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closed</a:t>
                </a:r>
                <a:r>
                  <a:rPr lang="de-DE" dirty="0">
                    <a:sym typeface="Wingdings" pitchFamily="2" charset="2"/>
                  </a:rPr>
                  <a:t>-loop </a:t>
                </a:r>
                <a:r>
                  <a:rPr lang="de-DE" dirty="0" err="1">
                    <a:sym typeface="Wingdings" pitchFamily="2" charset="2"/>
                  </a:rPr>
                  <a:t>poles</a:t>
                </a:r>
                <a:r>
                  <a:rPr lang="de-DE" dirty="0">
                    <a:sym typeface="Wingdings" pitchFamily="2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Unstable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any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 lies in RHP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D72C74-EA2A-7E93-E737-35EBB0F1C4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r="-241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9E60DA-4975-1021-EC76-A48FC45FE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B9FBA90F-DB98-46B0-3BF8-07E81D37F651}"/>
                  </a:ext>
                </a:extLst>
              </p:cNvPr>
              <p:cNvSpPr txBox="1"/>
              <p:nvPr/>
            </p:nvSpPr>
            <p:spPr>
              <a:xfrm>
                <a:off x="6281532" y="4253949"/>
                <a:ext cx="203203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B9FBA90F-DB98-46B0-3BF8-07E81D37F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532" y="4253949"/>
                <a:ext cx="2032031" cy="461665"/>
              </a:xfrm>
              <a:prstGeom prst="rect">
                <a:avLst/>
              </a:prstGeom>
              <a:blipFill>
                <a:blip r:embed="rId3"/>
                <a:stretch>
                  <a:fillRect l="-4348" t="-10811" r="-1863" b="-297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Geschweifte Klammer links 5">
            <a:extLst>
              <a:ext uri="{FF2B5EF4-FFF2-40B4-BE49-F238E27FC236}">
                <a16:creationId xmlns:a16="http://schemas.microsoft.com/office/drawing/2014/main" id="{04F4D8CD-9653-AD6A-8452-E42BCF2DAC17}"/>
              </a:ext>
            </a:extLst>
          </p:cNvPr>
          <p:cNvSpPr/>
          <p:nvPr/>
        </p:nvSpPr>
        <p:spPr>
          <a:xfrm rot="16200000">
            <a:off x="6864378" y="3442503"/>
            <a:ext cx="228600" cy="139429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BD6FFE9-3BFD-8E37-B50F-B0B119EED47E}"/>
              </a:ext>
            </a:extLst>
          </p:cNvPr>
          <p:cNvSpPr txBox="1"/>
          <p:nvPr/>
        </p:nvSpPr>
        <p:spPr>
          <a:xfrm>
            <a:off x="8292548" y="2782956"/>
            <a:ext cx="1871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forward</a:t>
            </a:r>
            <a:r>
              <a:rPr lang="de-DE" sz="2400" dirty="0"/>
              <a:t> </a:t>
            </a:r>
            <a:r>
              <a:rPr lang="de-DE" sz="2400" dirty="0" err="1"/>
              <a:t>path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DC74A13-5E56-7588-1E09-FFDD12F1E938}"/>
              </a:ext>
            </a:extLst>
          </p:cNvPr>
          <p:cNvCxnSpPr/>
          <p:nvPr/>
        </p:nvCxnSpPr>
        <p:spPr>
          <a:xfrm flipH="1">
            <a:off x="7056783" y="3001617"/>
            <a:ext cx="1202634" cy="228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84202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122470-E3B4-6307-0EA5-F1B7F5548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Criterion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2AFC97-0C0F-D7E6-966D-ED72FE1147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691124" cy="46672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Consider </a:t>
                </a:r>
                <a:r>
                  <a:rPr lang="de-DE" sz="2400" dirty="0" err="1"/>
                  <a:t>Nyquist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e</a:t>
                </a:r>
                <a:r>
                  <a:rPr lang="de-DE" sz="2400" dirty="0" err="1"/>
                  <a:t>valuation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along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imaginary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axis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boundary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RHP)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Critical </a:t>
                </a:r>
                <a:r>
                  <a:rPr lang="de-DE" sz="2400" dirty="0" err="1"/>
                  <a:t>point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−1+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: </a:t>
                </a:r>
                <a:r>
                  <a:rPr lang="de-DE" sz="2400" dirty="0" err="1">
                    <a:sym typeface="Wingdings" pitchFamily="2" charset="2"/>
                  </a:rPr>
                  <a:t>closed</a:t>
                </a:r>
                <a:r>
                  <a:rPr lang="de-DE" sz="2400" dirty="0">
                    <a:sym typeface="Wingdings" pitchFamily="2" charset="2"/>
                  </a:rPr>
                  <a:t>-loop pole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If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critical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</a:t>
                </a:r>
                <a:r>
                  <a:rPr lang="de-DE" sz="2400" dirty="0"/>
                  <a:t>,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r>
                  <a:rPr lang="de-DE" sz="2400" dirty="0"/>
                  <a:t> has </a:t>
                </a:r>
                <a:r>
                  <a:rPr lang="de-DE" sz="2400" dirty="0" err="1"/>
                  <a:t>solutions</a:t>
                </a:r>
                <a:r>
                  <a:rPr lang="de-DE" sz="2400" dirty="0"/>
                  <a:t> in RHP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closed</a:t>
                </a:r>
                <a:r>
                  <a:rPr lang="de-DE" sz="2400" dirty="0">
                    <a:sym typeface="Wingdings" pitchFamily="2" charset="2"/>
                  </a:rPr>
                  <a:t> loop </a:t>
                </a:r>
                <a:r>
                  <a:rPr lang="de-DE" sz="2400" dirty="0" err="1">
                    <a:sym typeface="Wingdings" pitchFamily="2" charset="2"/>
                  </a:rPr>
                  <a:t>unstable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(</a:t>
                </a:r>
                <a:r>
                  <a:rPr lang="de-DE" sz="2400" dirty="0" err="1"/>
                  <a:t>Encirclement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topological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signature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a root </a:t>
                </a:r>
                <a:r>
                  <a:rPr lang="de-DE" sz="2400" dirty="0" err="1"/>
                  <a:t>inside</a:t>
                </a:r>
                <a:r>
                  <a:rPr lang="de-DE" sz="2400" dirty="0"/>
                  <a:t>. </a:t>
                </a:r>
                <a:r>
                  <a:rPr lang="de-DE" sz="2400" dirty="0" err="1"/>
                  <a:t>It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considers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both</a:t>
                </a:r>
                <a:r>
                  <a:rPr lang="de-DE" sz="2400" dirty="0"/>
                  <a:t> positive-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and negative-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branches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:−∞→+∞</m:t>
                    </m:r>
                  </m:oMath>
                </a14:m>
                <a:r>
                  <a:rPr lang="de-DE" sz="2400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2AFC97-0C0F-D7E6-966D-ED72FE1147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691124" cy="4667250"/>
              </a:xfrm>
              <a:blipFill>
                <a:blip r:embed="rId2"/>
                <a:stretch>
                  <a:fillRect l="-1518" t="-18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95D79B-140F-ED0F-12F1-D63F0CD77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54FF782-4E84-BA12-3F7C-27131846C3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29324" y="2118473"/>
            <a:ext cx="4662676" cy="3511838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D5F9AD0-872D-1DB9-C798-4EE5637DFA00}"/>
              </a:ext>
            </a:extLst>
          </p:cNvPr>
          <p:cNvSpPr txBox="1"/>
          <p:nvPr/>
        </p:nvSpPr>
        <p:spPr>
          <a:xfrm>
            <a:off x="8960895" y="1754945"/>
            <a:ext cx="2042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Stable</a:t>
            </a:r>
            <a:r>
              <a:rPr lang="de-DE" dirty="0"/>
              <a:t> PT2 </a:t>
            </a:r>
            <a:r>
              <a:rPr lang="de-DE" dirty="0" err="1"/>
              <a:t>system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7E210C8-E109-EF33-DEEA-6DE2BF901B68}"/>
                  </a:ext>
                </a:extLst>
              </p:cNvPr>
              <p:cNvSpPr txBox="1"/>
              <p:nvPr/>
            </p:nvSpPr>
            <p:spPr>
              <a:xfrm>
                <a:off x="9435576" y="5581505"/>
                <a:ext cx="10654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Re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7E210C8-E109-EF33-DEEA-6DE2BF901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5576" y="5581505"/>
                <a:ext cx="1065420" cy="276999"/>
              </a:xfrm>
              <a:prstGeom prst="rect">
                <a:avLst/>
              </a:prstGeom>
              <a:blipFill>
                <a:blip r:embed="rId5"/>
                <a:stretch>
                  <a:fillRect l="-5882" r="-7059" b="-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0FC0F33-8594-06B5-7542-62F48ACACB3A}"/>
                  </a:ext>
                </a:extLst>
              </p:cNvPr>
              <p:cNvSpPr txBox="1"/>
              <p:nvPr/>
            </p:nvSpPr>
            <p:spPr>
              <a:xfrm rot="16200000">
                <a:off x="7127099" y="3735892"/>
                <a:ext cx="108145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Im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0FC0F33-8594-06B5-7542-62F48ACAC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7127099" y="3735892"/>
                <a:ext cx="1081450" cy="276999"/>
              </a:xfrm>
              <a:prstGeom prst="rect">
                <a:avLst/>
              </a:prstGeom>
              <a:blipFill>
                <a:blip r:embed="rId6"/>
                <a:stretch>
                  <a:fillRect t="-8140" r="-34783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3321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54A70F2-723A-C281-2565-DB05C7C3A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0CB9ED4-DB62-B4A2-34DC-8783EE69D4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565" y="0"/>
            <a:ext cx="6834870" cy="685800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8CB6CB6B-7EC6-9ECF-CB71-8A1686A5D7DF}"/>
              </a:ext>
            </a:extLst>
          </p:cNvPr>
          <p:cNvSpPr txBox="1"/>
          <p:nvPr/>
        </p:nvSpPr>
        <p:spPr>
          <a:xfrm>
            <a:off x="1361661" y="4860235"/>
            <a:ext cx="1059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unstable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498DE1B-5B06-E90C-F0B8-4F10C8A337DD}"/>
              </a:ext>
            </a:extLst>
          </p:cNvPr>
          <p:cNvCxnSpPr>
            <a:stCxn id="6" idx="3"/>
          </p:cNvCxnSpPr>
          <p:nvPr/>
        </p:nvCxnSpPr>
        <p:spPr>
          <a:xfrm flipV="1">
            <a:off x="2420925" y="4442791"/>
            <a:ext cx="1972171" cy="6021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07571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D0819-63A4-5FE2-C3BC-F96F50CE9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 Formula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DF119EF-E5CD-E6C3-DBEF-451E2BB0BE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Number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encirclements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many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in RHP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number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RHP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𝑍</m:t>
                    </m:r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number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in RHP (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r>
                  <a:rPr lang="de-DE" sz="2400" dirty="0"/>
                  <a:t> )</a:t>
                </a:r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number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encirclements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Nyquist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plot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where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reflects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direction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An </a:t>
                </a:r>
                <a:r>
                  <a:rPr lang="de-DE" sz="2400" dirty="0" err="1"/>
                  <a:t>unstable</a:t>
                </a:r>
                <a:r>
                  <a:rPr lang="de-DE" sz="2400" dirty="0"/>
                  <a:t> plant (e.g.,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/>
                  <a:t>)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stabilized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feedback</a:t>
                </a:r>
                <a:r>
                  <a:rPr lang="de-DE" sz="2400" dirty="0"/>
                  <a:t> (e.g.,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de-DE" sz="2400" dirty="0"/>
                  <a:t>).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DF119EF-E5CD-E6C3-DBEF-451E2BB0BE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96B3FA0-89A5-6D59-0860-E7F83C416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6280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D76B9D-A952-FA61-3FEA-B2C35BC9E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Gain</a:t>
            </a:r>
            <a:r>
              <a:rPr lang="de-DE" dirty="0"/>
              <a:t> and Phase </a:t>
            </a:r>
            <a:r>
              <a:rPr lang="de-DE" dirty="0" err="1"/>
              <a:t>Margins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41DCEC5-E062-73EC-599B-965A44B5F6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Idea: </a:t>
                </a:r>
                <a:r>
                  <a:rPr lang="de-DE" b="1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r>
                  <a:rPr lang="de-DE" dirty="0"/>
                  <a:t> (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system</a:t>
                </a:r>
                <a:r>
                  <a:rPr lang="de-DE" dirty="0"/>
                  <a:t>) </a:t>
                </a:r>
                <a:r>
                  <a:rPr lang="de-DE" dirty="0" err="1"/>
                  <a:t>from</a:t>
                </a:r>
                <a:r>
                  <a:rPr lang="de-DE" dirty="0"/>
                  <a:t> Bode </a:t>
                </a:r>
                <a:r>
                  <a:rPr lang="de-DE" dirty="0" err="1"/>
                  <a:t>plots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p</a:t>
                </a:r>
                <a:r>
                  <a:rPr lang="de-DE" dirty="0" err="1"/>
                  <a:t>ractical</a:t>
                </a:r>
                <a:r>
                  <a:rPr lang="de-DE" dirty="0"/>
                  <a:t> </a:t>
                </a:r>
                <a:r>
                  <a:rPr lang="de-DE" dirty="0" err="1"/>
                  <a:t>robustness</a:t>
                </a:r>
                <a:r>
                  <a:rPr lang="de-DE" dirty="0"/>
                  <a:t> </a:t>
                </a:r>
                <a:r>
                  <a:rPr lang="de-DE" dirty="0" err="1"/>
                  <a:t>indicators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Instability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In polar form: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     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=−180°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less</a:t>
                </a:r>
                <a:r>
                  <a:rPr lang="de-DE" dirty="0"/>
                  <a:t> </a:t>
                </a:r>
                <a:r>
                  <a:rPr lang="de-DE" dirty="0" err="1"/>
                  <a:t>than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 at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−180°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/>
                  <a:t>stable</a:t>
                </a:r>
                <a:endParaRPr lang="de-DE" dirty="0"/>
              </a:p>
              <a:p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greater</a:t>
                </a:r>
                <a:r>
                  <a:rPr lang="de-DE" dirty="0"/>
                  <a:t> </a:t>
                </a:r>
                <a:r>
                  <a:rPr lang="de-DE" dirty="0" err="1"/>
                  <a:t>than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 at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−180°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unstable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Margins</a:t>
                </a:r>
                <a:r>
                  <a:rPr lang="de-DE" dirty="0"/>
                  <a:t> </a:t>
                </a: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dangerous</a:t>
                </a:r>
                <a:r>
                  <a:rPr lang="de-DE" dirty="0"/>
                  <a:t> </a:t>
                </a:r>
                <a:r>
                  <a:rPr lang="de-DE" dirty="0" err="1"/>
                  <a:t>condition</a:t>
                </a:r>
                <a:endParaRPr lang="de-DE" dirty="0"/>
              </a:p>
              <a:p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r>
                  <a:rPr lang="de-DE" dirty="0"/>
                  <a:t>: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much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increased</a:t>
                </a:r>
                <a:r>
                  <a:rPr lang="de-DE" dirty="0"/>
                  <a:t> </a:t>
                </a:r>
                <a:r>
                  <a:rPr lang="de-DE" dirty="0" err="1"/>
                  <a:t>before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endParaRPr lang="de-DE" dirty="0"/>
              </a:p>
              <a:p>
                <a:r>
                  <a:rPr lang="de-DE" dirty="0"/>
                  <a:t>Phase </a:t>
                </a:r>
                <a:r>
                  <a:rPr lang="de-DE" dirty="0" err="1"/>
                  <a:t>margin</a:t>
                </a:r>
                <a:r>
                  <a:rPr lang="de-DE" dirty="0"/>
                  <a:t>: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much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</a:t>
                </a:r>
                <a:r>
                  <a:rPr lang="de-DE" dirty="0" err="1"/>
                  <a:t>phase</a:t>
                </a:r>
                <a:r>
                  <a:rPr lang="de-DE" dirty="0"/>
                  <a:t> lag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tolerated</a:t>
                </a:r>
                <a:r>
                  <a:rPr lang="de-DE" dirty="0"/>
                  <a:t> </a:t>
                </a:r>
                <a:r>
                  <a:rPr lang="de-DE" dirty="0" err="1"/>
                  <a:t>before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41DCEC5-E062-73EC-599B-965A44B5F6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C0EBA0-2646-D649-137B-265D744CE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0925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2413211B-6B0F-D6B5-2986-85580905E8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583" y="1978847"/>
            <a:ext cx="6735417" cy="415689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5F2C1E1-478C-0BD9-8D82-4876E5256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Crossover </a:t>
            </a:r>
            <a:r>
              <a:rPr lang="de-DE" dirty="0" err="1"/>
              <a:t>Frequencies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BA2F6C-A63D-4870-28C6-4BE78A35D9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1247" y="1825625"/>
                <a:ext cx="4996070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Phase </a:t>
                </a:r>
                <a:r>
                  <a:rPr lang="de-DE" dirty="0" err="1"/>
                  <a:t>crossover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:</a:t>
                </a: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𝑝𝑐</m:t>
                            </m:r>
                          </m:sub>
                        </m:sSub>
                      </m:e>
                    </m:d>
                    <m:r>
                      <a:rPr lang="de-DE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−180°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r>
                  <a:rPr lang="de-DE" dirty="0"/>
                  <a:t> (</a:t>
                </a:r>
                <a:r>
                  <a:rPr lang="de-DE" dirty="0" err="1"/>
                  <a:t>unstable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&lt;0):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𝐺𝑀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𝑝𝑐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crossover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sSub>
                              <m:sSub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𝑔𝑐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Phase </a:t>
                </a:r>
                <a:r>
                  <a:rPr lang="de-DE" dirty="0" err="1"/>
                  <a:t>margin</a:t>
                </a:r>
                <a:r>
                  <a:rPr lang="de-DE" dirty="0"/>
                  <a:t> (</a:t>
                </a:r>
                <a:r>
                  <a:rPr lang="de-DE" dirty="0" err="1"/>
                  <a:t>unstable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&lt;0):</a:t>
                </a:r>
              </a:p>
              <a:p>
                <a:pPr marL="0" indent="0">
                  <a:buNone/>
                </a:pPr>
                <a:r>
                  <a:rPr lang="de-DE" b="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𝑃𝑀</m:t>
                    </m:r>
                    <m: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180°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𝑔𝑐</m:t>
                            </m:r>
                          </m:sub>
                        </m:sSub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BA2F6C-A63D-4870-28C6-4BE78A35D9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1247" y="1825625"/>
                <a:ext cx="4996070" cy="4351338"/>
              </a:xfrm>
              <a:blipFill>
                <a:blip r:embed="rId3"/>
                <a:stretch>
                  <a:fillRect l="-2025" t="-2616" r="-2025" b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AABD63-47D9-6DAA-DBC5-4FF446391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1728122-EEA6-FB12-AC4A-3F62F7695D8D}"/>
              </a:ext>
            </a:extLst>
          </p:cNvPr>
          <p:cNvSpPr txBox="1"/>
          <p:nvPr/>
        </p:nvSpPr>
        <p:spPr>
          <a:xfrm>
            <a:off x="8468140" y="1541966"/>
            <a:ext cx="1944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just </a:t>
            </a:r>
            <a:r>
              <a:rPr lang="de-DE" dirty="0" err="1"/>
              <a:t>barely</a:t>
            </a:r>
            <a:r>
              <a:rPr lang="de-DE" dirty="0"/>
              <a:t> </a:t>
            </a:r>
            <a:r>
              <a:rPr lang="de-DE" dirty="0" err="1"/>
              <a:t>stable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1788204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A7948B-6ED8-7CF1-490A-B18406C66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42A853D-0B20-D918-284F-7BFB156CE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044081"/>
            <a:ext cx="7772400" cy="476983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A7647B81-CEBA-DCA7-48F6-FE52BF214224}"/>
              </a:ext>
            </a:extLst>
          </p:cNvPr>
          <p:cNvSpPr txBox="1"/>
          <p:nvPr/>
        </p:nvSpPr>
        <p:spPr>
          <a:xfrm>
            <a:off x="5519079" y="501649"/>
            <a:ext cx="11249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unstable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5667790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1234</Words>
  <Application>Microsoft Macintosh PowerPoint</Application>
  <PresentationFormat>Breitbild</PresentationFormat>
  <Paragraphs>207</Paragraphs>
  <Slides>24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1" baseType="lpstr">
      <vt:lpstr>.AppleSystemUIFont</vt:lpstr>
      <vt:lpstr>Aptos</vt:lpstr>
      <vt:lpstr>Aptos Display</vt:lpstr>
      <vt:lpstr>Arial</vt:lpstr>
      <vt:lpstr>Cambria Math</vt:lpstr>
      <vt:lpstr>Wingdings</vt:lpstr>
      <vt:lpstr>Office Theme</vt:lpstr>
      <vt:lpstr>Poles/Zeros &amp; Stability</vt:lpstr>
      <vt:lpstr>Course Schedule</vt:lpstr>
      <vt:lpstr>Poles/Zeros &amp; Stability</vt:lpstr>
      <vt:lpstr>Poles and Zeros</vt:lpstr>
      <vt:lpstr>Interpretation of Poles</vt:lpstr>
      <vt:lpstr>Pole Location</vt:lpstr>
      <vt:lpstr>Bounded Input Bounded Output (BIBO) Stability</vt:lpstr>
      <vt:lpstr>Stability of Continuous-Time Systems</vt:lpstr>
      <vt:lpstr>Zero Location</vt:lpstr>
      <vt:lpstr>Interpretation of Zeros</vt:lpstr>
      <vt:lpstr>Example: PT2 with LHP and RHP Zero</vt:lpstr>
      <vt:lpstr>Example: PT2 with LHP and RHP Zero</vt:lpstr>
      <vt:lpstr>Example: PT2 with LHP and RHP Zero</vt:lpstr>
      <vt:lpstr>Pole-Zero Diagrams</vt:lpstr>
      <vt:lpstr>Resonance</vt:lpstr>
      <vt:lpstr>PowerPoint-Präsentation</vt:lpstr>
      <vt:lpstr>Frequency-Domain Stability</vt:lpstr>
      <vt:lpstr>Closed-Loop Stability</vt:lpstr>
      <vt:lpstr>Nyquist Stability Criterion</vt:lpstr>
      <vt:lpstr>PowerPoint-Präsentation</vt:lpstr>
      <vt:lpstr>Nyquist Formula</vt:lpstr>
      <vt:lpstr>Gain and Phase Margins</vt:lpstr>
      <vt:lpstr>Crossover Frequencies</vt:lpstr>
      <vt:lpstr>PowerPoint-Präsentation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173</cp:revision>
  <dcterms:created xsi:type="dcterms:W3CDTF">2025-01-08T09:27:30Z</dcterms:created>
  <dcterms:modified xsi:type="dcterms:W3CDTF">2026-03-11T21:11:39Z</dcterms:modified>
</cp:coreProperties>
</file>
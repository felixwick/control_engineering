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9"/>
  </p:notesMasterIdLst>
  <p:sldIdLst>
    <p:sldId id="256" r:id="rId2"/>
    <p:sldId id="265" r:id="rId3"/>
    <p:sldId id="266" r:id="rId4"/>
    <p:sldId id="267" r:id="rId5"/>
    <p:sldId id="293" r:id="rId6"/>
    <p:sldId id="295" r:id="rId7"/>
    <p:sldId id="272" r:id="rId8"/>
    <p:sldId id="296" r:id="rId9"/>
    <p:sldId id="294" r:id="rId10"/>
    <p:sldId id="297" r:id="rId11"/>
    <p:sldId id="299" r:id="rId12"/>
    <p:sldId id="298" r:id="rId13"/>
    <p:sldId id="271" r:id="rId14"/>
    <p:sldId id="270" r:id="rId15"/>
    <p:sldId id="273" r:id="rId16"/>
    <p:sldId id="274" r:id="rId17"/>
    <p:sldId id="27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17/02/2026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17/02/2026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17/02/2026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17/02/2026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17/02/2026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17/02/2026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17/02/2026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Effect</a:t>
            </a:r>
            <a:r>
              <a:rPr lang="de-DE" dirty="0"/>
              <a:t> on transient </a:t>
            </a:r>
            <a:r>
              <a:rPr lang="de-DE" dirty="0" err="1"/>
              <a:t>response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Resonance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-domain </a:t>
            </a:r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analysis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2A20BD-D64E-AC2D-EBB8-24EB8C731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 and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6FDBE5-DC6B-E55D-D642-F4079BD9AB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num>
                        <m:den>
                          <m:nary>
                            <m:naryPr>
                              <m:chr m:val="∏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𝑝𝑖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Poles: </a:t>
                </a:r>
                <a:r>
                  <a:rPr lang="de-DE" dirty="0" err="1"/>
                  <a:t>roots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denominator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Zeros: </a:t>
                </a:r>
                <a:r>
                  <a:rPr lang="de-DE" dirty="0" err="1"/>
                  <a:t>roots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numerator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6FDBE5-DC6B-E55D-D642-F4079BD9AB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171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E555DB-F3FB-0878-C6F4-F332B7EE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4502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AE154C-424D-C203-2075-F6C80B025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Interpretation </a:t>
            </a:r>
            <a:r>
              <a:rPr lang="de-DE" dirty="0" err="1"/>
              <a:t>of</a:t>
            </a:r>
            <a:r>
              <a:rPr lang="de-DE" dirty="0"/>
              <a:t> Poles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E65B0AF-C18E-51FA-36D7-9E4468275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System’s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natural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r>
                  <a:rPr lang="de-DE" sz="2400" dirty="0" err="1"/>
                  <a:t>sum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terms</a:t>
                </a:r>
                <a:r>
                  <a:rPr lang="de-DE" sz="2400" dirty="0"/>
                  <a:t> like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one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term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each</a:t>
                </a:r>
                <a:r>
                  <a:rPr lang="de-DE" sz="2400" dirty="0"/>
                  <a:t> pole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Real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purely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exponential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oscillation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Complex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sz="2400" dirty="0"/>
                  <a:t>: (</a:t>
                </a:r>
                <a:r>
                  <a:rPr lang="de-DE" sz="2400" dirty="0" err="1"/>
                  <a:t>damped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oscillation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Single real pole: PT1</a:t>
                </a:r>
              </a:p>
              <a:p>
                <a:r>
                  <a:rPr lang="de-DE" sz="2400" dirty="0" err="1">
                    <a:sym typeface="Wingdings" pitchFamily="2" charset="2"/>
                  </a:rPr>
                  <a:t>Two</a:t>
                </a:r>
                <a:r>
                  <a:rPr lang="de-DE" sz="2400" dirty="0">
                    <a:sym typeface="Wingdings" pitchFamily="2" charset="2"/>
                  </a:rPr>
                  <a:t> real </a:t>
                </a:r>
                <a:r>
                  <a:rPr lang="de-DE" sz="2400" dirty="0" err="1">
                    <a:sym typeface="Wingdings" pitchFamily="2" charset="2"/>
                  </a:rPr>
                  <a:t>poles</a:t>
                </a:r>
                <a:r>
                  <a:rPr lang="de-DE" sz="2400" dirty="0">
                    <a:sym typeface="Wingdings" pitchFamily="2" charset="2"/>
                  </a:rPr>
                  <a:t>: </a:t>
                </a:r>
                <a:r>
                  <a:rPr lang="de-DE" sz="2400" dirty="0" err="1">
                    <a:sym typeface="Wingdings" pitchFamily="2" charset="2"/>
                  </a:rPr>
                  <a:t>aperiodic</a:t>
                </a:r>
                <a:r>
                  <a:rPr lang="de-DE" sz="2400" dirty="0">
                    <a:sym typeface="Wingdings" pitchFamily="2" charset="2"/>
                  </a:rPr>
                  <a:t> PT2 (</a:t>
                </a:r>
                <a:r>
                  <a:rPr lang="de-DE" sz="2400" dirty="0" err="1">
                    <a:sym typeface="Wingdings" pitchFamily="2" charset="2"/>
                  </a:rPr>
                  <a:t>sum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of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two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exponential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terms</a:t>
                </a:r>
                <a:r>
                  <a:rPr lang="de-DE" sz="2400" dirty="0">
                    <a:sym typeface="Wingdings" pitchFamily="2" charset="2"/>
                  </a:rPr>
                  <a:t>)</a:t>
                </a:r>
              </a:p>
              <a:p>
                <a:r>
                  <a:rPr lang="de-DE" sz="2400" dirty="0" err="1">
                    <a:sym typeface="Wingdings" pitchFamily="2" charset="2"/>
                  </a:rPr>
                  <a:t>Conjugate</a:t>
                </a:r>
                <a:r>
                  <a:rPr lang="de-DE" sz="2400" dirty="0">
                    <a:sym typeface="Wingdings" pitchFamily="2" charset="2"/>
                  </a:rPr>
                  <a:t> pole pair: </a:t>
                </a:r>
                <a:r>
                  <a:rPr lang="de-DE" sz="2400" dirty="0" err="1">
                    <a:sym typeface="Wingdings" pitchFamily="2" charset="2"/>
                  </a:rPr>
                  <a:t>oscillating</a:t>
                </a:r>
                <a:r>
                  <a:rPr lang="de-DE" sz="2400" dirty="0">
                    <a:sym typeface="Wingdings" pitchFamily="2" charset="2"/>
                  </a:rPr>
                  <a:t> PT2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E65B0AF-C18E-51FA-36D7-9E4468275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901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80A277-EABA-D25C-37DF-1CE92DC9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3669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6F9A38-8992-E7C7-CEBD-AC1A098C1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 Location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62C7A46-3151-BCA2-732D-A5FE2D3F78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Pole real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determines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r>
                  <a:rPr lang="de-DE" dirty="0"/>
                  <a:t>/</a:t>
                </a:r>
                <a:r>
                  <a:rPr lang="de-DE" dirty="0" err="1"/>
                  <a:t>growth</a:t>
                </a:r>
                <a:r>
                  <a:rPr lang="de-DE" dirty="0"/>
                  <a:t> rate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)&lt;0</m:t>
                    </m:r>
                  </m:oMath>
                </a14:m>
                <a:r>
                  <a:rPr lang="de-DE" dirty="0"/>
                  <a:t>, i.e., left half-plane (LHP):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stable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)&gt;0</m:t>
                    </m:r>
                  </m:oMath>
                </a14:m>
                <a:r>
                  <a:rPr lang="de-DE" dirty="0"/>
                  <a:t> , i.e., </a:t>
                </a:r>
                <a:r>
                  <a:rPr lang="de-DE" dirty="0" err="1"/>
                  <a:t>right</a:t>
                </a:r>
                <a:r>
                  <a:rPr lang="de-DE" dirty="0"/>
                  <a:t> half-plane (RHP):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growth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unstable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Far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left</a:t>
                </a:r>
                <a:r>
                  <a:rPr lang="de-DE" dirty="0"/>
                  <a:t>: fast </a:t>
                </a:r>
                <a:r>
                  <a:rPr lang="de-DE" dirty="0" err="1"/>
                  <a:t>decay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r>
                  <a:rPr lang="de-DE" dirty="0"/>
                  <a:t>Closer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axis</a:t>
                </a:r>
                <a:r>
                  <a:rPr lang="de-DE" dirty="0"/>
                  <a:t>: </a:t>
                </a:r>
                <a:r>
                  <a:rPr lang="de-DE" dirty="0" err="1"/>
                  <a:t>slower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Overall transient </a:t>
                </a:r>
                <a:r>
                  <a:rPr lang="de-DE" dirty="0" err="1"/>
                  <a:t>dominated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pole </a:t>
                </a:r>
                <a:r>
                  <a:rPr lang="de-DE" dirty="0" err="1"/>
                  <a:t>closest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axis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62C7A46-3151-BCA2-732D-A5FE2D3F78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AA6DAE-C973-9649-A3CB-300E719F6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008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3EB291-3617-973F-8E27-86ACF15D8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Continuous</a:t>
            </a:r>
            <a:r>
              <a:rPr lang="de-DE" dirty="0"/>
              <a:t>-Time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956592-B7CC-DA1D-26BD-9F6DCF27D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Stable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all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negative real </a:t>
            </a:r>
            <a:r>
              <a:rPr lang="de-DE" dirty="0" err="1"/>
              <a:t>part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Marginally</a:t>
            </a:r>
            <a:r>
              <a:rPr lang="de-DE" dirty="0"/>
              <a:t> </a:t>
            </a:r>
            <a:r>
              <a:rPr lang="de-DE" dirty="0" err="1"/>
              <a:t>stable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on </a:t>
            </a:r>
            <a:r>
              <a:rPr lang="de-DE" dirty="0" err="1"/>
              <a:t>imaginary</a:t>
            </a:r>
            <a:r>
              <a:rPr lang="de-DE" dirty="0"/>
              <a:t> </a:t>
            </a:r>
            <a:r>
              <a:rPr lang="de-DE" dirty="0" err="1"/>
              <a:t>axis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Unstable</a:t>
            </a:r>
            <a:r>
              <a:rPr lang="de-DE" dirty="0"/>
              <a:t> </a:t>
            </a:r>
            <a:r>
              <a:rPr lang="de-DE" dirty="0" err="1"/>
              <a:t>otherwise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91BC1F-3367-2175-29F8-BD9E03A1D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38953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74229D-E0D0-4F27-687E-14E5F50EF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Zero Location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B4A523-7894-C0D4-3451-DAD8F7E33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322"/>
            <a:ext cx="10515600" cy="514115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/>
              <a:t>Zeros in LHP:</a:t>
            </a:r>
          </a:p>
          <a:p>
            <a:r>
              <a:rPr lang="de-DE" dirty="0" err="1"/>
              <a:t>speed</a:t>
            </a:r>
            <a:r>
              <a:rPr lang="de-DE" dirty="0"/>
              <a:t> </a:t>
            </a:r>
            <a:r>
              <a:rPr lang="de-DE" dirty="0" err="1"/>
              <a:t>up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(derivative </a:t>
            </a:r>
            <a:r>
              <a:rPr lang="de-DE" dirty="0" err="1"/>
              <a:t>behavior</a:t>
            </a:r>
            <a:r>
              <a:rPr lang="de-DE" dirty="0"/>
              <a:t>)</a:t>
            </a:r>
          </a:p>
          <a:p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overshoot</a:t>
            </a:r>
            <a:r>
              <a:rPr lang="de-DE" dirty="0"/>
              <a:t> (</a:t>
            </a:r>
            <a:r>
              <a:rPr lang="de-DE" dirty="0" err="1"/>
              <a:t>caused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)</a:t>
            </a:r>
          </a:p>
          <a:p>
            <a:r>
              <a:rPr lang="de-DE" dirty="0" err="1"/>
              <a:t>add</a:t>
            </a:r>
            <a:r>
              <a:rPr lang="de-DE" dirty="0"/>
              <a:t>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lead</a:t>
            </a:r>
            <a:r>
              <a:rPr lang="de-DE" dirty="0"/>
              <a:t> (LHP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negative </a:t>
            </a:r>
            <a:r>
              <a:rPr lang="de-DE" dirty="0" err="1"/>
              <a:t>phase</a:t>
            </a:r>
            <a:r>
              <a:rPr lang="de-DE" dirty="0"/>
              <a:t>, so LHP </a:t>
            </a:r>
            <a:r>
              <a:rPr lang="de-DE" dirty="0" err="1"/>
              <a:t>zeros</a:t>
            </a:r>
            <a:r>
              <a:rPr lang="de-DE" dirty="0"/>
              <a:t> </a:t>
            </a:r>
            <a:r>
              <a:rPr lang="de-DE" dirty="0" err="1"/>
              <a:t>give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smallest</a:t>
            </a:r>
            <a:r>
              <a:rPr lang="de-DE" dirty="0"/>
              <a:t> possible </a:t>
            </a:r>
            <a:r>
              <a:rPr lang="de-DE" dirty="0" err="1"/>
              <a:t>phase</a:t>
            </a:r>
            <a:r>
              <a:rPr lang="de-DE" dirty="0"/>
              <a:t> lag </a:t>
            </a:r>
            <a:r>
              <a:rPr lang="de-DE" dirty="0">
                <a:sym typeface="Wingdings" pitchFamily="2" charset="2"/>
              </a:rPr>
              <a:t> minimum-phase </a:t>
            </a:r>
            <a:r>
              <a:rPr lang="de-DE" dirty="0" err="1">
                <a:sym typeface="Wingdings" pitchFamily="2" charset="2"/>
              </a:rPr>
              <a:t>zeros</a:t>
            </a:r>
            <a:r>
              <a:rPr lang="de-DE" dirty="0"/>
              <a:t>)</a:t>
            </a:r>
            <a:endParaRPr lang="de-DE" i="1" dirty="0"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Zeros in RHP:</a:t>
            </a:r>
          </a:p>
          <a:p>
            <a:r>
              <a:rPr lang="de-DE" dirty="0" err="1"/>
              <a:t>cause</a:t>
            </a:r>
            <a:r>
              <a:rPr lang="de-DE" dirty="0"/>
              <a:t> inverse </a:t>
            </a:r>
            <a:r>
              <a:rPr lang="de-DE" dirty="0" err="1"/>
              <a:t>response</a:t>
            </a:r>
            <a:r>
              <a:rPr lang="de-DE" dirty="0"/>
              <a:t> (initial </a:t>
            </a:r>
            <a:r>
              <a:rPr lang="de-DE" dirty="0" err="1"/>
              <a:t>motion</a:t>
            </a:r>
            <a:r>
              <a:rPr lang="de-DE" dirty="0"/>
              <a:t> </a:t>
            </a:r>
            <a:r>
              <a:rPr lang="de-DE" dirty="0" err="1"/>
              <a:t>opposite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final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direction</a:t>
            </a:r>
            <a:r>
              <a:rPr lang="de-DE" dirty="0"/>
              <a:t>)</a:t>
            </a:r>
            <a:endParaRPr lang="de-DE" i="1" dirty="0"/>
          </a:p>
          <a:p>
            <a:r>
              <a:rPr lang="de-DE" dirty="0" err="1"/>
              <a:t>add</a:t>
            </a:r>
            <a:r>
              <a:rPr lang="de-DE" dirty="0"/>
              <a:t> </a:t>
            </a:r>
            <a:r>
              <a:rPr lang="de-DE" dirty="0" err="1"/>
              <a:t>phase</a:t>
            </a:r>
            <a:r>
              <a:rPr lang="de-DE" dirty="0"/>
              <a:t> lag (</a:t>
            </a:r>
            <a:r>
              <a:rPr lang="de-DE" dirty="0">
                <a:sym typeface="Wingdings" pitchFamily="2" charset="2"/>
              </a:rPr>
              <a:t> n</a:t>
            </a:r>
            <a:r>
              <a:rPr lang="de-DE" dirty="0"/>
              <a:t>on-minimum-phase </a:t>
            </a:r>
            <a:r>
              <a:rPr lang="de-DE" dirty="0" err="1"/>
              <a:t>zeros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Zeros at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origin</a:t>
            </a:r>
            <a:r>
              <a:rPr lang="de-DE" dirty="0"/>
              <a:t> </a:t>
            </a:r>
            <a:r>
              <a:rPr lang="de-DE" dirty="0" err="1"/>
              <a:t>introduce</a:t>
            </a:r>
            <a:r>
              <a:rPr lang="de-DE" dirty="0"/>
              <a:t> </a:t>
            </a:r>
            <a:r>
              <a:rPr lang="de-DE" dirty="0" err="1"/>
              <a:t>differentiating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/>
              <a:t>Zeros </a:t>
            </a:r>
            <a:r>
              <a:rPr lang="de-DE" dirty="0" err="1"/>
              <a:t>near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modify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cancel</a:t>
            </a:r>
            <a:r>
              <a:rPr lang="de-DE" dirty="0"/>
              <a:t> 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modes</a:t>
            </a:r>
            <a:endParaRPr lang="de-DE" dirty="0"/>
          </a:p>
          <a:p>
            <a:r>
              <a:rPr lang="de-DE" dirty="0"/>
              <a:t>An LHP </a:t>
            </a:r>
            <a:r>
              <a:rPr lang="de-DE" dirty="0" err="1"/>
              <a:t>zero</a:t>
            </a:r>
            <a:r>
              <a:rPr lang="de-DE" dirty="0"/>
              <a:t> </a:t>
            </a:r>
            <a:r>
              <a:rPr lang="de-DE" dirty="0" err="1"/>
              <a:t>close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imaginary</a:t>
            </a:r>
            <a:r>
              <a:rPr lang="de-DE" dirty="0"/>
              <a:t> </a:t>
            </a:r>
            <a:r>
              <a:rPr lang="de-DE" dirty="0" err="1"/>
              <a:t>axis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a </a:t>
            </a:r>
            <a:r>
              <a:rPr lang="de-DE" dirty="0" err="1"/>
              <a:t>zero</a:t>
            </a:r>
            <a:r>
              <a:rPr lang="de-DE" dirty="0"/>
              <a:t> </a:t>
            </a:r>
            <a:r>
              <a:rPr lang="de-DE" dirty="0" err="1"/>
              <a:t>close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a dominant pole (</a:t>
            </a:r>
            <a:r>
              <a:rPr lang="de-DE" dirty="0" err="1"/>
              <a:t>slowest-decaying</a:t>
            </a:r>
            <a:r>
              <a:rPr lang="de-DE" dirty="0"/>
              <a:t> </a:t>
            </a:r>
            <a:r>
              <a:rPr lang="de-DE" dirty="0" err="1"/>
              <a:t>exponential</a:t>
            </a:r>
            <a:r>
              <a:rPr lang="de-DE" dirty="0"/>
              <a:t>, i.e., pole </a:t>
            </a:r>
            <a:r>
              <a:rPr lang="de-DE" dirty="0" err="1"/>
              <a:t>with</a:t>
            </a:r>
            <a:r>
              <a:rPr lang="de-DE" dirty="0"/>
              <a:t> least negative real </a:t>
            </a:r>
            <a:r>
              <a:rPr lang="de-DE" dirty="0" err="1"/>
              <a:t>part</a:t>
            </a:r>
            <a:r>
              <a:rPr lang="de-DE" dirty="0"/>
              <a:t>)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overshoot</a:t>
            </a:r>
            <a:r>
              <a:rPr lang="de-DE" dirty="0"/>
              <a:t> </a:t>
            </a:r>
            <a:r>
              <a:rPr lang="de-DE" dirty="0" err="1"/>
              <a:t>significantly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1A5D622-9649-01DA-F740-FED2720BD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7296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00246-61A5-767F-909C-8A5B4C446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Interpretation </a:t>
            </a:r>
            <a:r>
              <a:rPr lang="de-DE" dirty="0" err="1"/>
              <a:t>of</a:t>
            </a:r>
            <a:r>
              <a:rPr lang="de-DE" dirty="0"/>
              <a:t>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DEECDF6-3FEB-A177-D7A8-7BB0231780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Zeros </a:t>
                </a:r>
                <a:r>
                  <a:rPr lang="de-DE" dirty="0" err="1"/>
                  <a:t>correspond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multiplications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</a:t>
                </a:r>
                <a:r>
                  <a:rPr lang="de-DE" dirty="0"/>
                  <a:t> derivatives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endParaRPr lang="de-DE" dirty="0"/>
              </a:p>
              <a:p>
                <a:r>
                  <a:rPr lang="de-DE" dirty="0" err="1"/>
                  <a:t>Describe</a:t>
                </a:r>
                <a:r>
                  <a:rPr lang="de-DE" dirty="0"/>
                  <a:t>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excites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natural</a:t>
                </a:r>
                <a:r>
                  <a:rPr lang="de-DE" dirty="0"/>
                  <a:t> </a:t>
                </a:r>
                <a:r>
                  <a:rPr lang="de-DE" dirty="0" err="1"/>
                  <a:t>modes</a:t>
                </a:r>
                <a:r>
                  <a:rPr lang="de-DE" dirty="0"/>
                  <a:t> (</a:t>
                </a:r>
                <a:r>
                  <a:rPr lang="de-DE" dirty="0" err="1"/>
                  <a:t>described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Creates</a:t>
                </a:r>
                <a:r>
                  <a:rPr lang="de-DE" dirty="0"/>
                  <a:t> </a:t>
                </a:r>
                <a:r>
                  <a:rPr lang="de-DE" dirty="0" err="1"/>
                  <a:t>impulse</a:t>
                </a:r>
                <a:r>
                  <a:rPr lang="de-DE" dirty="0"/>
                  <a:t>-like </a:t>
                </a:r>
                <a:r>
                  <a:rPr lang="de-DE" dirty="0" err="1"/>
                  <a:t>behavior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faster</a:t>
                </a:r>
                <a:r>
                  <a:rPr lang="de-DE" dirty="0">
                    <a:sym typeface="Wingdings" pitchFamily="2" charset="2"/>
                  </a:rPr>
                  <a:t> initial </a:t>
                </a:r>
                <a:r>
                  <a:rPr lang="de-DE" dirty="0" err="1">
                    <a:sym typeface="Wingdings" pitchFamily="2" charset="2"/>
                  </a:rPr>
                  <a:t>rise</a:t>
                </a:r>
                <a:endParaRPr lang="de-DE" dirty="0"/>
              </a:p>
              <a:p>
                <a:r>
                  <a:rPr lang="de-DE" dirty="0" err="1">
                    <a:sym typeface="Wingdings" pitchFamily="2" charset="2"/>
                  </a:rPr>
                  <a:t>One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can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cancel</a:t>
                </a:r>
                <a:r>
                  <a:rPr lang="de-DE" dirty="0">
                    <a:sym typeface="Wingdings" pitchFamily="2" charset="2"/>
                  </a:rPr>
                  <a:t> a pole </a:t>
                </a:r>
                <a:r>
                  <a:rPr lang="de-DE" dirty="0" err="1">
                    <a:sym typeface="Wingdings" pitchFamily="2" charset="2"/>
                  </a:rPr>
                  <a:t>with</a:t>
                </a:r>
                <a:r>
                  <a:rPr lang="de-DE" dirty="0">
                    <a:sym typeface="Wingdings" pitchFamily="2" charset="2"/>
                  </a:rPr>
                  <a:t> a </a:t>
                </a:r>
                <a:r>
                  <a:rPr lang="de-DE" dirty="0" err="1">
                    <a:sym typeface="Wingdings" pitchFamily="2" charset="2"/>
                  </a:rPr>
                  <a:t>zero</a:t>
                </a:r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 err="1">
                    <a:sym typeface="Wingdings" pitchFamily="2" charset="2"/>
                  </a:rPr>
                  <a:t>corresponding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term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pole </a:t>
                </a:r>
                <a:r>
                  <a:rPr lang="de-DE" dirty="0" err="1"/>
                  <a:t>disappears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forced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endParaRPr lang="de-DE" dirty="0"/>
              </a:p>
              <a:p>
                <a:r>
                  <a:rPr lang="de-DE" dirty="0" err="1"/>
                  <a:t>Amplification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higher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func>
                      <m:func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func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func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Frequency-selective</a:t>
                </a:r>
                <a:r>
                  <a:rPr lang="de-DE" dirty="0"/>
                  <a:t> </a:t>
                </a:r>
                <a:r>
                  <a:rPr lang="de-DE" dirty="0" err="1"/>
                  <a:t>property</a:t>
                </a:r>
                <a:r>
                  <a:rPr lang="de-DE" dirty="0"/>
                  <a:t>: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blocks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sinusoidal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zero</a:t>
                </a:r>
                <a:r>
                  <a:rPr lang="de-DE" dirty="0"/>
                  <a:t> (</a:t>
                </a:r>
                <a:r>
                  <a:rPr lang="de-DE" dirty="0" err="1"/>
                  <a:t>despite</a:t>
                </a:r>
                <a:r>
                  <a:rPr lang="de-DE" dirty="0"/>
                  <a:t> </a:t>
                </a:r>
                <a:r>
                  <a:rPr lang="de-DE" dirty="0" err="1"/>
                  <a:t>nonzero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More </a:t>
                </a:r>
                <a:r>
                  <a:rPr lang="de-DE" dirty="0" err="1"/>
                  <a:t>zeros</a:t>
                </a:r>
                <a:r>
                  <a:rPr lang="de-DE" dirty="0"/>
                  <a:t> </a:t>
                </a:r>
                <a:r>
                  <a:rPr lang="de-DE" dirty="0" err="1"/>
                  <a:t>mean</a:t>
                </a:r>
                <a:r>
                  <a:rPr lang="de-DE" dirty="0"/>
                  <a:t> a </a:t>
                </a:r>
                <a:r>
                  <a:rPr lang="de-DE" dirty="0" err="1"/>
                  <a:t>stronger</a:t>
                </a:r>
                <a:r>
                  <a:rPr lang="de-DE" dirty="0"/>
                  <a:t> </a:t>
                </a:r>
                <a:r>
                  <a:rPr lang="de-DE" dirty="0" err="1"/>
                  <a:t>shaping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and an </a:t>
                </a:r>
                <a:r>
                  <a:rPr lang="de-DE" dirty="0" err="1"/>
                  <a:t>increase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high-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gain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DEECDF6-3FEB-A177-D7A8-7BB0231780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 r="-121" b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5A1E12-F588-EDED-8AD9-0CC86AD6B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E10F2AA-6871-F9EE-6FE9-AA54AF034574}"/>
              </a:ext>
            </a:extLst>
          </p:cNvPr>
          <p:cNvSpPr txBox="1"/>
          <p:nvPr/>
        </p:nvSpPr>
        <p:spPr>
          <a:xfrm>
            <a:off x="8368748" y="230188"/>
            <a:ext cx="351679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/>
              <a:t>Zeros </a:t>
            </a:r>
            <a:r>
              <a:rPr lang="de-DE" dirty="0" err="1"/>
              <a:t>alone</a:t>
            </a:r>
            <a:r>
              <a:rPr lang="de-DE" dirty="0"/>
              <a:t> do not </a:t>
            </a:r>
            <a:r>
              <a:rPr lang="de-DE" dirty="0" err="1"/>
              <a:t>make</a:t>
            </a:r>
            <a:r>
              <a:rPr lang="de-DE" dirty="0"/>
              <a:t> a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unstable</a:t>
            </a:r>
            <a:r>
              <a:rPr lang="de-DE" dirty="0"/>
              <a:t>,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in RHP do.</a:t>
            </a:r>
          </a:p>
        </p:txBody>
      </p:sp>
    </p:spTree>
    <p:extLst>
      <p:ext uri="{BB962C8B-B14F-4D97-AF65-F5344CB8AC3E}">
        <p14:creationId xmlns:p14="http://schemas.microsoft.com/office/powerpoint/2010/main" val="77516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C14D80D-9884-46DC-498B-99F092C65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29D9CC-BE20-5150-683A-F70E1A722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025D890-30AC-76BD-EF89-6FE72F7EC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986" y="1612814"/>
            <a:ext cx="7717854" cy="4926098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92F3C590-F620-D9AC-7113-6FFD282C2900}"/>
              </a:ext>
            </a:extLst>
          </p:cNvPr>
          <p:cNvSpPr txBox="1"/>
          <p:nvPr/>
        </p:nvSpPr>
        <p:spPr>
          <a:xfrm>
            <a:off x="172560" y="1958009"/>
            <a:ext cx="336577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LHP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faster</a:t>
            </a:r>
            <a:r>
              <a:rPr lang="de-DE" sz="2200" dirty="0"/>
              <a:t> </a:t>
            </a:r>
            <a:r>
              <a:rPr lang="de-DE" sz="2200" dirty="0" err="1"/>
              <a:t>response</a:t>
            </a:r>
            <a:r>
              <a:rPr lang="de-DE" sz="2200" dirty="0"/>
              <a:t>, </a:t>
            </a:r>
            <a:r>
              <a:rPr lang="de-DE" sz="2200" dirty="0" err="1"/>
              <a:t>increased</a:t>
            </a:r>
            <a:r>
              <a:rPr lang="de-DE" sz="2200" dirty="0"/>
              <a:t> </a:t>
            </a:r>
            <a:r>
              <a:rPr lang="de-DE" sz="2200" dirty="0" err="1"/>
              <a:t>overshoot</a:t>
            </a:r>
            <a:endParaRPr lang="de-DE" sz="22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29A930AC-DD7B-E33E-CE62-28D1B265AC63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538330" y="2342730"/>
            <a:ext cx="884583" cy="1619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3052DF6C-0E49-5705-CEF1-9D753D6078C0}"/>
              </a:ext>
            </a:extLst>
          </p:cNvPr>
          <p:cNvSpPr txBox="1"/>
          <p:nvPr/>
        </p:nvSpPr>
        <p:spPr>
          <a:xfrm>
            <a:off x="172560" y="5024324"/>
            <a:ext cx="34751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: inverse </a:t>
            </a:r>
            <a:r>
              <a:rPr lang="de-DE" sz="2200" dirty="0" err="1"/>
              <a:t>response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(initial </a:t>
            </a:r>
            <a:r>
              <a:rPr lang="de-DE" sz="2200" dirty="0" err="1">
                <a:sym typeface="Wingdings" pitchFamily="2" charset="2"/>
              </a:rPr>
              <a:t>dip</a:t>
            </a:r>
            <a:r>
              <a:rPr lang="de-DE" sz="2200" dirty="0">
                <a:sym typeface="Wingdings" pitchFamily="2" charset="2"/>
              </a:rPr>
              <a:t>)</a:t>
            </a:r>
            <a:endParaRPr lang="de-DE" sz="22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C031EFAE-F109-B148-1884-D68FFE6118B0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647660" y="5409045"/>
            <a:ext cx="636105" cy="2200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7719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A1AB49-B735-7ABD-9A76-36030B236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C883CDC-34B6-3A26-EF2C-E286CA1F5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3BAF34D-91C9-8649-1EC3-A30D8607A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4838" y="1820675"/>
            <a:ext cx="7772400" cy="5037325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E5658B4C-AC10-7F49-8680-937F67392DEC}"/>
              </a:ext>
            </a:extLst>
          </p:cNvPr>
          <p:cNvSpPr txBox="1"/>
          <p:nvPr/>
        </p:nvSpPr>
        <p:spPr>
          <a:xfrm>
            <a:off x="178905" y="2777195"/>
            <a:ext cx="3309729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 </a:t>
            </a:r>
            <a:r>
              <a:rPr lang="de-DE" sz="2200" dirty="0" err="1"/>
              <a:t>closer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origin</a:t>
            </a:r>
            <a:r>
              <a:rPr lang="de-DE" sz="22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stronger</a:t>
            </a:r>
            <a:r>
              <a:rPr lang="de-DE" sz="2200" dirty="0"/>
              <a:t> </a:t>
            </a:r>
            <a:r>
              <a:rPr lang="de-DE" sz="2200" dirty="0" err="1"/>
              <a:t>dip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higher</a:t>
            </a:r>
            <a:r>
              <a:rPr lang="de-DE" sz="2200" dirty="0"/>
              <a:t> </a:t>
            </a:r>
            <a:r>
              <a:rPr lang="de-DE" sz="2200" dirty="0" err="1"/>
              <a:t>overshoot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more</a:t>
            </a:r>
            <a:r>
              <a:rPr lang="de-DE" sz="2200" dirty="0"/>
              <a:t> </a:t>
            </a:r>
            <a:r>
              <a:rPr lang="de-DE" sz="2200" dirty="0" err="1"/>
              <a:t>sluggish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20276300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0DAD6DF8-6F83-43F5-EE29-F63CDFA9C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B4680E-CA38-644F-7D27-23CCF858F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61639D8C-F0B8-C389-624E-00C7E4D74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85410"/>
            <a:ext cx="6178826" cy="5372590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999766FA-8E8B-881A-1609-65F6CB2D28EC}"/>
              </a:ext>
            </a:extLst>
          </p:cNvPr>
          <p:cNvSpPr txBox="1"/>
          <p:nvPr/>
        </p:nvSpPr>
        <p:spPr>
          <a:xfrm>
            <a:off x="7300704" y="1690688"/>
            <a:ext cx="431813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>
                <a:solidFill>
                  <a:srgbClr val="0E0E0E"/>
                </a:solidFill>
                <a:latin typeface=".AppleSystemUIFont"/>
              </a:rPr>
              <a:t>Z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eros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increase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high-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frequency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slope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in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same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way</a:t>
            </a:r>
            <a:endParaRPr lang="de-DE" sz="2200" dirty="0">
              <a:solidFill>
                <a:srgbClr val="0E0E0E"/>
              </a:solidFill>
              <a:effectLst/>
              <a:latin typeface=".AppleSystemUIFont"/>
            </a:endParaRP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C9547C6-AFDE-0D11-D800-55CA7BB307B3}"/>
              </a:ext>
            </a:extLst>
          </p:cNvPr>
          <p:cNvCxnSpPr>
            <a:stCxn id="8" idx="1"/>
          </p:cNvCxnSpPr>
          <p:nvPr/>
        </p:nvCxnSpPr>
        <p:spPr>
          <a:xfrm flipH="1">
            <a:off x="5923722" y="2075409"/>
            <a:ext cx="1376982" cy="270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A42CDFCF-51D4-72EA-9E87-669AF324145A}"/>
              </a:ext>
            </a:extLst>
          </p:cNvPr>
          <p:cNvSpPr txBox="1"/>
          <p:nvPr/>
        </p:nvSpPr>
        <p:spPr>
          <a:xfrm>
            <a:off x="7300704" y="4171705"/>
            <a:ext cx="467576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LHP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phase</a:t>
            </a:r>
            <a:r>
              <a:rPr lang="de-DE" sz="2200" dirty="0"/>
              <a:t> </a:t>
            </a:r>
            <a:r>
              <a:rPr lang="de-DE" sz="2200" dirty="0" err="1"/>
              <a:t>lead</a:t>
            </a:r>
            <a:r>
              <a:rPr lang="de-DE" sz="2200" dirty="0"/>
              <a:t>, </a:t>
            </a:r>
            <a:r>
              <a:rPr lang="de-DE" sz="2200" dirty="0" err="1"/>
              <a:t>from</a:t>
            </a:r>
            <a:r>
              <a:rPr lang="de-DE" sz="2200" dirty="0"/>
              <a:t> 0° </a:t>
            </a:r>
            <a:r>
              <a:rPr lang="de-DE" sz="2200" dirty="0" err="1"/>
              <a:t>to</a:t>
            </a:r>
            <a:r>
              <a:rPr lang="de-DE" sz="2200" dirty="0"/>
              <a:t> +90°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82F1E1B-C466-8872-C27A-44D716CE0B23}"/>
              </a:ext>
            </a:extLst>
          </p:cNvPr>
          <p:cNvSpPr txBox="1"/>
          <p:nvPr/>
        </p:nvSpPr>
        <p:spPr>
          <a:xfrm>
            <a:off x="7300703" y="5705645"/>
            <a:ext cx="45347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phase</a:t>
            </a:r>
            <a:r>
              <a:rPr lang="de-DE" sz="2200" dirty="0"/>
              <a:t> lag, </a:t>
            </a:r>
            <a:r>
              <a:rPr lang="de-DE" sz="2200" dirty="0" err="1"/>
              <a:t>from</a:t>
            </a:r>
            <a:r>
              <a:rPr lang="de-DE" sz="2200" dirty="0"/>
              <a:t> 0° </a:t>
            </a:r>
            <a:r>
              <a:rPr lang="de-DE" sz="2200" dirty="0" err="1"/>
              <a:t>to</a:t>
            </a:r>
            <a:r>
              <a:rPr lang="de-DE" sz="2200" dirty="0"/>
              <a:t> +90°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71D820FA-F9D2-BF5A-6F21-928943BB54AB}"/>
              </a:ext>
            </a:extLst>
          </p:cNvPr>
          <p:cNvCxnSpPr>
            <a:stCxn id="11" idx="1"/>
          </p:cNvCxnSpPr>
          <p:nvPr/>
        </p:nvCxnSpPr>
        <p:spPr>
          <a:xfrm flipH="1">
            <a:off x="6612213" y="4387149"/>
            <a:ext cx="688491" cy="5625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21358FB-8DD3-5095-A5C2-45B1F05E35B5}"/>
              </a:ext>
            </a:extLst>
          </p:cNvPr>
          <p:cNvCxnSpPr>
            <a:stCxn id="12" idx="1"/>
          </p:cNvCxnSpPr>
          <p:nvPr/>
        </p:nvCxnSpPr>
        <p:spPr>
          <a:xfrm flipH="1">
            <a:off x="6539948" y="5921089"/>
            <a:ext cx="760755" cy="3505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2860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99F1FF-5A04-077E-D84A-6C578EAA0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Pole-Zero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3CA8AA-BDFD-EE45-F29F-F739D9849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Graphical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r>
              <a:rPr lang="de-DE" dirty="0"/>
              <a:t> in </a:t>
            </a:r>
            <a:r>
              <a:rPr lang="de-DE" dirty="0" err="1"/>
              <a:t>complex</a:t>
            </a:r>
            <a:r>
              <a:rPr lang="de-DE" dirty="0"/>
              <a:t> plane</a:t>
            </a:r>
          </a:p>
          <a:p>
            <a:r>
              <a:rPr lang="de-DE" dirty="0" err="1"/>
              <a:t>Stability</a:t>
            </a:r>
            <a:r>
              <a:rPr lang="de-DE" dirty="0"/>
              <a:t> visible at a </a:t>
            </a:r>
            <a:r>
              <a:rPr lang="de-DE" dirty="0" err="1"/>
              <a:t>glance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7928FD-EA29-8BF1-2D4C-EFF827F68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CB5E5E2-CA40-A303-38DF-1262BDFA0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4" y="3358183"/>
            <a:ext cx="3947293" cy="3363291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F99521C-C7EE-60AD-C979-030A92A35C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922" y="3358183"/>
            <a:ext cx="3947294" cy="3363291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70BADD84-9978-C5EE-F261-BBB05E7D5DEC}"/>
              </a:ext>
            </a:extLst>
          </p:cNvPr>
          <p:cNvSpPr txBox="1"/>
          <p:nvPr/>
        </p:nvSpPr>
        <p:spPr>
          <a:xfrm>
            <a:off x="4397937" y="3429000"/>
            <a:ext cx="296695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 err="1"/>
              <a:t>Example</a:t>
            </a:r>
            <a:r>
              <a:rPr lang="de-DE" sz="2000" dirty="0"/>
              <a:t> </a:t>
            </a:r>
            <a:r>
              <a:rPr lang="de-DE" sz="2000" dirty="0" err="1"/>
              <a:t>from</a:t>
            </a:r>
            <a:r>
              <a:rPr lang="de-DE" sz="2000" dirty="0"/>
              <a:t> last </a:t>
            </a:r>
            <a:r>
              <a:rPr lang="de-DE" sz="2000" dirty="0" err="1"/>
              <a:t>slides</a:t>
            </a:r>
            <a:r>
              <a:rPr lang="de-DE" sz="2000" dirty="0"/>
              <a:t>: </a:t>
            </a:r>
            <a:r>
              <a:rPr lang="de-DE" sz="2000" dirty="0" err="1"/>
              <a:t>both</a:t>
            </a:r>
            <a:r>
              <a:rPr lang="de-DE" sz="2000" dirty="0"/>
              <a:t> </a:t>
            </a:r>
            <a:r>
              <a:rPr lang="de-DE" sz="2000" dirty="0" err="1"/>
              <a:t>systems</a:t>
            </a:r>
            <a:r>
              <a:rPr lang="de-DE" sz="2000" dirty="0"/>
              <a:t> </a:t>
            </a:r>
            <a:r>
              <a:rPr lang="de-DE" sz="2000" dirty="0" err="1"/>
              <a:t>stable</a:t>
            </a:r>
            <a:endParaRPr lang="de-DE" sz="2000" dirty="0"/>
          </a:p>
          <a:p>
            <a:r>
              <a:rPr lang="de-DE" sz="2000" dirty="0"/>
              <a:t>(</a:t>
            </a:r>
            <a:r>
              <a:rPr lang="de-DE" sz="2000" dirty="0" err="1"/>
              <a:t>poles</a:t>
            </a:r>
            <a:r>
              <a:rPr lang="de-DE" sz="2000" dirty="0"/>
              <a:t> in LHP)</a:t>
            </a:r>
          </a:p>
        </p:txBody>
      </p:sp>
    </p:spTree>
    <p:extLst>
      <p:ext uri="{BB962C8B-B14F-4D97-AF65-F5344CB8AC3E}">
        <p14:creationId xmlns:p14="http://schemas.microsoft.com/office/powerpoint/2010/main" val="3732035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DFCC16-0D2B-21AE-232A-0DDA54364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Resonance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744DD0-77F3-3905-9B5D-BBD656959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Large </a:t>
            </a:r>
            <a:r>
              <a:rPr lang="de-DE" dirty="0" err="1"/>
              <a:t>response</a:t>
            </a:r>
            <a:r>
              <a:rPr lang="de-DE" dirty="0"/>
              <a:t> at </a:t>
            </a:r>
            <a:r>
              <a:rPr lang="de-DE" dirty="0" err="1"/>
              <a:t>certain</a:t>
            </a:r>
            <a:r>
              <a:rPr lang="de-DE" dirty="0"/>
              <a:t> </a:t>
            </a:r>
            <a:r>
              <a:rPr lang="de-DE" dirty="0" err="1"/>
              <a:t>frequencies</a:t>
            </a:r>
            <a:endParaRPr lang="de-DE" dirty="0"/>
          </a:p>
          <a:p>
            <a:r>
              <a:rPr lang="de-DE" dirty="0" err="1"/>
              <a:t>Related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lightly</a:t>
            </a:r>
            <a:r>
              <a:rPr lang="de-DE" dirty="0"/>
              <a:t> </a:t>
            </a:r>
            <a:r>
              <a:rPr lang="de-DE" dirty="0" err="1"/>
              <a:t>damped</a:t>
            </a:r>
            <a:r>
              <a:rPr lang="de-DE" dirty="0"/>
              <a:t> </a:t>
            </a:r>
            <a:r>
              <a:rPr lang="de-DE" dirty="0" err="1"/>
              <a:t>poles</a:t>
            </a:r>
            <a:endParaRPr lang="de-DE" dirty="0"/>
          </a:p>
          <a:p>
            <a:r>
              <a:rPr lang="de-DE" dirty="0" err="1"/>
              <a:t>Important</a:t>
            </a:r>
            <a:r>
              <a:rPr lang="de-DE" dirty="0"/>
              <a:t> in </a:t>
            </a:r>
            <a:r>
              <a:rPr lang="de-DE" dirty="0" err="1"/>
              <a:t>mechanical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18F3785-E407-2135-F374-A57AC02B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09086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FE5387-4C13-F9A0-420D-3C1E54D94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-Domain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53D7CE1-C65E-F11F-3A4B-8EC03F1E1B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inferred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 err="1"/>
              <a:t>Avoids</a:t>
            </a:r>
            <a:r>
              <a:rPr lang="de-DE" dirty="0"/>
              <a:t> explicit pole </a:t>
            </a:r>
            <a:r>
              <a:rPr lang="de-DE" dirty="0" err="1"/>
              <a:t>calculation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54C762-1E44-BE87-DF59-C1B9C35E2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02609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122470-E3B4-6307-0EA5-F1B7F5548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Nyquist</a:t>
            </a:r>
            <a:r>
              <a:rPr lang="de-DE" dirty="0"/>
              <a:t> </a:t>
            </a:r>
            <a:r>
              <a:rPr lang="de-DE" dirty="0" err="1"/>
              <a:t>Criterion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2AFC97-0C0F-D7E6-966D-ED72FE114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Encirclement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critical</a:t>
            </a:r>
            <a:r>
              <a:rPr lang="de-DE" dirty="0"/>
              <a:t> </a:t>
            </a:r>
            <a:r>
              <a:rPr lang="de-DE" dirty="0" err="1"/>
              <a:t>point</a:t>
            </a:r>
            <a:endParaRPr lang="de-DE" dirty="0"/>
          </a:p>
          <a:p>
            <a:r>
              <a:rPr lang="de-DE" dirty="0"/>
              <a:t>Links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stability</a:t>
            </a:r>
            <a:endParaRPr lang="de-DE" dirty="0"/>
          </a:p>
          <a:p>
            <a:r>
              <a:rPr lang="de-DE" dirty="0"/>
              <a:t>Powerful but </a:t>
            </a:r>
            <a:r>
              <a:rPr lang="de-DE" dirty="0" err="1"/>
              <a:t>conceptually</a:t>
            </a:r>
            <a:r>
              <a:rPr lang="de-DE" dirty="0"/>
              <a:t> </a:t>
            </a:r>
            <a:r>
              <a:rPr lang="de-DE" dirty="0" err="1"/>
              <a:t>challenging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95D79B-140F-ED0F-12F1-D63F0CD77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33218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D76B9D-A952-FA61-3FEA-B2C35BC9E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Gain</a:t>
            </a:r>
            <a:r>
              <a:rPr lang="de-DE" dirty="0"/>
              <a:t> and Phase </a:t>
            </a:r>
            <a:r>
              <a:rPr lang="de-DE" dirty="0" err="1"/>
              <a:t>Margins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1DCEC5-E062-73EC-599B-965A44B5F6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instability</a:t>
            </a:r>
            <a:endParaRPr lang="de-DE" dirty="0"/>
          </a:p>
          <a:p>
            <a:r>
              <a:rPr lang="de-DE" dirty="0" err="1"/>
              <a:t>Practical</a:t>
            </a:r>
            <a:r>
              <a:rPr lang="de-DE" dirty="0"/>
              <a:t> </a:t>
            </a:r>
            <a:r>
              <a:rPr lang="de-DE" dirty="0" err="1"/>
              <a:t>robustness</a:t>
            </a:r>
            <a:r>
              <a:rPr lang="de-DE" dirty="0"/>
              <a:t> </a:t>
            </a:r>
            <a:r>
              <a:rPr lang="de-DE" dirty="0" err="1"/>
              <a:t>indicators</a:t>
            </a:r>
            <a:endParaRPr lang="de-DE" dirty="0"/>
          </a:p>
          <a:p>
            <a:r>
              <a:rPr lang="de-DE" dirty="0"/>
              <a:t>Read </a:t>
            </a:r>
            <a:r>
              <a:rPr lang="de-DE" dirty="0" err="1"/>
              <a:t>directly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Bode </a:t>
            </a:r>
            <a:r>
              <a:rPr lang="de-DE" dirty="0" err="1"/>
              <a:t>plots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C0EBA0-2646-D649-137B-265D744CE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0925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646</Words>
  <Application>Microsoft Macintosh PowerPoint</Application>
  <PresentationFormat>Breitbild</PresentationFormat>
  <Paragraphs>130</Paragraphs>
  <Slides>17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4" baseType="lpstr">
      <vt:lpstr>.AppleSystemUIFont</vt:lpstr>
      <vt:lpstr>Aptos</vt:lpstr>
      <vt:lpstr>Aptos Display</vt:lpstr>
      <vt:lpstr>Arial</vt:lpstr>
      <vt:lpstr>Cambria Math</vt:lpstr>
      <vt:lpstr>Wingdings</vt:lpstr>
      <vt:lpstr>Office Theme</vt:lpstr>
      <vt:lpstr>Poles/Zeros &amp; Stability</vt:lpstr>
      <vt:lpstr>Course Schedule</vt:lpstr>
      <vt:lpstr>Poles/Zeros &amp; Stability</vt:lpstr>
      <vt:lpstr>Poles and Zeros</vt:lpstr>
      <vt:lpstr>Interpretation of Poles</vt:lpstr>
      <vt:lpstr>Pole Location</vt:lpstr>
      <vt:lpstr>Stability of Continuous-Time Systems</vt:lpstr>
      <vt:lpstr>Zero Location</vt:lpstr>
      <vt:lpstr>Interpretation of Zeros</vt:lpstr>
      <vt:lpstr>Example: PT2 with LHP and RHP Zero</vt:lpstr>
      <vt:lpstr>Example: PT2 with LHP and RHP Zero</vt:lpstr>
      <vt:lpstr>Example: PT2 with LHP and RHP Zero</vt:lpstr>
      <vt:lpstr>Pole-Zero Diagrams</vt:lpstr>
      <vt:lpstr>Resonance</vt:lpstr>
      <vt:lpstr>Frequency-Domain Stability</vt:lpstr>
      <vt:lpstr>Nyquist Criterion</vt:lpstr>
      <vt:lpstr>Gain and Phase Margins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112</cp:revision>
  <dcterms:created xsi:type="dcterms:W3CDTF">2025-01-08T09:27:30Z</dcterms:created>
  <dcterms:modified xsi:type="dcterms:W3CDTF">2026-02-17T11:49:54Z</dcterms:modified>
</cp:coreProperties>
</file>
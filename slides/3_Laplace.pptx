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280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272" r:id="rId20"/>
    <p:sldId id="290" r:id="rId21"/>
    <p:sldId id="287" r:id="rId22"/>
    <p:sldId id="288" r:id="rId23"/>
    <p:sldId id="289" r:id="rId24"/>
    <p:sldId id="273" r:id="rId25"/>
    <p:sldId id="274" r:id="rId26"/>
    <p:sldId id="275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00" r:id="rId35"/>
    <p:sldId id="285" r:id="rId36"/>
    <p:sldId id="301" r:id="rId37"/>
    <p:sldId id="303" r:id="rId38"/>
    <p:sldId id="302" r:id="rId39"/>
    <p:sldId id="304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129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328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08/02/2026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08/02/2026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08/02/2026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0.png"/><Relationship Id="rId7" Type="http://schemas.openxmlformats.org/officeDocument/2006/relationships/image" Target="../media/image4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3" Type="http://schemas.openxmlformats.org/officeDocument/2006/relationships/image" Target="../media/image480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" Type="http://schemas.openxmlformats.org/officeDocument/2006/relationships/image" Target="../media/image470.png"/><Relationship Id="rId16" Type="http://schemas.openxmlformats.org/officeDocument/2006/relationships/image" Target="../media/image6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5" Type="http://schemas.openxmlformats.org/officeDocument/2006/relationships/image" Target="../media/image510.png"/><Relationship Id="rId15" Type="http://schemas.openxmlformats.org/officeDocument/2006/relationships/image" Target="../media/image61.png"/><Relationship Id="rId10" Type="http://schemas.openxmlformats.org/officeDocument/2006/relationships/image" Target="../media/image56.png"/><Relationship Id="rId4" Type="http://schemas.openxmlformats.org/officeDocument/2006/relationships/image" Target="../media/image49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763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4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blipFill>
                <a:blip r:embed="rId3"/>
                <a:stretch>
                  <a:fillRect l="-2424" t="-7895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denominator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4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blipFill>
                <a:blip r:embed="rId4"/>
                <a:stretch>
                  <a:fillRect l="-2279" t="-7500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5480"/>
            <a:ext cx="848464" cy="126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25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/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Causality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cannot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derivative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blipFill>
                <a:blip r:embed="rId7"/>
                <a:stretch>
                  <a:fillRect l="-713" t="-6667" r="-535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3F634B3A-D0D9-775A-F3DD-562AF0D54C5E}"/>
              </a:ext>
            </a:extLst>
          </p:cNvPr>
          <p:cNvSpPr txBox="1"/>
          <p:nvPr/>
        </p:nvSpPr>
        <p:spPr>
          <a:xfrm>
            <a:off x="8973705" y="5141798"/>
            <a:ext cx="24786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More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8829" y="1554163"/>
            <a:ext cx="4974342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5733" y="1546247"/>
            <a:ext cx="5260534" cy="5175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9711-0622-A5D8-C13E-4F5F68D3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AFBA99-1E36-D127-DA0A-B58C86F44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16603C-CE9D-72CA-4D8E-D085DFD24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5363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7D601-B01E-1FDE-3453-6A59EE2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6B36AA-A815-490D-4A12-1020A9929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708CE-7EE5-9BDA-5745-B70ECD02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429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D9FC5E-8347-871E-635A-5BB1F895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518DA5-C78D-1D5F-305A-38A9EF60E7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E2D02E-9009-08F2-F315-5C05EE0E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8468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8057D8-6049-86EE-2DCE-77010CBC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Lag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8B993E-96D1-B19B-2D6E-6E5FD2D58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654ED9-4626-A5EA-38F9-7CDCF34A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710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DBE99-2DA6-C88A-7611-518B693D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E13401-6D0B-FA9F-0932-D52BE1570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773F82-BF78-41CB-6DB7-96DB8E21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897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7F2DE-ACD8-94EC-15BE-467846CA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606A89-4597-98EA-83F6-4C092A77DC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97B9B1-8E9B-8284-C7A9-AECD9668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98377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5222A6-0C71-26AA-81F8-81C4E3A80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Lag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24E120-69FA-22B6-9883-92EEB6EF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A28C1E-3A01-3253-6EC0-EEA48663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8488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18E32-3561-5B1B-88D6-04F26786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85FC6E-700C-B18E-BADF-335DCA3D4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2275FA-0948-586B-71B9-28EB35C3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48006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Systems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extended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multiplying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represents</a:t>
                </a:r>
                <a:r>
                  <a:rPr lang="de-DE" dirty="0"/>
                  <a:t> a time </a:t>
                </a:r>
                <a:r>
                  <a:rPr lang="de-DE" dirty="0" err="1"/>
                  <a:t>delay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PT1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dead</a:t>
                </a:r>
                <a:r>
                  <a:rPr lang="de-DE" dirty="0"/>
                  <a:t> time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Mainly</a:t>
                </a:r>
                <a:r>
                  <a:rPr lang="de-DE" dirty="0"/>
                  <a:t> </a:t>
                </a:r>
                <a:r>
                  <a:rPr lang="de-DE" dirty="0" err="1"/>
                  <a:t>suitable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analysis</a:t>
                </a:r>
                <a:r>
                  <a:rPr lang="de-DE" dirty="0"/>
                  <a:t> (e.g., Bode </a:t>
                </a:r>
                <a:r>
                  <a:rPr lang="de-DE" dirty="0" err="1"/>
                  <a:t>plots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23E2E2-7BAB-B0DC-155F-18BE9A930334}"/>
              </a:ext>
            </a:extLst>
          </p:cNvPr>
          <p:cNvSpPr txBox="1"/>
          <p:nvPr/>
        </p:nvSpPr>
        <p:spPr>
          <a:xfrm>
            <a:off x="1502546" y="3295830"/>
            <a:ext cx="2652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original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92DF04-E9E3-B701-E8FB-C02356E21D65}"/>
              </a:ext>
            </a:extLst>
          </p:cNvPr>
          <p:cNvCxnSpPr/>
          <p:nvPr/>
        </p:nvCxnSpPr>
        <p:spPr>
          <a:xfrm flipV="1">
            <a:off x="2840854" y="2991770"/>
            <a:ext cx="239697" cy="304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238FAF0-5F1B-2600-5A07-4DF841173409}"/>
              </a:ext>
            </a:extLst>
          </p:cNvPr>
          <p:cNvSpPr txBox="1"/>
          <p:nvPr/>
        </p:nvSpPr>
        <p:spPr>
          <a:xfrm>
            <a:off x="4819096" y="3295830"/>
            <a:ext cx="280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time </a:t>
            </a:r>
            <a:r>
              <a:rPr lang="de-DE" dirty="0" err="1"/>
              <a:t>delay</a:t>
            </a:r>
            <a:r>
              <a:rPr lang="de-DE" dirty="0"/>
              <a:t> (aka </a:t>
            </a:r>
            <a:r>
              <a:rPr lang="de-DE" dirty="0" err="1"/>
              <a:t>dead</a:t>
            </a:r>
            <a:r>
              <a:rPr lang="de-DE" dirty="0"/>
              <a:t> time)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EDEBF8D-3696-DBD0-D6B9-D3FE6E4DD679}"/>
              </a:ext>
            </a:extLst>
          </p:cNvPr>
          <p:cNvCxnSpPr/>
          <p:nvPr/>
        </p:nvCxnSpPr>
        <p:spPr>
          <a:xfrm flipH="1" flipV="1">
            <a:off x="4819096" y="2867482"/>
            <a:ext cx="321075" cy="497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E7D95-1F5E-CE48-E953-D97B4D90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4223A-1501-7599-2239-8ABB3D90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6B685BC3-C175-CD83-FD48-F6388221A45E}"/>
              </a:ext>
            </a:extLst>
          </p:cNvPr>
          <p:cNvGrpSpPr/>
          <p:nvPr/>
        </p:nvGrpSpPr>
        <p:grpSpPr>
          <a:xfrm>
            <a:off x="838200" y="1993681"/>
            <a:ext cx="4379258" cy="1307375"/>
            <a:chOff x="3906371" y="2121625"/>
            <a:chExt cx="4379258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/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Verbindungsstelle 15">
              <a:extLst>
                <a:ext uri="{FF2B5EF4-FFF2-40B4-BE49-F238E27FC236}">
                  <a16:creationId xmlns:a16="http://schemas.microsoft.com/office/drawing/2014/main" id="{5A69D5A8-6BC7-EED6-B298-00BE7B488749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7297249" y="242326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01A8DB1A-B477-CE70-74C6-B0DDF2AD7AF9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600387" y="2470762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B6451F44-2FDF-CAD1-32E0-67D1B57730BC}"/>
                </a:ext>
              </a:extLst>
            </p:cNvPr>
            <p:cNvCxnSpPr>
              <a:cxnSpLocks/>
            </p:cNvCxnSpPr>
            <p:nvPr/>
          </p:nvCxnSpPr>
          <p:spPr>
            <a:xfrm>
              <a:off x="7341635" y="246765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/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2821" t="-4348" r="-17949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DE28B529-D364-88B5-AE83-2ADEBCBDF542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>
              <a:off x="7341635" y="251203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ing 48">
              <a:extLst>
                <a:ext uri="{FF2B5EF4-FFF2-40B4-BE49-F238E27FC236}">
                  <a16:creationId xmlns:a16="http://schemas.microsoft.com/office/drawing/2014/main" id="{86C1BC5B-5999-7107-6000-E9B34E1B4A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7391" y="2423264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E62F31E2-E6C0-953B-27A4-866D3CB230AE}"/>
                </a:ext>
              </a:extLst>
            </p:cNvPr>
            <p:cNvCxnSpPr/>
            <p:nvPr/>
          </p:nvCxnSpPr>
          <p:spPr>
            <a:xfrm flipH="1">
              <a:off x="4942391" y="3429000"/>
              <a:ext cx="23992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809360AC-7423-81D3-2207-4F8D3EBD52E7}"/>
                </a:ext>
              </a:extLst>
            </p:cNvPr>
            <p:cNvCxnSpPr>
              <a:endCxn id="49" idx="4"/>
            </p:cNvCxnSpPr>
            <p:nvPr/>
          </p:nvCxnSpPr>
          <p:spPr>
            <a:xfrm flipV="1">
              <a:off x="4942391" y="2513264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4D5FE632-0643-1613-F755-8F38A20CA551}"/>
                </a:ext>
              </a:extLst>
            </p:cNvPr>
            <p:cNvCxnSpPr>
              <a:stCxn id="49" idx="6"/>
              <a:endCxn id="10" idx="1"/>
            </p:cNvCxnSpPr>
            <p:nvPr/>
          </p:nvCxnSpPr>
          <p:spPr>
            <a:xfrm>
              <a:off x="4987391" y="24682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A67442-B2C3-0F23-735F-81D48B7AA3B7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4058403" y="24660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/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/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E0B57D70-F2AF-3F2F-EB01-F5A113DB39FC}"/>
              </a:ext>
            </a:extLst>
          </p:cNvPr>
          <p:cNvGrpSpPr/>
          <p:nvPr/>
        </p:nvGrpSpPr>
        <p:grpSpPr>
          <a:xfrm>
            <a:off x="838200" y="4582652"/>
            <a:ext cx="5985903" cy="1307375"/>
            <a:chOff x="838200" y="4582652"/>
            <a:chExt cx="5985903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Verbindungsstelle 64">
              <a:extLst>
                <a:ext uri="{FF2B5EF4-FFF2-40B4-BE49-F238E27FC236}">
                  <a16:creationId xmlns:a16="http://schemas.microsoft.com/office/drawing/2014/main" id="{BDAE3FB9-9C6B-3155-245D-35209A08CA6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7175F72-AAAC-0F6E-276A-4D7FCBF56045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2500" r="-15000" b="-29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Gerade Verbindung 68">
              <a:extLst>
                <a:ext uri="{FF2B5EF4-FFF2-40B4-BE49-F238E27FC236}">
                  <a16:creationId xmlns:a16="http://schemas.microsoft.com/office/drawing/2014/main" id="{C28E7F70-8EBF-A4F6-3AC0-91835D39CDB2}"/>
                </a:ext>
              </a:extLst>
            </p:cNvPr>
            <p:cNvCxnSpPr>
              <a:cxnSpLocks/>
              <a:stCxn id="65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ing 69">
              <a:extLst>
                <a:ext uri="{FF2B5EF4-FFF2-40B4-BE49-F238E27FC236}">
                  <a16:creationId xmlns:a16="http://schemas.microsoft.com/office/drawing/2014/main" id="{E2C349AB-A258-9D25-5291-B4D4E5B132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1" name="Gerade Verbindung 70">
              <a:extLst>
                <a:ext uri="{FF2B5EF4-FFF2-40B4-BE49-F238E27FC236}">
                  <a16:creationId xmlns:a16="http://schemas.microsoft.com/office/drawing/2014/main" id="{1A18445C-FE0D-1911-B6BC-40F9C63CEB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80942AE-AB88-1BA2-9153-06510B9FA331}"/>
                </a:ext>
              </a:extLst>
            </p:cNvPr>
            <p:cNvCxnSpPr>
              <a:endCxn id="70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2CD06856-00F4-4F53-7399-8A98645D041F}"/>
                </a:ext>
              </a:extLst>
            </p:cNvPr>
            <p:cNvCxnSpPr>
              <a:stCxn id="70" idx="6"/>
              <a:endCxn id="64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D4793845-8003-4479-5483-8B9A3DC1D177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78">
              <a:extLst>
                <a:ext uri="{FF2B5EF4-FFF2-40B4-BE49-F238E27FC236}">
                  <a16:creationId xmlns:a16="http://schemas.microsoft.com/office/drawing/2014/main" id="{1B8BFFB9-903B-6997-1D1E-1D11BBC79C7C}"/>
                </a:ext>
              </a:extLst>
            </p:cNvPr>
            <p:cNvCxnSpPr>
              <a:cxnSpLocks/>
            </p:cNvCxnSpPr>
            <p:nvPr/>
          </p:nvCxnSpPr>
          <p:spPr>
            <a:xfrm>
              <a:off x="5139075" y="4927120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26DD009-601D-081A-D2C3-7D7EE673A4D1}"/>
                </a:ext>
              </a:extLst>
            </p:cNvPr>
            <p:cNvCxnSpPr>
              <a:cxnSpLocks/>
              <a:stCxn id="64" idx="3"/>
              <a:endCxn id="77" idx="1"/>
            </p:cNvCxnSpPr>
            <p:nvPr/>
          </p:nvCxnSpPr>
          <p:spPr>
            <a:xfrm flipV="1">
              <a:off x="3532216" y="4931465"/>
              <a:ext cx="698266" cy="3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/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blipFill>
                <a:blip r:embed="rId9"/>
                <a:stretch>
                  <a:fillRect l="-279" t="-565" r="-1397" b="-56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7B1B46A8-D3BE-8232-6FD3-0BBC2CD586D8}"/>
              </a:ext>
            </a:extLst>
          </p:cNvPr>
          <p:cNvSpPr txBox="1"/>
          <p:nvPr/>
        </p:nvSpPr>
        <p:spPr>
          <a:xfrm>
            <a:off x="7347911" y="3359443"/>
            <a:ext cx="40058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closed</a:t>
            </a:r>
            <a:r>
              <a:rPr lang="de-DE" sz="2400" dirty="0"/>
              <a:t>-loop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negative </a:t>
            </a:r>
            <a:r>
              <a:rPr lang="de-DE" sz="2400" dirty="0" err="1"/>
              <a:t>feedback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C464F60-FB62-DB77-A5C9-AA00849EF8D2}"/>
              </a:ext>
            </a:extLst>
          </p:cNvPr>
          <p:cNvCxnSpPr/>
          <p:nvPr/>
        </p:nvCxnSpPr>
        <p:spPr>
          <a:xfrm flipV="1">
            <a:off x="8610600" y="3060326"/>
            <a:ext cx="151660" cy="384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/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blipFill>
                <a:blip r:embed="rId10"/>
                <a:stretch>
                  <a:fillRect r="-395" b="-10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/>
              <p:nvPr/>
            </p:nvSpPr>
            <p:spPr>
              <a:xfrm>
                <a:off x="426220" y="6184059"/>
                <a:ext cx="705340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above combines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20" y="6184059"/>
                <a:ext cx="7053406" cy="461665"/>
              </a:xfrm>
              <a:prstGeom prst="rect">
                <a:avLst/>
              </a:prstGeom>
              <a:blipFill>
                <a:blip r:embed="rId11"/>
                <a:stretch>
                  <a:fillRect l="-180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2308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CB3717-9DB3-1399-9CCC-728FFAB9C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increases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smaller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integrator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eliminates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reduces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, </a:t>
                </a:r>
                <a:r>
                  <a:rPr lang="de-DE" dirty="0" err="1"/>
                  <a:t>improves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Controller design:</a:t>
                </a:r>
              </a:p>
              <a:p>
                <a:r>
                  <a:rPr lang="de-DE" dirty="0"/>
                  <a:t>Shape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obtain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Achieved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and </a:t>
                </a:r>
                <a:r>
                  <a:rPr lang="de-DE" dirty="0" err="1"/>
                  <a:t>tuning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move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</p:txBody>
          </p:sp>
        </mc:Choice>
        <mc:Fallback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F15152-4A2F-9346-DFCE-B3D9FFBF6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3551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212B22B2-EAB7-6720-A16E-276F12E8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Hidden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7D09CB-2114-E487-4ACA-4F1F296AB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899EA923-B320-E430-7352-945C47FC665F}"/>
              </a:ext>
            </a:extLst>
          </p:cNvPr>
          <p:cNvGrpSpPr/>
          <p:nvPr/>
        </p:nvGrpSpPr>
        <p:grpSpPr>
          <a:xfrm>
            <a:off x="971273" y="1656233"/>
            <a:ext cx="5985903" cy="1612142"/>
            <a:chOff x="714083" y="2028176"/>
            <a:chExt cx="5985903" cy="16121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/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Verbindungsstelle 5">
              <a:extLst>
                <a:ext uri="{FF2B5EF4-FFF2-40B4-BE49-F238E27FC236}">
                  <a16:creationId xmlns:a16="http://schemas.microsoft.com/office/drawing/2014/main" id="{EEA8466F-7D3F-3081-F537-F2C5A6164EE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711606" y="2328258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611B80E7-F9CB-0ABE-6815-D4E90AD6CD78}"/>
                </a:ext>
              </a:extLst>
            </p:cNvPr>
            <p:cNvCxnSpPr>
              <a:cxnSpLocks/>
            </p:cNvCxnSpPr>
            <p:nvPr/>
          </p:nvCxnSpPr>
          <p:spPr>
            <a:xfrm>
              <a:off x="5755992" y="2372644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/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9AF120D8-734C-0613-5CA9-7A01EDA3C12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5755992" y="2417030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ing 9">
              <a:extLst>
                <a:ext uri="{FF2B5EF4-FFF2-40B4-BE49-F238E27FC236}">
                  <a16:creationId xmlns:a16="http://schemas.microsoft.com/office/drawing/2014/main" id="{9658AB60-BED2-3AEA-E449-CA55B13891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05103" y="2329815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0A0730A7-6D9B-E8B8-9397-3AC4F973A2AC}"/>
                </a:ext>
              </a:extLst>
            </p:cNvPr>
            <p:cNvCxnSpPr>
              <a:endCxn id="10" idx="4"/>
            </p:cNvCxnSpPr>
            <p:nvPr/>
          </p:nvCxnSpPr>
          <p:spPr>
            <a:xfrm flipV="1">
              <a:off x="1750103" y="2419815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F8AAAEB5-D007-9C8D-8975-3DEDC9C7963A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1795103" y="2374815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5B45189-1F92-866E-0FFA-671C55CAD1A1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866115" y="2374815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/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r="-14634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/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/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E227C8EA-10B4-8C97-8335-222B7B53196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958" y="2372644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DDE908A0-EBE7-EC72-474E-1DFA1E264530}"/>
                </a:ext>
              </a:extLst>
            </p:cNvPr>
            <p:cNvCxnSpPr>
              <a:stCxn id="5" idx="3"/>
              <a:endCxn id="17" idx="1"/>
            </p:cNvCxnSpPr>
            <p:nvPr/>
          </p:nvCxnSpPr>
          <p:spPr>
            <a:xfrm>
              <a:off x="3408099" y="2376324"/>
              <a:ext cx="6924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/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9B46319F-B1A8-B248-7DFD-BA204C5A3B21}"/>
                </a:ext>
              </a:extLst>
            </p:cNvPr>
            <p:cNvCxnSpPr>
              <a:endCxn id="21" idx="3"/>
            </p:cNvCxnSpPr>
            <p:nvPr/>
          </p:nvCxnSpPr>
          <p:spPr>
            <a:xfrm flipH="1">
              <a:off x="4211528" y="3333994"/>
              <a:ext cx="1544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625B1DDF-760D-0717-CDA1-EBDBED98185C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1750103" y="3333994"/>
              <a:ext cx="1547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236376D0-DD6F-8F51-B718-82E522B4AD77}"/>
              </a:ext>
            </a:extLst>
          </p:cNvPr>
          <p:cNvGrpSpPr/>
          <p:nvPr/>
        </p:nvGrpSpPr>
        <p:grpSpPr>
          <a:xfrm>
            <a:off x="1166232" y="4445381"/>
            <a:ext cx="9212726" cy="1607783"/>
            <a:chOff x="1166232" y="4445381"/>
            <a:chExt cx="9212726" cy="16077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/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Verbindungsstelle 28">
              <a:extLst>
                <a:ext uri="{FF2B5EF4-FFF2-40B4-BE49-F238E27FC236}">
                  <a16:creationId xmlns:a16="http://schemas.microsoft.com/office/drawing/2014/main" id="{C2DABC03-F9C5-04BD-29EE-EEBE919F173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390578" y="4745463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36747D36-517B-D08B-611D-6EFABD456D55}"/>
                </a:ext>
              </a:extLst>
            </p:cNvPr>
            <p:cNvCxnSpPr>
              <a:cxnSpLocks/>
            </p:cNvCxnSpPr>
            <p:nvPr/>
          </p:nvCxnSpPr>
          <p:spPr>
            <a:xfrm>
              <a:off x="9434964" y="4789849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/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t="-4545" r="-17500" b="-4090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2112C397-716A-805F-6585-5E187081CE67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>
              <a:off x="9434964" y="4834235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ng 32">
              <a:extLst>
                <a:ext uri="{FF2B5EF4-FFF2-40B4-BE49-F238E27FC236}">
                  <a16:creationId xmlns:a16="http://schemas.microsoft.com/office/drawing/2014/main" id="{B933FAA3-EA9E-D1A4-7AD8-3C43063755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8212" y="4748400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B7B9ED09-7295-0A91-E7E1-F489D4346057}"/>
                </a:ext>
              </a:extLst>
            </p:cNvPr>
            <p:cNvCxnSpPr>
              <a:endCxn id="33" idx="4"/>
            </p:cNvCxnSpPr>
            <p:nvPr/>
          </p:nvCxnSpPr>
          <p:spPr>
            <a:xfrm flipV="1">
              <a:off x="3813212" y="4838400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164A0B6F-9F37-D940-ABFA-5334CD65FD83}"/>
                </a:ext>
              </a:extLst>
            </p:cNvPr>
            <p:cNvCxnSpPr>
              <a:cxnSpLocks/>
              <a:stCxn id="33" idx="6"/>
              <a:endCxn id="28" idx="1"/>
            </p:cNvCxnSpPr>
            <p:nvPr/>
          </p:nvCxnSpPr>
          <p:spPr>
            <a:xfrm flipV="1">
              <a:off x="3858212" y="4792347"/>
              <a:ext cx="698596" cy="10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818EAB-AA81-1C28-8797-29AC86FA732C}"/>
                </a:ext>
              </a:extLst>
            </p:cNvPr>
            <p:cNvCxnSpPr>
              <a:cxnSpLocks/>
            </p:cNvCxnSpPr>
            <p:nvPr/>
          </p:nvCxnSpPr>
          <p:spPr>
            <a:xfrm>
              <a:off x="1318264" y="4789849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/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9756" r="-1707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/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1111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/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39">
              <a:extLst>
                <a:ext uri="{FF2B5EF4-FFF2-40B4-BE49-F238E27FC236}">
                  <a16:creationId xmlns:a16="http://schemas.microsoft.com/office/drawing/2014/main" id="{EEA8F883-E782-1706-820F-E6314EB97029}"/>
                </a:ext>
              </a:extLst>
            </p:cNvPr>
            <p:cNvCxnSpPr>
              <a:cxnSpLocks/>
            </p:cNvCxnSpPr>
            <p:nvPr/>
          </p:nvCxnSpPr>
          <p:spPr>
            <a:xfrm>
              <a:off x="8693930" y="4789849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8AA96FD2-748A-E9D8-A306-2D651395BBB8}"/>
                </a:ext>
              </a:extLst>
            </p:cNvPr>
            <p:cNvCxnSpPr>
              <a:cxnSpLocks/>
              <a:stCxn id="50" idx="3"/>
              <a:endCxn id="39" idx="1"/>
            </p:cNvCxnSpPr>
            <p:nvPr/>
          </p:nvCxnSpPr>
          <p:spPr>
            <a:xfrm>
              <a:off x="7087071" y="4788324"/>
              <a:ext cx="692459" cy="1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/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9A700742-08D2-ECEE-7218-C67B38B0EB0F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H="1">
              <a:off x="7087071" y="5746840"/>
              <a:ext cx="23478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43">
              <a:extLst>
                <a:ext uri="{FF2B5EF4-FFF2-40B4-BE49-F238E27FC236}">
                  <a16:creationId xmlns:a16="http://schemas.microsoft.com/office/drawing/2014/main" id="{3C815F60-69D7-2B7C-254D-77EF52021A2F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3813212" y="5746840"/>
              <a:ext cx="2359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/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5043C16D-D2F3-028D-8FE1-787F35509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5841" y="4783009"/>
              <a:ext cx="692459" cy="46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376B047-5677-8A80-4424-45F6D9F2A6DA}"/>
                </a:ext>
              </a:extLst>
            </p:cNvPr>
            <p:cNvCxnSpPr>
              <a:cxnSpLocks/>
            </p:cNvCxnSpPr>
            <p:nvPr/>
          </p:nvCxnSpPr>
          <p:spPr>
            <a:xfrm>
              <a:off x="5475397" y="47898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/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1" name="Textfeld 70">
            <a:extLst>
              <a:ext uri="{FF2B5EF4-FFF2-40B4-BE49-F238E27FC236}">
                <a16:creationId xmlns:a16="http://schemas.microsoft.com/office/drawing/2014/main" id="{6B66D065-29A3-B303-FD24-3B010AB6FAD6}"/>
              </a:ext>
            </a:extLst>
          </p:cNvPr>
          <p:cNvSpPr txBox="1"/>
          <p:nvPr/>
        </p:nvSpPr>
        <p:spPr>
          <a:xfrm>
            <a:off x="50172" y="3330802"/>
            <a:ext cx="33864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prefilter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doesn’t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treat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separately</a:t>
            </a:r>
            <a:r>
              <a:rPr lang="de-DE" dirty="0"/>
              <a:t>.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E6F8268F-0100-C316-3617-D001CD0E403E}"/>
              </a:ext>
            </a:extLst>
          </p:cNvPr>
          <p:cNvSpPr txBox="1"/>
          <p:nvPr/>
        </p:nvSpPr>
        <p:spPr>
          <a:xfrm>
            <a:off x="7433300" y="2317658"/>
            <a:ext cx="3563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fast,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unity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7C4FE68-DDD9-948C-96C7-1767946F4E87}"/>
              </a:ext>
            </a:extLst>
          </p:cNvPr>
          <p:cNvSpPr txBox="1"/>
          <p:nvPr/>
        </p:nvSpPr>
        <p:spPr>
          <a:xfrm>
            <a:off x="5975670" y="3607801"/>
            <a:ext cx="57511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≫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bandwidth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ignore</a:t>
            </a:r>
            <a:r>
              <a:rPr lang="de-DE" dirty="0"/>
              <a:t> it.</a:t>
            </a:r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E2F2EFD4-C7AD-B538-2EF2-0B8EA98BA555}"/>
              </a:ext>
            </a:extLst>
          </p:cNvPr>
          <p:cNvCxnSpPr>
            <a:stCxn id="73" idx="1"/>
          </p:cNvCxnSpPr>
          <p:nvPr/>
        </p:nvCxnSpPr>
        <p:spPr>
          <a:xfrm flipH="1">
            <a:off x="4556808" y="2640824"/>
            <a:ext cx="2876492" cy="146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7573C1B-345F-FCCD-4567-9BFAC2A25428}"/>
              </a:ext>
            </a:extLst>
          </p:cNvPr>
          <p:cNvCxnSpPr>
            <a:endCxn id="50" idx="0"/>
          </p:cNvCxnSpPr>
          <p:nvPr/>
        </p:nvCxnSpPr>
        <p:spPr>
          <a:xfrm>
            <a:off x="6629871" y="4235146"/>
            <a:ext cx="0" cy="246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BF1213D3-CCCF-4672-CE77-9A2255E72F78}"/>
              </a:ext>
            </a:extLst>
          </p:cNvPr>
          <p:cNvSpPr txBox="1"/>
          <p:nvPr/>
        </p:nvSpPr>
        <p:spPr>
          <a:xfrm>
            <a:off x="4814948" y="6318213"/>
            <a:ext cx="49460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Always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affect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endParaRPr lang="de-DE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/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blipFill>
                <a:blip r:embed="rId16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045A292-E5B3-5B3E-253C-1C890023A612}"/>
              </a:ext>
            </a:extLst>
          </p:cNvPr>
          <p:cNvCxnSpPr>
            <a:stCxn id="71" idx="2"/>
          </p:cNvCxnSpPr>
          <p:nvPr/>
        </p:nvCxnSpPr>
        <p:spPr>
          <a:xfrm>
            <a:off x="1743408" y="4254132"/>
            <a:ext cx="413844" cy="227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/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blipFill>
                <a:blip r:embed="rId17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59909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A0A7F-554B-AAFD-7174-C16F8B9F0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F9417-F831-50D8-E02C-963FAFCAE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ECDCBB-6B87-FF86-622B-B9435D0D9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745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1445</Words>
  <Application>Microsoft Macintosh PowerPoint</Application>
  <PresentationFormat>Breitbild</PresentationFormat>
  <Paragraphs>322</Paragraphs>
  <Slides>39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39</vt:i4>
      </vt:variant>
    </vt:vector>
  </HeadingPairs>
  <TitlesOfParts>
    <vt:vector size="45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Block Diagrams</vt:lpstr>
      <vt:lpstr>Block Diagram Algebra</vt:lpstr>
      <vt:lpstr>Series Connection</vt:lpstr>
      <vt:lpstr>Parallel Connection</vt:lpstr>
      <vt:lpstr>Feedback Connection</vt:lpstr>
      <vt:lpstr>Frequency Response</vt:lpstr>
      <vt:lpstr>Bode Plots</vt:lpstr>
      <vt:lpstr>Bandwidth</vt:lpstr>
      <vt:lpstr>PowerPoint-Präsentation</vt:lpstr>
      <vt:lpstr>Proportional Element</vt:lpstr>
      <vt:lpstr>Integral Element</vt:lpstr>
      <vt:lpstr>First-Order Lag Element</vt:lpstr>
      <vt:lpstr>Derivative Element</vt:lpstr>
      <vt:lpstr>PowerPoint-Präsentation</vt:lpstr>
      <vt:lpstr>Second-Order Lag Element</vt:lpstr>
      <vt:lpstr>PowerPoint-Präsentation</vt:lpstr>
      <vt:lpstr>Systems with Dead Time</vt:lpstr>
      <vt:lpstr>Control Loop</vt:lpstr>
      <vt:lpstr>PID Controller Transfer Function</vt:lpstr>
      <vt:lpstr>Hidden Assumptions</vt:lpstr>
      <vt:lpstr>Disturbances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167</cp:revision>
  <dcterms:created xsi:type="dcterms:W3CDTF">2025-01-08T09:27:30Z</dcterms:created>
  <dcterms:modified xsi:type="dcterms:W3CDTF">2026-02-08T10:37:24Z</dcterms:modified>
</cp:coreProperties>
</file>
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2"/>
  </p:notesMasterIdLst>
  <p:sldIdLst>
    <p:sldId id="256" r:id="rId2"/>
    <p:sldId id="265" r:id="rId3"/>
    <p:sldId id="266" r:id="rId4"/>
    <p:sldId id="267" r:id="rId5"/>
    <p:sldId id="276" r:id="rId6"/>
    <p:sldId id="278" r:id="rId7"/>
    <p:sldId id="268" r:id="rId8"/>
    <p:sldId id="291" r:id="rId9"/>
    <p:sldId id="269" r:id="rId10"/>
    <p:sldId id="279" r:id="rId11"/>
    <p:sldId id="280" r:id="rId12"/>
    <p:sldId id="271" r:id="rId13"/>
    <p:sldId id="283" r:id="rId14"/>
    <p:sldId id="282" r:id="rId15"/>
    <p:sldId id="284" r:id="rId16"/>
    <p:sldId id="281" r:id="rId17"/>
    <p:sldId id="286" r:id="rId18"/>
    <p:sldId id="292" r:id="rId19"/>
    <p:sldId id="272" r:id="rId20"/>
    <p:sldId id="290" r:id="rId21"/>
    <p:sldId id="287" r:id="rId22"/>
    <p:sldId id="288" r:id="rId23"/>
    <p:sldId id="289" r:id="rId24"/>
    <p:sldId id="273" r:id="rId25"/>
    <p:sldId id="274" r:id="rId26"/>
    <p:sldId id="275" r:id="rId27"/>
    <p:sldId id="293" r:id="rId28"/>
    <p:sldId id="294" r:id="rId29"/>
    <p:sldId id="295" r:id="rId30"/>
    <p:sldId id="296" r:id="rId31"/>
    <p:sldId id="297" r:id="rId32"/>
    <p:sldId id="298" r:id="rId33"/>
    <p:sldId id="305" r:id="rId34"/>
    <p:sldId id="299" r:id="rId35"/>
    <p:sldId id="300" r:id="rId36"/>
    <p:sldId id="285" r:id="rId37"/>
    <p:sldId id="301" r:id="rId38"/>
    <p:sldId id="303" r:id="rId39"/>
    <p:sldId id="302" r:id="rId40"/>
    <p:sldId id="304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077"/>
    <p:restoredTop sz="95028" autoAdjust="0"/>
  </p:normalViewPr>
  <p:slideViewPr>
    <p:cSldViewPr snapToGrid="0">
      <p:cViewPr varScale="1">
        <p:scale>
          <a:sx n="144" d="100"/>
          <a:sy n="144" d="100"/>
        </p:scale>
        <p:origin x="400" y="19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08/02/2026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08/02/2026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08/02/2026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08/02/2026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08/02/2026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08/02/2026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08/02/2026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08/02/2026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08/02/2026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08/02/2026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08/02/2026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08/02/2026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08/02/2026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3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svg"/><Relationship Id="rId4" Type="http://schemas.openxmlformats.org/officeDocument/2006/relationships/image" Target="../media/image4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7" Type="http://schemas.openxmlformats.org/officeDocument/2006/relationships/image" Target="../media/image51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sv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svg"/><Relationship Id="rId4" Type="http://schemas.openxmlformats.org/officeDocument/2006/relationships/image" Target="../media/image5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svg"/><Relationship Id="rId7" Type="http://schemas.openxmlformats.org/officeDocument/2006/relationships/image" Target="../media/image61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svg"/><Relationship Id="rId4" Type="http://schemas.openxmlformats.org/officeDocument/2006/relationships/image" Target="../media/image58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sv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5.svg"/><Relationship Id="rId4" Type="http://schemas.openxmlformats.org/officeDocument/2006/relationships/image" Target="../media/image64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0.png"/><Relationship Id="rId3" Type="http://schemas.openxmlformats.org/officeDocument/2006/relationships/image" Target="../media/image400.png"/><Relationship Id="rId7" Type="http://schemas.openxmlformats.org/officeDocument/2006/relationships/image" Target="../media/image450.png"/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40.png"/><Relationship Id="rId11" Type="http://schemas.openxmlformats.org/officeDocument/2006/relationships/image" Target="../media/image491.png"/><Relationship Id="rId5" Type="http://schemas.openxmlformats.org/officeDocument/2006/relationships/image" Target="../media/image43.png"/><Relationship Id="rId10" Type="http://schemas.openxmlformats.org/officeDocument/2006/relationships/image" Target="../media/image481.png"/><Relationship Id="rId4" Type="http://schemas.openxmlformats.org/officeDocument/2006/relationships/image" Target="../media/image420.png"/><Relationship Id="rId9" Type="http://schemas.openxmlformats.org/officeDocument/2006/relationships/image" Target="../media/image47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0.png"/><Relationship Id="rId13" Type="http://schemas.openxmlformats.org/officeDocument/2006/relationships/image" Target="../media/image59.png"/><Relationship Id="rId3" Type="http://schemas.openxmlformats.org/officeDocument/2006/relationships/image" Target="../media/image480.png"/><Relationship Id="rId7" Type="http://schemas.openxmlformats.org/officeDocument/2006/relationships/image" Target="../media/image53.png"/><Relationship Id="rId12" Type="http://schemas.openxmlformats.org/officeDocument/2006/relationships/image" Target="../media/image580.png"/><Relationship Id="rId17" Type="http://schemas.openxmlformats.org/officeDocument/2006/relationships/image" Target="../media/image63.png"/><Relationship Id="rId2" Type="http://schemas.openxmlformats.org/officeDocument/2006/relationships/image" Target="../media/image470.png"/><Relationship Id="rId16" Type="http://schemas.openxmlformats.org/officeDocument/2006/relationships/image" Target="../media/image62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20.png"/><Relationship Id="rId11" Type="http://schemas.openxmlformats.org/officeDocument/2006/relationships/image" Target="../media/image57.png"/><Relationship Id="rId5" Type="http://schemas.openxmlformats.org/officeDocument/2006/relationships/image" Target="../media/image510.png"/><Relationship Id="rId15" Type="http://schemas.openxmlformats.org/officeDocument/2006/relationships/image" Target="../media/image610.png"/><Relationship Id="rId10" Type="http://schemas.openxmlformats.org/officeDocument/2006/relationships/image" Target="../media/image560.png"/><Relationship Id="rId4" Type="http://schemas.openxmlformats.org/officeDocument/2006/relationships/image" Target="../media/image490.png"/><Relationship Id="rId9" Type="http://schemas.openxmlformats.org/officeDocument/2006/relationships/image" Target="../media/image55.png"/><Relationship Id="rId14" Type="http://schemas.openxmlformats.org/officeDocument/2006/relationships/image" Target="../media/image600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Laplace Domain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Laplace Domain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Laplace </a:t>
            </a:r>
            <a:r>
              <a:rPr lang="de-DE" dirty="0" err="1"/>
              <a:t>transform</a:t>
            </a:r>
            <a:endParaRPr lang="de-DE" dirty="0"/>
          </a:p>
          <a:p>
            <a:r>
              <a:rPr lang="de-DE" dirty="0"/>
              <a:t>Transfer </a:t>
            </a:r>
            <a:r>
              <a:rPr lang="de-DE" dirty="0" err="1"/>
              <a:t>function</a:t>
            </a:r>
            <a:endParaRPr lang="de-DE" dirty="0"/>
          </a:p>
          <a:p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/>
              <a:t>Bode </a:t>
            </a:r>
            <a:r>
              <a:rPr lang="de-DE" dirty="0" err="1"/>
              <a:t>plots</a:t>
            </a:r>
            <a:endParaRPr lang="de-DE" dirty="0"/>
          </a:p>
          <a:p>
            <a:r>
              <a:rPr lang="de-DE" dirty="0" err="1"/>
              <a:t>Bandwidth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7741D1-FBFA-820C-BFA5-8ACB5E0C4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Laplace Transform?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2BD236-0880-C8F4-68F5-D1259FA32E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Converts</a:t>
            </a:r>
            <a:r>
              <a:rPr lang="de-DE" dirty="0"/>
              <a:t> differential </a:t>
            </a:r>
            <a:r>
              <a:rPr lang="de-DE" dirty="0" err="1"/>
              <a:t>equations</a:t>
            </a:r>
            <a:r>
              <a:rPr lang="de-DE" dirty="0"/>
              <a:t> (</a:t>
            </a:r>
            <a:r>
              <a:rPr lang="de-DE" dirty="0" err="1"/>
              <a:t>dynamic</a:t>
            </a:r>
            <a:r>
              <a:rPr lang="de-DE" dirty="0"/>
              <a:t> </a:t>
            </a:r>
            <a:r>
              <a:rPr lang="de-DE" dirty="0" err="1"/>
              <a:t>systems</a:t>
            </a:r>
            <a:r>
              <a:rPr lang="de-DE" dirty="0"/>
              <a:t>)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algebraic</a:t>
            </a:r>
            <a:r>
              <a:rPr lang="de-DE" dirty="0"/>
              <a:t> </a:t>
            </a:r>
            <a:r>
              <a:rPr lang="de-DE" dirty="0" err="1"/>
              <a:t>equations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easier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solve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Simplifies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 and design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Natural </a:t>
            </a:r>
            <a:r>
              <a:rPr lang="de-DE" dirty="0" err="1"/>
              <a:t>language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theory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90F3532-E720-6A9C-BDAA-D91C7C153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21888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305480-B392-6E46-7861-EE4AEBFCE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Reminder</a:t>
            </a:r>
            <a:r>
              <a:rPr lang="de-DE" dirty="0"/>
              <a:t>: Fourier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8BBEA0-AF7E-E525-FC6B-1BF45F89E9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GB" sz="3800" dirty="0">
                    <a:sym typeface="Wingdings" pitchFamily="2" charset="2"/>
                  </a:rPr>
                  <a:t>Transformation from time to frequency domain:</a:t>
                </a:r>
                <a:endParaRPr lang="de-DE" sz="38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sz="38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  <m:d>
                      <m:dPr>
                        <m:begChr m:val="{"/>
                        <m:endChr m:val="}"/>
                        <m:ctrlP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3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3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3800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GB" sz="38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GB" sz="38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sz="3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3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sSup>
                          <m:sSup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l-GR" sz="38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  <m:r>
                              <a:rPr lang="de-DE" sz="3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e-DE" sz="3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</m:oMath>
                </a14:m>
                <a:endParaRPr lang="en-GB" sz="3800" dirty="0"/>
              </a:p>
              <a:p>
                <a:pPr marL="0" indent="0">
                  <a:buNone/>
                </a:pPr>
                <a:endParaRPr lang="en-GB" sz="3800" dirty="0"/>
              </a:p>
              <a:p>
                <a:pPr marL="0" indent="0">
                  <a:buNone/>
                </a:pPr>
                <a:r>
                  <a:rPr lang="en-GB" sz="3800" dirty="0"/>
                  <a:t>Tells which frequencies </a:t>
                </a:r>
                <a14:m>
                  <m:oMath xmlns:m="http://schemas.openxmlformats.org/officeDocument/2006/math">
                    <m:r>
                      <a:rPr lang="el-GR" sz="3800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GB" sz="3800" dirty="0"/>
                  <a:t> are present in a signal or system</a:t>
                </a:r>
              </a:p>
              <a:p>
                <a:pPr marL="0" indent="0">
                  <a:buNone/>
                </a:pPr>
                <a:r>
                  <a:rPr lang="en-GB" sz="3800" dirty="0"/>
                  <a:t>To be exact, tabulation of both magnitude and phase response at each frequency </a:t>
                </a:r>
                <a:r>
                  <a:rPr lang="en-GB" sz="3800" dirty="0">
                    <a:sym typeface="Wingdings" pitchFamily="2" charset="2"/>
                  </a:rPr>
                  <a:t> complex numbers</a:t>
                </a:r>
                <a:r>
                  <a:rPr lang="en-GB" sz="3800" dirty="0"/>
                  <a:t>:</a:t>
                </a:r>
              </a:p>
              <a:p>
                <a:pPr marL="0" indent="0">
                  <a:buNone/>
                </a:pPr>
                <a:r>
                  <a:rPr lang="en-GB" sz="3800" dirty="0"/>
                  <a:t>	</a:t>
                </a:r>
                <a14:m>
                  <m:oMath xmlns:m="http://schemas.openxmlformats.org/officeDocument/2006/math">
                    <m:r>
                      <a:rPr lang="de-DE" sz="3800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GB" sz="3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i="1"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sSup>
                      <m:sSup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</m:sup>
                    </m:sSup>
                  </m:oMath>
                </a14:m>
                <a:endParaRPr lang="en-GB" sz="3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sz="3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i="1"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</m:oMath>
                </a14:m>
                <a:r>
                  <a:rPr lang="en-GB" sz="3800" dirty="0"/>
                  <a:t>: how much of that frequency in the signal (</a:t>
                </a:r>
                <a:r>
                  <a:rPr lang="de-DE" sz="3800" dirty="0" err="1"/>
                  <a:t>how</a:t>
                </a:r>
                <a:r>
                  <a:rPr lang="de-DE" sz="3800" dirty="0"/>
                  <a:t> </a:t>
                </a:r>
                <a:r>
                  <a:rPr lang="de-DE" sz="3800" dirty="0" err="1"/>
                  <a:t>much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the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system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scales</a:t>
                </a:r>
                <a:r>
                  <a:rPr lang="de-DE" sz="3800" dirty="0"/>
                  <a:t> </a:t>
                </a:r>
                <a:r>
                  <a:rPr lang="de-DE" sz="3800" dirty="0" err="1"/>
                  <a:t>each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frequency</a:t>
                </a:r>
                <a:r>
                  <a:rPr lang="en-GB" sz="3800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GB" sz="3800" dirty="0"/>
                  <a:t>: time shift of that frequency (</a:t>
                </a:r>
                <a:r>
                  <a:rPr lang="de-DE" sz="3800" dirty="0" err="1"/>
                  <a:t>how</a:t>
                </a:r>
                <a:r>
                  <a:rPr lang="de-DE" sz="3800" dirty="0"/>
                  <a:t> </a:t>
                </a:r>
                <a:r>
                  <a:rPr lang="de-DE" sz="3800" dirty="0" err="1"/>
                  <a:t>much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the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system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shifts</a:t>
                </a:r>
                <a:r>
                  <a:rPr lang="de-DE" sz="3800" dirty="0"/>
                  <a:t> </a:t>
                </a:r>
                <a:r>
                  <a:rPr lang="de-DE" sz="3800" dirty="0" err="1"/>
                  <a:t>each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frequency</a:t>
                </a:r>
                <a:r>
                  <a:rPr lang="en-GB" sz="3800" dirty="0"/>
                  <a:t>)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8BBEA0-AF7E-E525-FC6B-1BF45F89E9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93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AEBB75C-DADB-4E35-480C-549B10D19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8992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E302EC-437E-EA3F-ABBD-12AB0D05C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Idea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48E3CE-4367-8744-A430-4E4C2B85D2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Extend Fourier </a:t>
                </a:r>
                <a:r>
                  <a:rPr lang="de-DE" sz="2600" dirty="0" err="1"/>
                  <a:t>transform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include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information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about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growth</a:t>
                </a:r>
                <a:r>
                  <a:rPr lang="de-DE" sz="2600" dirty="0"/>
                  <a:t>/</a:t>
                </a:r>
                <a:r>
                  <a:rPr lang="de-DE" sz="2600" dirty="0" err="1"/>
                  <a:t>decay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behavior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b="1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/>
                  <a:t>Add </a:t>
                </a:r>
                <a:r>
                  <a:rPr lang="de-DE" sz="2600" dirty="0" err="1"/>
                  <a:t>exponential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weighting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en-GB" sz="2600" dirty="0"/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l-GR" sz="26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l-GR" sz="26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Combine </a:t>
                </a:r>
                <a:r>
                  <a:rPr lang="de-DE" sz="2600" dirty="0" err="1"/>
                  <a:t>frequency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el-GR" sz="2600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de-DE" sz="2600" dirty="0"/>
                  <a:t> and growth/</a:t>
                </a:r>
                <a:r>
                  <a:rPr lang="de-DE" sz="2600" dirty="0" err="1"/>
                  <a:t>decay</a:t>
                </a:r>
                <a:r>
                  <a:rPr lang="de-DE" sz="2600" dirty="0"/>
                  <a:t> rate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r>
                      <a:rPr lang="el-GR" sz="2600" i="1">
                        <a:latin typeface="Cambria Math" panose="02040503050406030204" pitchFamily="18" charset="0"/>
                      </a:rPr>
                      <m:t>𝜔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48E3CE-4367-8744-A430-4E4C2B85D2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 b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F01655A-660F-62ED-E799-2180FEC7C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6A86063-C604-2552-26AC-7D5E1B1F20B5}"/>
              </a:ext>
            </a:extLst>
          </p:cNvPr>
          <p:cNvSpPr txBox="1"/>
          <p:nvPr/>
        </p:nvSpPr>
        <p:spPr>
          <a:xfrm>
            <a:off x="1536569" y="4298618"/>
            <a:ext cx="15733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oscillation</a:t>
            </a:r>
            <a:endParaRPr lang="de-DE" sz="2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3849F4E-CFE9-EA0E-793A-52CA15F2FE16}"/>
              </a:ext>
            </a:extLst>
          </p:cNvPr>
          <p:cNvSpPr txBox="1"/>
          <p:nvPr/>
        </p:nvSpPr>
        <p:spPr>
          <a:xfrm>
            <a:off x="4522621" y="4298617"/>
            <a:ext cx="19745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growth</a:t>
            </a:r>
            <a:r>
              <a:rPr lang="de-DE" sz="2400" dirty="0"/>
              <a:t>/</a:t>
            </a:r>
            <a:r>
              <a:rPr lang="de-DE" sz="2400" dirty="0" err="1"/>
              <a:t>decay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BC2B73FD-6829-4343-13EB-E71DAD9B5E61}"/>
              </a:ext>
            </a:extLst>
          </p:cNvPr>
          <p:cNvCxnSpPr>
            <a:stCxn id="5" idx="0"/>
          </p:cNvCxnSpPr>
          <p:nvPr/>
        </p:nvCxnSpPr>
        <p:spPr>
          <a:xfrm flipV="1">
            <a:off x="2323259" y="3827279"/>
            <a:ext cx="786689" cy="4713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ECB353A8-BE7B-96D4-79C6-8E3AE4963CCA}"/>
              </a:ext>
            </a:extLst>
          </p:cNvPr>
          <p:cNvCxnSpPr>
            <a:stCxn id="6" idx="0"/>
          </p:cNvCxnSpPr>
          <p:nvPr/>
        </p:nvCxnSpPr>
        <p:spPr>
          <a:xfrm flipH="1" flipV="1">
            <a:off x="4522621" y="3827279"/>
            <a:ext cx="987258" cy="4713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9810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353340-A86F-3E87-7941-CD2901047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Definition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485D3F4-FE7F-D5B1-5361-8927EF1D91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Integral </a:t>
                </a:r>
                <a:r>
                  <a:rPr lang="de-DE" dirty="0" err="1"/>
                  <a:t>transform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time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begChr m:val="{"/>
                          <m:endChr m:val="}"/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𝑠𝑡</m:t>
                              </m:r>
                            </m:sup>
                          </m:s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𝑗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Back transformation: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begChr m:val="{"/>
                        <m:endChr m:val="}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den>
                    </m:f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+∞</m:t>
                        </m:r>
                      </m:sup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𝑑𝑠</m:t>
                        </m:r>
                      </m:e>
                    </m:nary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485D3F4-FE7F-D5B1-5361-8927EF1D91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8314" b="-218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5ADA87C-833A-FBF6-AD8D-199E591EE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68070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0450E5-8DCA-BD71-E31C-372FF191C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A0C95AE-41DF-5284-B3C6-42A9164E49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Laplace </a:t>
                </a:r>
                <a:r>
                  <a:rPr lang="de-DE" dirty="0" err="1"/>
                  <a:t>transform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Using</a:t>
                </a:r>
                <a:r>
                  <a:rPr lang="de-DE" dirty="0"/>
                  <a:t> partial </a:t>
                </a:r>
                <a:r>
                  <a:rPr lang="de-DE" dirty="0" err="1"/>
                  <a:t>integration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𝑑𝑣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𝑢𝑣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nary>
                          <m:naryPr>
                            <m:limLoc m:val="undOvr"/>
                            <m:subHide m:val="on"/>
                            <m:supHide m:val="on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nary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𝑑𝑢</m:t>
                        </m:r>
                      </m:e>
                    </m:nary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⇒  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𝑑𝑢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𝑑𝑡</m:t>
                    </m:r>
                  </m:oMath>
                </a14:m>
                <a:endParaRPr lang="de-DE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𝑑𝑣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⇒  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</m:t>
                        </m:r>
                      </m:sup>
                    </m:sSup>
                  </m:oMath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f>
                                  <m:f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num>
                                  <m:den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𝑠𝑡</m:t>
                                </m:r>
                              </m:sup>
                            </m:sSup>
                          </m:e>
                        </m:d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</m:sSub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den>
                            </m:f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d>
                          <m:dPr>
                            <m:begChr m:val="["/>
                            <m:endChr m:val="]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𝑠𝑡</m:t>
                                </m:r>
                              </m:sup>
                            </m:sSup>
                          </m:e>
                        </m:d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</m:sSub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A0C95AE-41DF-5284-B3C6-42A9164E49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0465" b="-1831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460D098-3B05-CE80-361C-BB91980F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  <p:sp>
        <p:nvSpPr>
          <p:cNvPr id="5" name="Geschweifte Klammer links 4">
            <a:extLst>
              <a:ext uri="{FF2B5EF4-FFF2-40B4-BE49-F238E27FC236}">
                <a16:creationId xmlns:a16="http://schemas.microsoft.com/office/drawing/2014/main" id="{5E84072F-465C-91FB-52E3-B86B0FDE7C4E}"/>
              </a:ext>
            </a:extLst>
          </p:cNvPr>
          <p:cNvSpPr/>
          <p:nvPr/>
        </p:nvSpPr>
        <p:spPr>
          <a:xfrm rot="16200000">
            <a:off x="5117233" y="5400340"/>
            <a:ext cx="275208" cy="145742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6063C84F-0D87-16AD-6AB6-9BC787932DF5}"/>
                  </a:ext>
                </a:extLst>
              </p:cNvPr>
              <p:cNvSpPr txBox="1"/>
              <p:nvPr/>
            </p:nvSpPr>
            <p:spPr>
              <a:xfrm>
                <a:off x="5048851" y="6265595"/>
                <a:ext cx="4119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6063C84F-0D87-16AD-6AB6-9BC787932D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8851" y="6265595"/>
                <a:ext cx="411972" cy="276999"/>
              </a:xfrm>
              <a:prstGeom prst="rect">
                <a:avLst/>
              </a:prstGeom>
              <a:blipFill>
                <a:blip r:embed="rId3"/>
                <a:stretch>
                  <a:fillRect l="-5882" r="-11765" b="-43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71605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8D4846C7-6201-E02C-F64D-73668B3D14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2093791"/>
                  </p:ext>
                </p:extLst>
              </p:nvPr>
            </p:nvGraphicFramePr>
            <p:xfrm>
              <a:off x="838200" y="1452794"/>
              <a:ext cx="10515600" cy="50874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108305998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327686744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949882825"/>
                        </a:ext>
                      </a:extLst>
                    </a:gridCol>
                  </a:tblGrid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Function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Time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Laplace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33481217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86937849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04566416"/>
                      </a:ext>
                    </a:extLst>
                  </a:tr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𝛿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9705255"/>
                      </a:ext>
                    </a:extLst>
                  </a:tr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𝛿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71997015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Ramp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13722524"/>
                      </a:ext>
                    </a:extLst>
                  </a:tr>
                  <a:tr h="6513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Exponential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decay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p>
                                </m:sSup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68125907"/>
                      </a:ext>
                    </a:extLst>
                  </a:tr>
                  <a:tr h="60207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Sine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unc>
                                  <m:func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de-DE" sz="2000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func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07300959"/>
                      </a:ext>
                    </a:extLst>
                  </a:tr>
                  <a:tr h="601955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Cosine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unc>
                                  <m:func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de-DE" sz="2000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func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583108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8D4846C7-6201-E02C-F64D-73668B3D14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2093791"/>
                  </p:ext>
                </p:extLst>
              </p:nvPr>
            </p:nvGraphicFramePr>
            <p:xfrm>
              <a:off x="838200" y="1452794"/>
              <a:ext cx="10515600" cy="50874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108305998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327686744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949882825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Function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Time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Laplace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33481217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64151" r="-101087" b="-60377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64151" r="-1087" b="-60377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86937849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167308" r="-101087" b="-5153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167308" r="-1087" b="-5153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04566416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448387" r="-101087" b="-76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448387" r="-1087" b="-76451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19705255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548387" r="-101087" b="-66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548387" r="-1087" b="-66451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71997015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Ramp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379245" r="-101087" b="-2886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379245" r="-1087" b="-2886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3722524"/>
                      </a:ext>
                    </a:extLst>
                  </a:tr>
                  <a:tr h="669163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Exponential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decay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479245" r="-101087" b="-1886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479245" r="-1087" b="-1886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68125907"/>
                      </a:ext>
                    </a:extLst>
                  </a:tr>
                  <a:tr h="618554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Sine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639583" r="-101087" b="-10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639583" r="-1087" b="-108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7300959"/>
                      </a:ext>
                    </a:extLst>
                  </a:tr>
                  <a:tr h="618427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Cosine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724490" r="-101087" b="-61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724490" r="-1087" b="-61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831080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itel 1">
            <a:extLst>
              <a:ext uri="{FF2B5EF4-FFF2-40B4-BE49-F238E27FC236}">
                <a16:creationId xmlns:a16="http://schemas.microsoft.com/office/drawing/2014/main" id="{05599DE0-CD22-B2A9-150F-84B7FAEF2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Laplace </a:t>
            </a:r>
            <a:r>
              <a:rPr lang="de-DE" dirty="0" err="1"/>
              <a:t>of</a:t>
            </a:r>
            <a:r>
              <a:rPr lang="de-DE" dirty="0"/>
              <a:t> Common Signals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13AC8B-8A91-1321-9E5A-A05CA1BD8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80439D3-0E86-40D2-42E6-31B4F4FF73F7}"/>
                  </a:ext>
                </a:extLst>
              </p:cNvPr>
              <p:cNvSpPr txBox="1"/>
              <p:nvPr/>
            </p:nvSpPr>
            <p:spPr>
              <a:xfrm>
                <a:off x="9007764" y="317712"/>
                <a:ext cx="2346036" cy="71019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0,  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&lt;0</m:t>
                              </m:r>
                            </m:e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1,  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80439D3-0E86-40D2-42E6-31B4F4FF73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7764" y="317712"/>
                <a:ext cx="2346036" cy="710194"/>
              </a:xfrm>
              <a:prstGeom prst="rect">
                <a:avLst/>
              </a:prstGeom>
              <a:blipFill>
                <a:blip r:embed="rId3"/>
                <a:stretch>
                  <a:fillRect l="-11230" t="-186207" b="-2724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83894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A9BC42-E68C-0322-0807-0A2128846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Properties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16535FB-F981-3403-92ED-066478092AF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Linearity:	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Convolution</a:t>
                </a:r>
                <a:r>
                  <a:rPr lang="de-DE" sz="2400" dirty="0"/>
                  <a:t>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  <m:e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nary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Derivative: 		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𝑑𝑓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𝑑𝑥</m:t>
                            </m:r>
                          </m:den>
                        </m:f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𝑠𝐹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Integration: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nary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</m:d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Frequency</a:t>
                </a:r>
                <a:r>
                  <a:rPr lang="de-DE" sz="2400" dirty="0"/>
                  <a:t> Shifting: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𝑎𝑡</m:t>
                            </m:r>
                          </m:sup>
                        </m:s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Time Shifting: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Time </a:t>
                </a:r>
                <a:r>
                  <a:rPr lang="de-DE" sz="2400" dirty="0" err="1"/>
                  <a:t>Scaling</a:t>
                </a:r>
                <a:r>
                  <a:rPr lang="de-DE" sz="2400" dirty="0"/>
                  <a:t>:	</a:t>
                </a: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num>
                          <m:den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den>
                        </m:f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16535FB-F981-3403-92ED-066478092A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52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A939DB5-CD67-A9DD-27AD-5E3141FE8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9700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251533-F42B-419C-A4CD-31DD8AECE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300" dirty="0" err="1"/>
              <a:t>From</a:t>
            </a:r>
            <a:r>
              <a:rPr lang="de-DE" sz="4300" dirty="0"/>
              <a:t> Differential </a:t>
            </a:r>
            <a:r>
              <a:rPr lang="de-DE" sz="4300" dirty="0" err="1"/>
              <a:t>Equation</a:t>
            </a:r>
            <a:r>
              <a:rPr lang="de-DE" sz="4300" dirty="0"/>
              <a:t> </a:t>
            </a:r>
            <a:r>
              <a:rPr lang="de-DE" sz="4300" dirty="0" err="1"/>
              <a:t>to</a:t>
            </a:r>
            <a:r>
              <a:rPr lang="de-DE" sz="4300" dirty="0"/>
              <a:t> Transfer </a:t>
            </a:r>
            <a:r>
              <a:rPr lang="de-DE" sz="4300" dirty="0" err="1"/>
              <a:t>Function</a:t>
            </a:r>
            <a:endParaRPr lang="de-DE" sz="4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C0814A-0B2E-8933-573E-B78712037C0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8958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Example: PT2 </a:t>
                </a:r>
                <a:r>
                  <a:rPr lang="de-DE" dirty="0" err="1"/>
                  <a:t>system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Time </a:t>
                </a:r>
                <a:r>
                  <a:rPr lang="de-DE" dirty="0" err="1"/>
                  <a:t>domain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domain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r>
                  <a:rPr lang="de-DE" dirty="0"/>
                  <a:t>   </a:t>
                </a:r>
                <a:r>
                  <a:rPr lang="de-DE" sz="1800" dirty="0"/>
                  <a:t>(assuming zero initial conditions)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C0814A-0B2E-8933-573E-B78712037C0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895851"/>
              </a:xfrm>
              <a:blipFill>
                <a:blip r:embed="rId2"/>
                <a:stretch>
                  <a:fillRect l="-1206" t="-20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9F6243-702E-1E02-C457-E736D622D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0F5E8B2-45E4-89B4-7912-B07D684D37B7}"/>
                  </a:ext>
                </a:extLst>
              </p:cNvPr>
              <p:cNvSpPr txBox="1"/>
              <p:nvPr/>
            </p:nvSpPr>
            <p:spPr>
              <a:xfrm>
                <a:off x="10192284" y="2910742"/>
                <a:ext cx="80977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0F5E8B2-45E4-89B4-7912-B07D684D37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284" y="2910742"/>
                <a:ext cx="809773" cy="461665"/>
              </a:xfrm>
              <a:prstGeom prst="rect">
                <a:avLst/>
              </a:prstGeom>
              <a:blipFill>
                <a:blip r:embed="rId3"/>
                <a:stretch>
                  <a:fillRect r="-1538" b="-1578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F913E791-7613-C30A-347C-02884F72661E}"/>
              </a:ext>
            </a:extLst>
          </p:cNvPr>
          <p:cNvCxnSpPr>
            <a:cxnSpLocks/>
          </p:cNvCxnSpPr>
          <p:nvPr/>
        </p:nvCxnSpPr>
        <p:spPr>
          <a:xfrm>
            <a:off x="2509015" y="3142918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14FA5D6-DF76-B2BC-4B06-780B8B784E5C}"/>
              </a:ext>
            </a:extLst>
          </p:cNvPr>
          <p:cNvCxnSpPr/>
          <p:nvPr/>
        </p:nvCxnSpPr>
        <p:spPr>
          <a:xfrm>
            <a:off x="9213807" y="3150812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794E66B7-B077-AC67-6F46-1773B05BCC76}"/>
                  </a:ext>
                </a:extLst>
              </p:cNvPr>
              <p:cNvSpPr txBox="1"/>
              <p:nvPr/>
            </p:nvSpPr>
            <p:spPr>
              <a:xfrm>
                <a:off x="3496810" y="2897772"/>
                <a:ext cx="5720811" cy="48648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l-GR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)+2</m:t>
                      </m:r>
                      <m:r>
                        <a:rPr lang="el-GR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sSubSup>
                        <m:sSubSupPr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>
                          <a:latin typeface="Cambria Math" panose="02040503050406030204" pitchFamily="18" charset="0"/>
                        </a:rPr>
                        <m:t>𝐾𝑢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794E66B7-B077-AC67-6F46-1773B05BCC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6810" y="2897772"/>
                <a:ext cx="5720811" cy="486480"/>
              </a:xfrm>
              <a:prstGeom prst="rect">
                <a:avLst/>
              </a:prstGeom>
              <a:blipFill>
                <a:blip r:embed="rId4"/>
                <a:stretch>
                  <a:fillRect b="-15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E1A24DBA-3C8D-C009-0E94-477D2917AD70}"/>
                  </a:ext>
                </a:extLst>
              </p:cNvPr>
              <p:cNvSpPr txBox="1"/>
              <p:nvPr/>
            </p:nvSpPr>
            <p:spPr>
              <a:xfrm>
                <a:off x="1701187" y="2907011"/>
                <a:ext cx="81714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E1A24DBA-3C8D-C009-0E94-477D2917AD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187" y="2907011"/>
                <a:ext cx="817147" cy="461665"/>
              </a:xfrm>
              <a:prstGeom prst="rect">
                <a:avLst/>
              </a:prstGeom>
              <a:blipFill>
                <a:blip r:embed="rId5"/>
                <a:stretch>
                  <a:fillRect r="-1515" b="-1315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5F02E721-CABC-CE77-CFD7-412C060EB1BC}"/>
                  </a:ext>
                </a:extLst>
              </p:cNvPr>
              <p:cNvSpPr txBox="1"/>
              <p:nvPr/>
            </p:nvSpPr>
            <p:spPr>
              <a:xfrm>
                <a:off x="10192284" y="4460549"/>
                <a:ext cx="8460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5F02E721-CABC-CE77-CFD7-412C060EB1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284" y="4460549"/>
                <a:ext cx="846064" cy="461665"/>
              </a:xfrm>
              <a:prstGeom prst="rect">
                <a:avLst/>
              </a:prstGeom>
              <a:blipFill>
                <a:blip r:embed="rId6"/>
                <a:stretch>
                  <a:fillRect r="-1471" b="-162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DFCA4F09-2041-F6FA-DD21-E4AA47005528}"/>
              </a:ext>
            </a:extLst>
          </p:cNvPr>
          <p:cNvCxnSpPr>
            <a:cxnSpLocks/>
          </p:cNvCxnSpPr>
          <p:nvPr/>
        </p:nvCxnSpPr>
        <p:spPr>
          <a:xfrm>
            <a:off x="2527920" y="4691381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55DCF5B-69FD-7B0B-DFF5-20A1025CEA65}"/>
              </a:ext>
            </a:extLst>
          </p:cNvPr>
          <p:cNvCxnSpPr/>
          <p:nvPr/>
        </p:nvCxnSpPr>
        <p:spPr>
          <a:xfrm>
            <a:off x="9217889" y="4699416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64506CBA-2C2C-10F9-291E-1CE106DE14E0}"/>
                  </a:ext>
                </a:extLst>
              </p:cNvPr>
              <p:cNvSpPr txBox="1"/>
              <p:nvPr/>
            </p:nvSpPr>
            <p:spPr>
              <a:xfrm>
                <a:off x="3497077" y="4460549"/>
                <a:ext cx="5720812" cy="46166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)+2</m:t>
                      </m:r>
                      <m:r>
                        <a:rPr lang="el-GR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64506CBA-2C2C-10F9-291E-1CE106DE14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7077" y="4460549"/>
                <a:ext cx="5720812" cy="461665"/>
              </a:xfrm>
              <a:prstGeom prst="rect">
                <a:avLst/>
              </a:prstGeom>
              <a:blipFill>
                <a:blip r:embed="rId7"/>
                <a:stretch>
                  <a:fillRect r="-664" b="-1578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47372D84-0E50-E2ED-E22A-463C86DED7A0}"/>
                  </a:ext>
                </a:extLst>
              </p:cNvPr>
              <p:cNvSpPr txBox="1"/>
              <p:nvPr/>
            </p:nvSpPr>
            <p:spPr>
              <a:xfrm>
                <a:off x="1701187" y="4460549"/>
                <a:ext cx="87023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47372D84-0E50-E2ED-E22A-463C86DED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187" y="4460549"/>
                <a:ext cx="870238" cy="461665"/>
              </a:xfrm>
              <a:prstGeom prst="rect">
                <a:avLst/>
              </a:prstGeom>
              <a:blipFill>
                <a:blip r:embed="rId8"/>
                <a:stretch>
                  <a:fillRect r="-1429" b="-162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5EC354DA-6C50-D707-37BB-3DCE70F5E26C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3943927" y="3323507"/>
            <a:ext cx="64885" cy="9576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Geschweifte Klammer links 27">
            <a:extLst>
              <a:ext uri="{FF2B5EF4-FFF2-40B4-BE49-F238E27FC236}">
                <a16:creationId xmlns:a16="http://schemas.microsoft.com/office/drawing/2014/main" id="{3D5D5395-4FAB-E768-6666-0B2153BC6D53}"/>
              </a:ext>
            </a:extLst>
          </p:cNvPr>
          <p:cNvSpPr/>
          <p:nvPr/>
        </p:nvSpPr>
        <p:spPr>
          <a:xfrm rot="5400000">
            <a:off x="3880806" y="3974049"/>
            <a:ext cx="256012" cy="87023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89393827-5039-EC2A-994B-DE0EFC26520C}"/>
              </a:ext>
            </a:extLst>
          </p:cNvPr>
          <p:cNvCxnSpPr>
            <a:cxnSpLocks/>
            <a:endCxn id="33" idx="1"/>
          </p:cNvCxnSpPr>
          <p:nvPr/>
        </p:nvCxnSpPr>
        <p:spPr>
          <a:xfrm>
            <a:off x="5548138" y="3335279"/>
            <a:ext cx="347821" cy="9458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Geschweifte Klammer links 32">
            <a:extLst>
              <a:ext uri="{FF2B5EF4-FFF2-40B4-BE49-F238E27FC236}">
                <a16:creationId xmlns:a16="http://schemas.microsoft.com/office/drawing/2014/main" id="{AD4E5C9C-DF8C-E2A8-368B-46C4DAE9E293}"/>
              </a:ext>
            </a:extLst>
          </p:cNvPr>
          <p:cNvSpPr/>
          <p:nvPr/>
        </p:nvSpPr>
        <p:spPr>
          <a:xfrm rot="5400000">
            <a:off x="5767954" y="4061346"/>
            <a:ext cx="256011" cy="69564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F119464F-EEAD-1565-F3AE-F42AF471BA38}"/>
              </a:ext>
            </a:extLst>
          </p:cNvPr>
          <p:cNvCxnSpPr>
            <a:cxnSpLocks/>
          </p:cNvCxnSpPr>
          <p:nvPr/>
        </p:nvCxnSpPr>
        <p:spPr>
          <a:xfrm>
            <a:off x="6854670" y="3317144"/>
            <a:ext cx="259869" cy="12286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6F4165CB-1C5D-7E8A-56D4-52E984E2D6B1}"/>
              </a:ext>
            </a:extLst>
          </p:cNvPr>
          <p:cNvCxnSpPr>
            <a:cxnSpLocks/>
          </p:cNvCxnSpPr>
          <p:nvPr/>
        </p:nvCxnSpPr>
        <p:spPr>
          <a:xfrm>
            <a:off x="8428583" y="3335279"/>
            <a:ext cx="225937" cy="12105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27639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D6C1A5-60C2-D776-E22C-DF4611C42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2FE3B30-8FA2-29B5-DC74-3E46F1E9FE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Ratio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sz="2600" dirty="0"/>
                  <a:t> in Laplace </a:t>
                </a:r>
                <a:r>
                  <a:rPr lang="de-DE" sz="2600" dirty="0" err="1"/>
                  <a:t>domain</a:t>
                </a: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Fully </a:t>
                </a:r>
                <a:r>
                  <a:rPr lang="de-DE" sz="2600" dirty="0" err="1">
                    <a:sym typeface="Wingdings" pitchFamily="2" charset="2"/>
                  </a:rPr>
                  <a:t>d</a:t>
                </a:r>
                <a:r>
                  <a:rPr lang="de-DE" sz="2600" dirty="0" err="1"/>
                  <a:t>escribes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–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dynamics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independent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b="0" dirty="0"/>
                  <a:t>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)∙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In time </a:t>
                </a:r>
                <a:r>
                  <a:rPr lang="de-DE" sz="2600" dirty="0" err="1"/>
                  <a:t>domain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this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corresponds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convolution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with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impulse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, </a:t>
                </a:r>
                <a:r>
                  <a:rPr lang="de-DE" sz="2600" b="1" dirty="0" err="1"/>
                  <a:t>assuming</a:t>
                </a:r>
                <a:r>
                  <a:rPr lang="de-DE" sz="2600" b="1" dirty="0"/>
                  <a:t> </a:t>
                </a:r>
                <a:r>
                  <a:rPr lang="de-DE" sz="2600" b="1" dirty="0" err="1"/>
                  <a:t>zero</a:t>
                </a:r>
                <a:r>
                  <a:rPr lang="de-DE" sz="2600" b="1" dirty="0"/>
                  <a:t> initial </a:t>
                </a:r>
                <a:r>
                  <a:rPr lang="de-DE" sz="2600" b="1" dirty="0" err="1"/>
                  <a:t>conditions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d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d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</m:nary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2FE3B30-8FA2-29B5-DC74-3E46F1E9FE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 b="-142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64B9C5-72B9-E365-6CAF-535A0DBA5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0801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7A717C-56F5-869C-9F4F-CFC5A09ED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PT1 System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980466F-EC9F-11A8-2191-9A06327958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Differential </a:t>
                </a:r>
                <a:r>
                  <a:rPr lang="de-DE" dirty="0" err="1"/>
                  <a:t>equation</a:t>
                </a:r>
                <a:r>
                  <a:rPr lang="de-DE" dirty="0"/>
                  <a:t>:</a:t>
                </a: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Laplace </a:t>
                </a:r>
                <a:r>
                  <a:rPr lang="de-DE" dirty="0" err="1"/>
                  <a:t>transform</a:t>
                </a:r>
                <a:r>
                  <a:rPr lang="de-DE" dirty="0"/>
                  <a:t>: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)+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980466F-EC9F-11A8-2191-9A06327958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b="-290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B163DCA-9B91-9E99-FD6C-FFD953846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B0BAB35-2806-3FDB-8F36-D520F89DF365}"/>
              </a:ext>
            </a:extLst>
          </p:cNvPr>
          <p:cNvSpPr txBox="1"/>
          <p:nvPr/>
        </p:nvSpPr>
        <p:spPr>
          <a:xfrm>
            <a:off x="5950525" y="5518787"/>
            <a:ext cx="31218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independent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input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E685B94A-EE34-03D7-2D4F-F31D1DFD6F85}"/>
              </a:ext>
            </a:extLst>
          </p:cNvPr>
          <p:cNvCxnSpPr>
            <a:cxnSpLocks/>
          </p:cNvCxnSpPr>
          <p:nvPr/>
        </p:nvCxnSpPr>
        <p:spPr>
          <a:xfrm flipH="1">
            <a:off x="5052291" y="5726544"/>
            <a:ext cx="87745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3974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EEBE27-2089-8658-8E1C-BE5BB40B6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Free Fall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Viscous</a:t>
            </a:r>
            <a:r>
              <a:rPr lang="de-DE" dirty="0"/>
              <a:t> </a:t>
            </a:r>
            <a:r>
              <a:rPr lang="de-DE" dirty="0" err="1"/>
              <a:t>Damping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4903176-6CCA-E752-C547-6FA132594B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𝑔</m:t>
                      </m:r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r>
                  <a:rPr lang="de-DE" sz="2400" dirty="0" err="1"/>
                  <a:t>where</a:t>
                </a:r>
                <a:r>
                  <a:rPr lang="de-DE" sz="2400" dirty="0"/>
                  <a:t>  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0,  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        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&lt;0</m:t>
                            </m:r>
                          </m:e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≥0</m:t>
                            </m:r>
                          </m:e>
                        </m:eqArr>
                      </m:e>
                    </m:d>
                  </m:oMath>
                </a14:m>
                <a:r>
                  <a:rPr lang="de-DE" sz="2400" dirty="0">
                    <a:sym typeface="Wingdings" pitchFamily="2" charset="2"/>
                  </a:rPr>
                  <a:t>   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𝑔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</m:d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𝑔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num>
                                <m:den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den>
                              </m:f>
                            </m:e>
                          </m:d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 algn="ctr">
                  <a:buNone/>
                </a:pPr>
                <a:endParaRPr lang="de-DE" sz="2400" dirty="0"/>
              </a:p>
              <a:p>
                <a:pPr marL="0" indent="0" algn="ctr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</m:t>
                                </m:r>
                              </m:num>
                              <m:den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den>
                            </m:f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4903176-6CCA-E752-C547-6FA132594B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4419" b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C0A9BED-36D9-F6D5-0FB2-03A0B3657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EBAA95D-43F5-3671-494D-3017DB170156}"/>
                  </a:ext>
                </a:extLst>
              </p:cNvPr>
              <p:cNvSpPr txBox="1"/>
              <p:nvPr/>
            </p:nvSpPr>
            <p:spPr>
              <a:xfrm>
                <a:off x="339437" y="5379043"/>
                <a:ext cx="2313647" cy="11598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Transformation </a:t>
                </a:r>
                <a:r>
                  <a:rPr lang="de-DE" dirty="0" err="1"/>
                  <a:t>table</a:t>
                </a:r>
                <a:r>
                  <a:rPr lang="de-DE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</m:d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↦1−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EBAA95D-43F5-3671-494D-3017DB1701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437" y="5379043"/>
                <a:ext cx="2313647" cy="1159869"/>
              </a:xfrm>
              <a:prstGeom prst="rect">
                <a:avLst/>
              </a:prstGeom>
              <a:blipFill>
                <a:blip r:embed="rId3"/>
                <a:stretch>
                  <a:fillRect l="-2186" t="-2151" r="-109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BE65760-D317-37B3-5341-D1FE4988D8CE}"/>
                  </a:ext>
                </a:extLst>
              </p:cNvPr>
              <p:cNvSpPr txBox="1"/>
              <p:nvPr/>
            </p:nvSpPr>
            <p:spPr>
              <a:xfrm>
                <a:off x="5387109" y="6291242"/>
                <a:ext cx="1417782" cy="5667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BE65760-D317-37B3-5341-D1FE4988D8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7109" y="6291242"/>
                <a:ext cx="1417782" cy="566758"/>
              </a:xfrm>
              <a:prstGeom prst="rect">
                <a:avLst/>
              </a:prstGeom>
              <a:blipFill>
                <a:blip r:embed="rId4"/>
                <a:stretch>
                  <a:fillRect b="-22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99746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991F3DA-F3CC-74FD-02C3-50B802FF4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System Response </a:t>
            </a:r>
            <a:r>
              <a:rPr lang="de-DE" dirty="0" err="1"/>
              <a:t>with</a:t>
            </a:r>
            <a:r>
              <a:rPr lang="de-DE" dirty="0"/>
              <a:t> Transfer </a:t>
            </a:r>
            <a:r>
              <a:rPr lang="de-DE" dirty="0" err="1"/>
              <a:t>Function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4642B1-11C5-4647-A145-4CED7244D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EF41D7CB-C624-51DE-5592-461ECED117E3}"/>
              </a:ext>
            </a:extLst>
          </p:cNvPr>
          <p:cNvGrpSpPr/>
          <p:nvPr/>
        </p:nvGrpSpPr>
        <p:grpSpPr>
          <a:xfrm>
            <a:off x="2520988" y="2136261"/>
            <a:ext cx="4951767" cy="3774516"/>
            <a:chOff x="2551546" y="2435360"/>
            <a:chExt cx="4951767" cy="377451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Abgerundetes Rechteck 5">
                  <a:extLst>
                    <a:ext uri="{FF2B5EF4-FFF2-40B4-BE49-F238E27FC236}">
                      <a16:creationId xmlns:a16="http://schemas.microsoft.com/office/drawing/2014/main" id="{C60390A0-8CE1-82BC-04FF-19D1CA2AA719}"/>
                    </a:ext>
                  </a:extLst>
                </p:cNvPr>
                <p:cNvSpPr/>
                <p:nvPr/>
              </p:nvSpPr>
              <p:spPr>
                <a:xfrm>
                  <a:off x="2551546" y="2435360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Differential </a:t>
                  </a:r>
                  <a:r>
                    <a:rPr lang="de-DE" sz="2000" dirty="0" err="1"/>
                    <a:t>equation</a:t>
                  </a:r>
                  <a:endParaRPr lang="de-DE" sz="2000" dirty="0"/>
                </a:p>
                <a:p>
                  <a:pPr algn="ctr"/>
                  <a:r>
                    <a:rPr lang="de-DE" sz="2000" dirty="0"/>
                    <a:t>(</a:t>
                  </a:r>
                  <a:r>
                    <a:rPr lang="de-DE" sz="2000" dirty="0" err="1"/>
                    <a:t>with</a:t>
                  </a:r>
                  <a:r>
                    <a:rPr lang="de-DE" sz="2000" dirty="0"/>
                    <a:t> </a:t>
                  </a:r>
                  <a14:m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nor/>
                        </m:rPr>
                        <a:rPr lang="de-DE" sz="2000" b="0" i="0" dirty="0" smtClean="0"/>
                        <m:t>)</m:t>
                      </m:r>
                    </m:oMath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6" name="Abgerundetes Rechteck 5">
                  <a:extLst>
                    <a:ext uri="{FF2B5EF4-FFF2-40B4-BE49-F238E27FC236}">
                      <a16:creationId xmlns:a16="http://schemas.microsoft.com/office/drawing/2014/main" id="{C60390A0-8CE1-82BC-04FF-19D1CA2AA71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51546" y="2435360"/>
                  <a:ext cx="1634836" cy="1256145"/>
                </a:xfrm>
                <a:prstGeom prst="round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Abgerundetes Rechteck 6">
                  <a:extLst>
                    <a:ext uri="{FF2B5EF4-FFF2-40B4-BE49-F238E27FC236}">
                      <a16:creationId xmlns:a16="http://schemas.microsoft.com/office/drawing/2014/main" id="{FDC82FED-6544-956F-F8EC-A0C726980C1B}"/>
                    </a:ext>
                  </a:extLst>
                </p:cNvPr>
                <p:cNvSpPr/>
                <p:nvPr/>
              </p:nvSpPr>
              <p:spPr>
                <a:xfrm>
                  <a:off x="5636569" y="2435360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Solution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7" name="Abgerundetes Rechteck 6">
                  <a:extLst>
                    <a:ext uri="{FF2B5EF4-FFF2-40B4-BE49-F238E27FC236}">
                      <a16:creationId xmlns:a16="http://schemas.microsoft.com/office/drawing/2014/main" id="{FDC82FED-6544-956F-F8EC-A0C726980C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6569" y="2435360"/>
                  <a:ext cx="1634836" cy="1256145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Abgerundetes Rechteck 7">
              <a:extLst>
                <a:ext uri="{FF2B5EF4-FFF2-40B4-BE49-F238E27FC236}">
                  <a16:creationId xmlns:a16="http://schemas.microsoft.com/office/drawing/2014/main" id="{3407EC1A-17C8-7B8B-9BBE-08EF60B28A4E}"/>
                </a:ext>
              </a:extLst>
            </p:cNvPr>
            <p:cNvSpPr/>
            <p:nvPr/>
          </p:nvSpPr>
          <p:spPr>
            <a:xfrm>
              <a:off x="2551546" y="4953731"/>
              <a:ext cx="1634836" cy="125614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dirty="0" err="1"/>
                <a:t>Algebraic</a:t>
              </a:r>
              <a:r>
                <a:rPr lang="de-DE" sz="2000" dirty="0"/>
                <a:t> </a:t>
              </a:r>
              <a:r>
                <a:rPr lang="de-DE" sz="2000" dirty="0" err="1"/>
                <a:t>equation</a:t>
              </a:r>
              <a:endParaRPr lang="de-DE" sz="20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Abgerundetes Rechteck 9">
                  <a:extLst>
                    <a:ext uri="{FF2B5EF4-FFF2-40B4-BE49-F238E27FC236}">
                      <a16:creationId xmlns:a16="http://schemas.microsoft.com/office/drawing/2014/main" id="{9B55D1FF-8D4B-63AF-2DFC-F9800997C8D4}"/>
                    </a:ext>
                  </a:extLst>
                </p:cNvPr>
                <p:cNvSpPr/>
                <p:nvPr/>
              </p:nvSpPr>
              <p:spPr>
                <a:xfrm>
                  <a:off x="5636569" y="4953731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Solution</a:t>
                  </a:r>
                  <a:endParaRPr lang="de-DE" sz="1300" b="0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d>
                          <m:dPr>
                            <m:ctrlPr>
                              <a:rPr lang="de-DE" sz="13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13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)∙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sz="1300" dirty="0"/>
                </a:p>
              </p:txBody>
            </p:sp>
          </mc:Choice>
          <mc:Fallback xmlns="">
            <p:sp>
              <p:nvSpPr>
                <p:cNvPr id="10" name="Abgerundetes Rechteck 9">
                  <a:extLst>
                    <a:ext uri="{FF2B5EF4-FFF2-40B4-BE49-F238E27FC236}">
                      <a16:creationId xmlns:a16="http://schemas.microsoft.com/office/drawing/2014/main" id="{9B55D1FF-8D4B-63AF-2DFC-F9800997C8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6569" y="4953731"/>
                  <a:ext cx="1634836" cy="1256145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E9430C34-855F-F102-D34C-11CA78692FBB}"/>
                    </a:ext>
                  </a:extLst>
                </p:cNvPr>
                <p:cNvSpPr txBox="1"/>
                <p:nvPr/>
              </p:nvSpPr>
              <p:spPr>
                <a:xfrm>
                  <a:off x="2685443" y="4069622"/>
                  <a:ext cx="296748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oMath>
                    </m:oMathPara>
                  </a14:m>
                  <a:endParaRPr lang="de-DE" sz="2800" dirty="0"/>
                </a:p>
              </p:txBody>
            </p:sp>
          </mc:Choice>
          <mc:Fallback xmlns="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E9430C34-855F-F102-D34C-11CA78692F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5443" y="4069622"/>
                  <a:ext cx="296748" cy="430887"/>
                </a:xfrm>
                <a:prstGeom prst="rect">
                  <a:avLst/>
                </a:prstGeom>
                <a:blipFill>
                  <a:blip r:embed="rId5"/>
                  <a:stretch>
                    <a:fillRect l="-29167" r="-25000" b="-5882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4B842ED-7FC5-1D39-9F76-E820A7C3C5A9}"/>
                    </a:ext>
                  </a:extLst>
                </p:cNvPr>
                <p:cNvSpPr txBox="1"/>
                <p:nvPr/>
              </p:nvSpPr>
              <p:spPr>
                <a:xfrm>
                  <a:off x="6840759" y="4069622"/>
                  <a:ext cx="662554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de-DE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ℒ</m:t>
                            </m:r>
                          </m:e>
                          <m:sup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de-DE" sz="2800" dirty="0"/>
                </a:p>
              </p:txBody>
            </p:sp>
          </mc:Choice>
          <mc:Fallback xmlns="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4B842ED-7FC5-1D39-9F76-E820A7C3C5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40759" y="4069622"/>
                  <a:ext cx="662554" cy="430887"/>
                </a:xfrm>
                <a:prstGeom prst="rect">
                  <a:avLst/>
                </a:prstGeom>
                <a:blipFill>
                  <a:blip r:embed="rId6"/>
                  <a:stretch>
                    <a:fillRect l="-13208" t="-2941" r="-3774" b="-5882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Pfeil nach unten 12">
              <a:extLst>
                <a:ext uri="{FF2B5EF4-FFF2-40B4-BE49-F238E27FC236}">
                  <a16:creationId xmlns:a16="http://schemas.microsoft.com/office/drawing/2014/main" id="{C4E8C679-6F33-E58A-FEB1-A159C0C7BC4F}"/>
                </a:ext>
              </a:extLst>
            </p:cNvPr>
            <p:cNvSpPr/>
            <p:nvPr/>
          </p:nvSpPr>
          <p:spPr>
            <a:xfrm>
              <a:off x="3071091" y="3928676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4" name="Pfeil nach unten 13">
              <a:extLst>
                <a:ext uri="{FF2B5EF4-FFF2-40B4-BE49-F238E27FC236}">
                  <a16:creationId xmlns:a16="http://schemas.microsoft.com/office/drawing/2014/main" id="{8CFD042A-E7A7-B998-A994-E185236A30FF}"/>
                </a:ext>
              </a:extLst>
            </p:cNvPr>
            <p:cNvSpPr/>
            <p:nvPr/>
          </p:nvSpPr>
          <p:spPr>
            <a:xfrm rot="16200000">
              <a:off x="4613603" y="5175402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5" name="Pfeil nach unten 14">
              <a:extLst>
                <a:ext uri="{FF2B5EF4-FFF2-40B4-BE49-F238E27FC236}">
                  <a16:creationId xmlns:a16="http://schemas.microsoft.com/office/drawing/2014/main" id="{6735BAF9-E180-5535-F394-C0ED2EB85AEB}"/>
                </a:ext>
              </a:extLst>
            </p:cNvPr>
            <p:cNvSpPr/>
            <p:nvPr/>
          </p:nvSpPr>
          <p:spPr>
            <a:xfrm rot="10800000">
              <a:off x="6156114" y="3916218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sp>
        <p:nvSpPr>
          <p:cNvPr id="17" name="Textfeld 16">
            <a:extLst>
              <a:ext uri="{FF2B5EF4-FFF2-40B4-BE49-F238E27FC236}">
                <a16:creationId xmlns:a16="http://schemas.microsoft.com/office/drawing/2014/main" id="{5DCA6251-648F-272C-D284-5854FDFF9B09}"/>
              </a:ext>
            </a:extLst>
          </p:cNvPr>
          <p:cNvSpPr txBox="1"/>
          <p:nvPr/>
        </p:nvSpPr>
        <p:spPr>
          <a:xfrm>
            <a:off x="8968685" y="3820533"/>
            <a:ext cx="258006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most</a:t>
            </a:r>
            <a:r>
              <a:rPr lang="de-DE" sz="2200" dirty="0"/>
              <a:t> </a:t>
            </a:r>
            <a:r>
              <a:rPr lang="de-DE" sz="2200" dirty="0" err="1"/>
              <a:t>elaborate</a:t>
            </a:r>
            <a:r>
              <a:rPr lang="de-DE" sz="2200" dirty="0"/>
              <a:t> </a:t>
            </a:r>
            <a:r>
              <a:rPr lang="de-DE" sz="2200" dirty="0" err="1"/>
              <a:t>part</a:t>
            </a:r>
            <a:endParaRPr lang="de-DE" sz="2200" dirty="0"/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53CAC93A-0896-9F37-36E4-DF895F5CCD44}"/>
              </a:ext>
            </a:extLst>
          </p:cNvPr>
          <p:cNvCxnSpPr>
            <a:stCxn id="17" idx="1"/>
            <a:endCxn id="12" idx="3"/>
          </p:cNvCxnSpPr>
          <p:nvPr/>
        </p:nvCxnSpPr>
        <p:spPr>
          <a:xfrm flipH="1" flipV="1">
            <a:off x="7472755" y="3985967"/>
            <a:ext cx="1495930" cy="500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97435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9FF17A-ACAD-0C7F-FA2D-2E1F656A4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r>
              <a:rPr lang="de-DE" dirty="0"/>
              <a:t> in Polynomial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ACEB9D5-0412-E8FF-40F9-DF71857058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180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el-G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de-DE" sz="1800" i="1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sSup>
                            <m:sSup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l-G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𝜁</m:t>
                          </m:r>
                          <m:sSub>
                            <m:sSubPr>
                              <m:ctrlPr>
                                <a:rPr lang="el-G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l-G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,  …</m:t>
                      </m:r>
                    </m:oMath>
                  </m:oMathPara>
                </a14:m>
                <a:endParaRPr lang="de-DE" sz="1800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p>
                          <m:sSup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f>
                          <m:f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num>
                      <m:den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∏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  <m:e>
                            <m:d>
                              <m:dPr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num>
                      <m:den>
                        <m:nary>
                          <m:naryPr>
                            <m:chr m:val="∏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den>
                    </m:f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ACEB9D5-0412-E8FF-40F9-DF71857058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b="-959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01D8AB-1A6B-3BA3-1ABE-B24A0DAC5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C524DCC-4A05-2DF6-7FAB-368DFC4A5E28}"/>
                  </a:ext>
                </a:extLst>
              </p:cNvPr>
              <p:cNvSpPr txBox="1"/>
              <p:nvPr/>
            </p:nvSpPr>
            <p:spPr>
              <a:xfrm>
                <a:off x="5314022" y="5231215"/>
                <a:ext cx="4174989" cy="46166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roots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numerator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de-DE" sz="2400" dirty="0"/>
                  <a:t> zeros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C524DCC-4A05-2DF6-7FAB-368DFC4A5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4022" y="5231215"/>
                <a:ext cx="4174989" cy="461665"/>
              </a:xfrm>
              <a:prstGeom prst="rect">
                <a:avLst/>
              </a:prstGeom>
              <a:blipFill>
                <a:blip r:embed="rId3"/>
                <a:stretch>
                  <a:fillRect l="-2424" t="-7895" b="-2894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5FB51312-3789-7603-D6F3-A5689EC22FC0}"/>
                  </a:ext>
                </a:extLst>
              </p:cNvPr>
              <p:cNvSpPr txBox="1"/>
              <p:nvPr/>
            </p:nvSpPr>
            <p:spPr>
              <a:xfrm>
                <a:off x="5314022" y="5786177"/>
                <a:ext cx="4447884" cy="49019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roots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denominator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de-DE" sz="2400" dirty="0"/>
                  <a:t> poles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5FB51312-3789-7603-D6F3-A5689EC22F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4022" y="5786177"/>
                <a:ext cx="4447884" cy="490199"/>
              </a:xfrm>
              <a:prstGeom prst="rect">
                <a:avLst/>
              </a:prstGeom>
              <a:blipFill>
                <a:blip r:embed="rId4"/>
                <a:stretch>
                  <a:fillRect l="-2279" t="-7500" b="-25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C9808AD5-7B95-DF7C-8A21-F1067736C967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4465558" y="5335480"/>
            <a:ext cx="848464" cy="1265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E7EC522-CE07-C335-C674-FF6647DCCCB3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4465558" y="5705681"/>
            <a:ext cx="848464" cy="3255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0A24B6BD-9064-2C10-584D-40EE55520987}"/>
              </a:ext>
            </a:extLst>
          </p:cNvPr>
          <p:cNvSpPr txBox="1"/>
          <p:nvPr/>
        </p:nvSpPr>
        <p:spPr>
          <a:xfrm>
            <a:off x="8308285" y="1954045"/>
            <a:ext cx="332805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Input </a:t>
            </a:r>
            <a:r>
              <a:rPr lang="de-DE" dirty="0" err="1"/>
              <a:t>coupling</a:t>
            </a:r>
            <a:r>
              <a:rPr lang="de-DE" dirty="0"/>
              <a:t>:</a:t>
            </a:r>
          </a:p>
          <a:p>
            <a:r>
              <a:rPr lang="de-DE" dirty="0" err="1"/>
              <a:t>describes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enters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(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contain</a:t>
            </a:r>
            <a:r>
              <a:rPr lang="de-DE" dirty="0"/>
              <a:t> time derivatives)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BFA35AC8-6DFE-7D78-25F3-032E358E4CDE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6684885" y="2554210"/>
            <a:ext cx="1623400" cy="4595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0007549E-73E3-87CB-1FFB-C3A6797BD7AC}"/>
              </a:ext>
            </a:extLst>
          </p:cNvPr>
          <p:cNvSpPr txBox="1"/>
          <p:nvPr/>
        </p:nvSpPr>
        <p:spPr>
          <a:xfrm>
            <a:off x="8313118" y="4211011"/>
            <a:ext cx="332805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Intrinsic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dynamics</a:t>
            </a:r>
            <a:r>
              <a:rPr lang="de-DE" dirty="0"/>
              <a:t>:</a:t>
            </a:r>
          </a:p>
          <a:p>
            <a:r>
              <a:rPr lang="de-DE" dirty="0" err="1">
                <a:ea typeface="Cambria Math" panose="02040503050406030204" pitchFamily="18" charset="0"/>
              </a:rPr>
              <a:t>characteristic</a:t>
            </a:r>
            <a:r>
              <a:rPr lang="de-DE" dirty="0">
                <a:ea typeface="Cambria Math" panose="02040503050406030204" pitchFamily="18" charset="0"/>
              </a:rPr>
              <a:t> polynomial </a:t>
            </a:r>
            <a:r>
              <a:rPr lang="de-DE" dirty="0" err="1">
                <a:ea typeface="Cambria Math" panose="02040503050406030204" pitchFamily="18" charset="0"/>
              </a:rPr>
              <a:t>of</a:t>
            </a:r>
            <a:r>
              <a:rPr lang="de-DE" dirty="0">
                <a:ea typeface="Cambria Math" panose="02040503050406030204" pitchFamily="18" charset="0"/>
              </a:rPr>
              <a:t> </a:t>
            </a:r>
            <a:r>
              <a:rPr lang="de-DE" dirty="0" err="1">
                <a:ea typeface="Cambria Math" panose="02040503050406030204" pitchFamily="18" charset="0"/>
              </a:rPr>
              <a:t>the</a:t>
            </a:r>
            <a:r>
              <a:rPr lang="de-DE" dirty="0">
                <a:ea typeface="Cambria Math" panose="02040503050406030204" pitchFamily="18" charset="0"/>
              </a:rPr>
              <a:t> </a:t>
            </a:r>
            <a:r>
              <a:rPr lang="de-DE" dirty="0" err="1">
                <a:ea typeface="Cambria Math" panose="02040503050406030204" pitchFamily="18" charset="0"/>
              </a:rPr>
              <a:t>system</a:t>
            </a:r>
            <a:endParaRPr lang="de-DE" dirty="0">
              <a:ea typeface="Cambria Math" panose="02040503050406030204" pitchFamily="18" charset="0"/>
            </a:endParaRP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70D907F-98BE-B745-4EF4-F0622F63A468}"/>
              </a:ext>
            </a:extLst>
          </p:cNvPr>
          <p:cNvCxnSpPr>
            <a:cxnSpLocks/>
            <a:stCxn id="17" idx="1"/>
          </p:cNvCxnSpPr>
          <p:nvPr/>
        </p:nvCxnSpPr>
        <p:spPr>
          <a:xfrm flipH="1" flipV="1">
            <a:off x="6684885" y="4031624"/>
            <a:ext cx="1628233" cy="6410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65A79E76-329C-A57C-F1F0-E606A9E7854A}"/>
                  </a:ext>
                </a:extLst>
              </p:cNvPr>
              <p:cNvSpPr txBox="1"/>
              <p:nvPr/>
            </p:nvSpPr>
            <p:spPr>
              <a:xfrm>
                <a:off x="2230323" y="6229026"/>
                <a:ext cx="768479" cy="572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65A79E76-329C-A57C-F1F0-E606A9E785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0323" y="6229026"/>
                <a:ext cx="768479" cy="572721"/>
              </a:xfrm>
              <a:prstGeom prst="rect">
                <a:avLst/>
              </a:prstGeom>
              <a:blipFill>
                <a:blip r:embed="rId5"/>
                <a:stretch>
                  <a:fillRect l="-8065" t="-2174" b="-65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E89A852-5C2C-AFAE-3C9A-7227CE29D482}"/>
              </a:ext>
            </a:extLst>
          </p:cNvPr>
          <p:cNvCxnSpPr/>
          <p:nvPr/>
        </p:nvCxnSpPr>
        <p:spPr>
          <a:xfrm flipV="1">
            <a:off x="2532356" y="5809605"/>
            <a:ext cx="73152" cy="5232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Pfeil nach unten 25">
            <a:extLst>
              <a:ext uri="{FF2B5EF4-FFF2-40B4-BE49-F238E27FC236}">
                <a16:creationId xmlns:a16="http://schemas.microsoft.com/office/drawing/2014/main" id="{07119AE8-4867-2072-86D0-2F22E8B120B3}"/>
              </a:ext>
            </a:extLst>
          </p:cNvPr>
          <p:cNvSpPr/>
          <p:nvPr/>
        </p:nvSpPr>
        <p:spPr>
          <a:xfrm>
            <a:off x="3205267" y="4253193"/>
            <a:ext cx="320040" cy="53080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E383E774-549A-E483-8278-4F4E3B0384CE}"/>
              </a:ext>
            </a:extLst>
          </p:cNvPr>
          <p:cNvSpPr txBox="1"/>
          <p:nvPr/>
        </p:nvSpPr>
        <p:spPr>
          <a:xfrm>
            <a:off x="838200" y="4137669"/>
            <a:ext cx="24049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fundamental </a:t>
            </a:r>
            <a:r>
              <a:rPr lang="de-DE" dirty="0" err="1"/>
              <a:t>theorem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algebra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AF9D3521-F623-36F5-4BC9-18F87096B2E5}"/>
                  </a:ext>
                </a:extLst>
              </p:cNvPr>
              <p:cNvSpPr txBox="1"/>
              <p:nvPr/>
            </p:nvSpPr>
            <p:spPr>
              <a:xfrm>
                <a:off x="4922675" y="4282988"/>
                <a:ext cx="752322" cy="5729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AF9D3521-F623-36F5-4BC9-18F87096B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2675" y="4282988"/>
                <a:ext cx="752322" cy="572977"/>
              </a:xfrm>
              <a:prstGeom prst="rect">
                <a:avLst/>
              </a:prstGeom>
              <a:blipFill>
                <a:blip r:embed="rId6"/>
                <a:stretch>
                  <a:fillRect l="-6667" t="-2174" r="-3333" b="-869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0DAA396B-1C04-92B8-3C0F-1507F5A0BB25}"/>
              </a:ext>
            </a:extLst>
          </p:cNvPr>
          <p:cNvCxnSpPr/>
          <p:nvPr/>
        </p:nvCxnSpPr>
        <p:spPr>
          <a:xfrm flipV="1">
            <a:off x="5277446" y="3911320"/>
            <a:ext cx="73152" cy="5232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AE16D85C-0792-587D-8206-CD37B11FC432}"/>
                  </a:ext>
                </a:extLst>
              </p:cNvPr>
              <p:cNvSpPr txBox="1"/>
              <p:nvPr/>
            </p:nvSpPr>
            <p:spPr>
              <a:xfrm>
                <a:off x="3978472" y="6352143"/>
                <a:ext cx="71189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dirty="0" err="1"/>
                  <a:t>Causality</a:t>
                </a:r>
                <a:r>
                  <a:rPr lang="de-DE" dirty="0"/>
                  <a:t> </a:t>
                </a:r>
                <a:r>
                  <a:rPr lang="de-DE" dirty="0" err="1"/>
                  <a:t>requires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de-DE" dirty="0"/>
                  <a:t> (</a:t>
                </a:r>
                <a:r>
                  <a:rPr lang="de-DE" dirty="0" err="1"/>
                  <a:t>output</a:t>
                </a:r>
                <a:r>
                  <a:rPr lang="de-DE" dirty="0"/>
                  <a:t> </a:t>
                </a:r>
                <a:r>
                  <a:rPr lang="de-DE" dirty="0" err="1"/>
                  <a:t>cannot</a:t>
                </a:r>
                <a:r>
                  <a:rPr lang="de-DE" dirty="0"/>
                  <a:t> </a:t>
                </a:r>
                <a:r>
                  <a:rPr lang="de-DE" dirty="0" err="1"/>
                  <a:t>depend</a:t>
                </a:r>
                <a:r>
                  <a:rPr lang="de-DE" dirty="0"/>
                  <a:t> on derivative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AE16D85C-0792-587D-8206-CD37B11FC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8472" y="6352143"/>
                <a:ext cx="7118984" cy="369332"/>
              </a:xfrm>
              <a:prstGeom prst="rect">
                <a:avLst/>
              </a:prstGeom>
              <a:blipFill>
                <a:blip r:embed="rId7"/>
                <a:stretch>
                  <a:fillRect l="-713" t="-6667" r="-535" b="-2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47039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694C2F39-66B5-B156-C7D8-FFEC26701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Graphical</a:t>
            </a:r>
            <a:r>
              <a:rPr lang="de-DE" dirty="0"/>
              <a:t> Interpretation </a:t>
            </a:r>
            <a:r>
              <a:rPr lang="de-DE" dirty="0" err="1"/>
              <a:t>of</a:t>
            </a:r>
            <a:r>
              <a:rPr lang="de-DE" dirty="0"/>
              <a:t> Transfer </a:t>
            </a:r>
            <a:r>
              <a:rPr lang="de-DE" dirty="0" err="1"/>
              <a:t>Function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5CFDD05-DD21-A524-7C62-511A9043C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7BC7395-9AD6-548C-CA25-8438970BA01D}"/>
              </a:ext>
            </a:extLst>
          </p:cNvPr>
          <p:cNvSpPr txBox="1"/>
          <p:nvPr/>
        </p:nvSpPr>
        <p:spPr>
          <a:xfrm>
            <a:off x="7772400" y="2905780"/>
            <a:ext cx="324478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2800" dirty="0" err="1"/>
              <a:t>Contains</a:t>
            </a:r>
            <a:r>
              <a:rPr lang="de-DE" sz="2800" dirty="0"/>
              <a:t> (</a:t>
            </a:r>
            <a:r>
              <a:rPr lang="de-DE" sz="2800" dirty="0" err="1"/>
              <a:t>complex</a:t>
            </a:r>
            <a:r>
              <a:rPr lang="de-DE" sz="2800" dirty="0"/>
              <a:t>) </a:t>
            </a:r>
            <a:r>
              <a:rPr lang="de-DE" sz="2800" dirty="0" err="1"/>
              <a:t>poles</a:t>
            </a:r>
            <a:r>
              <a:rPr lang="de-DE" sz="2800" dirty="0"/>
              <a:t> and </a:t>
            </a:r>
            <a:r>
              <a:rPr lang="de-DE" sz="2800" dirty="0" err="1"/>
              <a:t>zeros</a:t>
            </a:r>
            <a:endParaRPr lang="de-DE" sz="2800" dirty="0"/>
          </a:p>
        </p:txBody>
      </p:sp>
      <p:pic>
        <p:nvPicPr>
          <p:cNvPr id="11" name="Grafik 10" descr="Ein Bild, das Entwurf, Zeichnung, Origami, Diagramm enthält.&#10;&#10;KI-generierte Inhalte können fehlerhaft sein.">
            <a:extLst>
              <a:ext uri="{FF2B5EF4-FFF2-40B4-BE49-F238E27FC236}">
                <a16:creationId xmlns:a16="http://schemas.microsoft.com/office/drawing/2014/main" id="{3D23335F-E8F4-5BBE-5C33-FFBA307EF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" y="1867190"/>
            <a:ext cx="7772400" cy="4926802"/>
          </a:xfrm>
          <a:prstGeom prst="rect">
            <a:avLst/>
          </a:prstGeom>
        </p:spPr>
      </p:pic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62DAEBF4-5B96-EE5A-BA87-C11634B61553}"/>
              </a:ext>
            </a:extLst>
          </p:cNvPr>
          <p:cNvCxnSpPr>
            <a:cxnSpLocks/>
          </p:cNvCxnSpPr>
          <p:nvPr/>
        </p:nvCxnSpPr>
        <p:spPr>
          <a:xfrm flipH="1" flipV="1">
            <a:off x="4361688" y="2359152"/>
            <a:ext cx="3474720" cy="12185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7F775822-432D-14E6-8B7A-C99F8178B959}"/>
              </a:ext>
            </a:extLst>
          </p:cNvPr>
          <p:cNvCxnSpPr>
            <a:cxnSpLocks/>
          </p:cNvCxnSpPr>
          <p:nvPr/>
        </p:nvCxnSpPr>
        <p:spPr>
          <a:xfrm flipH="1">
            <a:off x="4700016" y="3754203"/>
            <a:ext cx="4683681" cy="18053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E9F35980-4FB8-8C83-8890-0BE0F122F982}"/>
              </a:ext>
            </a:extLst>
          </p:cNvPr>
          <p:cNvSpPr txBox="1"/>
          <p:nvPr/>
        </p:nvSpPr>
        <p:spPr>
          <a:xfrm>
            <a:off x="2565647" y="1594273"/>
            <a:ext cx="16016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conjugate</a:t>
            </a:r>
            <a:r>
              <a:rPr lang="de-DE" dirty="0"/>
              <a:t> pair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0A1A1B52-A664-2747-84E1-5B16A525A004}"/>
              </a:ext>
            </a:extLst>
          </p:cNvPr>
          <p:cNvCxnSpPr/>
          <p:nvPr/>
        </p:nvCxnSpPr>
        <p:spPr>
          <a:xfrm>
            <a:off x="3373515" y="1970843"/>
            <a:ext cx="834501" cy="2840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88F829F5-2C4D-FD2F-F5C2-3F0092C14AC7}"/>
              </a:ext>
            </a:extLst>
          </p:cNvPr>
          <p:cNvCxnSpPr>
            <a:cxnSpLocks/>
          </p:cNvCxnSpPr>
          <p:nvPr/>
        </p:nvCxnSpPr>
        <p:spPr>
          <a:xfrm flipH="1">
            <a:off x="3204839" y="1963605"/>
            <a:ext cx="161636" cy="4688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12313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6F4967-3130-B3F1-64CE-102AB64E9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Poles and Zeros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0DD9E33-954D-11C2-F799-723FDACB42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Poles and </a:t>
                </a:r>
                <a:r>
                  <a:rPr lang="de-DE" sz="2600" dirty="0" err="1"/>
                  <a:t>zeros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transfer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function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</a:t>
                </a:r>
                <a:r>
                  <a:rPr lang="de-DE" sz="2600" dirty="0"/>
                  <a:t> real </a:t>
                </a:r>
                <a:r>
                  <a:rPr lang="de-DE" sz="2600" dirty="0" err="1"/>
                  <a:t>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complex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Complex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poles</a:t>
                </a:r>
                <a:r>
                  <a:rPr lang="de-DE" sz="2600" dirty="0"/>
                  <a:t>/</a:t>
                </a:r>
                <a:r>
                  <a:rPr lang="de-DE" sz="2600" dirty="0" err="1"/>
                  <a:t>zeros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always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appear</a:t>
                </a:r>
                <a:r>
                  <a:rPr lang="de-DE" sz="2600" dirty="0"/>
                  <a:t> in </a:t>
                </a:r>
                <a:r>
                  <a:rPr lang="de-DE" sz="2600" dirty="0" err="1"/>
                  <a:t>conjugate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pairs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real </a:t>
                </a:r>
                <a:r>
                  <a:rPr lang="de-DE" sz="2600" dirty="0" err="1"/>
                  <a:t>physical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systems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need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real </a:t>
                </a:r>
                <a:r>
                  <a:rPr lang="de-DE" sz="2600" dirty="0" err="1"/>
                  <a:t>coefficients</a:t>
                </a:r>
                <a:r>
                  <a:rPr lang="de-DE" sz="2600" dirty="0"/>
                  <a:t> in differential </a:t>
                </a:r>
                <a:r>
                  <a:rPr lang="de-DE" sz="2600" dirty="0" err="1"/>
                  <a:t>equations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Poles </a:t>
                </a:r>
                <a:r>
                  <a:rPr lang="de-DE" sz="2600" dirty="0" err="1"/>
                  <a:t>determine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stability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dynamics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system’s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natural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𝑝𝑖</m:t>
                            </m:r>
                          </m:sub>
                        </m:s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de-DE" sz="2400" dirty="0"/>
                  <a:t>,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 b="0" i="0" smtClean="0">
                            <a:latin typeface="Cambria Math" panose="02040503050406030204" pitchFamily="18" charset="0"/>
                          </a:rPr>
                          <m:t>hom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nary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Zeros </a:t>
                </a:r>
                <a:r>
                  <a:rPr lang="de-DE" sz="2600" dirty="0" err="1"/>
                  <a:t>shape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forced</a:t>
                </a:r>
                <a:r>
                  <a:rPr lang="de-DE" sz="2600" dirty="0"/>
                  <a:t> (input-</a:t>
                </a:r>
                <a:r>
                  <a:rPr lang="de-DE" sz="2600" dirty="0" err="1"/>
                  <a:t>driven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response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0DD9E33-954D-11C2-F799-723FDACB42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A9FD451-8B55-FF13-9926-81C399F00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1165C318-795E-0F02-E132-2DB10AE3795D}"/>
                  </a:ext>
                </a:extLst>
              </p:cNvPr>
              <p:cNvSpPr txBox="1"/>
              <p:nvPr/>
            </p:nvSpPr>
            <p:spPr>
              <a:xfrm>
                <a:off x="2715829" y="3495127"/>
                <a:ext cx="4821314" cy="40498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e>
                      </m:d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</m:d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1165C318-795E-0F02-E132-2DB10AE37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5829" y="3495127"/>
                <a:ext cx="4821314" cy="404983"/>
              </a:xfrm>
              <a:prstGeom prst="rect">
                <a:avLst/>
              </a:prstGeom>
              <a:blipFill>
                <a:blip r:embed="rId3"/>
                <a:stretch>
                  <a:fillRect b="-882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feld 4">
            <a:extLst>
              <a:ext uri="{FF2B5EF4-FFF2-40B4-BE49-F238E27FC236}">
                <a16:creationId xmlns:a16="http://schemas.microsoft.com/office/drawing/2014/main" id="{3F634B3A-D0D9-775A-F3DD-562AF0D54C5E}"/>
              </a:ext>
            </a:extLst>
          </p:cNvPr>
          <p:cNvSpPr txBox="1"/>
          <p:nvPr/>
        </p:nvSpPr>
        <p:spPr>
          <a:xfrm>
            <a:off x="8973705" y="5141798"/>
            <a:ext cx="247862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/>
              <a:t>More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later</a:t>
            </a:r>
            <a:r>
              <a:rPr lang="de-DE" dirty="0"/>
              <a:t> …</a:t>
            </a:r>
          </a:p>
        </p:txBody>
      </p:sp>
    </p:spTree>
    <p:extLst>
      <p:ext uri="{BB962C8B-B14F-4D97-AF65-F5344CB8AC3E}">
        <p14:creationId xmlns:p14="http://schemas.microsoft.com/office/powerpoint/2010/main" val="42815649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9FCA0B-0590-B36D-0C61-9DF2C0CEA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Block </a:t>
            </a:r>
            <a:r>
              <a:rPr lang="de-DE" dirty="0" err="1"/>
              <a:t>Diagrams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1085116-0531-3B25-1AD7-9FEC807FC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C2E12BBB-E063-8C4D-AB0F-D65C3EEC778D}"/>
                  </a:ext>
                </a:extLst>
              </p:cNvPr>
              <p:cNvSpPr/>
              <p:nvPr/>
            </p:nvSpPr>
            <p:spPr>
              <a:xfrm>
                <a:off x="5103669" y="3039340"/>
                <a:ext cx="1162660" cy="77931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C2E12BBB-E063-8C4D-AB0F-D65C3EEC77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3669" y="3039340"/>
                <a:ext cx="1162660" cy="77931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6C5CFF8-6639-A1A9-6FE5-DC3FE76870F4}"/>
                  </a:ext>
                </a:extLst>
              </p:cNvPr>
              <p:cNvSpPr txBox="1"/>
              <p:nvPr/>
            </p:nvSpPr>
            <p:spPr>
              <a:xfrm>
                <a:off x="3941009" y="2935519"/>
                <a:ext cx="1008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6C5CFF8-6639-A1A9-6FE5-DC3FE76870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1009" y="2935519"/>
                <a:ext cx="1008161" cy="523220"/>
              </a:xfrm>
              <a:prstGeom prst="rect">
                <a:avLst/>
              </a:prstGeom>
              <a:blipFill>
                <a:blip r:embed="rId3"/>
                <a:stretch>
                  <a:fillRect r="-3750" b="-1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421548D2-0177-3287-DCD3-D6C2ADD18CFB}"/>
                  </a:ext>
                </a:extLst>
              </p:cNvPr>
              <p:cNvSpPr txBox="1"/>
              <p:nvPr/>
            </p:nvSpPr>
            <p:spPr>
              <a:xfrm>
                <a:off x="6420828" y="2939579"/>
                <a:ext cx="97949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8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i="1" dirty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sz="28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421548D2-0177-3287-DCD3-D6C2ADD18C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0828" y="2939579"/>
                <a:ext cx="979499" cy="523220"/>
              </a:xfrm>
              <a:prstGeom prst="rect">
                <a:avLst/>
              </a:prstGeom>
              <a:blipFill>
                <a:blip r:embed="rId4"/>
                <a:stretch>
                  <a:fillRect r="-3846" b="-190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15DDEB57-A4D8-0697-58DC-6AA68A82D2FE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4034118" y="3429000"/>
            <a:ext cx="106955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1DBC24DB-981A-7369-A0B6-3DDFB5038549}"/>
              </a:ext>
            </a:extLst>
          </p:cNvPr>
          <p:cNvCxnSpPr>
            <a:cxnSpLocks/>
          </p:cNvCxnSpPr>
          <p:nvPr/>
        </p:nvCxnSpPr>
        <p:spPr>
          <a:xfrm>
            <a:off x="6265818" y="3458739"/>
            <a:ext cx="106955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5F5F19AC-2525-194E-CCAF-727E3C9C45D3}"/>
              </a:ext>
            </a:extLst>
          </p:cNvPr>
          <p:cNvSpPr txBox="1"/>
          <p:nvPr/>
        </p:nvSpPr>
        <p:spPr>
          <a:xfrm>
            <a:off x="3738538" y="5063490"/>
            <a:ext cx="389292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800" dirty="0"/>
              <a:t>Modular </a:t>
            </a:r>
            <a:r>
              <a:rPr lang="de-DE" sz="2800" dirty="0" err="1"/>
              <a:t>representation</a:t>
            </a: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7633200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44509E-E7E1-0210-2281-CCC9203CA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Block </a:t>
            </a:r>
            <a:r>
              <a:rPr lang="de-DE" dirty="0" err="1"/>
              <a:t>Diagram</a:t>
            </a:r>
            <a:r>
              <a:rPr lang="de-DE" dirty="0"/>
              <a:t> Algebra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76C87ED-FF23-89FE-8CE1-3889D8FB3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  <p:pic>
        <p:nvPicPr>
          <p:cNvPr id="6" name="Grafik 5" descr="Ein Bild, das Diagramm, Reihe, Schrift, weiß enthält.&#10;&#10;KI-generierte Inhalte können fehlerhaft sein.">
            <a:extLst>
              <a:ext uri="{FF2B5EF4-FFF2-40B4-BE49-F238E27FC236}">
                <a16:creationId xmlns:a16="http://schemas.microsoft.com/office/drawing/2014/main" id="{575BE577-3716-947E-23B2-F80FB14846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4966624" cy="2393896"/>
          </a:xfrm>
          <a:prstGeom prst="rect">
            <a:avLst/>
          </a:prstGeom>
        </p:spPr>
      </p:pic>
      <p:pic>
        <p:nvPicPr>
          <p:cNvPr id="8" name="Grafik 7" descr="Ein Bild, das Diagramm, Reihe, Schrift, weiß enthält.&#10;&#10;KI-generierte Inhalte können fehlerhaft sein.">
            <a:extLst>
              <a:ext uri="{FF2B5EF4-FFF2-40B4-BE49-F238E27FC236}">
                <a16:creationId xmlns:a16="http://schemas.microsoft.com/office/drawing/2014/main" id="{F0E4D41F-7CB3-580D-FDA7-6868FCF47A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437894"/>
            <a:ext cx="6347012" cy="2283581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7A6DAF4C-271F-9B13-70E3-25562F5AE3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5740" y="1689293"/>
            <a:ext cx="4339094" cy="274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2687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34F634FB-12C6-E4A4-0192-D21C3C586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Series Connection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4774033-957C-A897-7272-B390B2124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  <p:pic>
        <p:nvPicPr>
          <p:cNvPr id="7" name="Grafik 6" descr="Ein Bild, das Diagramm, Schrift, Reihe, weiß enthält.&#10;&#10;KI-generierte Inhalte können fehlerhaft sein.">
            <a:extLst>
              <a:ext uri="{FF2B5EF4-FFF2-40B4-BE49-F238E27FC236}">
                <a16:creationId xmlns:a16="http://schemas.microsoft.com/office/drawing/2014/main" id="{791EA583-7073-0F68-3004-F9F921AC68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1903580"/>
            <a:ext cx="7772400" cy="4589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3463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82CCDB-22CC-281C-FF3B-8FCF564DD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Parallel Connection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F847D79-D206-88A7-AE9A-827A142A9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  <p:pic>
        <p:nvPicPr>
          <p:cNvPr id="5" name="Grafik 4" descr="Ein Bild, das Diagramm, Schrift, Reihe enthält.&#10;&#10;KI-generierte Inhalte können fehlerhaft sein.">
            <a:extLst>
              <a:ext uri="{FF2B5EF4-FFF2-40B4-BE49-F238E27FC236}">
                <a16:creationId xmlns:a16="http://schemas.microsoft.com/office/drawing/2014/main" id="{C41CE227-16CA-55E5-6E3C-DA3C06B661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8829" y="1554163"/>
            <a:ext cx="4974342" cy="5167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6135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1508E0-7B7E-4B43-2546-AEE206214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Feedback Connection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F714173-BB8F-B62F-E010-E83788459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  <p:pic>
        <p:nvPicPr>
          <p:cNvPr id="5" name="Grafik 4" descr="Ein Bild, das Diagramm, Reihe, Schrift, Rechteck enthält.&#10;&#10;KI-generierte Inhalte können fehlerhaft sein.">
            <a:extLst>
              <a:ext uri="{FF2B5EF4-FFF2-40B4-BE49-F238E27FC236}">
                <a16:creationId xmlns:a16="http://schemas.microsoft.com/office/drawing/2014/main" id="{BED82633-90FE-570B-EC32-F2379AF5F6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5733" y="1546247"/>
            <a:ext cx="5260534" cy="5175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9256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4A78D5-067E-21F1-2645-890D26DEF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 Response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EDEC18C-E4CF-465B-E3BA-BAAD31B5AC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Response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sinusoidal</a:t>
            </a:r>
            <a:r>
              <a:rPr lang="de-DE" dirty="0"/>
              <a:t> </a:t>
            </a:r>
            <a:r>
              <a:rPr lang="de-DE" dirty="0" err="1"/>
              <a:t>inputs</a:t>
            </a:r>
            <a:endParaRPr lang="de-DE" dirty="0"/>
          </a:p>
          <a:p>
            <a:r>
              <a:rPr lang="de-DE" dirty="0"/>
              <a:t>Amplitude and </a:t>
            </a:r>
            <a:r>
              <a:rPr lang="de-DE" dirty="0" err="1"/>
              <a:t>phase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C4FAB9-93C0-FAFE-8178-BA6143807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98819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C6D322-35CE-E406-E736-C42B96BBF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Bode Plots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A8D483-42E5-4829-8E46-019410D93D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Magnitude (dB)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  <a:p>
            <a:r>
              <a:rPr lang="de-DE" dirty="0"/>
              <a:t>Phase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  <a:p>
            <a:r>
              <a:rPr lang="de-DE" dirty="0" err="1"/>
              <a:t>Logarithmic</a:t>
            </a:r>
            <a:r>
              <a:rPr lang="de-DE" dirty="0"/>
              <a:t> </a:t>
            </a:r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axis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Plot:</a:t>
            </a:r>
            <a:r>
              <a:rPr lang="de-DE" dirty="0"/>
              <a:t> </a:t>
            </a:r>
            <a:r>
              <a:rPr lang="de-DE" dirty="0" err="1"/>
              <a:t>typical</a:t>
            </a:r>
            <a:r>
              <a:rPr lang="de-DE" dirty="0"/>
              <a:t> Bode </a:t>
            </a:r>
            <a:r>
              <a:rPr lang="de-DE" dirty="0" err="1"/>
              <a:t>diagram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71EA5C-6E4F-2473-04F2-AEB717907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27782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77BFFA-EEF3-DEE2-E225-4573FB292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Bandwidth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6B837AA-56DB-9D8D-884A-E061F1DB81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range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good</a:t>
            </a:r>
            <a:r>
              <a:rPr lang="de-DE" dirty="0"/>
              <a:t> </a:t>
            </a:r>
            <a:r>
              <a:rPr lang="de-DE" dirty="0" err="1"/>
              <a:t>tracking</a:t>
            </a:r>
            <a:endParaRPr lang="de-DE" dirty="0"/>
          </a:p>
          <a:p>
            <a:r>
              <a:rPr lang="de-DE" dirty="0" err="1"/>
              <a:t>Indicates</a:t>
            </a:r>
            <a:r>
              <a:rPr lang="de-DE" dirty="0"/>
              <a:t> </a:t>
            </a:r>
            <a:r>
              <a:rPr lang="de-DE" dirty="0" err="1"/>
              <a:t>speed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system</a:t>
            </a:r>
            <a:endParaRPr lang="de-DE" dirty="0"/>
          </a:p>
          <a:p>
            <a:r>
              <a:rPr lang="de-DE" dirty="0"/>
              <a:t>Higher </a:t>
            </a:r>
            <a:r>
              <a:rPr lang="de-DE" dirty="0" err="1"/>
              <a:t>bandwidth</a:t>
            </a:r>
            <a:r>
              <a:rPr lang="de-DE" dirty="0"/>
              <a:t> → </a:t>
            </a:r>
            <a:r>
              <a:rPr lang="de-DE" dirty="0" err="1"/>
              <a:t>faster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FCF89C-B017-A883-0BAE-9BED25E6B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00898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A09711-0622-A5D8-C13E-4F5F68D39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Individual Elements </a:t>
            </a:r>
            <a:r>
              <a:rPr lang="de-DE" dirty="0" err="1"/>
              <a:t>of</a:t>
            </a:r>
            <a:r>
              <a:rPr lang="de-DE" dirty="0"/>
              <a:t> Control Loops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CAFBA99-1E36-D127-DA0A-B58C86F44C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Polynomial form </a:t>
                </a:r>
                <a:r>
                  <a:rPr lang="de-DE" dirty="0" err="1"/>
                  <a:t>of</a:t>
                </a:r>
                <a:r>
                  <a:rPr lang="de-DE" dirty="0"/>
                  <a:t> differential </a:t>
                </a:r>
                <a:r>
                  <a:rPr lang="de-DE" dirty="0" err="1"/>
                  <a:t>equation</a:t>
                </a:r>
                <a:r>
                  <a:rPr lang="de-DE" dirty="0"/>
                  <a:t> /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: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⋯+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𝑌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d>
                        <m:dPr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⋯+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𝑈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Transfer </a:t>
                </a:r>
                <a:r>
                  <a:rPr lang="de-DE" dirty="0" err="1"/>
                  <a:t>functions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individual </a:t>
                </a:r>
                <a:r>
                  <a:rPr lang="de-DE" dirty="0" err="1"/>
                  <a:t>elements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setting</a:t>
                </a:r>
                <a:r>
                  <a:rPr lang="de-DE" dirty="0"/>
                  <a:t> a </a:t>
                </a:r>
                <a:r>
                  <a:rPr lang="de-DE" dirty="0" err="1"/>
                  <a:t>portion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coefficients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zero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CAFBA99-1E36-D127-DA0A-B58C86F44C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316603C-CE9D-72CA-4D8E-D085DFD24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5363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A7D601-B01E-1FDE-3453-6A59EE28C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Proportional Element (P)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56B36AA-A815-490D-4A12-1020A99298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Consider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    </a:t>
                </a:r>
                <a:r>
                  <a:rPr lang="de-DE" dirty="0" err="1"/>
                  <a:t>or</a:t>
                </a:r>
                <a:r>
                  <a:rPr lang="de-DE" dirty="0"/>
                  <a:t>    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56B36AA-A815-490D-4A12-1020A99298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33708CE-7EE5-9BDA-5745-B70ECD02F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28</a:t>
            </a:fld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28CB410D-9FAD-7206-ACD0-1E2E8745F26B}"/>
                  </a:ext>
                </a:extLst>
              </p:cNvPr>
              <p:cNvSpPr txBox="1"/>
              <p:nvPr/>
            </p:nvSpPr>
            <p:spPr>
              <a:xfrm>
                <a:off x="2641683" y="3542186"/>
                <a:ext cx="2297039" cy="12913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</m:oMath>
                  </m:oMathPara>
                </a14:m>
                <a:endParaRPr lang="de-DE" sz="2800" dirty="0"/>
              </a:p>
              <a:p>
                <a:r>
                  <a:rPr lang="de-DE" sz="2000" dirty="0"/>
                  <a:t>(just </a:t>
                </a:r>
                <a:r>
                  <a:rPr lang="de-DE" sz="2000" dirty="0" err="1"/>
                  <a:t>constant</a:t>
                </a:r>
                <a:r>
                  <a:rPr lang="de-DE" sz="2000" dirty="0"/>
                  <a:t> </a:t>
                </a:r>
                <a:r>
                  <a:rPr lang="de-DE" sz="2000" dirty="0" err="1"/>
                  <a:t>gain</a:t>
                </a:r>
                <a:r>
                  <a:rPr lang="de-DE" sz="2000" dirty="0"/>
                  <a:t>)</a:t>
                </a:r>
              </a:p>
            </p:txBody>
          </p:sp>
        </mc:Choice>
        <mc:Fallback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28CB410D-9FAD-7206-ACD0-1E2E8745F2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1683" y="3542186"/>
                <a:ext cx="2297039" cy="1291316"/>
              </a:xfrm>
              <a:prstGeom prst="rect">
                <a:avLst/>
              </a:prstGeom>
              <a:blipFill>
                <a:blip r:embed="rId3"/>
                <a:stretch>
                  <a:fillRect l="-2198" r="-2198" b="-77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7F4C7096-AB42-5118-B62A-789E041A55D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3790203" y="2752078"/>
            <a:ext cx="1669564" cy="7901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C91B448-2DB0-FA10-80CA-E48FB00AAEB3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2379216" y="2752078"/>
            <a:ext cx="1410987" cy="7901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Grafik 10">
            <a:extLst>
              <a:ext uri="{FF2B5EF4-FFF2-40B4-BE49-F238E27FC236}">
                <a16:creationId xmlns:a16="http://schemas.microsoft.com/office/drawing/2014/main" id="{854F6D8F-33C3-5206-9F04-358D921F4C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38500" y="5299075"/>
            <a:ext cx="2857500" cy="1422400"/>
          </a:xfrm>
          <a:prstGeom prst="rect">
            <a:avLst/>
          </a:prstGeom>
        </p:spPr>
      </p:pic>
      <p:pic>
        <p:nvPicPr>
          <p:cNvPr id="13" name="Grafik 12" descr="Ein Bild, das Text, Reihe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6C669FE3-5E86-A73C-897E-C9398D30601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6435" y="2416083"/>
            <a:ext cx="4038235" cy="3031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9429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16328638-17B9-E945-7F5C-9DBA82BE51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6434" y="2416082"/>
            <a:ext cx="4038235" cy="3031008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2FC60166-DC1D-0D47-BD41-5302A569B6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38500" y="5175173"/>
            <a:ext cx="2857500" cy="1546302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6D9FC5E-8347-871E-635A-5BB1F8958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Integral Element (I)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7518DA5-C78D-1D5F-305A-38A9EF60E7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Consider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    </a:t>
                </a:r>
                <a:r>
                  <a:rPr lang="de-DE" dirty="0" err="1"/>
                  <a:t>or</a:t>
                </a:r>
                <a:r>
                  <a:rPr lang="de-DE" dirty="0"/>
                  <a:t>   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7518DA5-C78D-1D5F-305A-38A9EF60E7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5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7E2D02E-9009-08F2-F315-5C05EE0E6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29</a:t>
            </a:fld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A4C93CD5-4692-2EC1-FE0A-DDC2A64BB955}"/>
                  </a:ext>
                </a:extLst>
              </p:cNvPr>
              <p:cNvSpPr txBox="1"/>
              <p:nvPr/>
            </p:nvSpPr>
            <p:spPr>
              <a:xfrm>
                <a:off x="1764672" y="3566840"/>
                <a:ext cx="4661789" cy="12886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skw"/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800" dirty="0"/>
              </a:p>
              <a:p>
                <a:r>
                  <a:rPr lang="de-DE" sz="2000" dirty="0"/>
                  <a:t>(</a:t>
                </a:r>
                <a:r>
                  <a:rPr lang="de-DE" sz="2000" dirty="0" err="1"/>
                  <a:t>integrator</a:t>
                </a:r>
                <a:r>
                  <a:rPr lang="de-DE" sz="2000" dirty="0"/>
                  <a:t> </a:t>
                </a:r>
                <a:r>
                  <a:rPr lang="de-DE" sz="2000" dirty="0" err="1"/>
                  <a:t>gain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or</a:t>
                </a:r>
                <a:r>
                  <a:rPr lang="de-DE" sz="2000" dirty="0"/>
                  <a:t> integral time </a:t>
                </a:r>
                <a:r>
                  <a:rPr lang="de-DE" sz="2000" dirty="0" err="1"/>
                  <a:t>constant</a:t>
                </a:r>
                <a:r>
                  <a:rPr lang="de-DE" sz="2000" dirty="0"/>
                  <a:t>)</a:t>
                </a:r>
              </a:p>
            </p:txBody>
          </p:sp>
        </mc:Choice>
        <mc:Fallback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A4C93CD5-4692-2EC1-FE0A-DDC2A64BB9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4672" y="3566840"/>
                <a:ext cx="4661789" cy="1288623"/>
              </a:xfrm>
              <a:prstGeom prst="rect">
                <a:avLst/>
              </a:prstGeom>
              <a:blipFill>
                <a:blip r:embed="rId6"/>
                <a:stretch>
                  <a:fillRect l="-1359" t="-51456" r="-543" b="-6699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A40568D5-0F39-482C-88A4-EFBCBE335A0B}"/>
              </a:ext>
            </a:extLst>
          </p:cNvPr>
          <p:cNvCxnSpPr>
            <a:cxnSpLocks/>
            <a:stCxn id="11" idx="0"/>
          </p:cNvCxnSpPr>
          <p:nvPr/>
        </p:nvCxnSpPr>
        <p:spPr>
          <a:xfrm flipV="1">
            <a:off x="4095567" y="2769833"/>
            <a:ext cx="1781450" cy="7970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428CE99F-E88B-F3F5-7A36-6AB221F2BA97}"/>
              </a:ext>
            </a:extLst>
          </p:cNvPr>
          <p:cNvCxnSpPr>
            <a:cxnSpLocks/>
            <a:stCxn id="11" idx="0"/>
          </p:cNvCxnSpPr>
          <p:nvPr/>
        </p:nvCxnSpPr>
        <p:spPr>
          <a:xfrm flipH="1" flipV="1">
            <a:off x="2432482" y="2929631"/>
            <a:ext cx="1663085" cy="6372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67D85998-381F-16A6-B6F9-5C6C85432CB6}"/>
                  </a:ext>
                </a:extLst>
              </p:cNvPr>
              <p:cNvSpPr txBox="1"/>
              <p:nvPr/>
            </p:nvSpPr>
            <p:spPr>
              <a:xfrm>
                <a:off x="8336132" y="1563784"/>
                <a:ext cx="2147832" cy="52322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800" dirty="0"/>
                  <a:t>Pole at </a:t>
                </a:r>
                <a14:m>
                  <m:oMath xmlns:m="http://schemas.openxmlformats.org/officeDocument/2006/math"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800" dirty="0"/>
              </a:p>
            </p:txBody>
          </p:sp>
        </mc:Choice>
        <mc:Fallback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67D85998-381F-16A6-B6F9-5C6C85432C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6132" y="1563784"/>
                <a:ext cx="2147832" cy="523220"/>
              </a:xfrm>
              <a:prstGeom prst="rect">
                <a:avLst/>
              </a:prstGeom>
              <a:blipFill>
                <a:blip r:embed="rId7"/>
                <a:stretch>
                  <a:fillRect l="-5233" t="-9302" b="-3255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EC2E99EA-1642-8B6E-5FED-01B4A3DBED2F}"/>
              </a:ext>
            </a:extLst>
          </p:cNvPr>
          <p:cNvCxnSpPr>
            <a:stCxn id="17" idx="1"/>
          </p:cNvCxnSpPr>
          <p:nvPr/>
        </p:nvCxnSpPr>
        <p:spPr>
          <a:xfrm flipH="1">
            <a:off x="6773662" y="1825394"/>
            <a:ext cx="1562470" cy="6781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78468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8057D8-6049-86EE-2DCE-77010CBC7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First-Order Lag Element (PT1)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8B993E-96D1-B19B-2D6E-6E5FD2D586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…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9654ED9-4626-A5EA-38F9-7CDCF34A1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30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B3F0EE5F-DF90-4C6C-F9C3-DAAA053D4A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38500" y="5299075"/>
            <a:ext cx="2857500" cy="14224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9FFF33EF-3C7A-A741-2E21-090B6A0E1C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72653" y="1831626"/>
            <a:ext cx="4619347" cy="3467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7105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fik 11">
            <a:extLst>
              <a:ext uri="{FF2B5EF4-FFF2-40B4-BE49-F238E27FC236}">
                <a16:creationId xmlns:a16="http://schemas.microsoft.com/office/drawing/2014/main" id="{18970A6B-EC73-325D-F60C-AFDE2FEF5F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38500" y="5299075"/>
            <a:ext cx="2857500" cy="14224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1A9121D7-0B6D-BE9B-7262-1F402C2757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93327" y="2416082"/>
            <a:ext cx="4041343" cy="3031007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F3DBE99-2DA6-C88A-7611-518B693D1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Derivative Element (D)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4E13401-6D0B-FA9F-0932-D52BE1570C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Consider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    </a:t>
                </a:r>
                <a:r>
                  <a:rPr lang="de-DE" dirty="0" err="1"/>
                  <a:t>or</a:t>
                </a:r>
                <a:r>
                  <a:rPr lang="de-DE" dirty="0"/>
                  <a:t>   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4E13401-6D0B-FA9F-0932-D52BE1570C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6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8773F82-BF78-41CB-6DB7-96DB8E21A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31</a:t>
            </a:fld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D862DA39-5BCE-43AD-53C9-20C18B8F708E}"/>
                  </a:ext>
                </a:extLst>
              </p:cNvPr>
              <p:cNvSpPr txBox="1"/>
              <p:nvPr/>
            </p:nvSpPr>
            <p:spPr>
              <a:xfrm>
                <a:off x="1114725" y="3577697"/>
                <a:ext cx="6411050" cy="12913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</m:oMath>
                  </m:oMathPara>
                </a14:m>
                <a:endParaRPr lang="de-DE" sz="2800" dirty="0"/>
              </a:p>
              <a:p>
                <a:r>
                  <a:rPr lang="de-DE" sz="2000" dirty="0"/>
                  <a:t>(</a:t>
                </a:r>
                <a:r>
                  <a:rPr lang="de-DE" sz="2000" dirty="0" err="1"/>
                  <a:t>differentiator</a:t>
                </a:r>
                <a:r>
                  <a:rPr lang="de-DE" sz="2000" dirty="0"/>
                  <a:t>/derivative </a:t>
                </a:r>
                <a:r>
                  <a:rPr lang="de-DE" sz="2000" dirty="0" err="1"/>
                  <a:t>gain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or</a:t>
                </a:r>
                <a:r>
                  <a:rPr lang="de-DE" sz="2000" dirty="0"/>
                  <a:t> derivative time </a:t>
                </a:r>
                <a:r>
                  <a:rPr lang="de-DE" sz="2000" dirty="0" err="1"/>
                  <a:t>constant</a:t>
                </a:r>
                <a:r>
                  <a:rPr lang="de-DE" sz="2000" dirty="0"/>
                  <a:t>)</a:t>
                </a:r>
              </a:p>
            </p:txBody>
          </p:sp>
        </mc:Choice>
        <mc:Fallback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D862DA39-5BCE-43AD-53C9-20C18B8F70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4725" y="3577697"/>
                <a:ext cx="6411050" cy="1291316"/>
              </a:xfrm>
              <a:prstGeom prst="rect">
                <a:avLst/>
              </a:prstGeom>
              <a:blipFill>
                <a:blip r:embed="rId7"/>
                <a:stretch>
                  <a:fillRect l="-988" b="-77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36574445-9274-205F-65F8-E02FBBA876FA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4320250" y="2734322"/>
            <a:ext cx="1601156" cy="8433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91548B9B-5801-02FD-7335-31C8FD8F7A17}"/>
              </a:ext>
            </a:extLst>
          </p:cNvPr>
          <p:cNvCxnSpPr>
            <a:cxnSpLocks/>
            <a:stCxn id="13" idx="0"/>
          </p:cNvCxnSpPr>
          <p:nvPr/>
        </p:nvCxnSpPr>
        <p:spPr>
          <a:xfrm flipH="1" flipV="1">
            <a:off x="2379216" y="2734322"/>
            <a:ext cx="1941034" cy="8433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523E0541-7891-30D2-4661-379BD090843F}"/>
              </a:ext>
            </a:extLst>
          </p:cNvPr>
          <p:cNvSpPr txBox="1"/>
          <p:nvPr/>
        </p:nvSpPr>
        <p:spPr>
          <a:xfrm>
            <a:off x="7496077" y="1151357"/>
            <a:ext cx="42898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 err="1"/>
              <a:t>Amplifies</a:t>
            </a:r>
            <a:r>
              <a:rPr lang="de-DE" sz="2000" dirty="0"/>
              <a:t> high </a:t>
            </a:r>
            <a:r>
              <a:rPr lang="de-DE" sz="2000" dirty="0" err="1"/>
              <a:t>frequencies</a:t>
            </a:r>
            <a:r>
              <a:rPr lang="de-DE" sz="2000" dirty="0"/>
              <a:t>, i.e., </a:t>
            </a:r>
            <a:r>
              <a:rPr lang="de-DE" sz="2000" dirty="0" err="1"/>
              <a:t>noise</a:t>
            </a:r>
            <a:endParaRPr lang="de-DE" sz="2000" dirty="0"/>
          </a:p>
          <a:p>
            <a:r>
              <a:rPr lang="de-DE" sz="2000" dirty="0">
                <a:sym typeface="Wingdings" pitchFamily="2" charset="2"/>
              </a:rPr>
              <a:t> </a:t>
            </a:r>
            <a:r>
              <a:rPr lang="de-DE" sz="2000" dirty="0" err="1">
                <a:sym typeface="Wingdings" pitchFamily="2" charset="2"/>
              </a:rPr>
              <a:t>use</a:t>
            </a:r>
            <a:r>
              <a:rPr lang="de-DE" sz="2000" dirty="0">
                <a:sym typeface="Wingdings" pitchFamily="2" charset="2"/>
              </a:rPr>
              <a:t> </a:t>
            </a:r>
            <a:r>
              <a:rPr lang="de-DE" sz="2000" dirty="0" err="1">
                <a:sym typeface="Wingdings" pitchFamily="2" charset="2"/>
              </a:rPr>
              <a:t>filtered</a:t>
            </a:r>
            <a:r>
              <a:rPr lang="de-DE" sz="2000" dirty="0">
                <a:sym typeface="Wingdings" pitchFamily="2" charset="2"/>
              </a:rPr>
              <a:t> </a:t>
            </a:r>
            <a:r>
              <a:rPr lang="de-DE" sz="2000" dirty="0" err="1">
                <a:sym typeface="Wingdings" pitchFamily="2" charset="2"/>
              </a:rPr>
              <a:t>differentiator</a:t>
            </a:r>
            <a:r>
              <a:rPr lang="de-DE" sz="2000" dirty="0">
                <a:sym typeface="Wingdings" pitchFamily="2" charset="2"/>
              </a:rPr>
              <a:t> (DT1)</a:t>
            </a:r>
            <a:endParaRPr lang="de-DE" sz="2000" dirty="0"/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87688D64-5667-BAB3-7EEA-4B43A90B80B0}"/>
              </a:ext>
            </a:extLst>
          </p:cNvPr>
          <p:cNvCxnSpPr>
            <a:stCxn id="16" idx="1"/>
          </p:cNvCxnSpPr>
          <p:nvPr/>
        </p:nvCxnSpPr>
        <p:spPr>
          <a:xfrm flipH="1">
            <a:off x="6676008" y="1505300"/>
            <a:ext cx="820069" cy="10337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88977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97F2DE-ACD8-94EC-15BE-467846CA01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Filtered</a:t>
            </a:r>
            <a:r>
              <a:rPr lang="de-DE" dirty="0"/>
              <a:t> Differentiator (DT1)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2606A89-4597-98EA-83F6-4C092A77DC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697B9B1-8E9B-8284-C7A9-AECD9668A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98377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0FD682-F803-4C07-B69E-9594CD239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1EBBDDD-42A4-AA13-4A2F-C4F1032335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E747421-C035-8648-3D82-DD90B96DB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92677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5222A6-0C71-26AA-81F8-81C4E3A80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Second-Order Lag Element (PT2)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F24E120-69FA-22B6-9883-92EEB6EF60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…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0A28C1E-3A01-3253-6EC0-EEA48663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34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3EFE9387-5F54-46F4-B3CA-B6D2239127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38500" y="5299075"/>
            <a:ext cx="2857500" cy="14224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FF7736A4-BCFD-87E1-87B3-4FEF99FF29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88488" y="1690688"/>
            <a:ext cx="4803512" cy="3617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984887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F18E32-3561-5B1B-88D6-04F26786C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385FC6E-700C-B18E-BADF-335DCA3D4B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02275FA-0948-586B-71B9-28EB35C3F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480061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146A8B-0ADA-5706-7B0C-C2FC59154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Systems </a:t>
            </a:r>
            <a:r>
              <a:rPr lang="de-DE" dirty="0" err="1"/>
              <a:t>with</a:t>
            </a:r>
            <a:r>
              <a:rPr lang="de-DE" dirty="0"/>
              <a:t> Dead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A5208996-66EC-46F8-1BFE-C12EC8444E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The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can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extended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multiplying</a:t>
                </a:r>
                <a:r>
                  <a:rPr lang="de-DE" dirty="0"/>
                  <a:t> </a:t>
                </a:r>
                <a:r>
                  <a:rPr lang="de-DE" dirty="0" err="1"/>
                  <a:t>it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term</a:t>
                </a:r>
                <a:r>
                  <a:rPr lang="de-DE" dirty="0"/>
                  <a:t>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represents</a:t>
                </a:r>
                <a:r>
                  <a:rPr lang="de-DE" dirty="0"/>
                  <a:t> a time </a:t>
                </a:r>
                <a:r>
                  <a:rPr lang="de-DE" dirty="0" err="1"/>
                  <a:t>delay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𝐷</m:t>
                            </m:r>
                          </m:sub>
                        </m:sSub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 PT1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dead</a:t>
                </a:r>
                <a:r>
                  <a:rPr lang="de-DE" dirty="0"/>
                  <a:t> time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  <m: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𝐷</m:t>
                            </m:r>
                          </m:sub>
                        </m:sSub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Mainly</a:t>
                </a:r>
                <a:r>
                  <a:rPr lang="de-DE" dirty="0"/>
                  <a:t> </a:t>
                </a:r>
                <a:r>
                  <a:rPr lang="de-DE" dirty="0" err="1"/>
                  <a:t>suitable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</a:t>
                </a:r>
                <a:r>
                  <a:rPr lang="de-DE" dirty="0" err="1"/>
                  <a:t>analysis</a:t>
                </a:r>
                <a:r>
                  <a:rPr lang="de-DE" dirty="0"/>
                  <a:t> (e.g., Bode </a:t>
                </a:r>
                <a:r>
                  <a:rPr lang="de-DE" dirty="0" err="1"/>
                  <a:t>plots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A5208996-66EC-46F8-1BFE-C12EC8444E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 b="-5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36B6975-D7D1-1504-841E-AD44A9056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36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C23E2E2-7BAB-B0DC-155F-18BE9A930334}"/>
              </a:ext>
            </a:extLst>
          </p:cNvPr>
          <p:cNvSpPr txBox="1"/>
          <p:nvPr/>
        </p:nvSpPr>
        <p:spPr>
          <a:xfrm>
            <a:off x="1502546" y="3295830"/>
            <a:ext cx="26522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original </a:t>
            </a:r>
            <a:r>
              <a:rPr lang="de-DE" dirty="0" err="1"/>
              <a:t>transfer</a:t>
            </a:r>
            <a:r>
              <a:rPr lang="de-DE" dirty="0"/>
              <a:t> </a:t>
            </a:r>
            <a:r>
              <a:rPr lang="de-DE" dirty="0" err="1"/>
              <a:t>function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D792DF04-E9E3-B701-E8FB-C02356E21D65}"/>
              </a:ext>
            </a:extLst>
          </p:cNvPr>
          <p:cNvCxnSpPr/>
          <p:nvPr/>
        </p:nvCxnSpPr>
        <p:spPr>
          <a:xfrm flipV="1">
            <a:off x="2840854" y="2991770"/>
            <a:ext cx="239697" cy="3040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F238FAF0-5F1B-2600-5A07-4DF841173409}"/>
              </a:ext>
            </a:extLst>
          </p:cNvPr>
          <p:cNvSpPr txBox="1"/>
          <p:nvPr/>
        </p:nvSpPr>
        <p:spPr>
          <a:xfrm>
            <a:off x="4819096" y="3295830"/>
            <a:ext cx="28021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time </a:t>
            </a:r>
            <a:r>
              <a:rPr lang="de-DE" dirty="0" err="1"/>
              <a:t>delay</a:t>
            </a:r>
            <a:r>
              <a:rPr lang="de-DE" dirty="0"/>
              <a:t> (aka </a:t>
            </a:r>
            <a:r>
              <a:rPr lang="de-DE" dirty="0" err="1"/>
              <a:t>dead</a:t>
            </a:r>
            <a:r>
              <a:rPr lang="de-DE" dirty="0"/>
              <a:t> time)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7EDEBF8D-3696-DBD0-D6B9-D3FE6E4DD679}"/>
              </a:ext>
            </a:extLst>
          </p:cNvPr>
          <p:cNvCxnSpPr/>
          <p:nvPr/>
        </p:nvCxnSpPr>
        <p:spPr>
          <a:xfrm flipH="1" flipV="1">
            <a:off x="4819096" y="2867482"/>
            <a:ext cx="321075" cy="4971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58567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7E7D95-1F5E-CE48-E953-D97B4D902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Control Loop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DB4223A-1501-7599-2239-8ABB3D900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37</a:t>
            </a:fld>
            <a:endParaRPr lang="en-GB"/>
          </a:p>
        </p:txBody>
      </p: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6B685BC3-C175-CD83-FD48-F6388221A45E}"/>
              </a:ext>
            </a:extLst>
          </p:cNvPr>
          <p:cNvGrpSpPr/>
          <p:nvPr/>
        </p:nvGrpSpPr>
        <p:grpSpPr>
          <a:xfrm>
            <a:off x="838200" y="1993681"/>
            <a:ext cx="4379258" cy="1307375"/>
            <a:chOff x="3906371" y="2121625"/>
            <a:chExt cx="4379258" cy="130737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Prozess 9">
                  <a:extLst>
                    <a:ext uri="{FF2B5EF4-FFF2-40B4-BE49-F238E27FC236}">
                      <a16:creationId xmlns:a16="http://schemas.microsoft.com/office/drawing/2014/main" id="{CFA04C9A-F9FE-97EE-ADA9-C6D398C7532F}"/>
                    </a:ext>
                  </a:extLst>
                </p:cNvPr>
                <p:cNvSpPr/>
                <p:nvPr/>
              </p:nvSpPr>
              <p:spPr>
                <a:xfrm>
                  <a:off x="5685987" y="2164438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Prozess 9">
                  <a:extLst>
                    <a:ext uri="{FF2B5EF4-FFF2-40B4-BE49-F238E27FC236}">
                      <a16:creationId xmlns:a16="http://schemas.microsoft.com/office/drawing/2014/main" id="{CFA04C9A-F9FE-97EE-ADA9-C6D398C753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85987" y="2164438"/>
                  <a:ext cx="914400" cy="612648"/>
                </a:xfrm>
                <a:prstGeom prst="flowChartProcess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" name="Verbindungsstelle 15">
              <a:extLst>
                <a:ext uri="{FF2B5EF4-FFF2-40B4-BE49-F238E27FC236}">
                  <a16:creationId xmlns:a16="http://schemas.microsoft.com/office/drawing/2014/main" id="{5A69D5A8-6BC7-EED6-B298-00BE7B488749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7297249" y="2423264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8" name="Gerade Verbindung 17">
              <a:extLst>
                <a:ext uri="{FF2B5EF4-FFF2-40B4-BE49-F238E27FC236}">
                  <a16:creationId xmlns:a16="http://schemas.microsoft.com/office/drawing/2014/main" id="{01A8DB1A-B477-CE70-74C6-B0DDF2AD7AF9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>
              <a:off x="6600387" y="2470762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 Verbindung mit Pfeil 26">
              <a:extLst>
                <a:ext uri="{FF2B5EF4-FFF2-40B4-BE49-F238E27FC236}">
                  <a16:creationId xmlns:a16="http://schemas.microsoft.com/office/drawing/2014/main" id="{B6451F44-2FDF-CAD1-32E0-67D1B57730BC}"/>
                </a:ext>
              </a:extLst>
            </p:cNvPr>
            <p:cNvCxnSpPr>
              <a:cxnSpLocks/>
            </p:cNvCxnSpPr>
            <p:nvPr/>
          </p:nvCxnSpPr>
          <p:spPr>
            <a:xfrm>
              <a:off x="7341635" y="2467650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feld 27">
                  <a:extLst>
                    <a:ext uri="{FF2B5EF4-FFF2-40B4-BE49-F238E27FC236}">
                      <a16:creationId xmlns:a16="http://schemas.microsoft.com/office/drawing/2014/main" id="{85B40954-1094-826E-42BE-CAF86DC12B25}"/>
                    </a:ext>
                  </a:extLst>
                </p:cNvPr>
                <p:cNvSpPr txBox="1"/>
                <p:nvPr/>
              </p:nvSpPr>
              <p:spPr>
                <a:xfrm>
                  <a:off x="7789531" y="2126294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8" name="Textfeld 27">
                  <a:extLst>
                    <a:ext uri="{FF2B5EF4-FFF2-40B4-BE49-F238E27FC236}">
                      <a16:creationId xmlns:a16="http://schemas.microsoft.com/office/drawing/2014/main" id="{85B40954-1094-826E-42BE-CAF86DC12B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89531" y="2126294"/>
                  <a:ext cx="496098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2821" t="-4348" r="-17949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Gerade Verbindung 31">
              <a:extLst>
                <a:ext uri="{FF2B5EF4-FFF2-40B4-BE49-F238E27FC236}">
                  <a16:creationId xmlns:a16="http://schemas.microsoft.com/office/drawing/2014/main" id="{DE28B529-D364-88B5-AE83-2ADEBCBDF542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>
              <a:off x="7341635" y="2512036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Ring 48">
              <a:extLst>
                <a:ext uri="{FF2B5EF4-FFF2-40B4-BE49-F238E27FC236}">
                  <a16:creationId xmlns:a16="http://schemas.microsoft.com/office/drawing/2014/main" id="{86C1BC5B-5999-7107-6000-E9B34E1B4A3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897391" y="2423264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53" name="Gerade Verbindung 52">
              <a:extLst>
                <a:ext uri="{FF2B5EF4-FFF2-40B4-BE49-F238E27FC236}">
                  <a16:creationId xmlns:a16="http://schemas.microsoft.com/office/drawing/2014/main" id="{E62F31E2-E6C0-953B-27A4-866D3CB230AE}"/>
                </a:ext>
              </a:extLst>
            </p:cNvPr>
            <p:cNvCxnSpPr/>
            <p:nvPr/>
          </p:nvCxnSpPr>
          <p:spPr>
            <a:xfrm flipH="1">
              <a:off x="4942391" y="3429000"/>
              <a:ext cx="239924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 Verbindung mit Pfeil 54">
              <a:extLst>
                <a:ext uri="{FF2B5EF4-FFF2-40B4-BE49-F238E27FC236}">
                  <a16:creationId xmlns:a16="http://schemas.microsoft.com/office/drawing/2014/main" id="{809360AC-7423-81D3-2207-4F8D3EBD52E7}"/>
                </a:ext>
              </a:extLst>
            </p:cNvPr>
            <p:cNvCxnSpPr>
              <a:endCxn id="49" idx="4"/>
            </p:cNvCxnSpPr>
            <p:nvPr/>
          </p:nvCxnSpPr>
          <p:spPr>
            <a:xfrm flipV="1">
              <a:off x="4942391" y="2513264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Gerade Verbindung mit Pfeil 56">
              <a:extLst>
                <a:ext uri="{FF2B5EF4-FFF2-40B4-BE49-F238E27FC236}">
                  <a16:creationId xmlns:a16="http://schemas.microsoft.com/office/drawing/2014/main" id="{4D5FE632-0643-1613-F755-8F38A20CA551}"/>
                </a:ext>
              </a:extLst>
            </p:cNvPr>
            <p:cNvCxnSpPr>
              <a:stCxn id="49" idx="6"/>
              <a:endCxn id="10" idx="1"/>
            </p:cNvCxnSpPr>
            <p:nvPr/>
          </p:nvCxnSpPr>
          <p:spPr>
            <a:xfrm>
              <a:off x="4987391" y="2468264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 Verbindung mit Pfeil 57">
              <a:extLst>
                <a:ext uri="{FF2B5EF4-FFF2-40B4-BE49-F238E27FC236}">
                  <a16:creationId xmlns:a16="http://schemas.microsoft.com/office/drawing/2014/main" id="{3CA67442-B2C3-0F23-735F-81D48B7AA3B7}"/>
                </a:ext>
              </a:extLst>
            </p:cNvPr>
            <p:cNvCxnSpPr>
              <a:cxnSpLocks/>
              <a:endCxn id="49" idx="2"/>
            </p:cNvCxnSpPr>
            <p:nvPr/>
          </p:nvCxnSpPr>
          <p:spPr>
            <a:xfrm>
              <a:off x="4058403" y="2466093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262C97CE-410D-9075-7A61-A67DE4AA4508}"/>
                    </a:ext>
                  </a:extLst>
                </p:cNvPr>
                <p:cNvSpPr txBox="1"/>
                <p:nvPr/>
              </p:nvSpPr>
              <p:spPr>
                <a:xfrm>
                  <a:off x="3906371" y="2121625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262C97CE-410D-9075-7A61-A67DE4AA45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6371" y="2121625"/>
                  <a:ext cx="505203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125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281B3B5D-F2B8-4197-E8C0-E2465C867F79}"/>
                    </a:ext>
                  </a:extLst>
                </p:cNvPr>
                <p:cNvSpPr txBox="1"/>
                <p:nvPr/>
              </p:nvSpPr>
              <p:spPr>
                <a:xfrm>
                  <a:off x="4983598" y="2576884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281B3B5D-F2B8-4197-E8C0-E2465C867F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3598" y="2576884"/>
                  <a:ext cx="219612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5556" r="-11111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E0B57D70-F2AF-3F2F-EB01-F5A113DB39FC}"/>
              </a:ext>
            </a:extLst>
          </p:cNvPr>
          <p:cNvGrpSpPr/>
          <p:nvPr/>
        </p:nvGrpSpPr>
        <p:grpSpPr>
          <a:xfrm>
            <a:off x="838200" y="4582652"/>
            <a:ext cx="5985903" cy="1307375"/>
            <a:chOff x="838200" y="4582652"/>
            <a:chExt cx="5985903" cy="130737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Prozess 63">
                  <a:extLst>
                    <a:ext uri="{FF2B5EF4-FFF2-40B4-BE49-F238E27FC236}">
                      <a16:creationId xmlns:a16="http://schemas.microsoft.com/office/drawing/2014/main" id="{7A56EEB9-8DB0-8AFE-ED17-383632F88912}"/>
                    </a:ext>
                  </a:extLst>
                </p:cNvPr>
                <p:cNvSpPr/>
                <p:nvPr/>
              </p:nvSpPr>
              <p:spPr>
                <a:xfrm>
                  <a:off x="2617816" y="4625465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4" name="Prozess 63">
                  <a:extLst>
                    <a:ext uri="{FF2B5EF4-FFF2-40B4-BE49-F238E27FC236}">
                      <a16:creationId xmlns:a16="http://schemas.microsoft.com/office/drawing/2014/main" id="{7A56EEB9-8DB0-8AFE-ED17-383632F8891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17816" y="4625465"/>
                  <a:ext cx="914400" cy="612648"/>
                </a:xfrm>
                <a:prstGeom prst="flowChartProcess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5" name="Verbindungsstelle 64">
              <a:extLst>
                <a:ext uri="{FF2B5EF4-FFF2-40B4-BE49-F238E27FC236}">
                  <a16:creationId xmlns:a16="http://schemas.microsoft.com/office/drawing/2014/main" id="{BDAE3FB9-9C6B-3155-245D-35209A08CA67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5835723" y="4882734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7" name="Gerade Verbindung mit Pfeil 66">
              <a:extLst>
                <a:ext uri="{FF2B5EF4-FFF2-40B4-BE49-F238E27FC236}">
                  <a16:creationId xmlns:a16="http://schemas.microsoft.com/office/drawing/2014/main" id="{97175F72-AAAC-0F6E-276A-4D7FCBF56045}"/>
                </a:ext>
              </a:extLst>
            </p:cNvPr>
            <p:cNvCxnSpPr>
              <a:cxnSpLocks/>
            </p:cNvCxnSpPr>
            <p:nvPr/>
          </p:nvCxnSpPr>
          <p:spPr>
            <a:xfrm>
              <a:off x="5880109" y="4927120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feld 67">
                  <a:extLst>
                    <a:ext uri="{FF2B5EF4-FFF2-40B4-BE49-F238E27FC236}">
                      <a16:creationId xmlns:a16="http://schemas.microsoft.com/office/drawing/2014/main" id="{3194024B-9D8C-A7E3-AB79-F6E6FBA346DE}"/>
                    </a:ext>
                  </a:extLst>
                </p:cNvPr>
                <p:cNvSpPr txBox="1"/>
                <p:nvPr/>
              </p:nvSpPr>
              <p:spPr>
                <a:xfrm>
                  <a:off x="6328005" y="4585764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68" name="Textfeld 67">
                  <a:extLst>
                    <a:ext uri="{FF2B5EF4-FFF2-40B4-BE49-F238E27FC236}">
                      <a16:creationId xmlns:a16="http://schemas.microsoft.com/office/drawing/2014/main" id="{3194024B-9D8C-A7E3-AB79-F6E6FBA346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8005" y="4585764"/>
                  <a:ext cx="496098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12500" r="-15000" b="-29167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" name="Gerade Verbindung 68">
              <a:extLst>
                <a:ext uri="{FF2B5EF4-FFF2-40B4-BE49-F238E27FC236}">
                  <a16:creationId xmlns:a16="http://schemas.microsoft.com/office/drawing/2014/main" id="{C28E7F70-8EBF-A4F6-3AC0-91835D39CDB2}"/>
                </a:ext>
              </a:extLst>
            </p:cNvPr>
            <p:cNvCxnSpPr>
              <a:cxnSpLocks/>
              <a:stCxn id="65" idx="0"/>
            </p:cNvCxnSpPr>
            <p:nvPr/>
          </p:nvCxnSpPr>
          <p:spPr>
            <a:xfrm>
              <a:off x="5880109" y="4971506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Ring 69">
              <a:extLst>
                <a:ext uri="{FF2B5EF4-FFF2-40B4-BE49-F238E27FC236}">
                  <a16:creationId xmlns:a16="http://schemas.microsoft.com/office/drawing/2014/main" id="{E2C349AB-A258-9D25-5291-B4D4E5B1320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829220" y="4884291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71" name="Gerade Verbindung 70">
              <a:extLst>
                <a:ext uri="{FF2B5EF4-FFF2-40B4-BE49-F238E27FC236}">
                  <a16:creationId xmlns:a16="http://schemas.microsoft.com/office/drawing/2014/main" id="{1A18445C-FE0D-1911-B6BC-40F9C63CEB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74220" y="5888470"/>
              <a:ext cx="400588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Gerade Verbindung mit Pfeil 71">
              <a:extLst>
                <a:ext uri="{FF2B5EF4-FFF2-40B4-BE49-F238E27FC236}">
                  <a16:creationId xmlns:a16="http://schemas.microsoft.com/office/drawing/2014/main" id="{B80942AE-AB88-1BA2-9153-06510B9FA331}"/>
                </a:ext>
              </a:extLst>
            </p:cNvPr>
            <p:cNvCxnSpPr>
              <a:endCxn id="70" idx="4"/>
            </p:cNvCxnSpPr>
            <p:nvPr/>
          </p:nvCxnSpPr>
          <p:spPr>
            <a:xfrm flipV="1">
              <a:off x="1874220" y="4974291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Gerade Verbindung mit Pfeil 72">
              <a:extLst>
                <a:ext uri="{FF2B5EF4-FFF2-40B4-BE49-F238E27FC236}">
                  <a16:creationId xmlns:a16="http://schemas.microsoft.com/office/drawing/2014/main" id="{2CD06856-00F4-4F53-7399-8A98645D041F}"/>
                </a:ext>
              </a:extLst>
            </p:cNvPr>
            <p:cNvCxnSpPr>
              <a:stCxn id="70" idx="6"/>
              <a:endCxn id="64" idx="1"/>
            </p:cNvCxnSpPr>
            <p:nvPr/>
          </p:nvCxnSpPr>
          <p:spPr>
            <a:xfrm>
              <a:off x="1919220" y="4929291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Gerade Verbindung mit Pfeil 73">
              <a:extLst>
                <a:ext uri="{FF2B5EF4-FFF2-40B4-BE49-F238E27FC236}">
                  <a16:creationId xmlns:a16="http://schemas.microsoft.com/office/drawing/2014/main" id="{D4793845-8003-4479-5483-8B9A3DC1D177}"/>
                </a:ext>
              </a:extLst>
            </p:cNvPr>
            <p:cNvCxnSpPr>
              <a:cxnSpLocks/>
              <a:endCxn id="70" idx="2"/>
            </p:cNvCxnSpPr>
            <p:nvPr/>
          </p:nvCxnSpPr>
          <p:spPr>
            <a:xfrm>
              <a:off x="990232" y="4927120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feld 74">
                  <a:extLst>
                    <a:ext uri="{FF2B5EF4-FFF2-40B4-BE49-F238E27FC236}">
                      <a16:creationId xmlns:a16="http://schemas.microsoft.com/office/drawing/2014/main" id="{36939397-BB10-5B65-CDDB-A3F7FC7D2986}"/>
                    </a:ext>
                  </a:extLst>
                </p:cNvPr>
                <p:cNvSpPr txBox="1"/>
                <p:nvPr/>
              </p:nvSpPr>
              <p:spPr>
                <a:xfrm>
                  <a:off x="838200" y="4582652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5" name="Textfeld 74">
                  <a:extLst>
                    <a:ext uri="{FF2B5EF4-FFF2-40B4-BE49-F238E27FC236}">
                      <a16:creationId xmlns:a16="http://schemas.microsoft.com/office/drawing/2014/main" id="{36939397-BB10-5B65-CDDB-A3F7FC7D29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4582652"/>
                  <a:ext cx="505203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125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Textfeld 75">
                  <a:extLst>
                    <a:ext uri="{FF2B5EF4-FFF2-40B4-BE49-F238E27FC236}">
                      <a16:creationId xmlns:a16="http://schemas.microsoft.com/office/drawing/2014/main" id="{93FD5BA8-3FE8-F79F-7982-568B7F328557}"/>
                    </a:ext>
                  </a:extLst>
                </p:cNvPr>
                <p:cNvSpPr txBox="1"/>
                <p:nvPr/>
              </p:nvSpPr>
              <p:spPr>
                <a:xfrm>
                  <a:off x="1915427" y="5037911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6" name="Textfeld 75">
                  <a:extLst>
                    <a:ext uri="{FF2B5EF4-FFF2-40B4-BE49-F238E27FC236}">
                      <a16:creationId xmlns:a16="http://schemas.microsoft.com/office/drawing/2014/main" id="{93FD5BA8-3FE8-F79F-7982-568B7F3285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5427" y="5037911"/>
                  <a:ext cx="219612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5556" r="-11111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Prozess 76">
                  <a:extLst>
                    <a:ext uri="{FF2B5EF4-FFF2-40B4-BE49-F238E27FC236}">
                      <a16:creationId xmlns:a16="http://schemas.microsoft.com/office/drawing/2014/main" id="{35D03A6A-8FF9-91D1-0092-4ADB9BDBD9F8}"/>
                    </a:ext>
                  </a:extLst>
                </p:cNvPr>
                <p:cNvSpPr/>
                <p:nvPr/>
              </p:nvSpPr>
              <p:spPr>
                <a:xfrm>
                  <a:off x="4230482" y="4625465"/>
                  <a:ext cx="914400" cy="612000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7" name="Prozess 76">
                  <a:extLst>
                    <a:ext uri="{FF2B5EF4-FFF2-40B4-BE49-F238E27FC236}">
                      <a16:creationId xmlns:a16="http://schemas.microsoft.com/office/drawing/2014/main" id="{35D03A6A-8FF9-91D1-0092-4ADB9BDBD9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30482" y="4625465"/>
                  <a:ext cx="914400" cy="612000"/>
                </a:xfrm>
                <a:prstGeom prst="flowChartProcess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9" name="Gerade Verbindung 78">
              <a:extLst>
                <a:ext uri="{FF2B5EF4-FFF2-40B4-BE49-F238E27FC236}">
                  <a16:creationId xmlns:a16="http://schemas.microsoft.com/office/drawing/2014/main" id="{1B8BFFB9-903B-6997-1D1E-1D11BBC79C7C}"/>
                </a:ext>
              </a:extLst>
            </p:cNvPr>
            <p:cNvCxnSpPr>
              <a:cxnSpLocks/>
            </p:cNvCxnSpPr>
            <p:nvPr/>
          </p:nvCxnSpPr>
          <p:spPr>
            <a:xfrm>
              <a:off x="5139075" y="4927120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Gerade Verbindung mit Pfeil 83">
              <a:extLst>
                <a:ext uri="{FF2B5EF4-FFF2-40B4-BE49-F238E27FC236}">
                  <a16:creationId xmlns:a16="http://schemas.microsoft.com/office/drawing/2014/main" id="{426DD009-601D-081A-D2C3-7D7EE673A4D1}"/>
                </a:ext>
              </a:extLst>
            </p:cNvPr>
            <p:cNvCxnSpPr>
              <a:cxnSpLocks/>
              <a:stCxn id="64" idx="3"/>
              <a:endCxn id="77" idx="1"/>
            </p:cNvCxnSpPr>
            <p:nvPr/>
          </p:nvCxnSpPr>
          <p:spPr>
            <a:xfrm flipV="1">
              <a:off x="3532216" y="4931465"/>
              <a:ext cx="698266" cy="32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3EB245D8-DA26-0DE3-DA5B-9168829BC6D1}"/>
                  </a:ext>
                </a:extLst>
              </p:cNvPr>
              <p:cNvSpPr txBox="1"/>
              <p:nvPr/>
            </p:nvSpPr>
            <p:spPr>
              <a:xfrm>
                <a:off x="6096000" y="814005"/>
                <a:ext cx="4538615" cy="22463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)∙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de-DE" sz="2400" dirty="0"/>
              </a:p>
              <a:p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  <a:p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3EB245D8-DA26-0DE3-DA5B-9168829BC6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814005"/>
                <a:ext cx="4538615" cy="2246321"/>
              </a:xfrm>
              <a:prstGeom prst="rect">
                <a:avLst/>
              </a:prstGeom>
              <a:blipFill>
                <a:blip r:embed="rId9"/>
                <a:stretch>
                  <a:fillRect l="-279" t="-565" r="-1397" b="-565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feld 4">
            <a:extLst>
              <a:ext uri="{FF2B5EF4-FFF2-40B4-BE49-F238E27FC236}">
                <a16:creationId xmlns:a16="http://schemas.microsoft.com/office/drawing/2014/main" id="{7B1B46A8-D3BE-8232-6FD3-0BBC2CD586D8}"/>
              </a:ext>
            </a:extLst>
          </p:cNvPr>
          <p:cNvSpPr txBox="1"/>
          <p:nvPr/>
        </p:nvSpPr>
        <p:spPr>
          <a:xfrm>
            <a:off x="7347911" y="3359443"/>
            <a:ext cx="400588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closed</a:t>
            </a:r>
            <a:r>
              <a:rPr lang="de-DE" sz="2400" dirty="0"/>
              <a:t>-loop </a:t>
            </a:r>
            <a:r>
              <a:rPr lang="de-DE" sz="2400" dirty="0" err="1"/>
              <a:t>transfer</a:t>
            </a:r>
            <a:r>
              <a:rPr lang="de-DE" sz="2400" dirty="0"/>
              <a:t> </a:t>
            </a:r>
            <a:r>
              <a:rPr lang="de-DE" sz="2400" dirty="0" err="1"/>
              <a:t>function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negative </a:t>
            </a:r>
            <a:r>
              <a:rPr lang="de-DE" sz="2400" dirty="0" err="1"/>
              <a:t>feedback</a:t>
            </a:r>
            <a:endParaRPr lang="de-DE" sz="24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6C464F60-FB62-DB77-A5C9-AA00849EF8D2}"/>
              </a:ext>
            </a:extLst>
          </p:cNvPr>
          <p:cNvCxnSpPr/>
          <p:nvPr/>
        </p:nvCxnSpPr>
        <p:spPr>
          <a:xfrm flipV="1">
            <a:off x="8610600" y="3060326"/>
            <a:ext cx="151660" cy="3842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E1F6F8F9-8529-3D6B-67E4-7AC0BCCEA22A}"/>
                  </a:ext>
                </a:extLst>
              </p:cNvPr>
              <p:cNvSpPr txBox="1"/>
              <p:nvPr/>
            </p:nvSpPr>
            <p:spPr>
              <a:xfrm>
                <a:off x="7747396" y="5176410"/>
                <a:ext cx="3206917" cy="8613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E1F6F8F9-8529-3D6B-67E4-7AC0BCCEA2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7396" y="5176410"/>
                <a:ext cx="3206917" cy="861326"/>
              </a:xfrm>
              <a:prstGeom prst="rect">
                <a:avLst/>
              </a:prstGeom>
              <a:blipFill>
                <a:blip r:embed="rId10"/>
                <a:stretch>
                  <a:fillRect r="-395" b="-1014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5E3520AA-C07E-5285-60F1-A52A218580C9}"/>
                  </a:ext>
                </a:extLst>
              </p:cNvPr>
              <p:cNvSpPr txBox="1"/>
              <p:nvPr/>
            </p:nvSpPr>
            <p:spPr>
              <a:xfrm>
                <a:off x="426220" y="6184059"/>
                <a:ext cx="705340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above combines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and plant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5E3520AA-C07E-5285-60F1-A52A218580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20" y="6184059"/>
                <a:ext cx="7053406" cy="461665"/>
              </a:xfrm>
              <a:prstGeom prst="rect">
                <a:avLst/>
              </a:prstGeom>
              <a:blipFill>
                <a:blip r:embed="rId11"/>
                <a:stretch>
                  <a:fillRect l="-180" t="-10526" b="-2894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230822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CB3717-9DB3-1399-9CCC-728FFAB9C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PID Controller Transfer </a:t>
            </a:r>
            <a:r>
              <a:rPr lang="de-DE" dirty="0" err="1"/>
              <a:t>Function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1BC413E4-178D-A51B-5C3F-4C91A86DF2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increases</a:t>
                </a:r>
                <a:r>
                  <a:rPr lang="de-DE" dirty="0"/>
                  <a:t> loop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faster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, </a:t>
                </a:r>
                <a:r>
                  <a:rPr lang="de-DE" dirty="0" err="1"/>
                  <a:t>smaller</a:t>
                </a:r>
                <a:r>
                  <a:rPr lang="de-DE" dirty="0"/>
                  <a:t>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r>
                  <a:rPr lang="de-DE" dirty="0"/>
                  <a:t>, </a:t>
                </a:r>
                <a:r>
                  <a:rPr lang="de-DE" dirty="0" err="1"/>
                  <a:t>may</a:t>
                </a:r>
                <a:r>
                  <a:rPr lang="de-DE" dirty="0"/>
                  <a:t> </a:t>
                </a:r>
                <a:r>
                  <a:rPr lang="de-DE" dirty="0" err="1"/>
                  <a:t>increase</a:t>
                </a:r>
                <a:r>
                  <a:rPr lang="de-DE" dirty="0"/>
                  <a:t> </a:t>
                </a:r>
                <a:r>
                  <a:rPr lang="de-DE" dirty="0" err="1"/>
                  <a:t>overshoot</a:t>
                </a:r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adds</a:t>
                </a:r>
                <a:r>
                  <a:rPr lang="de-DE" dirty="0"/>
                  <a:t> </a:t>
                </a:r>
                <a:r>
                  <a:rPr lang="de-DE" dirty="0" err="1"/>
                  <a:t>integrator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eliminates</a:t>
                </a:r>
                <a:r>
                  <a:rPr lang="de-DE" dirty="0"/>
                  <a:t>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r>
                  <a:rPr lang="de-DE" dirty="0"/>
                  <a:t>, </a:t>
                </a:r>
                <a:r>
                  <a:rPr lang="de-DE" dirty="0" err="1"/>
                  <a:t>may</a:t>
                </a:r>
                <a:r>
                  <a:rPr lang="de-DE" dirty="0"/>
                  <a:t> </a:t>
                </a:r>
                <a:r>
                  <a:rPr lang="de-DE" dirty="0" err="1"/>
                  <a:t>reduce</a:t>
                </a:r>
                <a:r>
                  <a:rPr lang="de-DE" dirty="0"/>
                  <a:t> </a:t>
                </a:r>
                <a:r>
                  <a:rPr lang="de-DE" dirty="0" err="1"/>
                  <a:t>stability</a:t>
                </a:r>
                <a:r>
                  <a:rPr lang="de-DE" dirty="0"/>
                  <a:t> </a:t>
                </a:r>
                <a:r>
                  <a:rPr lang="de-DE" dirty="0" err="1"/>
                  <a:t>margin</a:t>
                </a:r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adds</a:t>
                </a:r>
                <a:r>
                  <a:rPr lang="de-DE" dirty="0"/>
                  <a:t> </a:t>
                </a:r>
                <a:r>
                  <a:rPr lang="de-DE" dirty="0" err="1"/>
                  <a:t>damping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reduces</a:t>
                </a:r>
                <a:r>
                  <a:rPr lang="de-DE" dirty="0"/>
                  <a:t> </a:t>
                </a:r>
                <a:r>
                  <a:rPr lang="de-DE" dirty="0" err="1"/>
                  <a:t>overshoot</a:t>
                </a:r>
                <a:r>
                  <a:rPr lang="de-DE" dirty="0"/>
                  <a:t>, </a:t>
                </a:r>
                <a:r>
                  <a:rPr lang="de-DE" dirty="0" err="1"/>
                  <a:t>improves</a:t>
                </a:r>
                <a:r>
                  <a:rPr lang="de-DE" dirty="0"/>
                  <a:t> transient </a:t>
                </a:r>
                <a:r>
                  <a:rPr lang="de-DE" dirty="0" err="1"/>
                  <a:t>behavior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Controller design:</a:t>
                </a:r>
              </a:p>
              <a:p>
                <a:r>
                  <a:rPr lang="de-DE" dirty="0"/>
                  <a:t>Shape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poles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obtain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desired</a:t>
                </a:r>
                <a:r>
                  <a:rPr lang="de-DE" dirty="0"/>
                  <a:t> </a:t>
                </a:r>
                <a:r>
                  <a:rPr lang="de-DE" dirty="0" err="1"/>
                  <a:t>dynamics</a:t>
                </a:r>
                <a:endParaRPr lang="de-DE" dirty="0"/>
              </a:p>
              <a:p>
                <a:r>
                  <a:rPr lang="de-DE" dirty="0" err="1"/>
                  <a:t>Achieved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selecting</a:t>
                </a:r>
                <a:r>
                  <a:rPr lang="de-DE" dirty="0"/>
                  <a:t> and </a:t>
                </a:r>
                <a:r>
                  <a:rPr lang="de-DE" dirty="0" err="1"/>
                  <a:t>tuning</a:t>
                </a:r>
                <a:r>
                  <a:rPr lang="de-DE" dirty="0"/>
                  <a:t> </a:t>
                </a:r>
                <a:r>
                  <a:rPr lang="de-DE" dirty="0" err="1"/>
                  <a:t>controller</a:t>
                </a:r>
                <a:r>
                  <a:rPr lang="de-DE" dirty="0"/>
                  <a:t> </a:t>
                </a:r>
                <a:r>
                  <a:rPr lang="de-DE" dirty="0" err="1"/>
                  <a:t>parameters</a:t>
                </a:r>
                <a:r>
                  <a:rPr lang="de-DE" dirty="0"/>
                  <a:t> (</a:t>
                </a:r>
                <a:r>
                  <a:rPr lang="de-DE" dirty="0" err="1"/>
                  <a:t>move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poles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1BC413E4-178D-A51B-5C3F-4C91A86DF2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EF15152-4A2F-9346-DFCE-B3D9FFBF6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735519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 19">
            <a:extLst>
              <a:ext uri="{FF2B5EF4-FFF2-40B4-BE49-F238E27FC236}">
                <a16:creationId xmlns:a16="http://schemas.microsoft.com/office/drawing/2014/main" id="{212B22B2-EAB7-6720-A16E-276F12E8F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Hidden </a:t>
            </a:r>
            <a:r>
              <a:rPr lang="de-DE" dirty="0" err="1"/>
              <a:t>Assumptions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07D09CB-2114-E487-4ACA-4F1F296AB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39</a:t>
            </a:fld>
            <a:endParaRPr lang="en-GB"/>
          </a:p>
        </p:txBody>
      </p: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899EA923-B320-E430-7352-945C47FC665F}"/>
              </a:ext>
            </a:extLst>
          </p:cNvPr>
          <p:cNvGrpSpPr/>
          <p:nvPr/>
        </p:nvGrpSpPr>
        <p:grpSpPr>
          <a:xfrm>
            <a:off x="971273" y="1656233"/>
            <a:ext cx="5985903" cy="1612142"/>
            <a:chOff x="714083" y="2028176"/>
            <a:chExt cx="5985903" cy="161214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Prozess 4">
                  <a:extLst>
                    <a:ext uri="{FF2B5EF4-FFF2-40B4-BE49-F238E27FC236}">
                      <a16:creationId xmlns:a16="http://schemas.microsoft.com/office/drawing/2014/main" id="{CBAE731C-F71E-8BED-A12D-10796EC7A9E1}"/>
                    </a:ext>
                  </a:extLst>
                </p:cNvPr>
                <p:cNvSpPr/>
                <p:nvPr/>
              </p:nvSpPr>
              <p:spPr>
                <a:xfrm>
                  <a:off x="2493699" y="2070000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Prozess 4">
                  <a:extLst>
                    <a:ext uri="{FF2B5EF4-FFF2-40B4-BE49-F238E27FC236}">
                      <a16:creationId xmlns:a16="http://schemas.microsoft.com/office/drawing/2014/main" id="{CBAE731C-F71E-8BED-A12D-10796EC7A9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93699" y="2070000"/>
                  <a:ext cx="914400" cy="612648"/>
                </a:xfrm>
                <a:prstGeom prst="flowChartProcess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Verbindungsstelle 5">
              <a:extLst>
                <a:ext uri="{FF2B5EF4-FFF2-40B4-BE49-F238E27FC236}">
                  <a16:creationId xmlns:a16="http://schemas.microsoft.com/office/drawing/2014/main" id="{EEA8466F-7D3F-3081-F537-F2C5A6164EE7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5711606" y="2328258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" name="Gerade Verbindung mit Pfeil 6">
              <a:extLst>
                <a:ext uri="{FF2B5EF4-FFF2-40B4-BE49-F238E27FC236}">
                  <a16:creationId xmlns:a16="http://schemas.microsoft.com/office/drawing/2014/main" id="{611B80E7-F9CB-0ABE-6815-D4E90AD6CD78}"/>
                </a:ext>
              </a:extLst>
            </p:cNvPr>
            <p:cNvCxnSpPr>
              <a:cxnSpLocks/>
            </p:cNvCxnSpPr>
            <p:nvPr/>
          </p:nvCxnSpPr>
          <p:spPr>
            <a:xfrm>
              <a:off x="5755992" y="2372644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1EC57E1A-4742-6495-1B33-14A9630570AF}"/>
                    </a:ext>
                  </a:extLst>
                </p:cNvPr>
                <p:cNvSpPr txBox="1"/>
                <p:nvPr/>
              </p:nvSpPr>
              <p:spPr>
                <a:xfrm>
                  <a:off x="6203888" y="2031288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1EC57E1A-4742-6495-1B33-14A9630570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3888" y="2031288"/>
                  <a:ext cx="496098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00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Gerade Verbindung 8">
              <a:extLst>
                <a:ext uri="{FF2B5EF4-FFF2-40B4-BE49-F238E27FC236}">
                  <a16:creationId xmlns:a16="http://schemas.microsoft.com/office/drawing/2014/main" id="{9AF120D8-734C-0613-5CA9-7A01EDA3C12C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>
              <a:off x="5755992" y="2417030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ing 9">
              <a:extLst>
                <a:ext uri="{FF2B5EF4-FFF2-40B4-BE49-F238E27FC236}">
                  <a16:creationId xmlns:a16="http://schemas.microsoft.com/office/drawing/2014/main" id="{9658AB60-BED2-3AEA-E449-CA55B138913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05103" y="2329815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0A0730A7-6D9B-E8B8-9397-3AC4F973A2AC}"/>
                </a:ext>
              </a:extLst>
            </p:cNvPr>
            <p:cNvCxnSpPr>
              <a:endCxn id="10" idx="4"/>
            </p:cNvCxnSpPr>
            <p:nvPr/>
          </p:nvCxnSpPr>
          <p:spPr>
            <a:xfrm flipV="1">
              <a:off x="1750103" y="2419815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F8AAAEB5-D007-9C8D-8975-3DEDC9C7963A}"/>
                </a:ext>
              </a:extLst>
            </p:cNvPr>
            <p:cNvCxnSpPr>
              <a:cxnSpLocks/>
              <a:stCxn id="10" idx="6"/>
              <a:endCxn id="5" idx="1"/>
            </p:cNvCxnSpPr>
            <p:nvPr/>
          </p:nvCxnSpPr>
          <p:spPr>
            <a:xfrm>
              <a:off x="1795103" y="2374815"/>
              <a:ext cx="698596" cy="150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D5B45189-1F92-866E-0FFA-671C55CAD1A1}"/>
                </a:ext>
              </a:extLst>
            </p:cNvPr>
            <p:cNvCxnSpPr>
              <a:cxnSpLocks/>
              <a:endCxn id="10" idx="2"/>
            </p:cNvCxnSpPr>
            <p:nvPr/>
          </p:nvCxnSpPr>
          <p:spPr>
            <a:xfrm>
              <a:off x="866115" y="2374815"/>
              <a:ext cx="83898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D827F59F-572A-CA28-A965-719762BEC99A}"/>
                    </a:ext>
                  </a:extLst>
                </p:cNvPr>
                <p:cNvSpPr txBox="1"/>
                <p:nvPr/>
              </p:nvSpPr>
              <p:spPr>
                <a:xfrm>
                  <a:off x="714083" y="2028176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D827F59F-572A-CA28-A965-719762BEC9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4083" y="2028176"/>
                  <a:ext cx="505203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9756" r="-14634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A4555BF9-17F8-9ECC-0CB0-FEDEBDD3781A}"/>
                    </a:ext>
                  </a:extLst>
                </p:cNvPr>
                <p:cNvSpPr txBox="1"/>
                <p:nvPr/>
              </p:nvSpPr>
              <p:spPr>
                <a:xfrm>
                  <a:off x="1791310" y="2483435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A4555BF9-17F8-9ECC-0CB0-FEDEBDD378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310" y="2483435"/>
                  <a:ext cx="219612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11111" r="-5556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Prozess 16">
                  <a:extLst>
                    <a:ext uri="{FF2B5EF4-FFF2-40B4-BE49-F238E27FC236}">
                      <a16:creationId xmlns:a16="http://schemas.microsoft.com/office/drawing/2014/main" id="{965FBAFC-BEA8-48FC-6E53-12E91F1723D5}"/>
                    </a:ext>
                  </a:extLst>
                </p:cNvPr>
                <p:cNvSpPr/>
                <p:nvPr/>
              </p:nvSpPr>
              <p:spPr>
                <a:xfrm>
                  <a:off x="4100558" y="2070000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Prozess 16">
                  <a:extLst>
                    <a:ext uri="{FF2B5EF4-FFF2-40B4-BE49-F238E27FC236}">
                      <a16:creationId xmlns:a16="http://schemas.microsoft.com/office/drawing/2014/main" id="{965FBAFC-BEA8-48FC-6E53-12E91F1723D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00558" y="2070000"/>
                  <a:ext cx="914400" cy="612648"/>
                </a:xfrm>
                <a:prstGeom prst="flowChartProcess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Gerade Verbindung 17">
              <a:extLst>
                <a:ext uri="{FF2B5EF4-FFF2-40B4-BE49-F238E27FC236}">
                  <a16:creationId xmlns:a16="http://schemas.microsoft.com/office/drawing/2014/main" id="{E227C8EA-10B4-8C97-8335-222B7B531965}"/>
                </a:ext>
              </a:extLst>
            </p:cNvPr>
            <p:cNvCxnSpPr>
              <a:cxnSpLocks/>
            </p:cNvCxnSpPr>
            <p:nvPr/>
          </p:nvCxnSpPr>
          <p:spPr>
            <a:xfrm>
              <a:off x="5014958" y="2372644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 Verbindung mit Pfeil 18">
              <a:extLst>
                <a:ext uri="{FF2B5EF4-FFF2-40B4-BE49-F238E27FC236}">
                  <a16:creationId xmlns:a16="http://schemas.microsoft.com/office/drawing/2014/main" id="{DDE908A0-EBE7-EC72-474E-1DFA1E264530}"/>
                </a:ext>
              </a:extLst>
            </p:cNvPr>
            <p:cNvCxnSpPr>
              <a:stCxn id="5" idx="3"/>
              <a:endCxn id="17" idx="1"/>
            </p:cNvCxnSpPr>
            <p:nvPr/>
          </p:nvCxnSpPr>
          <p:spPr>
            <a:xfrm>
              <a:off x="3408099" y="2376324"/>
              <a:ext cx="692459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Prozess 20">
                  <a:extLst>
                    <a:ext uri="{FF2B5EF4-FFF2-40B4-BE49-F238E27FC236}">
                      <a16:creationId xmlns:a16="http://schemas.microsoft.com/office/drawing/2014/main" id="{7AB576E0-2556-12DE-587C-129761027D34}"/>
                    </a:ext>
                  </a:extLst>
                </p:cNvPr>
                <p:cNvSpPr/>
                <p:nvPr/>
              </p:nvSpPr>
              <p:spPr>
                <a:xfrm>
                  <a:off x="3297128" y="3027670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Prozess 20">
                  <a:extLst>
                    <a:ext uri="{FF2B5EF4-FFF2-40B4-BE49-F238E27FC236}">
                      <a16:creationId xmlns:a16="http://schemas.microsoft.com/office/drawing/2014/main" id="{7AB576E0-2556-12DE-587C-129761027D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97128" y="3027670"/>
                  <a:ext cx="914400" cy="612648"/>
                </a:xfrm>
                <a:prstGeom prst="flowChartProcess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" name="Gerade Verbindung mit Pfeil 24">
              <a:extLst>
                <a:ext uri="{FF2B5EF4-FFF2-40B4-BE49-F238E27FC236}">
                  <a16:creationId xmlns:a16="http://schemas.microsoft.com/office/drawing/2014/main" id="{9B46319F-B1A8-B248-7DFD-BA204C5A3B21}"/>
                </a:ext>
              </a:extLst>
            </p:cNvPr>
            <p:cNvCxnSpPr>
              <a:endCxn id="21" idx="3"/>
            </p:cNvCxnSpPr>
            <p:nvPr/>
          </p:nvCxnSpPr>
          <p:spPr>
            <a:xfrm flipH="1">
              <a:off x="4211528" y="3333994"/>
              <a:ext cx="1544464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 Verbindung 26">
              <a:extLst>
                <a:ext uri="{FF2B5EF4-FFF2-40B4-BE49-F238E27FC236}">
                  <a16:creationId xmlns:a16="http://schemas.microsoft.com/office/drawing/2014/main" id="{625B1DDF-760D-0717-CDA1-EBDBED98185C}"/>
                </a:ext>
              </a:extLst>
            </p:cNvPr>
            <p:cNvCxnSpPr>
              <a:stCxn id="21" idx="1"/>
            </p:cNvCxnSpPr>
            <p:nvPr/>
          </p:nvCxnSpPr>
          <p:spPr>
            <a:xfrm flipH="1">
              <a:off x="1750103" y="3333994"/>
              <a:ext cx="15470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7" name="Gruppieren 86">
            <a:extLst>
              <a:ext uri="{FF2B5EF4-FFF2-40B4-BE49-F238E27FC236}">
                <a16:creationId xmlns:a16="http://schemas.microsoft.com/office/drawing/2014/main" id="{236376D0-DD6F-8F51-B718-82E522B4AD77}"/>
              </a:ext>
            </a:extLst>
          </p:cNvPr>
          <p:cNvGrpSpPr/>
          <p:nvPr/>
        </p:nvGrpSpPr>
        <p:grpSpPr>
          <a:xfrm>
            <a:off x="1166232" y="4445381"/>
            <a:ext cx="9212726" cy="1607783"/>
            <a:chOff x="1166232" y="4445381"/>
            <a:chExt cx="9212726" cy="16077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Prozess 27">
                  <a:extLst>
                    <a:ext uri="{FF2B5EF4-FFF2-40B4-BE49-F238E27FC236}">
                      <a16:creationId xmlns:a16="http://schemas.microsoft.com/office/drawing/2014/main" id="{6566DE87-CFD2-F528-C14B-09089A932CF9}"/>
                    </a:ext>
                  </a:extLst>
                </p:cNvPr>
                <p:cNvSpPr/>
                <p:nvPr/>
              </p:nvSpPr>
              <p:spPr>
                <a:xfrm>
                  <a:off x="4556808" y="4486023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Prozess 27">
                  <a:extLst>
                    <a:ext uri="{FF2B5EF4-FFF2-40B4-BE49-F238E27FC236}">
                      <a16:creationId xmlns:a16="http://schemas.microsoft.com/office/drawing/2014/main" id="{6566DE87-CFD2-F528-C14B-09089A932CF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6808" y="4486023"/>
                  <a:ext cx="914400" cy="612648"/>
                </a:xfrm>
                <a:prstGeom prst="flowChartProcess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Verbindungsstelle 28">
              <a:extLst>
                <a:ext uri="{FF2B5EF4-FFF2-40B4-BE49-F238E27FC236}">
                  <a16:creationId xmlns:a16="http://schemas.microsoft.com/office/drawing/2014/main" id="{C2DABC03-F9C5-04BD-29EE-EEBE919F1731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9390578" y="4745463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0" name="Gerade Verbindung mit Pfeil 29">
              <a:extLst>
                <a:ext uri="{FF2B5EF4-FFF2-40B4-BE49-F238E27FC236}">
                  <a16:creationId xmlns:a16="http://schemas.microsoft.com/office/drawing/2014/main" id="{36747D36-517B-D08B-611D-6EFABD456D55}"/>
                </a:ext>
              </a:extLst>
            </p:cNvPr>
            <p:cNvCxnSpPr>
              <a:cxnSpLocks/>
            </p:cNvCxnSpPr>
            <p:nvPr/>
          </p:nvCxnSpPr>
          <p:spPr>
            <a:xfrm>
              <a:off x="9434964" y="4789849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feld 30">
                  <a:extLst>
                    <a:ext uri="{FF2B5EF4-FFF2-40B4-BE49-F238E27FC236}">
                      <a16:creationId xmlns:a16="http://schemas.microsoft.com/office/drawing/2014/main" id="{172D6ED6-234E-6A50-5406-A702D6990675}"/>
                    </a:ext>
                  </a:extLst>
                </p:cNvPr>
                <p:cNvSpPr txBox="1"/>
                <p:nvPr/>
              </p:nvSpPr>
              <p:spPr>
                <a:xfrm>
                  <a:off x="9882860" y="4448493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1" name="Textfeld 30">
                  <a:extLst>
                    <a:ext uri="{FF2B5EF4-FFF2-40B4-BE49-F238E27FC236}">
                      <a16:creationId xmlns:a16="http://schemas.microsoft.com/office/drawing/2014/main" id="{172D6ED6-234E-6A50-5406-A702D69906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82860" y="4448493"/>
                  <a:ext cx="496098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12500" t="-4545" r="-17500" b="-40909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Gerade Verbindung 31">
              <a:extLst>
                <a:ext uri="{FF2B5EF4-FFF2-40B4-BE49-F238E27FC236}">
                  <a16:creationId xmlns:a16="http://schemas.microsoft.com/office/drawing/2014/main" id="{2112C397-716A-805F-6585-5E187081CE67}"/>
                </a:ext>
              </a:extLst>
            </p:cNvPr>
            <p:cNvCxnSpPr>
              <a:cxnSpLocks/>
              <a:stCxn id="29" idx="0"/>
            </p:cNvCxnSpPr>
            <p:nvPr/>
          </p:nvCxnSpPr>
          <p:spPr>
            <a:xfrm>
              <a:off x="9434964" y="4834235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Ring 32">
              <a:extLst>
                <a:ext uri="{FF2B5EF4-FFF2-40B4-BE49-F238E27FC236}">
                  <a16:creationId xmlns:a16="http://schemas.microsoft.com/office/drawing/2014/main" id="{B933FAA3-EA9E-D1A4-7AD8-3C430637558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68212" y="4748400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34" name="Gerade Verbindung mit Pfeil 33">
              <a:extLst>
                <a:ext uri="{FF2B5EF4-FFF2-40B4-BE49-F238E27FC236}">
                  <a16:creationId xmlns:a16="http://schemas.microsoft.com/office/drawing/2014/main" id="{B7B9ED09-7295-0A91-E7E1-F489D4346057}"/>
                </a:ext>
              </a:extLst>
            </p:cNvPr>
            <p:cNvCxnSpPr>
              <a:endCxn id="33" idx="4"/>
            </p:cNvCxnSpPr>
            <p:nvPr/>
          </p:nvCxnSpPr>
          <p:spPr>
            <a:xfrm flipV="1">
              <a:off x="3813212" y="4838400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 Verbindung mit Pfeil 34">
              <a:extLst>
                <a:ext uri="{FF2B5EF4-FFF2-40B4-BE49-F238E27FC236}">
                  <a16:creationId xmlns:a16="http://schemas.microsoft.com/office/drawing/2014/main" id="{164A0B6F-9F37-D940-ABFA-5334CD65FD83}"/>
                </a:ext>
              </a:extLst>
            </p:cNvPr>
            <p:cNvCxnSpPr>
              <a:cxnSpLocks/>
              <a:stCxn id="33" idx="6"/>
              <a:endCxn id="28" idx="1"/>
            </p:cNvCxnSpPr>
            <p:nvPr/>
          </p:nvCxnSpPr>
          <p:spPr>
            <a:xfrm flipV="1">
              <a:off x="3858212" y="4792347"/>
              <a:ext cx="698596" cy="105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53818EAB-AA81-1C28-8797-29AC86FA732C}"/>
                </a:ext>
              </a:extLst>
            </p:cNvPr>
            <p:cNvCxnSpPr>
              <a:cxnSpLocks/>
            </p:cNvCxnSpPr>
            <p:nvPr/>
          </p:nvCxnSpPr>
          <p:spPr>
            <a:xfrm>
              <a:off x="1318264" y="4789849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feld 36">
                  <a:extLst>
                    <a:ext uri="{FF2B5EF4-FFF2-40B4-BE49-F238E27FC236}">
                      <a16:creationId xmlns:a16="http://schemas.microsoft.com/office/drawing/2014/main" id="{851796E7-6A3A-F1D0-E9B5-D357335B6A4D}"/>
                    </a:ext>
                  </a:extLst>
                </p:cNvPr>
                <p:cNvSpPr txBox="1"/>
                <p:nvPr/>
              </p:nvSpPr>
              <p:spPr>
                <a:xfrm>
                  <a:off x="1166232" y="4445381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7" name="Textfeld 36">
                  <a:extLst>
                    <a:ext uri="{FF2B5EF4-FFF2-40B4-BE49-F238E27FC236}">
                      <a16:creationId xmlns:a16="http://schemas.microsoft.com/office/drawing/2014/main" id="{851796E7-6A3A-F1D0-E9B5-D357335B6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6232" y="4445381"/>
                  <a:ext cx="505203" cy="276999"/>
                </a:xfrm>
                <a:prstGeom prst="rect">
                  <a:avLst/>
                </a:prstGeom>
                <a:blipFill>
                  <a:blip r:embed="rId10"/>
                  <a:stretch>
                    <a:fillRect l="-9756" r="-17073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feld 37">
                  <a:extLst>
                    <a:ext uri="{FF2B5EF4-FFF2-40B4-BE49-F238E27FC236}">
                      <a16:creationId xmlns:a16="http://schemas.microsoft.com/office/drawing/2014/main" id="{5BFDB529-F53D-E1F8-DEDB-451F750E86EC}"/>
                    </a:ext>
                  </a:extLst>
                </p:cNvPr>
                <p:cNvSpPr txBox="1"/>
                <p:nvPr/>
              </p:nvSpPr>
              <p:spPr>
                <a:xfrm>
                  <a:off x="3854419" y="4898469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8" name="Textfeld 37">
                  <a:extLst>
                    <a:ext uri="{FF2B5EF4-FFF2-40B4-BE49-F238E27FC236}">
                      <a16:creationId xmlns:a16="http://schemas.microsoft.com/office/drawing/2014/main" id="{5BFDB529-F53D-E1F8-DEDB-451F750E86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54419" y="4898469"/>
                  <a:ext cx="219612" cy="276999"/>
                </a:xfrm>
                <a:prstGeom prst="rect">
                  <a:avLst/>
                </a:prstGeom>
                <a:blipFill>
                  <a:blip r:embed="rId11"/>
                  <a:stretch>
                    <a:fillRect l="-11111" r="-11111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Prozess 38">
                  <a:extLst>
                    <a:ext uri="{FF2B5EF4-FFF2-40B4-BE49-F238E27FC236}">
                      <a16:creationId xmlns:a16="http://schemas.microsoft.com/office/drawing/2014/main" id="{D8F3F6B1-D911-BC27-DC02-27588C7F837C}"/>
                    </a:ext>
                  </a:extLst>
                </p:cNvPr>
                <p:cNvSpPr/>
                <p:nvPr/>
              </p:nvSpPr>
              <p:spPr>
                <a:xfrm>
                  <a:off x="7779530" y="4483525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Prozess 38">
                  <a:extLst>
                    <a:ext uri="{FF2B5EF4-FFF2-40B4-BE49-F238E27FC236}">
                      <a16:creationId xmlns:a16="http://schemas.microsoft.com/office/drawing/2014/main" id="{D8F3F6B1-D911-BC27-DC02-27588C7F83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79530" y="4483525"/>
                  <a:ext cx="914400" cy="612648"/>
                </a:xfrm>
                <a:prstGeom prst="flowChartProcess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0" name="Gerade Verbindung 39">
              <a:extLst>
                <a:ext uri="{FF2B5EF4-FFF2-40B4-BE49-F238E27FC236}">
                  <a16:creationId xmlns:a16="http://schemas.microsoft.com/office/drawing/2014/main" id="{EEA8F883-E782-1706-820F-E6314EB97029}"/>
                </a:ext>
              </a:extLst>
            </p:cNvPr>
            <p:cNvCxnSpPr>
              <a:cxnSpLocks/>
            </p:cNvCxnSpPr>
            <p:nvPr/>
          </p:nvCxnSpPr>
          <p:spPr>
            <a:xfrm>
              <a:off x="8693930" y="4789849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8AA96FD2-748A-E9D8-A306-2D651395BBB8}"/>
                </a:ext>
              </a:extLst>
            </p:cNvPr>
            <p:cNvCxnSpPr>
              <a:cxnSpLocks/>
              <a:stCxn id="50" idx="3"/>
              <a:endCxn id="39" idx="1"/>
            </p:cNvCxnSpPr>
            <p:nvPr/>
          </p:nvCxnSpPr>
          <p:spPr>
            <a:xfrm>
              <a:off x="7087071" y="4788324"/>
              <a:ext cx="692459" cy="15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Prozess 41">
                  <a:extLst>
                    <a:ext uri="{FF2B5EF4-FFF2-40B4-BE49-F238E27FC236}">
                      <a16:creationId xmlns:a16="http://schemas.microsoft.com/office/drawing/2014/main" id="{D050CAA5-A2EA-3634-8425-E9C576C308ED}"/>
                    </a:ext>
                  </a:extLst>
                </p:cNvPr>
                <p:cNvSpPr/>
                <p:nvPr/>
              </p:nvSpPr>
              <p:spPr>
                <a:xfrm>
                  <a:off x="6172671" y="5440516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2" name="Prozess 41">
                  <a:extLst>
                    <a:ext uri="{FF2B5EF4-FFF2-40B4-BE49-F238E27FC236}">
                      <a16:creationId xmlns:a16="http://schemas.microsoft.com/office/drawing/2014/main" id="{D050CAA5-A2EA-3634-8425-E9C576C308E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2671" y="5440516"/>
                  <a:ext cx="914400" cy="612648"/>
                </a:xfrm>
                <a:prstGeom prst="flowChartProcess">
                  <a:avLst/>
                </a:prstGeom>
                <a:blipFill>
                  <a:blip r:embed="rId1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3" name="Gerade Verbindung mit Pfeil 42">
              <a:extLst>
                <a:ext uri="{FF2B5EF4-FFF2-40B4-BE49-F238E27FC236}">
                  <a16:creationId xmlns:a16="http://schemas.microsoft.com/office/drawing/2014/main" id="{9A700742-08D2-ECEE-7218-C67B38B0EB0F}"/>
                </a:ext>
              </a:extLst>
            </p:cNvPr>
            <p:cNvCxnSpPr>
              <a:cxnSpLocks/>
              <a:endCxn id="42" idx="3"/>
            </p:cNvCxnSpPr>
            <p:nvPr/>
          </p:nvCxnSpPr>
          <p:spPr>
            <a:xfrm flipH="1">
              <a:off x="7087071" y="5746840"/>
              <a:ext cx="2347893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 Verbindung 43">
              <a:extLst>
                <a:ext uri="{FF2B5EF4-FFF2-40B4-BE49-F238E27FC236}">
                  <a16:creationId xmlns:a16="http://schemas.microsoft.com/office/drawing/2014/main" id="{3C815F60-69D7-2B7C-254D-77EF52021A2F}"/>
                </a:ext>
              </a:extLst>
            </p:cNvPr>
            <p:cNvCxnSpPr>
              <a:cxnSpLocks/>
              <a:stCxn id="42" idx="1"/>
            </p:cNvCxnSpPr>
            <p:nvPr/>
          </p:nvCxnSpPr>
          <p:spPr>
            <a:xfrm flipH="1">
              <a:off x="3813212" y="5746840"/>
              <a:ext cx="2359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Prozess 46">
                  <a:extLst>
                    <a:ext uri="{FF2B5EF4-FFF2-40B4-BE49-F238E27FC236}">
                      <a16:creationId xmlns:a16="http://schemas.microsoft.com/office/drawing/2014/main" id="{C31D7E4E-91F7-3C59-4E0C-4209AFB6F419}"/>
                    </a:ext>
                  </a:extLst>
                </p:cNvPr>
                <p:cNvSpPr/>
                <p:nvPr/>
              </p:nvSpPr>
              <p:spPr>
                <a:xfrm>
                  <a:off x="2161441" y="4483525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7" name="Prozess 46">
                  <a:extLst>
                    <a:ext uri="{FF2B5EF4-FFF2-40B4-BE49-F238E27FC236}">
                      <a16:creationId xmlns:a16="http://schemas.microsoft.com/office/drawing/2014/main" id="{C31D7E4E-91F7-3C59-4E0C-4209AFB6F41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1441" y="4483525"/>
                  <a:ext cx="914400" cy="612648"/>
                </a:xfrm>
                <a:prstGeom prst="flowChartProcess">
                  <a:avLst/>
                </a:prstGeom>
                <a:blipFill>
                  <a:blip r:embed="rId1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8" name="Gerade Verbindung mit Pfeil 47">
              <a:extLst>
                <a:ext uri="{FF2B5EF4-FFF2-40B4-BE49-F238E27FC236}">
                  <a16:creationId xmlns:a16="http://schemas.microsoft.com/office/drawing/2014/main" id="{5043C16D-D2F3-028D-8FE1-787F355099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5841" y="4783009"/>
              <a:ext cx="692459" cy="466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 Verbindung mit Pfeil 48">
              <a:extLst>
                <a:ext uri="{FF2B5EF4-FFF2-40B4-BE49-F238E27FC236}">
                  <a16:creationId xmlns:a16="http://schemas.microsoft.com/office/drawing/2014/main" id="{B376B047-5677-8A80-4424-45F6D9F2A6DA}"/>
                </a:ext>
              </a:extLst>
            </p:cNvPr>
            <p:cNvCxnSpPr>
              <a:cxnSpLocks/>
            </p:cNvCxnSpPr>
            <p:nvPr/>
          </p:nvCxnSpPr>
          <p:spPr>
            <a:xfrm>
              <a:off x="5475397" y="4789849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Prozess 49">
                  <a:extLst>
                    <a:ext uri="{FF2B5EF4-FFF2-40B4-BE49-F238E27FC236}">
                      <a16:creationId xmlns:a16="http://schemas.microsoft.com/office/drawing/2014/main" id="{A740C5E9-2870-7010-42A5-98E0DC5661EF}"/>
                    </a:ext>
                  </a:extLst>
                </p:cNvPr>
                <p:cNvSpPr/>
                <p:nvPr/>
              </p:nvSpPr>
              <p:spPr>
                <a:xfrm>
                  <a:off x="6172671" y="4482000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0" name="Prozess 49">
                  <a:extLst>
                    <a:ext uri="{FF2B5EF4-FFF2-40B4-BE49-F238E27FC236}">
                      <a16:creationId xmlns:a16="http://schemas.microsoft.com/office/drawing/2014/main" id="{A740C5E9-2870-7010-42A5-98E0DC5661E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2671" y="4482000"/>
                  <a:ext cx="914400" cy="612648"/>
                </a:xfrm>
                <a:prstGeom prst="flowChartProcess">
                  <a:avLst/>
                </a:prstGeom>
                <a:blipFill>
                  <a:blip r:embed="rId15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1" name="Textfeld 70">
            <a:extLst>
              <a:ext uri="{FF2B5EF4-FFF2-40B4-BE49-F238E27FC236}">
                <a16:creationId xmlns:a16="http://schemas.microsoft.com/office/drawing/2014/main" id="{6B66D065-29A3-B303-FD24-3B010AB6FAD6}"/>
              </a:ext>
            </a:extLst>
          </p:cNvPr>
          <p:cNvSpPr txBox="1"/>
          <p:nvPr/>
        </p:nvSpPr>
        <p:spPr>
          <a:xfrm>
            <a:off x="50172" y="3330802"/>
            <a:ext cx="338647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reference</a:t>
            </a:r>
            <a:r>
              <a:rPr lang="de-DE" dirty="0"/>
              <a:t> </a:t>
            </a:r>
            <a:r>
              <a:rPr lang="de-DE" dirty="0" err="1"/>
              <a:t>prefilter</a:t>
            </a:r>
            <a:r>
              <a:rPr lang="de-DE" dirty="0"/>
              <a:t>: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reference</a:t>
            </a:r>
            <a:r>
              <a:rPr lang="de-DE" dirty="0"/>
              <a:t> </a:t>
            </a:r>
            <a:r>
              <a:rPr lang="de-DE" dirty="0" err="1"/>
              <a:t>shaping</a:t>
            </a:r>
            <a:r>
              <a:rPr lang="de-DE" dirty="0"/>
              <a:t> </a:t>
            </a:r>
            <a:r>
              <a:rPr lang="de-DE" dirty="0" err="1"/>
              <a:t>doesn’t</a:t>
            </a:r>
            <a:r>
              <a:rPr lang="de-DE" dirty="0"/>
              <a:t> </a:t>
            </a:r>
            <a:r>
              <a:rPr lang="de-DE" dirty="0" err="1"/>
              <a:t>affect</a:t>
            </a:r>
            <a:r>
              <a:rPr lang="de-DE" dirty="0"/>
              <a:t> </a:t>
            </a:r>
            <a:r>
              <a:rPr lang="de-DE" dirty="0" err="1"/>
              <a:t>stability</a:t>
            </a:r>
            <a:r>
              <a:rPr lang="de-DE" dirty="0"/>
              <a:t>,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treat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separately</a:t>
            </a:r>
            <a:r>
              <a:rPr lang="de-DE" dirty="0"/>
              <a:t>.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E6F8268F-0100-C316-3617-D001CD0E403E}"/>
              </a:ext>
            </a:extLst>
          </p:cNvPr>
          <p:cNvSpPr txBox="1"/>
          <p:nvPr/>
        </p:nvSpPr>
        <p:spPr>
          <a:xfrm>
            <a:off x="7433300" y="2317658"/>
            <a:ext cx="35634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sensor</a:t>
            </a:r>
            <a:r>
              <a:rPr lang="de-DE" dirty="0"/>
              <a:t> </a:t>
            </a:r>
            <a:r>
              <a:rPr lang="de-DE" dirty="0" err="1"/>
              <a:t>dynamics</a:t>
            </a:r>
            <a:r>
              <a:rPr lang="de-DE" dirty="0"/>
              <a:t>: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sensor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fast,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assume</a:t>
            </a:r>
            <a:r>
              <a:rPr lang="de-DE" dirty="0"/>
              <a:t> </a:t>
            </a:r>
            <a:r>
              <a:rPr lang="de-DE" dirty="0" err="1"/>
              <a:t>unity</a:t>
            </a:r>
            <a:r>
              <a:rPr lang="de-DE" dirty="0"/>
              <a:t> </a:t>
            </a:r>
            <a:r>
              <a:rPr lang="de-DE" dirty="0" err="1"/>
              <a:t>feedback</a:t>
            </a:r>
            <a:r>
              <a:rPr lang="de-DE" dirty="0"/>
              <a:t>.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A7C4FE68-DDD9-948C-96C7-1767946F4E87}"/>
              </a:ext>
            </a:extLst>
          </p:cNvPr>
          <p:cNvSpPr txBox="1"/>
          <p:nvPr/>
        </p:nvSpPr>
        <p:spPr>
          <a:xfrm>
            <a:off x="5975670" y="3607801"/>
            <a:ext cx="57511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actuator</a:t>
            </a:r>
            <a:r>
              <a:rPr lang="de-DE" dirty="0"/>
              <a:t> </a:t>
            </a:r>
            <a:r>
              <a:rPr lang="de-DE" dirty="0" err="1"/>
              <a:t>dynamics</a:t>
            </a:r>
            <a:r>
              <a:rPr lang="de-DE" dirty="0"/>
              <a:t>: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actuator</a:t>
            </a:r>
            <a:r>
              <a:rPr lang="de-DE" dirty="0"/>
              <a:t> </a:t>
            </a:r>
            <a:r>
              <a:rPr lang="de-DE" dirty="0" err="1"/>
              <a:t>bandwidth</a:t>
            </a:r>
            <a:r>
              <a:rPr lang="de-DE" dirty="0"/>
              <a:t> ≫ </a:t>
            </a:r>
            <a:r>
              <a:rPr lang="de-DE" dirty="0" err="1"/>
              <a:t>closed</a:t>
            </a:r>
            <a:r>
              <a:rPr lang="de-DE" dirty="0"/>
              <a:t>-loop </a:t>
            </a:r>
            <a:r>
              <a:rPr lang="de-DE" dirty="0" err="1"/>
              <a:t>bandwidth</a:t>
            </a:r>
            <a:r>
              <a:rPr lang="de-DE" dirty="0"/>
              <a:t>,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ignore</a:t>
            </a:r>
            <a:r>
              <a:rPr lang="de-DE" dirty="0"/>
              <a:t> it.</a:t>
            </a:r>
          </a:p>
        </p:txBody>
      </p: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E2F2EFD4-C7AD-B538-2EF2-0B8EA98BA555}"/>
              </a:ext>
            </a:extLst>
          </p:cNvPr>
          <p:cNvCxnSpPr>
            <a:stCxn id="73" idx="1"/>
          </p:cNvCxnSpPr>
          <p:nvPr/>
        </p:nvCxnSpPr>
        <p:spPr>
          <a:xfrm flipH="1">
            <a:off x="4556808" y="2640824"/>
            <a:ext cx="2876492" cy="1467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97573C1B-345F-FCCD-4567-9BFAC2A25428}"/>
              </a:ext>
            </a:extLst>
          </p:cNvPr>
          <p:cNvCxnSpPr>
            <a:endCxn id="50" idx="0"/>
          </p:cNvCxnSpPr>
          <p:nvPr/>
        </p:nvCxnSpPr>
        <p:spPr>
          <a:xfrm>
            <a:off x="6629871" y="4235146"/>
            <a:ext cx="0" cy="2468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BF1213D3-CCCF-4672-CE77-9A2255E72F78}"/>
              </a:ext>
            </a:extLst>
          </p:cNvPr>
          <p:cNvSpPr txBox="1"/>
          <p:nvPr/>
        </p:nvSpPr>
        <p:spPr>
          <a:xfrm>
            <a:off x="4814948" y="6318213"/>
            <a:ext cx="494605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de-DE" sz="2400" dirty="0"/>
              <a:t>Always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what</a:t>
            </a:r>
            <a:r>
              <a:rPr lang="de-DE" sz="2400" dirty="0"/>
              <a:t> </a:t>
            </a:r>
            <a:r>
              <a:rPr lang="de-DE" sz="2400" dirty="0" err="1"/>
              <a:t>can</a:t>
            </a:r>
            <a:r>
              <a:rPr lang="de-DE" sz="2400" dirty="0"/>
              <a:t> </a:t>
            </a:r>
            <a:r>
              <a:rPr lang="de-DE" sz="2400" dirty="0" err="1"/>
              <a:t>affect</a:t>
            </a:r>
            <a:r>
              <a:rPr lang="de-DE" sz="2400" dirty="0"/>
              <a:t> </a:t>
            </a:r>
            <a:r>
              <a:rPr lang="de-DE" sz="2400" dirty="0" err="1"/>
              <a:t>poles</a:t>
            </a:r>
            <a:endParaRPr lang="de-DE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B2161CE0-1013-8244-6CB9-99D0AA5C063D}"/>
                  </a:ext>
                </a:extLst>
              </p:cNvPr>
              <p:cNvSpPr txBox="1"/>
              <p:nvPr/>
            </p:nvSpPr>
            <p:spPr>
              <a:xfrm>
                <a:off x="7699330" y="1224635"/>
                <a:ext cx="3471268" cy="7331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B2161CE0-1013-8244-6CB9-99D0AA5C06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9330" y="1224635"/>
                <a:ext cx="3471268" cy="733149"/>
              </a:xfrm>
              <a:prstGeom prst="rect">
                <a:avLst/>
              </a:prstGeom>
              <a:blipFill>
                <a:blip r:embed="rId16"/>
                <a:stretch>
                  <a:fillRect b="-678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045A292-E5B3-5B3E-253C-1C890023A612}"/>
              </a:ext>
            </a:extLst>
          </p:cNvPr>
          <p:cNvCxnSpPr>
            <a:stCxn id="71" idx="2"/>
          </p:cNvCxnSpPr>
          <p:nvPr/>
        </p:nvCxnSpPr>
        <p:spPr>
          <a:xfrm>
            <a:off x="1743408" y="4254132"/>
            <a:ext cx="413844" cy="2278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2D808F74-0F93-9135-ADD8-F1E5AA463FBB}"/>
                  </a:ext>
                </a:extLst>
              </p:cNvPr>
              <p:cNvSpPr txBox="1"/>
              <p:nvPr/>
            </p:nvSpPr>
            <p:spPr>
              <a:xfrm>
                <a:off x="2126" y="5835830"/>
                <a:ext cx="4071905" cy="7331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2D808F74-0F93-9135-ADD8-F1E5AA463F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6" y="5835830"/>
                <a:ext cx="4071905" cy="733149"/>
              </a:xfrm>
              <a:prstGeom prst="rect">
                <a:avLst/>
              </a:prstGeom>
              <a:blipFill>
                <a:blip r:embed="rId17"/>
                <a:stretch>
                  <a:fillRect b="-678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599095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FA0A7F-554B-AAFD-7174-C16F8B9F0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Disturbances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B3F9417-F831-50D8-E02C-963FAFCAE3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CECDCBB-6B87-FF86-622B-B9435D0D9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3745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1658</Words>
  <Application>Microsoft Macintosh PowerPoint</Application>
  <PresentationFormat>Breitbild</PresentationFormat>
  <Paragraphs>348</Paragraphs>
  <Slides>40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40</vt:i4>
      </vt:variant>
    </vt:vector>
  </HeadingPairs>
  <TitlesOfParts>
    <vt:vector size="46" baseType="lpstr">
      <vt:lpstr>Aptos</vt:lpstr>
      <vt:lpstr>Aptos Display</vt:lpstr>
      <vt:lpstr>Arial</vt:lpstr>
      <vt:lpstr>Cambria Math</vt:lpstr>
      <vt:lpstr>Wingdings</vt:lpstr>
      <vt:lpstr>Office Theme</vt:lpstr>
      <vt:lpstr>Laplace Domain</vt:lpstr>
      <vt:lpstr>Course Schedule</vt:lpstr>
      <vt:lpstr>Laplace Domain</vt:lpstr>
      <vt:lpstr>Why the Laplace Transform?</vt:lpstr>
      <vt:lpstr>Reminder: Fourier Transform</vt:lpstr>
      <vt:lpstr>Idea of Laplace Transform</vt:lpstr>
      <vt:lpstr>Definition of Laplace Transform</vt:lpstr>
      <vt:lpstr>Example</vt:lpstr>
      <vt:lpstr>Laplace of Common Signals</vt:lpstr>
      <vt:lpstr>Properties of Laplace Transform</vt:lpstr>
      <vt:lpstr>From Differential Equation to Transfer Function</vt:lpstr>
      <vt:lpstr>Transfer Function</vt:lpstr>
      <vt:lpstr>Transfer Function for PT1 System</vt:lpstr>
      <vt:lpstr>Example: Free Fall with Viscous Damping</vt:lpstr>
      <vt:lpstr>System Response with Transfer Function</vt:lpstr>
      <vt:lpstr>Transfer Function in Polynomial Form</vt:lpstr>
      <vt:lpstr>Graphical Interpretation of Transfer Function</vt:lpstr>
      <vt:lpstr>Poles and Zeros</vt:lpstr>
      <vt:lpstr>Block Diagrams</vt:lpstr>
      <vt:lpstr>Block Diagram Algebra</vt:lpstr>
      <vt:lpstr>Series Connection</vt:lpstr>
      <vt:lpstr>Parallel Connection</vt:lpstr>
      <vt:lpstr>Feedback Connection</vt:lpstr>
      <vt:lpstr>Frequency Response</vt:lpstr>
      <vt:lpstr>Bode Plots</vt:lpstr>
      <vt:lpstr>Bandwidth</vt:lpstr>
      <vt:lpstr>Individual Elements of Control Loops</vt:lpstr>
      <vt:lpstr>Proportional Element (P)</vt:lpstr>
      <vt:lpstr>Integral Element (I)</vt:lpstr>
      <vt:lpstr>First-Order Lag Element (PT1)</vt:lpstr>
      <vt:lpstr>Derivative Element (D)</vt:lpstr>
      <vt:lpstr>Filtered Differentiator (DT1)</vt:lpstr>
      <vt:lpstr>PowerPoint-Präsentation</vt:lpstr>
      <vt:lpstr>Second-Order Lag Element (PT2)</vt:lpstr>
      <vt:lpstr>PowerPoint-Präsentation</vt:lpstr>
      <vt:lpstr>Systems with Dead Time</vt:lpstr>
      <vt:lpstr>Control Loop</vt:lpstr>
      <vt:lpstr>PID Controller Transfer Function</vt:lpstr>
      <vt:lpstr>Hidden Assumptions</vt:lpstr>
      <vt:lpstr>Disturbances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185</cp:revision>
  <dcterms:created xsi:type="dcterms:W3CDTF">2025-01-08T09:27:30Z</dcterms:created>
  <dcterms:modified xsi:type="dcterms:W3CDTF">2026-02-08T13:37:27Z</dcterms:modified>
</cp:coreProperties>
</file>
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314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329" r:id="rId20"/>
    <p:sldId id="328" r:id="rId21"/>
    <p:sldId id="272" r:id="rId22"/>
    <p:sldId id="290" r:id="rId23"/>
    <p:sldId id="287" r:id="rId24"/>
    <p:sldId id="288" r:id="rId25"/>
    <p:sldId id="289" r:id="rId26"/>
    <p:sldId id="273" r:id="rId27"/>
    <p:sldId id="274" r:id="rId28"/>
    <p:sldId id="315" r:id="rId29"/>
    <p:sldId id="275" r:id="rId30"/>
    <p:sldId id="293" r:id="rId31"/>
    <p:sldId id="294" r:id="rId32"/>
    <p:sldId id="295" r:id="rId33"/>
    <p:sldId id="296" r:id="rId34"/>
    <p:sldId id="310" r:id="rId35"/>
    <p:sldId id="297" r:id="rId36"/>
    <p:sldId id="298" r:id="rId37"/>
    <p:sldId id="311" r:id="rId38"/>
    <p:sldId id="309" r:id="rId39"/>
    <p:sldId id="306" r:id="rId40"/>
    <p:sldId id="313" r:id="rId41"/>
    <p:sldId id="308" r:id="rId42"/>
    <p:sldId id="307" r:id="rId43"/>
    <p:sldId id="300" r:id="rId44"/>
    <p:sldId id="285" r:id="rId45"/>
    <p:sldId id="312" r:id="rId46"/>
    <p:sldId id="316" r:id="rId47"/>
    <p:sldId id="317" r:id="rId48"/>
    <p:sldId id="301" r:id="rId49"/>
    <p:sldId id="303" r:id="rId50"/>
    <p:sldId id="302" r:id="rId51"/>
    <p:sldId id="304" r:id="rId52"/>
    <p:sldId id="318" r:id="rId53"/>
    <p:sldId id="323" r:id="rId54"/>
    <p:sldId id="319" r:id="rId55"/>
    <p:sldId id="326" r:id="rId56"/>
    <p:sldId id="321" r:id="rId57"/>
    <p:sldId id="322" r:id="rId58"/>
    <p:sldId id="324" r:id="rId59"/>
    <p:sldId id="325" r:id="rId60"/>
    <p:sldId id="327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813"/>
    <p:restoredTop sz="95028" autoAdjust="0"/>
  </p:normalViewPr>
  <p:slideViewPr>
    <p:cSldViewPr snapToGrid="0">
      <p:cViewPr varScale="1">
        <p:scale>
          <a:sx n="121" d="100"/>
          <a:sy n="121" d="100"/>
        </p:scale>
        <p:origin x="168" y="6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1.png"/><Relationship Id="rId2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0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4.svg"/><Relationship Id="rId7" Type="http://schemas.openxmlformats.org/officeDocument/2006/relationships/image" Target="../media/image5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2.png"/><Relationship Id="rId9" Type="http://schemas.openxmlformats.org/officeDocument/2006/relationships/image" Target="../media/image53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7" Type="http://schemas.openxmlformats.org/officeDocument/2006/relationships/image" Target="../media/image54.png"/><Relationship Id="rId12" Type="http://schemas.openxmlformats.org/officeDocument/2006/relationships/image" Target="../media/image57.png"/><Relationship Id="rId2" Type="http://schemas.openxmlformats.org/officeDocument/2006/relationships/image" Target="../media/image4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svg"/><Relationship Id="rId11" Type="http://schemas.openxmlformats.org/officeDocument/2006/relationships/image" Target="../media/image56.png"/><Relationship Id="rId5" Type="http://schemas.openxmlformats.org/officeDocument/2006/relationships/image" Target="../media/image4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svg"/><Relationship Id="rId7" Type="http://schemas.openxmlformats.org/officeDocument/2006/relationships/image" Target="../media/image611.png"/><Relationship Id="rId2" Type="http://schemas.openxmlformats.org/officeDocument/2006/relationships/image" Target="../media/image4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6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65.svg"/><Relationship Id="rId7" Type="http://schemas.openxmlformats.org/officeDocument/2006/relationships/image" Target="../media/image83.pn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11" Type="http://schemas.openxmlformats.org/officeDocument/2006/relationships/image" Target="../media/image74.png"/><Relationship Id="rId10" Type="http://schemas.openxmlformats.org/officeDocument/2006/relationships/image" Target="../media/image73.png"/><Relationship Id="rId9" Type="http://schemas.openxmlformats.org/officeDocument/2006/relationships/image" Target="../media/image6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7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5.png"/><Relationship Id="rId4" Type="http://schemas.openxmlformats.org/officeDocument/2006/relationships/image" Target="../media/image92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400.png"/><Relationship Id="rId7" Type="http://schemas.openxmlformats.org/officeDocument/2006/relationships/image" Target="../media/image45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0.png"/><Relationship Id="rId11" Type="http://schemas.openxmlformats.org/officeDocument/2006/relationships/image" Target="../media/image880.png"/><Relationship Id="rId5" Type="http://schemas.openxmlformats.org/officeDocument/2006/relationships/image" Target="../media/image430.png"/><Relationship Id="rId10" Type="http://schemas.openxmlformats.org/officeDocument/2006/relationships/image" Target="../media/image870.png"/><Relationship Id="rId4" Type="http://schemas.openxmlformats.org/officeDocument/2006/relationships/image" Target="../media/image420.png"/><Relationship Id="rId9" Type="http://schemas.openxmlformats.org/officeDocument/2006/relationships/image" Target="../media/image86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0.png"/><Relationship Id="rId13" Type="http://schemas.openxmlformats.org/officeDocument/2006/relationships/image" Target="../media/image590.png"/><Relationship Id="rId3" Type="http://schemas.openxmlformats.org/officeDocument/2006/relationships/image" Target="../media/image480.png"/><Relationship Id="rId7" Type="http://schemas.openxmlformats.org/officeDocument/2006/relationships/image" Target="../media/image530.png"/><Relationship Id="rId12" Type="http://schemas.openxmlformats.org/officeDocument/2006/relationships/image" Target="../media/image910.png"/><Relationship Id="rId17" Type="http://schemas.openxmlformats.org/officeDocument/2006/relationships/image" Target="../media/image950.png"/><Relationship Id="rId2" Type="http://schemas.openxmlformats.org/officeDocument/2006/relationships/image" Target="../media/image470.png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90.png"/><Relationship Id="rId11" Type="http://schemas.openxmlformats.org/officeDocument/2006/relationships/image" Target="../media/image570.png"/><Relationship Id="rId5" Type="http://schemas.openxmlformats.org/officeDocument/2006/relationships/image" Target="../media/image510.png"/><Relationship Id="rId15" Type="http://schemas.openxmlformats.org/officeDocument/2006/relationships/image" Target="../media/image610.png"/><Relationship Id="rId10" Type="http://schemas.openxmlformats.org/officeDocument/2006/relationships/image" Target="../media/image560.png"/><Relationship Id="rId4" Type="http://schemas.openxmlformats.org/officeDocument/2006/relationships/image" Target="../media/image490.png"/><Relationship Id="rId9" Type="http://schemas.openxmlformats.org/officeDocument/2006/relationships/image" Target="../media/image550.png"/><Relationship Id="rId14" Type="http://schemas.openxmlformats.org/officeDocument/2006/relationships/image" Target="../media/image60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3" Type="http://schemas.openxmlformats.org/officeDocument/2006/relationships/image" Target="../media/image102.png"/><Relationship Id="rId7" Type="http://schemas.openxmlformats.org/officeDocument/2006/relationships/image" Target="../media/image97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Relationship Id="rId9" Type="http://schemas.openxmlformats.org/officeDocument/2006/relationships/image" Target="../media/image9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  <a:p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systems</a:t>
            </a:r>
            <a:r>
              <a:rPr lang="de-DE" dirty="0"/>
              <a:t> (</a:t>
            </a:r>
            <a:r>
              <a:rPr lang="de-DE" dirty="0" err="1"/>
              <a:t>feedback</a:t>
            </a:r>
            <a:r>
              <a:rPr lang="de-DE" dirty="0"/>
              <a:t>)</a:t>
            </a:r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  <a:p>
            <a:r>
              <a:rPr lang="de-DE" dirty="0"/>
              <a:t>Elements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loops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667251"/>
              </a:xfrm>
              <a:blipFill>
                <a:blip r:embed="rId2"/>
                <a:stretch>
                  <a:fillRect l="-965" t="-1897" b="-8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9748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sz="1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581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B9B69A3-FC84-A46A-7F08-579BF2031417}"/>
              </a:ext>
            </a:extLst>
          </p:cNvPr>
          <p:cNvSpPr txBox="1"/>
          <p:nvPr/>
        </p:nvSpPr>
        <p:spPr>
          <a:xfrm>
            <a:off x="9982200" y="405629"/>
            <a:ext cx="162288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PT1: </a:t>
            </a:r>
            <a:r>
              <a:rPr lang="de-DE" dirty="0" err="1"/>
              <a:t>one</a:t>
            </a:r>
            <a:r>
              <a:rPr lang="de-DE" dirty="0"/>
              <a:t> pole</a:t>
            </a:r>
          </a:p>
          <a:p>
            <a:r>
              <a:rPr lang="de-DE" dirty="0"/>
              <a:t>PT2: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poles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4CA27535-52A0-4EAA-78A3-2D236A06F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Step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Unit </a:t>
                </a:r>
                <a:r>
                  <a:rPr lang="de-DE" sz="2400" dirty="0" err="1"/>
                  <a:t>step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in Laplace </a:t>
                </a:r>
                <a:r>
                  <a:rPr lang="de-DE" sz="2400" dirty="0" err="1"/>
                  <a:t>domain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sz="240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sz="2400" dirty="0"/>
              </a:p>
              <a:p>
                <a:pPr/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sz="2400" dirty="0"/>
              </a:p>
              <a:p>
                <a:pPr/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de-DE" sz="2400" dirty="0"/>
                  <a:t> (pole at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): </a:t>
                </a:r>
                <a:r>
                  <a:rPr lang="de-DE" sz="2400" dirty="0" err="1"/>
                  <a:t>multiply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de-DE" sz="2400" dirty="0"/>
                  <a:t> and </a:t>
                </a:r>
                <a:r>
                  <a:rPr lang="de-DE" sz="2400" dirty="0" err="1"/>
                  <a:t>set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sz="2400" i="1" dirty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</m:e>
                        </m:d>
                      </m:e>
                      <m:sub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=−1</m:t>
                        </m:r>
                      </m:sub>
                    </m:sSub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sz="2400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de-DE" sz="24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	back </a:t>
                </a:r>
                <a:r>
                  <a:rPr lang="de-DE" sz="2400" dirty="0" err="1"/>
                  <a:t>transformation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sz="2400" i="1" dirty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BC2C05E3-8F86-A12C-2DBD-5654B7FAFB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B355F49-6977-F363-B194-B15CC834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B859D8A-1F14-E745-DE23-2B47C6780206}"/>
              </a:ext>
            </a:extLst>
          </p:cNvPr>
          <p:cNvSpPr txBox="1"/>
          <p:nvPr/>
        </p:nvSpPr>
        <p:spPr>
          <a:xfrm>
            <a:off x="4845269" y="3607794"/>
            <a:ext cx="2708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partial </a:t>
            </a:r>
            <a:r>
              <a:rPr lang="de-DE" dirty="0" err="1"/>
              <a:t>fraction</a:t>
            </a:r>
            <a:r>
              <a:rPr lang="de-DE" dirty="0"/>
              <a:t> </a:t>
            </a:r>
            <a:r>
              <a:rPr lang="de-DE" dirty="0" err="1"/>
              <a:t>expansion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8282469-F812-E4D4-E848-6C9EC20C8D6F}"/>
              </a:ext>
            </a:extLst>
          </p:cNvPr>
          <p:cNvCxnSpPr/>
          <p:nvPr/>
        </p:nvCxnSpPr>
        <p:spPr>
          <a:xfrm flipH="1">
            <a:off x="3279228" y="3815255"/>
            <a:ext cx="1513489" cy="5360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B92C24F4-20E5-61AE-AFE1-B7140EFCC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Value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Steady-</a:t>
                </a:r>
                <a:r>
                  <a:rPr lang="de-DE" sz="2600" dirty="0" err="1"/>
                  <a:t>state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unit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step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600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lim>
                        </m:limLow>
                      </m:fName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400" dirty="0"/>
                  <a:t>Derivation:</a:t>
                </a:r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	</a:t>
                </a:r>
                <a:r>
                  <a:rPr lang="de-DE" sz="2400" dirty="0" err="1"/>
                  <a:t>using</a:t>
                </a:r>
                <a:r>
                  <a:rPr lang="de-DE" sz="2400" dirty="0"/>
                  <a:t>: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de-DE" sz="2400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lim>
                    </m:limLow>
                    <m:nary>
                      <m:nary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(0)</m:t>
                        </m:r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𝑠𝐹</m:t>
                            </m:r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(0)</m:t>
                            </m:r>
                            <m:r>
                              <m:rPr>
                                <m:nor/>
                              </m:rPr>
                              <a:rPr lang="de-DE" sz="2400" dirty="0"/>
                              <m:t>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de-DE" sz="24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→0</m:t>
                            </m:r>
                          </m:lim>
                        </m:limLow>
                      </m:fName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𝑠𝐹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func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D42A47D3-0228-9817-A556-88B8C365F6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EB47718-740B-9FE6-51A2-441F150F6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61619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9687877-49B6-A887-8A5B-033A185CED8A}"/>
              </a:ext>
            </a:extLst>
          </p:cNvPr>
          <p:cNvSpPr/>
          <p:nvPr/>
        </p:nvSpPr>
        <p:spPr>
          <a:xfrm>
            <a:off x="3001703" y="3699641"/>
            <a:ext cx="4520570" cy="746235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BD6DC8-0230-2D8D-E6FB-9B0338382128}"/>
              </a:ext>
            </a:extLst>
          </p:cNvPr>
          <p:cNvSpPr txBox="1"/>
          <p:nvPr/>
        </p:nvSpPr>
        <p:spPr>
          <a:xfrm>
            <a:off x="5511109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32278DB-9F2A-EE9F-C943-4CA068A308F6}"/>
              </a:ext>
            </a:extLst>
          </p:cNvPr>
          <p:cNvSpPr txBox="1"/>
          <p:nvPr/>
        </p:nvSpPr>
        <p:spPr>
          <a:xfrm>
            <a:off x="6772901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PT1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07B61BB7-96D1-737B-BDFA-11D6DA06D64F}"/>
              </a:ext>
            </a:extLst>
          </p:cNvPr>
          <p:cNvSpPr txBox="1"/>
          <p:nvPr/>
        </p:nvSpPr>
        <p:spPr>
          <a:xfrm>
            <a:off x="4157116" y="3845992"/>
            <a:ext cx="7493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dirty="0"/>
              <a:t>PT2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5AD086E-7AED-8FF6-4098-C823AEF4A138}"/>
              </a:ext>
            </a:extLst>
          </p:cNvPr>
          <p:cNvCxnSpPr/>
          <p:nvPr/>
        </p:nvCxnSpPr>
        <p:spPr>
          <a:xfrm>
            <a:off x="449842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60CC58D-A27A-ECC1-ABCC-47D14641926A}"/>
              </a:ext>
            </a:extLst>
          </p:cNvPr>
          <p:cNvCxnSpPr>
            <a:cxnSpLocks/>
          </p:cNvCxnSpPr>
          <p:nvPr/>
        </p:nvCxnSpPr>
        <p:spPr>
          <a:xfrm>
            <a:off x="5686098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3EFFABF6-35F9-2CB9-25C3-5DA2BDF1F637}"/>
              </a:ext>
            </a:extLst>
          </p:cNvPr>
          <p:cNvCxnSpPr/>
          <p:nvPr/>
        </p:nvCxnSpPr>
        <p:spPr>
          <a:xfrm>
            <a:off x="6942084" y="4369212"/>
            <a:ext cx="0" cy="822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6EF22397-690D-CEF9-C49A-C2294EE95E9C}"/>
              </a:ext>
            </a:extLst>
          </p:cNvPr>
          <p:cNvSpPr txBox="1"/>
          <p:nvPr/>
        </p:nvSpPr>
        <p:spPr>
          <a:xfrm>
            <a:off x="3001703" y="3922936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Example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54163"/>
            <a:ext cx="4974342" cy="5167312"/>
          </a:xfrm>
          <a:prstGeom prst="rect">
            <a:avLst/>
          </a:prstGeom>
        </p:spPr>
      </p:pic>
      <p:pic>
        <p:nvPicPr>
          <p:cNvPr id="4" name="Picture 2" descr="undefined">
            <a:extLst>
              <a:ext uri="{FF2B5EF4-FFF2-40B4-BE49-F238E27FC236}">
                <a16:creationId xmlns:a16="http://schemas.microsoft.com/office/drawing/2014/main" id="{C0FB5DB8-43D0-BB4E-B0D2-2360F5E1F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8806" y="3027562"/>
            <a:ext cx="5619123" cy="1998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134" y="1546247"/>
            <a:ext cx="5260534" cy="517522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/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b="0" dirty="0">
                  <a:ea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1+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feld 3">
                <a:extLst>
                  <a:ext uri="{FF2B5EF4-FFF2-40B4-BE49-F238E27FC236}">
                    <a16:creationId xmlns:a16="http://schemas.microsoft.com/office/drawing/2014/main" id="{D637DFE1-5DC8-845D-B96C-295954D1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1668" y="2020398"/>
                <a:ext cx="5825697" cy="3521733"/>
              </a:xfrm>
              <a:prstGeom prst="rect">
                <a:avLst/>
              </a:prstGeom>
              <a:blipFill>
                <a:blip r:embed="rId3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6D319F34-84D6-0BE4-5FC9-E856E7A6B88D}"/>
              </a:ext>
            </a:extLst>
          </p:cNvPr>
          <p:cNvSpPr txBox="1"/>
          <p:nvPr/>
        </p:nvSpPr>
        <p:spPr>
          <a:xfrm>
            <a:off x="523981" y="4376791"/>
            <a:ext cx="1239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unity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BC000A4-65B7-5DDF-9EE8-6DA9A545C94C}"/>
              </a:ext>
            </a:extLst>
          </p:cNvPr>
          <p:cNvCxnSpPr/>
          <p:nvPr/>
        </p:nvCxnSpPr>
        <p:spPr>
          <a:xfrm flipV="1">
            <a:off x="1777429" y="4232953"/>
            <a:ext cx="955497" cy="3184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Response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inputs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/>
                  <a:t>Amplitude and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as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EDEC18C-E4CF-465B-E3BA-BAAD31B5A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Reihe, Diagramm, Schrift, Text enthält.&#10;&#10;KI-generierte Inhalte können fehlerhaft sein.">
            <a:extLst>
              <a:ext uri="{FF2B5EF4-FFF2-40B4-BE49-F238E27FC236}">
                <a16:creationId xmlns:a16="http://schemas.microsoft.com/office/drawing/2014/main" id="{399C5ED7-6CFC-B786-AD6C-AE178645B0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2151" y="3429000"/>
            <a:ext cx="5318449" cy="342900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24DA6AE-440B-E2D6-22B2-A2A6EECC83FE}"/>
              </a:ext>
            </a:extLst>
          </p:cNvPr>
          <p:cNvSpPr txBox="1"/>
          <p:nvPr/>
        </p:nvSpPr>
        <p:spPr>
          <a:xfrm>
            <a:off x="5015478" y="3059668"/>
            <a:ext cx="1871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diagram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618FC8D-F656-BCC3-0343-18B5C60E892F}"/>
              </a:ext>
            </a:extLst>
          </p:cNvPr>
          <p:cNvSpPr txBox="1"/>
          <p:nvPr/>
        </p:nvSpPr>
        <p:spPr>
          <a:xfrm>
            <a:off x="7142480" y="311705"/>
            <a:ext cx="457817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 err="1"/>
              <a:t>response</a:t>
            </a:r>
            <a:r>
              <a:rPr lang="de-DE" dirty="0"/>
              <a:t> = transient </a:t>
            </a:r>
            <a:r>
              <a:rPr lang="de-DE" dirty="0" err="1"/>
              <a:t>part</a:t>
            </a:r>
            <a:r>
              <a:rPr lang="de-DE" dirty="0"/>
              <a:t> +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part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A91FE63-60A8-A252-682D-9336A8319657}"/>
              </a:ext>
            </a:extLst>
          </p:cNvPr>
          <p:cNvCxnSpPr/>
          <p:nvPr/>
        </p:nvCxnSpPr>
        <p:spPr>
          <a:xfrm flipH="1">
            <a:off x="7457440" y="609600"/>
            <a:ext cx="3210560" cy="1452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dirty="0"/>
                  <a:t>):</a:t>
                </a:r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</m:d>
                      </m:e>
                    </m:func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Magnitude (dB)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Phase </a:t>
                </a:r>
                <a:r>
                  <a:rPr lang="de-DE" dirty="0" err="1"/>
                  <a:t>vs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Both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logarithmic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A8D483-42E5-4829-8E46-019410D93D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4193" y="1750900"/>
                <a:ext cx="5391807" cy="4605449"/>
              </a:xfrm>
              <a:blipFill>
                <a:blip r:embed="rId2"/>
                <a:stretch>
                  <a:fillRect l="-2347" t="-2198" b="-27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  <p:pic>
        <p:nvPicPr>
          <p:cNvPr id="6" name="Grafik 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0F640E51-9C5C-ED2F-1E43-FF8C39C299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308" y="1690688"/>
            <a:ext cx="6173692" cy="43513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/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	</a:t>
                </a:r>
                <a:r>
                  <a:rPr lang="de-DE" dirty="0" err="1"/>
                  <a:t>Example</a:t>
                </a:r>
                <a:r>
                  <a:rPr lang="de-DE" dirty="0"/>
                  <a:t> PT1:</a:t>
                </a:r>
                <a:endParaRPr lang="de-DE" dirty="0">
                  <a:sym typeface="Wingdings" pitchFamily="2" charset="2"/>
                </a:endParaRPr>
              </a:p>
              <a:p>
                <a:r>
                  <a:rPr lang="de-DE" b="0" dirty="0">
                    <a:sym typeface="Wingdings" pitchFamily="2" charset="2"/>
                  </a:rPr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Wingdings" pitchFamily="2" charset="2"/>
                          </a:rPr>
                          <m:t>𝜔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	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</m:oMath>
                </a14:m>
                <a:endParaRPr lang="de-DE" dirty="0"/>
              </a:p>
              <a:p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de-DE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de-DE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  <m:r>
                                  <a:rPr lang="el-G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9A62419-3F1C-2A25-DCE0-BB372E992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7546" y="136998"/>
                <a:ext cx="2895216" cy="1613903"/>
              </a:xfrm>
              <a:prstGeom prst="rect">
                <a:avLst/>
              </a:prstGeom>
              <a:blipFill>
                <a:blip r:embed="rId4"/>
                <a:stretch>
                  <a:fillRect t="-15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/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893BC0F-A51C-13AB-156F-830335359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316" y="2646919"/>
                <a:ext cx="1766446" cy="369332"/>
              </a:xfrm>
              <a:prstGeom prst="rect">
                <a:avLst/>
              </a:prstGeom>
              <a:blipFill>
                <a:blip r:embed="rId5"/>
                <a:stretch>
                  <a:fillRect l="-3571" t="-3333" b="-3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/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de-DE" sz="24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93E65824-7D56-0666-92FF-AEC1EC445B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2686" y="4455548"/>
                <a:ext cx="1961114" cy="369332"/>
              </a:xfrm>
              <a:prstGeom prst="rect">
                <a:avLst/>
              </a:prstGeom>
              <a:blipFill>
                <a:blip r:embed="rId6"/>
                <a:stretch>
                  <a:fillRect l="-3205" t="-3333" r="-4487" b="-3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2519C2-5674-2455-AD55-B1B91ADAE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Magnitude Unit: </a:t>
            </a:r>
            <a:r>
              <a:rPr lang="de-DE" dirty="0" err="1"/>
              <a:t>Decibel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values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power </a:t>
                </a:r>
                <a:r>
                  <a:rPr lang="de-DE" dirty="0" err="1"/>
                  <a:t>quantity</a:t>
                </a:r>
                <a:r>
                  <a:rPr lang="de-DE" dirty="0"/>
                  <a:t> (</a:t>
                </a:r>
                <a:r>
                  <a:rPr lang="de-DE" dirty="0" err="1"/>
                  <a:t>or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de-DE" dirty="0"/>
                  <a:t> and a </a:t>
                </a:r>
                <a:r>
                  <a:rPr lang="de-DE" dirty="0" err="1"/>
                  <a:t>reference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):</a:t>
                </a:r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10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𝑃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</m:func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A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in power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Ratio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two</a:t>
                </a:r>
                <a:r>
                  <a:rPr lang="de-DE" dirty="0"/>
                  <a:t> </a:t>
                </a:r>
                <a:r>
                  <a:rPr lang="de-DE" dirty="0" err="1"/>
                  <a:t>amplitudes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root-power </a:t>
                </a:r>
                <a:r>
                  <a:rPr lang="de-DE" dirty="0" err="1">
                    <a:sym typeface="Wingdings" pitchFamily="2" charset="2"/>
                  </a:rPr>
                  <a:t>quantities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  <m: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</m:e>
                    </m:func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A </a:t>
                </a:r>
                <a:r>
                  <a:rPr lang="de-DE" dirty="0" err="1"/>
                  <a:t>change</a:t>
                </a:r>
                <a:r>
                  <a:rPr lang="de-DE" dirty="0"/>
                  <a:t> in </a:t>
                </a:r>
                <a:r>
                  <a:rPr lang="de-DE" dirty="0" err="1"/>
                  <a:t>amplitude</a:t>
                </a:r>
                <a:r>
                  <a:rPr lang="de-DE" dirty="0"/>
                  <a:t> </a:t>
                </a:r>
                <a:r>
                  <a:rPr lang="de-DE" dirty="0" err="1"/>
                  <a:t>by</a:t>
                </a:r>
                <a:r>
                  <a:rPr lang="de-DE" dirty="0"/>
                  <a:t> a </a:t>
                </a:r>
                <a:r>
                  <a:rPr lang="de-DE" dirty="0" err="1"/>
                  <a:t>factor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14:m>
                  <m:oMath xmlns:m="http://schemas.openxmlformats.org/officeDocument/2006/math">
                    <m:r>
                      <a:rPr lang="de-DE" b="0" i="0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dirty="0">
                        <a:latin typeface="Cambria Math" panose="02040503050406030204" pitchFamily="18" charset="0"/>
                      </a:rPr>
                      <m:t>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endParaRPr lang="de-D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10C005D-C1B5-F5D2-7728-38D64A2AD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r="-7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AB54B-B2BF-3A0A-E285-51D329F2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0738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Frequency </a:t>
                </a:r>
                <a:r>
                  <a:rPr lang="de-DE" sz="2400" dirty="0" err="1"/>
                  <a:t>range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good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tracking</a:t>
                </a:r>
                <a:r>
                  <a:rPr lang="de-DE" sz="2400" dirty="0"/>
                  <a:t> (i.e., </a:t>
                </a:r>
                <a:r>
                  <a:rPr lang="de-DE" sz="2400" dirty="0" err="1"/>
                  <a:t>closed</a:t>
                </a:r>
                <a:r>
                  <a:rPr lang="de-DE" sz="2400" dirty="0"/>
                  <a:t>-loop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follows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closely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shape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, and </a:t>
                </a:r>
                <a:r>
                  <a:rPr lang="de-DE" sz="2400" dirty="0" err="1"/>
                  <a:t>steady-state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 </a:t>
                </a:r>
              </a:p>
              <a:p>
                <a:pPr marL="0" indent="0">
                  <a:buNone/>
                </a:pPr>
                <a:r>
                  <a:rPr lang="de-DE" sz="2400" dirty="0"/>
                  <a:t>Strong </a:t>
                </a:r>
                <a:r>
                  <a:rPr lang="de-DE" sz="2400" dirty="0" err="1"/>
                  <a:t>damping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kind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filter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reference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Typically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consider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frequency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which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changes </a:t>
                </a:r>
                <a:r>
                  <a:rPr lang="de-DE" sz="2400" dirty="0" err="1"/>
                  <a:t>by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−3 </m:t>
                    </m:r>
                    <m:r>
                      <m:rPr>
                        <m:sty m:val="p"/>
                      </m:rPr>
                      <a:rPr lang="de-DE" sz="2400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sSub>
                              <m:sSubPr>
                                <m:ctrlP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d>
                  </m:oMath>
                </a14:m>
                <a:r>
                  <a:rPr lang="de-DE" sz="2400" dirty="0"/>
                  <a:t> (amplitude drops to </a:t>
                </a:r>
                <a14:m>
                  <m:oMath xmlns:m="http://schemas.openxmlformats.org/officeDocument/2006/math">
                    <m:r>
                      <a:rPr lang="de-DE" sz="2400" b="0" i="1" dirty="0" smtClean="0">
                        <a:latin typeface="Cambria Math" panose="02040503050406030204" pitchFamily="18" charset="0"/>
                      </a:rPr>
                      <m:t>70.7%</m:t>
                    </m:r>
                  </m:oMath>
                </a14:m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its</a:t>
                </a:r>
                <a:r>
                  <a:rPr lang="de-DE" sz="2400" dirty="0"/>
                  <a:t> DC </a:t>
                </a:r>
                <a:r>
                  <a:rPr lang="de-DE" sz="2400" dirty="0" err="1"/>
                  <a:t>value</a:t>
                </a:r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first-order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𝜔𝜏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Indicates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speed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bandwidth</a:t>
                </a:r>
                <a:r>
                  <a:rPr lang="de-DE" sz="2400" dirty="0"/>
                  <a:t> → </a:t>
                </a:r>
                <a:r>
                  <a:rPr lang="de-DE" sz="2400" dirty="0" err="1"/>
                  <a:t>faster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But also </a:t>
                </a:r>
                <a:r>
                  <a:rPr lang="de-DE" sz="2400" dirty="0" err="1"/>
                  <a:t>less</a:t>
                </a:r>
                <a:r>
                  <a:rPr lang="de-DE" sz="2400" dirty="0"/>
                  <a:t> robust and </a:t>
                </a:r>
                <a:r>
                  <a:rPr lang="de-DE" sz="2400" dirty="0" err="1"/>
                  <a:t>higher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noise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amplification</a:t>
                </a:r>
                <a:endParaRPr lang="de-DE" sz="24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6B837AA-56DB-9D8D-884A-E061F1DB81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Individual Elements </a:t>
            </a:r>
            <a:r>
              <a:rPr lang="de-DE" dirty="0" err="1"/>
              <a:t>of</a:t>
            </a:r>
            <a:r>
              <a:rPr lang="de-DE" dirty="0"/>
              <a:t> Control Loops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Polynomial form </a:t>
                </a:r>
                <a:r>
                  <a:rPr lang="de-DE" dirty="0" err="1"/>
                  <a:t>of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/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⋯+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𝑈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Transfer </a:t>
                </a:r>
                <a:r>
                  <a:rPr lang="de-DE" dirty="0" err="1"/>
                  <a:t>functions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individual </a:t>
                </a:r>
                <a:r>
                  <a:rPr lang="de-DE" dirty="0" err="1"/>
                  <a:t>elements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setting</a:t>
                </a:r>
                <a:r>
                  <a:rPr lang="de-DE" dirty="0"/>
                  <a:t> a </a:t>
                </a:r>
                <a:r>
                  <a:rPr lang="de-DE" dirty="0" err="1"/>
                  <a:t>portion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coefficients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CAFBA99-1E36-D127-DA0A-B58C86F44C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 (P)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56B36AA-A815-490D-4A12-1020A99298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/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(just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8CB410D-9FAD-7206-ACD0-1E2E8745F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1683" y="3542186"/>
                <a:ext cx="2297039" cy="1291316"/>
              </a:xfrm>
              <a:prstGeom prst="rect">
                <a:avLst/>
              </a:prstGeom>
              <a:blipFill>
                <a:blip r:embed="rId3"/>
                <a:stretch>
                  <a:fillRect l="-2198" r="-219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7F4C7096-AB42-5118-B62A-789E041A55D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3790203" y="2752078"/>
            <a:ext cx="1669564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C91B448-2DB0-FA10-80CA-E48FB00AAEB3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2379216" y="2752078"/>
            <a:ext cx="1410987" cy="7901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Grafik 10">
            <a:extLst>
              <a:ext uri="{FF2B5EF4-FFF2-40B4-BE49-F238E27FC236}">
                <a16:creationId xmlns:a16="http://schemas.microsoft.com/office/drawing/2014/main" id="{854F6D8F-33C3-5206-9F04-358D921F4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3" name="Grafik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6C669FE3-5E86-A73C-897E-C9398D306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5" y="2416083"/>
            <a:ext cx="4038235" cy="303100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22D488D-91D5-5209-F881-975C9ED64DA7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16328638-17B9-E945-7F5C-9DBA82BE51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96434" y="2416082"/>
            <a:ext cx="4038235" cy="303100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2FC60166-DC1D-0D47-BD41-5302A569B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38500" y="5175173"/>
            <a:ext cx="2857500" cy="154630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 (I)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7518DA5-C78D-1D5F-305A-38A9EF60E7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5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/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integrator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integral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4C93CD5-4692-2EC1-FE0A-DDC2A64B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4672" y="3566840"/>
                <a:ext cx="4661789" cy="1288623"/>
              </a:xfrm>
              <a:prstGeom prst="rect">
                <a:avLst/>
              </a:prstGeom>
              <a:blipFill>
                <a:blip r:embed="rId6"/>
                <a:stretch>
                  <a:fillRect l="-1359" t="-51456" r="-543" b="-669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40568D5-0F39-482C-88A4-EFBCBE335A0B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4095567" y="2752078"/>
            <a:ext cx="1337567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8CE99F-E88B-F3F5-7A36-6AB221F2BA97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414726" y="2752078"/>
            <a:ext cx="1680841" cy="814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/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800" dirty="0"/>
                  <a:t>Pole at </a:t>
                </a: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sz="2800" dirty="0"/>
              </a:p>
            </p:txBody>
          </p:sp>
        </mc:Choice>
        <mc:Fallback xmlns="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67D85998-381F-16A6-B6F9-5C6C85432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860" y="1476363"/>
                <a:ext cx="2147832" cy="523220"/>
              </a:xfrm>
              <a:prstGeom prst="rect">
                <a:avLst/>
              </a:prstGeom>
              <a:blipFill>
                <a:blip r:embed="rId7"/>
                <a:stretch>
                  <a:fillRect l="-5848" t="-11628" r="-585" b="-302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EC2E99EA-1642-8B6E-5FED-01B4A3DBED2F}"/>
              </a:ext>
            </a:extLst>
          </p:cNvPr>
          <p:cNvCxnSpPr>
            <a:stCxn id="17" idx="1"/>
          </p:cNvCxnSpPr>
          <p:nvPr/>
        </p:nvCxnSpPr>
        <p:spPr>
          <a:xfrm flipH="1">
            <a:off x="6285390" y="1737973"/>
            <a:ext cx="1562470" cy="6781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/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1500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de-DE" sz="1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15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1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de-DE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87FC023-0044-8B7D-3A8F-82E003ADC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166" y="3159459"/>
                <a:ext cx="1953148" cy="697692"/>
              </a:xfrm>
              <a:prstGeom prst="rect">
                <a:avLst/>
              </a:prstGeom>
              <a:blipFill>
                <a:blip r:embed="rId8"/>
                <a:stretch>
                  <a:fillRect t="-125000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feld 13">
            <a:extLst>
              <a:ext uri="{FF2B5EF4-FFF2-40B4-BE49-F238E27FC236}">
                <a16:creationId xmlns:a16="http://schemas.microsoft.com/office/drawing/2014/main" id="{0D1E5A5E-783D-C5EA-85A6-6BC1CB3A3258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/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de-DE" sz="15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m:rPr>
                              <m:sty m:val="p"/>
                            </m:rPr>
                            <a:rPr lang="de-DE" sz="15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const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de-DE" sz="15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de-DE" sz="15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04296444-23CE-BD88-9186-A681BF3206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47" y="6176963"/>
                <a:ext cx="1337567" cy="697692"/>
              </a:xfrm>
              <a:prstGeom prst="rect">
                <a:avLst/>
              </a:prstGeom>
              <a:blipFill>
                <a:blip r:embed="rId9"/>
                <a:stretch>
                  <a:fillRect l="-54717" t="-126786" b="-1767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feld 15">
            <a:extLst>
              <a:ext uri="{FF2B5EF4-FFF2-40B4-BE49-F238E27FC236}">
                <a16:creationId xmlns:a16="http://schemas.microsoft.com/office/drawing/2014/main" id="{0EC4EAFB-7A20-A560-E1BD-3FA5083B7ADD}"/>
              </a:ext>
            </a:extLst>
          </p:cNvPr>
          <p:cNvSpPr txBox="1"/>
          <p:nvPr/>
        </p:nvSpPr>
        <p:spPr>
          <a:xfrm>
            <a:off x="6407125" y="5391216"/>
            <a:ext cx="16957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Energy </a:t>
            </a:r>
            <a:r>
              <a:rPr lang="de-DE" dirty="0" err="1"/>
              <a:t>storage</a:t>
            </a:r>
            <a:r>
              <a:rPr lang="de-DE" dirty="0"/>
              <a:t>,</a:t>
            </a:r>
          </a:p>
          <a:p>
            <a:r>
              <a:rPr lang="de-DE" dirty="0" err="1"/>
              <a:t>memory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 18">
            <a:extLst>
              <a:ext uri="{FF2B5EF4-FFF2-40B4-BE49-F238E27FC236}">
                <a16:creationId xmlns:a16="http://schemas.microsoft.com/office/drawing/2014/main" id="{705C08B2-33D4-35A5-13DE-40A99287D0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686298" y="0"/>
            <a:ext cx="3505702" cy="26315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 (PT1)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or</a:t>
                </a:r>
                <a:r>
                  <a:rPr lang="de-DE" sz="2400" dirty="0"/>
                  <a:t>  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8B993E-96D1-B19B-2D6E-6E5FD2D58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3F0EE5F-DF90-4C6C-F9C3-DAAA053D4A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FFF33EF-3C7A-A741-2E21-090B6A0E1C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572653" y="2985721"/>
            <a:ext cx="4619347" cy="346744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9F7C28C-8D8A-CC2E-8A4A-C59017CD520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/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6E80EAA-B6EA-33F6-3CA4-CA4B264D3B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520" y="3631962"/>
                <a:ext cx="259161" cy="369332"/>
              </a:xfrm>
              <a:prstGeom prst="rect">
                <a:avLst/>
              </a:prstGeom>
              <a:blipFill>
                <a:blip r:embed="rId7"/>
                <a:stretch>
                  <a:fillRect l="-4762" r="-47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/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C1BA72E-8E02-C008-2941-A7951D369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260" y="3631962"/>
                <a:ext cx="286617" cy="369332"/>
              </a:xfrm>
              <a:prstGeom prst="rect">
                <a:avLst/>
              </a:prstGeom>
              <a:blipFill>
                <a:blip r:embed="rId10"/>
                <a:stretch>
                  <a:fillRect l="-26087" r="-21739" b="-68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1AC96BBA-3B89-95C9-B22F-6886694E13E1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1035100" y="2985721"/>
            <a:ext cx="1" cy="6462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35699AFD-3BB7-E7B8-BD23-5F2F0B9785CC}"/>
              </a:ext>
            </a:extLst>
          </p:cNvPr>
          <p:cNvCxnSpPr>
            <a:stCxn id="9" idx="0"/>
          </p:cNvCxnSpPr>
          <p:nvPr/>
        </p:nvCxnSpPr>
        <p:spPr>
          <a:xfrm flipV="1">
            <a:off x="2165569" y="2636668"/>
            <a:ext cx="1072931" cy="995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/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03AE0B1-7CE2-DD9A-C202-F31A66C0C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1538" y="3177854"/>
                <a:ext cx="2922787" cy="768993"/>
              </a:xfrm>
              <a:prstGeom prst="rect">
                <a:avLst/>
              </a:prstGeom>
              <a:blipFill>
                <a:blip r:embed="rId11"/>
                <a:stretch>
                  <a:fillRect l="-1724" r="-86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/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Pole at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560ADF16-B774-9E9D-EDFD-26FCC3CFD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0" y="4316018"/>
                <a:ext cx="2107756" cy="615874"/>
              </a:xfrm>
              <a:prstGeom prst="rect">
                <a:avLst/>
              </a:prstGeom>
              <a:blipFill>
                <a:blip r:embed="rId12"/>
                <a:stretch>
                  <a:fillRect l="-4192" b="-12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5212E73-8EE7-2D20-9739-2AA4DE7C5B7E}"/>
              </a:ext>
            </a:extLst>
          </p:cNvPr>
          <p:cNvCxnSpPr>
            <a:stCxn id="15" idx="0"/>
          </p:cNvCxnSpPr>
          <p:nvPr/>
        </p:nvCxnSpPr>
        <p:spPr>
          <a:xfrm flipV="1">
            <a:off x="5721128" y="4001294"/>
            <a:ext cx="475486" cy="31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/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A5A8E33A-FF45-025F-14DF-730FE5F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900" y="5288565"/>
                <a:ext cx="259161" cy="400110"/>
              </a:xfrm>
              <a:prstGeom prst="rect">
                <a:avLst/>
              </a:prstGeom>
              <a:blipFill>
                <a:blip r:embed="rId13"/>
                <a:stretch>
                  <a:fillRect l="-14286" r="-9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078A2BC-CF98-642E-2FCD-E2A47B006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77DF98-423B-CF3E-1060-0D7989A34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416CDD3-826A-569B-AAE0-DD046CE520B8}"/>
              </a:ext>
            </a:extLst>
          </p:cNvPr>
          <p:cNvGrpSpPr/>
          <p:nvPr/>
        </p:nvGrpSpPr>
        <p:grpSpPr>
          <a:xfrm>
            <a:off x="2159921" y="1690688"/>
            <a:ext cx="7872158" cy="5030787"/>
            <a:chOff x="2532081" y="1705590"/>
            <a:chExt cx="7410909" cy="5015885"/>
          </a:xfrm>
        </p:grpSpPr>
        <p:pic>
          <p:nvPicPr>
            <p:cNvPr id="7" name="Grafik 6" descr="Ein Bild, das Diagramm, Reihe, Entwurf, technische Zeichnung enthält.&#10;&#10;KI-generierte Inhalte können fehlerhaft sein.">
              <a:extLst>
                <a:ext uri="{FF2B5EF4-FFF2-40B4-BE49-F238E27FC236}">
                  <a16:creationId xmlns:a16="http://schemas.microsoft.com/office/drawing/2014/main" id="{C6358F3D-58CF-AA3B-2FC9-FA351EDEC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32081" y="1705590"/>
              <a:ext cx="7127838" cy="5015885"/>
            </a:xfrm>
            <a:prstGeom prst="rect">
              <a:avLst/>
            </a:prstGeom>
          </p:spPr>
        </p:pic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926A5624-5107-8198-5060-BB2E4C614718}"/>
                </a:ext>
              </a:extLst>
            </p:cNvPr>
            <p:cNvSpPr/>
            <p:nvPr/>
          </p:nvSpPr>
          <p:spPr>
            <a:xfrm>
              <a:off x="9215021" y="3684233"/>
              <a:ext cx="727969" cy="18820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2F623EF5-2B61-F815-70A2-D506631EE023}"/>
              </a:ext>
            </a:extLst>
          </p:cNvPr>
          <p:cNvSpPr txBox="1"/>
          <p:nvPr/>
        </p:nvSpPr>
        <p:spPr>
          <a:xfrm>
            <a:off x="3851812" y="2128950"/>
            <a:ext cx="27308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33AA5E3-5482-53CD-FED8-69712E82C98B}"/>
              </a:ext>
            </a:extLst>
          </p:cNvPr>
          <p:cNvCxnSpPr/>
          <p:nvPr/>
        </p:nvCxnSpPr>
        <p:spPr>
          <a:xfrm>
            <a:off x="5237825" y="2601157"/>
            <a:ext cx="639192" cy="100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998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18970A6B-EC73-325D-F60C-AFDE2FEF5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38500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A9121D7-0B6D-BE9B-7262-1F402C2757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93327" y="2416082"/>
            <a:ext cx="4041343" cy="3031007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 (D)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E13401-6D0B-FA9F-0932-D52BE1570C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/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8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800" dirty="0"/>
              </a:p>
              <a:p>
                <a:r>
                  <a:rPr lang="de-DE" sz="2000" dirty="0"/>
                  <a:t>(</a:t>
                </a:r>
                <a:r>
                  <a:rPr lang="de-DE" sz="2000" dirty="0" err="1"/>
                  <a:t>differentiator</a:t>
                </a:r>
                <a:r>
                  <a:rPr lang="de-DE" sz="2000" dirty="0"/>
                  <a:t>/derivative </a:t>
                </a:r>
                <a:r>
                  <a:rPr lang="de-DE" sz="2000" dirty="0" err="1"/>
                  <a:t>gain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or</a:t>
                </a:r>
                <a:r>
                  <a:rPr lang="de-DE" sz="2000" dirty="0"/>
                  <a:t> derivative time </a:t>
                </a:r>
                <a:r>
                  <a:rPr lang="de-DE" sz="2000" dirty="0" err="1"/>
                  <a:t>constant</a:t>
                </a:r>
                <a:r>
                  <a:rPr lang="de-DE" sz="2000" dirty="0"/>
                  <a:t>)</a:t>
                </a: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D862DA39-5BCE-43AD-53C9-20C18B8F7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725" y="3577697"/>
                <a:ext cx="6411050" cy="1291316"/>
              </a:xfrm>
              <a:prstGeom prst="rect">
                <a:avLst/>
              </a:prstGeom>
              <a:blipFill>
                <a:blip r:embed="rId7"/>
                <a:stretch>
                  <a:fillRect l="-988" b="-77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6574445-9274-205F-65F8-E02FBBA876FA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4320250" y="2769833"/>
            <a:ext cx="1095129" cy="8078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91548B9B-5801-02FD-7335-31C8FD8F7A17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2405849" y="2849732"/>
            <a:ext cx="1914401" cy="7279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23E0541-7891-30D2-4661-379BD090843F}"/>
              </a:ext>
            </a:extLst>
          </p:cNvPr>
          <p:cNvSpPr txBox="1"/>
          <p:nvPr/>
        </p:nvSpPr>
        <p:spPr>
          <a:xfrm>
            <a:off x="7496077" y="1151357"/>
            <a:ext cx="428982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dirty="0" err="1"/>
              <a:t>Amplifies</a:t>
            </a:r>
            <a:r>
              <a:rPr lang="de-DE" sz="2000" dirty="0"/>
              <a:t> high </a:t>
            </a:r>
            <a:r>
              <a:rPr lang="de-DE" sz="2000" dirty="0" err="1"/>
              <a:t>frequencies</a:t>
            </a:r>
            <a:r>
              <a:rPr lang="de-DE" sz="2000" dirty="0"/>
              <a:t>, i.e., </a:t>
            </a:r>
            <a:r>
              <a:rPr lang="de-DE" sz="2000" dirty="0" err="1"/>
              <a:t>noise</a:t>
            </a:r>
            <a:endParaRPr lang="de-DE" sz="2000" dirty="0"/>
          </a:p>
          <a:p>
            <a:r>
              <a:rPr lang="de-DE" sz="2000" dirty="0">
                <a:sym typeface="Wingdings" pitchFamily="2" charset="2"/>
              </a:rPr>
              <a:t> </a:t>
            </a:r>
            <a:r>
              <a:rPr lang="de-DE" sz="2000" dirty="0" err="1">
                <a:sym typeface="Wingdings" pitchFamily="2" charset="2"/>
              </a:rPr>
              <a:t>use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filtered</a:t>
            </a:r>
            <a:r>
              <a:rPr lang="de-DE" sz="2000" dirty="0">
                <a:sym typeface="Wingdings" pitchFamily="2" charset="2"/>
              </a:rPr>
              <a:t> </a:t>
            </a:r>
            <a:r>
              <a:rPr lang="de-DE" sz="2000" dirty="0" err="1">
                <a:sym typeface="Wingdings" pitchFamily="2" charset="2"/>
              </a:rPr>
              <a:t>differentiator</a:t>
            </a:r>
            <a:r>
              <a:rPr lang="de-DE" sz="2000" dirty="0">
                <a:sym typeface="Wingdings" pitchFamily="2" charset="2"/>
              </a:rPr>
              <a:t> (DT1)</a:t>
            </a:r>
            <a:endParaRPr lang="de-DE" sz="2000" dirty="0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7688D64-5667-BAB3-7EEA-4B43A90B80B0}"/>
              </a:ext>
            </a:extLst>
          </p:cNvPr>
          <p:cNvCxnSpPr>
            <a:cxnSpLocks/>
            <a:stCxn id="16" idx="1"/>
          </p:cNvCxnSpPr>
          <p:nvPr/>
        </p:nvCxnSpPr>
        <p:spPr>
          <a:xfrm flipH="1">
            <a:off x="6214369" y="1505300"/>
            <a:ext cx="1281708" cy="10425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C9F5823B-6BD5-9ADF-F789-E913F361C19A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9E2AEC4-0E0A-4251-EED1-3590A3DBFC70}"/>
              </a:ext>
            </a:extLst>
          </p:cNvPr>
          <p:cNvSpPr txBox="1"/>
          <p:nvPr/>
        </p:nvSpPr>
        <p:spPr>
          <a:xfrm>
            <a:off x="6556094" y="6003928"/>
            <a:ext cx="3638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physically</a:t>
            </a:r>
            <a:r>
              <a:rPr lang="de-DE" dirty="0"/>
              <a:t> </a:t>
            </a:r>
            <a:r>
              <a:rPr lang="de-DE" dirty="0" err="1"/>
              <a:t>unrealizable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damping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Filtered</a:t>
            </a:r>
            <a:r>
              <a:rPr lang="de-DE" dirty="0"/>
              <a:t> Differentiator (DT1)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Consider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,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𝑑𝑢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r>
                  <a:rPr lang="de-DE" dirty="0"/>
                  <a:t>     </a:t>
                </a:r>
                <a:r>
                  <a:rPr lang="de-DE" dirty="0" err="1"/>
                  <a:t>or</a:t>
                </a:r>
                <a:r>
                  <a:rPr lang="de-DE" dirty="0"/>
                  <a:t>    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2606A89-4597-98EA-83F6-4C092A77DC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/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61A3C78E-2F6D-98C4-E5D9-DA62F8056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159" y="3244334"/>
                <a:ext cx="310721" cy="369332"/>
              </a:xfrm>
              <a:prstGeom prst="rect">
                <a:avLst/>
              </a:prstGeom>
              <a:blipFill>
                <a:blip r:embed="rId3"/>
                <a:stretch>
                  <a:fillRect l="-28000" r="-16000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C66937D-FB01-5A86-7894-A927DF81D8E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1276588" y="2734322"/>
            <a:ext cx="245932" cy="5100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/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8795F3A-B9DF-3E97-D9A1-609F63107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0805" y="3265803"/>
                <a:ext cx="310721" cy="369332"/>
              </a:xfrm>
              <a:prstGeom prst="rect">
                <a:avLst/>
              </a:prstGeom>
              <a:blipFill>
                <a:blip r:embed="rId4"/>
                <a:stretch>
                  <a:fillRect l="-26923" r="-11538"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A66D832-3933-A3C4-B5DE-0C1B799BD1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3326166" y="2734322"/>
            <a:ext cx="299280" cy="5314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/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0120BEAE-D28C-18C6-C257-8AECBF4C32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519" y="4004934"/>
                <a:ext cx="2352119" cy="751872"/>
              </a:xfrm>
              <a:prstGeom prst="rect">
                <a:avLst/>
              </a:prstGeom>
              <a:blipFill>
                <a:blip r:embed="rId5"/>
                <a:stretch>
                  <a:fillRect l="-535" r="-535" b="-98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Grafik 12" descr="Ein Bild, das Schrift, Reihe, Diagramm, weiß enthält.&#10;&#10;KI-generierte Inhalte können fehlerhaft sein.">
            <a:extLst>
              <a:ext uri="{FF2B5EF4-FFF2-40B4-BE49-F238E27FC236}">
                <a16:creationId xmlns:a16="http://schemas.microsoft.com/office/drawing/2014/main" id="{0990F134-8769-251B-9856-EBDF176EB0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8406" y="5438299"/>
            <a:ext cx="3826276" cy="1404961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EE3F5106-1AC6-9970-061E-97A0EBB7821F}"/>
              </a:ext>
            </a:extLst>
          </p:cNvPr>
          <p:cNvSpPr txBox="1"/>
          <p:nvPr/>
        </p:nvSpPr>
        <p:spPr>
          <a:xfrm>
            <a:off x="1100831" y="5807631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p:pic>
        <p:nvPicPr>
          <p:cNvPr id="16" name="Grafik 15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FE6AA1E0-A9C7-8D58-8185-06B929DDD39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877" y="3280615"/>
            <a:ext cx="4918385" cy="30757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/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de-DE" sz="240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fName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EB3735C7-C89D-7E19-AD02-0079912642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410" y="4001294"/>
                <a:ext cx="2334870" cy="524567"/>
              </a:xfrm>
              <a:prstGeom prst="rect">
                <a:avLst/>
              </a:prstGeom>
              <a:blipFill>
                <a:blip r:embed="rId8"/>
                <a:stretch>
                  <a:fillRect l="-1630" r="-1087" b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feld 19">
            <a:extLst>
              <a:ext uri="{FF2B5EF4-FFF2-40B4-BE49-F238E27FC236}">
                <a16:creationId xmlns:a16="http://schemas.microsoft.com/office/drawing/2014/main" id="{717B537C-97C7-D835-06EB-FEAAE4FCB003}"/>
              </a:ext>
            </a:extLst>
          </p:cNvPr>
          <p:cNvSpPr txBox="1"/>
          <p:nvPr/>
        </p:nvSpPr>
        <p:spPr>
          <a:xfrm>
            <a:off x="4401921" y="4587649"/>
            <a:ext cx="2635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ideal D </a:t>
            </a:r>
            <a:r>
              <a:rPr lang="de-DE" sz="2400" dirty="0" err="1">
                <a:sym typeface="Wingdings" pitchFamily="2" charset="2"/>
              </a:rPr>
              <a:t>element</a:t>
            </a:r>
            <a:endParaRPr lang="de-DE" sz="24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E13B32-F2FE-9FA6-B180-F45DC17AC802}"/>
              </a:ext>
            </a:extLst>
          </p:cNvPr>
          <p:cNvSpPr txBox="1"/>
          <p:nvPr/>
        </p:nvSpPr>
        <p:spPr>
          <a:xfrm>
            <a:off x="8610600" y="501650"/>
            <a:ext cx="321959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Used</a:t>
            </a:r>
            <a:r>
              <a:rPr lang="de-DE" sz="2400" dirty="0"/>
              <a:t> in PID </a:t>
            </a:r>
            <a:r>
              <a:rPr lang="de-DE" sz="2400" dirty="0" err="1"/>
              <a:t>controllers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07DD78-7D0E-A2DB-B218-FADADC8F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pic>
        <p:nvPicPr>
          <p:cNvPr id="6" name="Grafik 5" descr="Ein Bild, das Diagramm, Reihe enthält.&#10;&#10;KI-generierte Inhalte können fehlerhaft sein.">
            <a:extLst>
              <a:ext uri="{FF2B5EF4-FFF2-40B4-BE49-F238E27FC236}">
                <a16:creationId xmlns:a16="http://schemas.microsoft.com/office/drawing/2014/main" id="{976F9CE3-F38F-852C-6010-CA382C117D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69" y="1193772"/>
            <a:ext cx="11973261" cy="44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2382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C19EB036-529B-5966-A2D7-5C37976AC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DT1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3713F-BEEB-EA87-DC79-2AED8B43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38</a:t>
            </a:fld>
            <a:endParaRPr lang="en-GB"/>
          </a:p>
        </p:txBody>
      </p:sp>
      <p:pic>
        <p:nvPicPr>
          <p:cNvPr id="7" name="Grafik 6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5366F733-B6FF-4958-BEF6-6050A628F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5228" y="1905307"/>
            <a:ext cx="6961543" cy="4952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4668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52AC7-2EDE-14FD-988A-E0FF054F5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BD5689F1-D390-5252-9BE7-CB3E185AC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15153" y="5299075"/>
            <a:ext cx="2857500" cy="14224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E3D6218-AE75-FB82-93BA-2EF7EEE4E9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69184" y="1321557"/>
            <a:ext cx="5222816" cy="393372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8E55303-77A4-456D-2F3D-C33AFF652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 (PT2)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Consider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de-DE" sz="2400" dirty="0"/>
                  <a:t>,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e-DE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𝑑𝑦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77A4BED-941D-2DF9-FA89-2935119F18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965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020C73-3932-B65A-94E5-2D739ECB2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9E73366-B6A4-1B0B-9C21-2504F3A6DF0A}"/>
              </a:ext>
            </a:extLst>
          </p:cNvPr>
          <p:cNvSpPr txBox="1"/>
          <p:nvPr/>
        </p:nvSpPr>
        <p:spPr>
          <a:xfrm>
            <a:off x="5056877" y="4842153"/>
            <a:ext cx="1677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/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9EC45AFE-4EA2-1FB1-0C60-2FFC0998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962" y="3032159"/>
                <a:ext cx="458781" cy="653962"/>
              </a:xfrm>
              <a:prstGeom prst="rect">
                <a:avLst/>
              </a:prstGeom>
              <a:blipFill>
                <a:blip r:embed="rId7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/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91BC678F-4758-EB33-290C-042E21B104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888478" y="3140194"/>
                <a:ext cx="892757" cy="307777"/>
              </a:xfrm>
              <a:prstGeom prst="rect">
                <a:avLst/>
              </a:prstGeom>
              <a:blipFill>
                <a:blip r:embed="rId8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D4691E0D-438D-82ED-B682-FFC7AA31AD2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19353" y="2659225"/>
            <a:ext cx="318847" cy="3729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D0FD88BC-FAEB-31C7-04D2-F01A73352F7F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4758431" y="2659225"/>
            <a:ext cx="576425" cy="4809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/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f>
                            <m:f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Sup>
                                <m:sSubSupPr>
                                  <m:ctrlP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den>
                          </m:f>
                          <m:sSup>
                            <m:sSup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de-DE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l-GR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𝜁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de-DE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de-DE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30F22F9-E742-53A4-8222-79B6CFF138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49" y="5026819"/>
                <a:ext cx="2786596" cy="947695"/>
              </a:xfrm>
              <a:prstGeom prst="rect">
                <a:avLst/>
              </a:prstGeom>
              <a:blipFill>
                <a:blip r:embed="rId9"/>
                <a:stretch>
                  <a:fillRect l="-452" r="-4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/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</m:num>
                        <m:den>
                          <m:sSub>
                            <m:sSubPr>
                              <m:ctrlPr>
                                <a:rPr lang="de-DE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C4A01984-12FD-97D8-F773-5ADBF1848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9618" y="3055692"/>
                <a:ext cx="738157" cy="630429"/>
              </a:xfrm>
              <a:prstGeom prst="rect">
                <a:avLst/>
              </a:prstGeom>
              <a:blipFill>
                <a:blip r:embed="rId10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4DD66A2-D98F-FFDA-85A5-0CC035CF0918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2569048" y="2666325"/>
            <a:ext cx="429649" cy="3893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/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l-GR" sz="24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sz="2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C9665A68-18A0-9434-BCD8-FABE54F2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5650" y="5221378"/>
                <a:ext cx="897603" cy="461665"/>
              </a:xfrm>
              <a:prstGeom prst="rect">
                <a:avLst/>
              </a:prstGeom>
              <a:blipFill>
                <a:blip r:embed="rId11"/>
                <a:stretch>
                  <a:fillRect l="-4167" t="-10811" b="-2973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feld 5">
            <a:extLst>
              <a:ext uri="{FF2B5EF4-FFF2-40B4-BE49-F238E27FC236}">
                <a16:creationId xmlns:a16="http://schemas.microsoft.com/office/drawing/2014/main" id="{24761B3C-F472-89D7-FFC8-A11A6A942A0C}"/>
              </a:ext>
            </a:extLst>
          </p:cNvPr>
          <p:cNvSpPr txBox="1"/>
          <p:nvPr/>
        </p:nvSpPr>
        <p:spPr>
          <a:xfrm>
            <a:off x="10265952" y="666952"/>
            <a:ext cx="17713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F2441A8-5B95-A486-6F90-2D73BB749229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9824484" y="1313283"/>
            <a:ext cx="1327159" cy="760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9192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51CAC9-9F9A-309B-EAAC-79C00D689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Product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PT1 Elements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Sup>
                              <m:sSubSup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r>
                  <a:rPr lang="de-DE" sz="2400" dirty="0"/>
                  <a:t>     </a:t>
                </a:r>
                <a:r>
                  <a:rPr lang="de-DE" sz="2400" dirty="0" err="1"/>
                  <a:t>can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be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written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product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two</a:t>
                </a:r>
                <a:r>
                  <a:rPr lang="de-DE" sz="2400" dirty="0"/>
                  <a:t> PT1 </a:t>
                </a:r>
                <a:r>
                  <a:rPr lang="de-DE" sz="2400" dirty="0" err="1"/>
                  <a:t>elements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+1=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de-DE" sz="2400" b="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Sup>
                          <m:sSub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400" dirty="0"/>
                  <a:t>,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</m:num>
                      <m:den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rad>
                      </m:den>
                    </m:f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for</a:t>
                </a:r>
                <a:r>
                  <a:rPr lang="de-DE" sz="2400" dirty="0"/>
                  <a:t> real PT1 elements: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ad>
                      <m:radPr>
                        <m:degHide m:val="on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rad>
                  </m:oMath>
                </a14:m>
                <a:r>
                  <a:rPr lang="de-DE" sz="2400" dirty="0">
                    <a:ea typeface="Cambria Math" panose="02040503050406030204" pitchFamily="18" charset="0"/>
                  </a:rPr>
                  <a:t> (</a:t>
                </a:r>
                <a:r>
                  <a:rPr lang="de-DE" sz="2400" dirty="0" err="1"/>
                  <a:t>arithmetic-geometric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inequality</a:t>
                </a:r>
                <a:r>
                  <a:rPr lang="de-DE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overdamped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critically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damped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14:m>
                  <m:oMath xmlns:m="http://schemas.openxmlformats.org/officeDocument/2006/math">
                    <m:r>
                      <a:rPr lang="el-G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) </a:t>
                </a:r>
                <a:r>
                  <a:rPr lang="de-DE" sz="2400" dirty="0" err="1">
                    <a:sym typeface="Wingdings" pitchFamily="2" charset="2"/>
                  </a:rPr>
                  <a:t>for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69731F-6CDE-2B00-6FA1-70721ED2DE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15723"/>
                <a:ext cx="10515600" cy="4895851"/>
              </a:xfrm>
              <a:blipFill>
                <a:blip r:embed="rId2"/>
                <a:stretch>
                  <a:fillRect l="-724" t="-259" b="-207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270AFD-C1DE-8C01-FD6D-9258B218F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40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61716C4-F3BA-0B5F-0ADC-6D6F516A806C}"/>
              </a:ext>
            </a:extLst>
          </p:cNvPr>
          <p:cNvSpPr txBox="1"/>
          <p:nvPr/>
        </p:nvSpPr>
        <p:spPr>
          <a:xfrm>
            <a:off x="7215200" y="3103299"/>
            <a:ext cx="2693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individual time </a:t>
            </a:r>
            <a:r>
              <a:rPr lang="de-DE" dirty="0" err="1"/>
              <a:t>constants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2A78EBE-4B13-5090-5E97-905AD3A5472D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6894786" y="2753713"/>
            <a:ext cx="320414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A15884A-4F63-A711-4C5F-DE8DABE340AB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5833241" y="2753713"/>
            <a:ext cx="1381959" cy="5342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33B1815-D43B-3632-92CC-82F572DEEC53}"/>
              </a:ext>
            </a:extLst>
          </p:cNvPr>
          <p:cNvSpPr txBox="1"/>
          <p:nvPr/>
        </p:nvSpPr>
        <p:spPr>
          <a:xfrm>
            <a:off x="6174980" y="6396919"/>
            <a:ext cx="3389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/>
              <a:t>fastest non-</a:t>
            </a:r>
            <a:r>
              <a:rPr lang="de-DE" dirty="0" err="1"/>
              <a:t>oscillatory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5D23FD76-3019-5A32-A011-A30FE78C0749}"/>
              </a:ext>
            </a:extLst>
          </p:cNvPr>
          <p:cNvSpPr/>
          <p:nvPr/>
        </p:nvSpPr>
        <p:spPr>
          <a:xfrm rot="16200000">
            <a:off x="7811127" y="5883851"/>
            <a:ext cx="164287" cy="861851"/>
          </a:xfrm>
          <a:prstGeom prst="leftBrace">
            <a:avLst>
              <a:gd name="adj1" fmla="val 8333"/>
              <a:gd name="adj2" fmla="val 475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936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C3658D1-744D-30FC-180A-56744EEE0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B42B79A-BAA7-B097-D1B8-769BA2F24B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24573" y="65504"/>
            <a:ext cx="874285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410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C6604F1-EC43-DA27-4439-4E928DB2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PT2 Signal Flow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4FD0D3A-87F5-9AC2-A2C4-DE36C2E59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42</a:t>
            </a:fld>
            <a:endParaRPr lang="en-GB"/>
          </a:p>
        </p:txBody>
      </p:sp>
      <p:pic>
        <p:nvPicPr>
          <p:cNvPr id="6" name="Grafik 5" descr="Ein Bild, das Diagramm, Reihe, Entwurf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BC46509F-A2F4-91FE-24BC-D8516AA81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2912" y="1690688"/>
            <a:ext cx="8386175" cy="5167312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3049D8C-0E74-A4D7-2CE3-DF67E210A6E7}"/>
              </a:ext>
            </a:extLst>
          </p:cNvPr>
          <p:cNvSpPr txBox="1"/>
          <p:nvPr/>
        </p:nvSpPr>
        <p:spPr>
          <a:xfrm>
            <a:off x="3851812" y="2128950"/>
            <a:ext cx="2846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Two</a:t>
            </a:r>
            <a:r>
              <a:rPr lang="de-DE" sz="2400" dirty="0"/>
              <a:t> </a:t>
            </a:r>
            <a:r>
              <a:rPr lang="de-DE" sz="2400" dirty="0" err="1"/>
              <a:t>energy</a:t>
            </a:r>
            <a:r>
              <a:rPr lang="de-DE" sz="2400" dirty="0"/>
              <a:t> </a:t>
            </a:r>
            <a:r>
              <a:rPr lang="de-DE" sz="2400" dirty="0" err="1"/>
              <a:t>storages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9148953-51A0-2B28-4F79-8E23ABFD1EC1}"/>
              </a:ext>
            </a:extLst>
          </p:cNvPr>
          <p:cNvCxnSpPr>
            <a:stCxn id="7" idx="2"/>
          </p:cNvCxnSpPr>
          <p:nvPr/>
        </p:nvCxnSpPr>
        <p:spPr>
          <a:xfrm flipH="1">
            <a:off x="4705165" y="2590615"/>
            <a:ext cx="570050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3CD943D-AF06-329B-E25B-2EB72F8F7473}"/>
              </a:ext>
            </a:extLst>
          </p:cNvPr>
          <p:cNvCxnSpPr>
            <a:stCxn id="7" idx="2"/>
          </p:cNvCxnSpPr>
          <p:nvPr/>
        </p:nvCxnSpPr>
        <p:spPr>
          <a:xfrm>
            <a:off x="5275215" y="2590615"/>
            <a:ext cx="1826921" cy="12267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0495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All-Pass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Magnitude </a:t>
                </a:r>
                <a:r>
                  <a:rPr lang="de-DE" sz="2400" dirty="0" err="1"/>
                  <a:t>constant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all </a:t>
                </a:r>
                <a:r>
                  <a:rPr lang="de-DE" sz="2400" dirty="0" err="1"/>
                  <a:t>frequencies</a:t>
                </a:r>
                <a:r>
                  <a:rPr lang="de-DE" sz="2400" dirty="0"/>
                  <a:t> (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sz="2400" dirty="0"/>
                  <a:t>), but </a:t>
                </a:r>
                <a:r>
                  <a:rPr lang="de-DE" sz="2400" dirty="0" err="1"/>
                  <a:t>phase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frequency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coefficients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Zeros </a:t>
                </a:r>
                <a:r>
                  <a:rPr lang="de-DE" sz="2400" dirty="0" err="1"/>
                  <a:t>are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mirror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poles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with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respect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imaginary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axis</a:t>
                </a:r>
                <a:r>
                  <a:rPr lang="de-DE" sz="2400" dirty="0"/>
                  <a:t>.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Important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signal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processing</a:t>
                </a:r>
                <a:r>
                  <a:rPr lang="de-DE" sz="2400" dirty="0"/>
                  <a:t>, e.g.,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runtime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alignment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385FC6E-700C-B18E-BADF-335DCA3D4B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431213" cy="4351338"/>
              </a:xfrm>
              <a:blipFill>
                <a:blip r:embed="rId2"/>
                <a:stretch>
                  <a:fillRect l="-1378" t="-2035" r="-39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43</a:t>
            </a:fld>
            <a:endParaRPr lang="en-GB"/>
          </a:p>
        </p:txBody>
      </p:sp>
      <p:pic>
        <p:nvPicPr>
          <p:cNvPr id="5" name="Grafik 4" descr="Ein Bild, das Diagramm, Reihe, Schrift, Kreis enthält.&#10;&#10;KI-generierte Inhalte können fehlerhaft sein.">
            <a:extLst>
              <a:ext uri="{FF2B5EF4-FFF2-40B4-BE49-F238E27FC236}">
                <a16:creationId xmlns:a16="http://schemas.microsoft.com/office/drawing/2014/main" id="{E13B6A26-66B4-FCD3-374E-0324D6D33F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717413"/>
            <a:ext cx="4922587" cy="2017643"/>
          </a:xfrm>
          <a:prstGeom prst="rect">
            <a:avLst/>
          </a:prstGeom>
        </p:spPr>
      </p:pic>
      <p:pic>
        <p:nvPicPr>
          <p:cNvPr id="6" name="Grafik 5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AB0D2284-D8CC-E9B2-7ACB-E0BEE700C7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9413" y="3569441"/>
            <a:ext cx="4928745" cy="28763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/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first-order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11E2D89C-E118-15D5-B856-54F2B56F7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3478" y="166907"/>
                <a:ext cx="3354456" cy="462947"/>
              </a:xfrm>
              <a:prstGeom prst="rect">
                <a:avLst/>
              </a:prstGeom>
              <a:blipFill>
                <a:blip r:embed="rId5"/>
                <a:stretch>
                  <a:fillRect l="-1509" b="-78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/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de-DE" sz="1800" dirty="0"/>
                  <a:t>second-order all-pass: </a:t>
                </a:r>
                <a14:m>
                  <m:oMath xmlns:m="http://schemas.openxmlformats.org/officeDocument/2006/math">
                    <m:r>
                      <a:rPr lang="de-DE" sz="1800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1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sz="1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</m:oMath>
                </a14:m>
                <a:endParaRPr lang="de-DE" sz="18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B2624273-F4A0-B76C-F913-E830233C4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55" y="3010890"/>
                <a:ext cx="4375702" cy="558551"/>
              </a:xfrm>
              <a:prstGeom prst="rect">
                <a:avLst/>
              </a:prstGeom>
              <a:blipFill>
                <a:blip r:embed="rId6"/>
                <a:stretch>
                  <a:fillRect l="-11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Dead time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most</a:t>
                </a:r>
                <a:r>
                  <a:rPr lang="de-DE" dirty="0"/>
                  <a:t> </a:t>
                </a:r>
                <a:r>
                  <a:rPr lang="de-DE" dirty="0" err="1"/>
                  <a:t>common</a:t>
                </a:r>
                <a:r>
                  <a:rPr lang="de-DE" dirty="0"/>
                  <a:t> </a:t>
                </a:r>
                <a:r>
                  <a:rPr lang="de-DE" dirty="0" err="1"/>
                  <a:t>reasons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instability</a:t>
                </a:r>
                <a:r>
                  <a:rPr lang="de-DE" dirty="0"/>
                  <a:t> and </a:t>
                </a:r>
                <a:r>
                  <a:rPr lang="de-DE" dirty="0" err="1"/>
                  <a:t>poor</a:t>
                </a:r>
                <a:r>
                  <a:rPr lang="de-DE" dirty="0"/>
                  <a:t> </a:t>
                </a:r>
                <a:r>
                  <a:rPr lang="de-DE" dirty="0" err="1"/>
                  <a:t>control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895850"/>
              </a:xfrm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44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849A6A0B-7B0A-3167-280A-07C8CCA493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60704" y="3665162"/>
            <a:ext cx="2857500" cy="142240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5BED860-0BB1-7B23-BF19-6E448A09B50F}"/>
              </a:ext>
            </a:extLst>
          </p:cNvPr>
          <p:cNvSpPr txBox="1"/>
          <p:nvPr/>
        </p:nvSpPr>
        <p:spPr>
          <a:xfrm>
            <a:off x="9260703" y="3041466"/>
            <a:ext cx="28575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(P </a:t>
            </a:r>
            <a:r>
              <a:rPr lang="de-DE" dirty="0" err="1"/>
              <a:t>element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dead</a:t>
            </a:r>
            <a:r>
              <a:rPr lang="de-DE" dirty="0"/>
              <a:t> time):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77D9DC5-EB66-C724-A7E5-4EB656F8A374}"/>
              </a:ext>
            </a:extLst>
          </p:cNvPr>
          <p:cNvSpPr/>
          <p:nvPr/>
        </p:nvSpPr>
        <p:spPr>
          <a:xfrm>
            <a:off x="11265763" y="3665162"/>
            <a:ext cx="443884" cy="40081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</a:rPr>
              <a:t>T</a:t>
            </a:r>
            <a:r>
              <a:rPr lang="de-DE" sz="2000" baseline="-25000" dirty="0">
                <a:solidFill>
                  <a:schemeClr val="tx1"/>
                </a:solidFill>
              </a:rPr>
              <a:t>D</a:t>
            </a:r>
            <a:endParaRPr lang="de-DE" sz="20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/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7749B73-558C-FCA2-EC0A-03E1F75C9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76272" y="3665162"/>
                <a:ext cx="321075" cy="400110"/>
              </a:xfrm>
              <a:prstGeom prst="rect">
                <a:avLst/>
              </a:prstGeom>
              <a:blipFill>
                <a:blip r:embed="rId4"/>
                <a:stretch>
                  <a:fillRect r="-28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CCB4EE6-FB21-E428-AFA4-B3E042F3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45</a:t>
            </a:fld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B259E4D-64AB-389E-6117-BBCCBA1A7E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00574" y="1589102"/>
            <a:ext cx="4012645" cy="4012645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D4A938-5623-70C8-BB79-671071A0E847}"/>
              </a:ext>
            </a:extLst>
          </p:cNvPr>
          <p:cNvSpPr txBox="1"/>
          <p:nvPr/>
        </p:nvSpPr>
        <p:spPr>
          <a:xfrm>
            <a:off x="8268961" y="713860"/>
            <a:ext cx="331164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PT1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7" name="Grafik 6" descr="Ein Bild, das Diagramm, Kreis, Reihe enthält.&#10;&#10;KI-generierte Inhalte können fehlerhaft sein.">
            <a:extLst>
              <a:ext uri="{FF2B5EF4-FFF2-40B4-BE49-F238E27FC236}">
                <a16:creationId xmlns:a16="http://schemas.microsoft.com/office/drawing/2014/main" id="{08E294EB-6019-AEA2-F733-F1499C22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948" y="2130640"/>
            <a:ext cx="3559626" cy="2929568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E86264FE-B2A5-CB8B-4A25-43EAF80285CA}"/>
              </a:ext>
            </a:extLst>
          </p:cNvPr>
          <p:cNvSpPr txBox="1"/>
          <p:nvPr/>
        </p:nvSpPr>
        <p:spPr>
          <a:xfrm>
            <a:off x="4171018" y="1129359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Nyquist</a:t>
            </a:r>
            <a:r>
              <a:rPr lang="de-DE" sz="2400" dirty="0"/>
              <a:t>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p:pic>
        <p:nvPicPr>
          <p:cNvPr id="10" name="Grafik 9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3C34F394-B9D4-A22A-7B92-7F0D95011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781" y="1544858"/>
            <a:ext cx="3497935" cy="3493363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4A940BB-AE86-B489-1CC6-5D2DCC80ABEB}"/>
              </a:ext>
            </a:extLst>
          </p:cNvPr>
          <p:cNvSpPr txBox="1"/>
          <p:nvPr/>
        </p:nvSpPr>
        <p:spPr>
          <a:xfrm>
            <a:off x="611392" y="563755"/>
            <a:ext cx="323229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Bode </a:t>
            </a:r>
            <a:r>
              <a:rPr lang="de-DE" sz="2400" dirty="0" err="1"/>
              <a:t>diagram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dead</a:t>
            </a:r>
            <a:r>
              <a:rPr lang="de-DE" sz="2400" dirty="0"/>
              <a:t> time: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/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200" dirty="0"/>
                  <a:t>Delay = additional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 shift </a:t>
                </a:r>
                <a:r>
                  <a:rPr lang="de-DE" sz="2200" dirty="0" err="1"/>
                  <a:t>that</a:t>
                </a:r>
                <a:r>
                  <a:rPr lang="de-DE" sz="2200" dirty="0"/>
                  <a:t> </a:t>
                </a:r>
                <a:r>
                  <a:rPr lang="de-DE" sz="2200" dirty="0" err="1"/>
                  <a:t>grows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linearly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with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200" dirty="0">
                  <a:sym typeface="Wingdings" pitchFamily="2" charset="2"/>
                </a:endParaRPr>
              </a:p>
              <a:p>
                <a:r>
                  <a:rPr lang="de-DE" sz="2200" dirty="0">
                    <a:sym typeface="Wingdings" pitchFamily="2" charset="2"/>
                  </a:rPr>
                  <a:t> </a:t>
                </a:r>
                <a:r>
                  <a:rPr lang="de-DE" sz="2200" dirty="0"/>
                  <a:t>Dead time </a:t>
                </a:r>
                <a:r>
                  <a:rPr lang="de-DE" sz="2200" dirty="0" err="1"/>
                  <a:t>hides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amplitude</a:t>
                </a:r>
                <a:r>
                  <a:rPr lang="de-DE" sz="2200" dirty="0"/>
                  <a:t>, but </a:t>
                </a:r>
                <a:r>
                  <a:rPr lang="de-DE" sz="2200" dirty="0" err="1"/>
                  <a:t>reveals</a:t>
                </a:r>
                <a:r>
                  <a:rPr lang="de-DE" sz="2200" dirty="0"/>
                  <a:t> </a:t>
                </a:r>
                <a:r>
                  <a:rPr lang="de-DE" sz="2200" dirty="0" err="1"/>
                  <a:t>itself</a:t>
                </a:r>
                <a:r>
                  <a:rPr lang="de-DE" sz="2200" dirty="0"/>
                  <a:t> in </a:t>
                </a:r>
                <a:r>
                  <a:rPr lang="de-DE" sz="2200" dirty="0" err="1"/>
                  <a:t>the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phase</a:t>
                </a:r>
                <a:r>
                  <a:rPr lang="de-DE" sz="2200" dirty="0"/>
                  <a:t>.</a:t>
                </a:r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B2A190AE-3AA5-43A2-8A96-21C95EFC3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507" y="5149826"/>
                <a:ext cx="4588246" cy="1446550"/>
              </a:xfrm>
              <a:prstGeom prst="rect">
                <a:avLst/>
              </a:prstGeom>
              <a:blipFill>
                <a:blip r:embed="rId5"/>
                <a:stretch>
                  <a:fillRect l="-1653" t="-2609" r="-2479" b="-78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4445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83B0DC-31BB-6D9E-792A-D380DBFBB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System </a:t>
            </a:r>
            <a:r>
              <a:rPr lang="de-DE" sz="4000" dirty="0" err="1"/>
              <a:t>Identification</a:t>
            </a:r>
            <a:r>
              <a:rPr lang="de-DE" sz="4000" dirty="0"/>
              <a:t> </a:t>
            </a:r>
            <a:r>
              <a:rPr lang="de-DE" sz="4000" dirty="0" err="1"/>
              <a:t>with</a:t>
            </a:r>
            <a:r>
              <a:rPr lang="de-DE" sz="4000" dirty="0"/>
              <a:t> Bode Plots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Experiment: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measurement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Bode </a:t>
                </a:r>
                <a:r>
                  <a:rPr lang="de-DE" dirty="0" err="1">
                    <a:sym typeface="Wingdings" pitchFamily="2" charset="2"/>
                  </a:rPr>
                  <a:t>plots</a:t>
                </a:r>
                <a:endParaRPr lang="de-DE" dirty="0"/>
              </a:p>
              <a:p>
                <a:r>
                  <a:rPr lang="de-DE" dirty="0"/>
                  <a:t>Magnitude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components</a:t>
                </a:r>
                <a:endParaRPr lang="de-DE" dirty="0"/>
              </a:p>
              <a:p>
                <a:r>
                  <a:rPr lang="de-DE" dirty="0"/>
                  <a:t>Phase </a:t>
                </a:r>
                <a:r>
                  <a:rPr lang="de-DE" dirty="0" err="1"/>
                  <a:t>plot</a:t>
                </a:r>
                <a:r>
                  <a:rPr lang="de-DE" dirty="0"/>
                  <a:t>: </a:t>
                </a:r>
                <a:r>
                  <a:rPr lang="de-DE" dirty="0" err="1"/>
                  <a:t>sum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 </a:t>
                </a:r>
                <a:r>
                  <a:rPr lang="de-DE" dirty="0" err="1"/>
                  <a:t>contributions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Decompose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into</a:t>
                </a:r>
                <a:r>
                  <a:rPr lang="de-DE" dirty="0"/>
                  <a:t> </a:t>
                </a:r>
                <a:r>
                  <a:rPr lang="de-DE" dirty="0" err="1"/>
                  <a:t>standard</a:t>
                </a:r>
                <a:r>
                  <a:rPr lang="de-DE" dirty="0"/>
                  <a:t> </a:t>
                </a:r>
                <a:r>
                  <a:rPr lang="de-DE" dirty="0" err="1"/>
                  <a:t>building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(</a:t>
                </a:r>
                <a:r>
                  <a:rPr lang="de-DE" dirty="0" err="1"/>
                  <a:t>integrator</a:t>
                </a:r>
                <a:r>
                  <a:rPr lang="de-DE" dirty="0"/>
                  <a:t>, PT1, </a:t>
                </a:r>
                <a:r>
                  <a:rPr lang="de-DE" dirty="0" err="1"/>
                  <a:t>gain</a:t>
                </a:r>
                <a:r>
                  <a:rPr lang="de-DE" dirty="0"/>
                  <a:t>, ...)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straight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line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segments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System </a:t>
                </a:r>
                <a:r>
                  <a:rPr lang="de-DE" dirty="0" err="1"/>
                  <a:t>identification</a:t>
                </a:r>
                <a:r>
                  <a:rPr lang="de-DE" dirty="0"/>
                  <a:t> </a:t>
                </a:r>
                <a:r>
                  <a:rPr lang="de-DE" dirty="0" err="1"/>
                  <a:t>procedure</a:t>
                </a:r>
                <a:r>
                  <a:rPr lang="de-DE" dirty="0"/>
                  <a:t> (</a:t>
                </a:r>
                <a:r>
                  <a:rPr lang="de-DE" dirty="0" err="1"/>
                  <a:t>construct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):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initial </a:t>
                </a:r>
                <a:r>
                  <a:rPr lang="de-DE" dirty="0" err="1"/>
                  <a:t>slope</a:t>
                </a:r>
                <a:r>
                  <a:rPr lang="de-DE" dirty="0"/>
                  <a:t> (</a:t>
                </a:r>
                <a:r>
                  <a:rPr lang="de-DE" dirty="0" err="1"/>
                  <a:t>low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indicates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/</a:t>
                </a:r>
                <a:r>
                  <a:rPr lang="de-DE" dirty="0" err="1"/>
                  <a:t>differentiators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</a:t>
                </a:r>
                <a:r>
                  <a:rPr lang="de-DE" dirty="0" err="1"/>
                  <a:t>where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/>
                  <a:t>Analyze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>
                            <a:solidFill>
                              <a:schemeClr val="tx1"/>
                            </a:solidFill>
                          </a:rPr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pole,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</a:t>
                </a:r>
                <a:r>
                  <a:rPr lang="de-DE" dirty="0" err="1"/>
                  <a:t>zero</a:t>
                </a:r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time </a:t>
                </a:r>
                <a:r>
                  <a:rPr lang="de-DE" dirty="0" err="1"/>
                  <a:t>constants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den>
                    </m:f>
                  </m:oMath>
                </a14:m>
                <a:endParaRPr lang="de-DE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 K </a:t>
                </a:r>
                <a:r>
                  <a:rPr lang="de-DE" dirty="0" err="1"/>
                  <a:t>from</a:t>
                </a:r>
                <a:r>
                  <a:rPr lang="de-DE" dirty="0"/>
                  <a:t> absolute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level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slope</a:t>
                </a:r>
                <a:r>
                  <a:rPr lang="de-DE" dirty="0"/>
                  <a:t> = </a:t>
                </a:r>
                <a:r>
                  <a:rPr lang="de-DE" dirty="0" err="1"/>
                  <a:t>structure</a:t>
                </a:r>
                <a:r>
                  <a:rPr lang="de-DE" dirty="0"/>
                  <a:t>,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= </a:t>
                </a:r>
                <a:r>
                  <a:rPr lang="de-DE" dirty="0" err="1"/>
                  <a:t>dynamics</a:t>
                </a:r>
                <a:r>
                  <a:rPr lang="de-DE" dirty="0"/>
                  <a:t>, </a:t>
                </a:r>
                <a:r>
                  <a:rPr lang="de-DE" dirty="0" err="1"/>
                  <a:t>level</a:t>
                </a:r>
                <a:r>
                  <a:rPr lang="de-DE" dirty="0"/>
                  <a:t> = </a:t>
                </a:r>
                <a:r>
                  <a:rPr lang="de-DE" dirty="0" err="1"/>
                  <a:t>gain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4252DC4-2B8B-95BC-0680-FD70429DCF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30787"/>
              </a:xfrm>
              <a:blipFill>
                <a:blip r:embed="rId2"/>
                <a:stretch>
                  <a:fillRect l="-844" t="-251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046C4B-4832-CAE2-3B8B-739987984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47950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0CF6AB-6150-2496-7055-205640593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797"/>
            <a:ext cx="10515600" cy="1325563"/>
          </a:xfrm>
        </p:spPr>
        <p:txBody>
          <a:bodyPr/>
          <a:lstStyle/>
          <a:p>
            <a:pPr algn="ctr"/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Check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−20 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than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zeros</a:t>
                </a:r>
                <a:r>
                  <a:rPr lang="de-DE" dirty="0">
                    <a:sym typeface="Wingdings" pitchFamily="2" charset="2"/>
                  </a:rPr>
                  <a:t> (</a:t>
                </a:r>
                <a:r>
                  <a:rPr lang="de-DE" dirty="0" err="1">
                    <a:sym typeface="Wingdings" pitchFamily="2" charset="2"/>
                  </a:rPr>
                  <a:t>often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)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large </a:t>
                </a:r>
                <a:r>
                  <a:rPr lang="de-DE" dirty="0" err="1"/>
                  <a:t>frequencies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0 </m:t>
                        </m:r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dB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decade</m:t>
                        </m:r>
                      </m:den>
                    </m:f>
                  </m:oMath>
                </a14:m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two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poles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overall</a:t>
                </a: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20 </m:t>
                    </m:r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dB</m:t>
                    </m:r>
                  </m:oMath>
                </a14:m>
                <a:r>
                  <a:rPr lang="de-DE" dirty="0"/>
                  <a:t>   at  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Gain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=10</m:t>
                    </m:r>
                  </m:oMath>
                </a14:m>
                <a:r>
                  <a:rPr lang="de-DE" dirty="0"/>
                  <a:t>   (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20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dB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=20</m:t>
                    </m:r>
                    <m:func>
                      <m:func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always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active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integrator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more</a:t>
                </a:r>
                <a:r>
                  <a:rPr lang="de-DE" dirty="0">
                    <a:sym typeface="Wingdings" pitchFamily="2" charset="2"/>
                  </a:rPr>
                  <a:t> pole </a:t>
                </a:r>
                <a:r>
                  <a:rPr lang="de-DE" dirty="0" err="1">
                    <a:sym typeface="Wingdings" pitchFamily="2" charset="2"/>
                  </a:rPr>
                  <a:t>comes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later</a:t>
                </a:r>
                <a:r>
                  <a:rPr lang="de-DE" dirty="0">
                    <a:sym typeface="Wingdings" pitchFamily="2" charset="2"/>
                  </a:rPr>
                  <a:t>: </a:t>
                </a:r>
                <a:r>
                  <a:rPr lang="de-DE" dirty="0" err="1"/>
                  <a:t>kink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corner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≈10</m:t>
                    </m:r>
                    <m:f>
                      <m:fPr>
                        <m:type m:val="lin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rad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den>
                    </m:f>
                    <m:r>
                      <a:rPr lang="de-DE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 PT1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𝑠</m:t>
                        </m:r>
                      </m:den>
                    </m:f>
                  </m:oMath>
                </a14:m>
                <a:endParaRPr lang="de-DE" b="0" dirty="0"/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1+0.1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5E137E9-AE31-F34F-0F9C-D3E4034792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218" y="1135117"/>
                <a:ext cx="6068599" cy="5722883"/>
              </a:xfrm>
              <a:blipFill>
                <a:blip r:embed="rId2"/>
                <a:stretch>
                  <a:fillRect l="-5637" t="-6208" r="-20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6E2ED-F427-7057-2702-60EBE459A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47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2988934-2359-699F-54A9-9A1BECA301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509510"/>
            <a:ext cx="6012782" cy="4533446"/>
          </a:xfrm>
          <a:prstGeom prst="rect">
            <a:avLst/>
          </a:prstGeom>
        </p:spPr>
      </p:pic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77DDB740-819C-FAE4-78EB-35263FD7821F}"/>
              </a:ext>
            </a:extLst>
          </p:cNvPr>
          <p:cNvCxnSpPr>
            <a:cxnSpLocks/>
          </p:cNvCxnSpPr>
          <p:nvPr/>
        </p:nvCxnSpPr>
        <p:spPr>
          <a:xfrm>
            <a:off x="6936828" y="2091557"/>
            <a:ext cx="2417380" cy="1103587"/>
          </a:xfrm>
          <a:prstGeom prst="line">
            <a:avLst/>
          </a:prstGeom>
          <a:ln w="31750">
            <a:solidFill>
              <a:schemeClr val="accent5"/>
            </a:solidFill>
            <a:prstDash val="dash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29E10C8C-B23F-1E41-07B0-12AA994EE92D}"/>
              </a:ext>
            </a:extLst>
          </p:cNvPr>
          <p:cNvCxnSpPr>
            <a:cxnSpLocks/>
          </p:cNvCxnSpPr>
          <p:nvPr/>
        </p:nvCxnSpPr>
        <p:spPr>
          <a:xfrm>
            <a:off x="9354208" y="3195144"/>
            <a:ext cx="2396358" cy="2153346"/>
          </a:xfrm>
          <a:prstGeom prst="line">
            <a:avLst/>
          </a:prstGeom>
          <a:ln w="31750">
            <a:solidFill>
              <a:schemeClr val="accent6"/>
            </a:solidFill>
            <a:prstDash val="sysDot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/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−20 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5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5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5"/>
                  </a:solidFill>
                </a:endParaRPr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6D9CDAD1-7CB8-30E4-E1EA-936CA35FF3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8400" y="2371885"/>
                <a:ext cx="1703800" cy="276999"/>
              </a:xfrm>
              <a:prstGeom prst="rect">
                <a:avLst/>
              </a:prstGeom>
              <a:blipFill>
                <a:blip r:embed="rId4"/>
                <a:stretch>
                  <a:fillRect t="-160870" r="-1471" b="-23478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/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type m:val="lin"/>
                          <m:ctrlPr>
                            <a:rPr lang="de-DE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de-DE" b="0" i="1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DE" i="1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0 </m:t>
                          </m:r>
                          <m:r>
                            <m:rPr>
                              <m:sty m:val="p"/>
                            </m:rPr>
                            <a:rPr lang="de-DE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dB</m:t>
                          </m:r>
                          <m:r>
                            <m:rPr>
                              <m:nor/>
                            </m:rPr>
                            <a:rPr lang="de-DE" dirty="0">
                              <a:solidFill>
                                <a:schemeClr val="accent6"/>
                              </a:solidFill>
                            </a:rPr>
                            <m:t> 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de-DE" b="0" i="0" smtClean="0">
                              <a:solidFill>
                                <a:schemeClr val="accent6"/>
                              </a:solidFill>
                              <a:latin typeface="Cambria Math" panose="02040503050406030204" pitchFamily="18" charset="0"/>
                            </a:rPr>
                            <m:t>decade</m:t>
                          </m:r>
                        </m:den>
                      </m:f>
                    </m:oMath>
                  </m:oMathPara>
                </a14:m>
                <a:endParaRPr lang="de-DE" dirty="0">
                  <a:solidFill>
                    <a:schemeClr val="accent6"/>
                  </a:solidFill>
                </a:endParaRP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10C551F6-3624-13AD-B04D-339DD52C9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5874" y="3637733"/>
                <a:ext cx="1665071" cy="276999"/>
              </a:xfrm>
              <a:prstGeom prst="rect">
                <a:avLst/>
              </a:prstGeom>
              <a:blipFill>
                <a:blip r:embed="rId5"/>
                <a:stretch>
                  <a:fillRect t="-160870" r="-3008" b="-2304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feld 14">
            <a:extLst>
              <a:ext uri="{FF2B5EF4-FFF2-40B4-BE49-F238E27FC236}">
                <a16:creationId xmlns:a16="http://schemas.microsoft.com/office/drawing/2014/main" id="{140798D8-914C-9EFB-6759-118A69B2B311}"/>
              </a:ext>
            </a:extLst>
          </p:cNvPr>
          <p:cNvSpPr txBox="1"/>
          <p:nvPr/>
        </p:nvSpPr>
        <p:spPr>
          <a:xfrm>
            <a:off x="7536212" y="4087151"/>
            <a:ext cx="18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corner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cxnSp>
        <p:nvCxnSpPr>
          <p:cNvPr id="17" name="Gerade Verbindung 16">
            <a:extLst>
              <a:ext uri="{FF2B5EF4-FFF2-40B4-BE49-F238E27FC236}">
                <a16:creationId xmlns:a16="http://schemas.microsoft.com/office/drawing/2014/main" id="{35B21F36-93F1-55DA-F500-212FC42D7057}"/>
              </a:ext>
            </a:extLst>
          </p:cNvPr>
          <p:cNvCxnSpPr/>
          <p:nvPr/>
        </p:nvCxnSpPr>
        <p:spPr>
          <a:xfrm>
            <a:off x="9354208" y="3195144"/>
            <a:ext cx="0" cy="2343808"/>
          </a:xfrm>
          <a:prstGeom prst="line">
            <a:avLst/>
          </a:prstGeom>
          <a:ln>
            <a:prstDash val="lgDashDot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36828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48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/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  <a:p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3EB245D8-DA26-0DE3-DA5B-9168829BC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814005"/>
                <a:ext cx="4538615" cy="2246321"/>
              </a:xfrm>
              <a:prstGeom prst="rect">
                <a:avLst/>
              </a:prstGeom>
              <a:blipFill>
                <a:blip r:embed="rId9"/>
                <a:stretch>
                  <a:fillRect t="-565" r="-559" b="-56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7B1B46A8-D3BE-8232-6FD3-0BBC2CD586D8}"/>
              </a:ext>
            </a:extLst>
          </p:cNvPr>
          <p:cNvSpPr txBox="1"/>
          <p:nvPr/>
        </p:nvSpPr>
        <p:spPr>
          <a:xfrm>
            <a:off x="7347911" y="3359443"/>
            <a:ext cx="40058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closed</a:t>
            </a:r>
            <a:r>
              <a:rPr lang="de-DE" sz="2400" dirty="0"/>
              <a:t>-loop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negative </a:t>
            </a:r>
            <a:r>
              <a:rPr lang="de-DE" sz="2400" dirty="0" err="1"/>
              <a:t>feedback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464F60-FB62-DB77-A5C9-AA00849EF8D2}"/>
              </a:ext>
            </a:extLst>
          </p:cNvPr>
          <p:cNvCxnSpPr/>
          <p:nvPr/>
        </p:nvCxnSpPr>
        <p:spPr>
          <a:xfrm flipV="1">
            <a:off x="8610600" y="3060326"/>
            <a:ext cx="151660" cy="384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/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1F6F8F9-8529-3D6B-67E4-7AC0BCCEA2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396" y="5176410"/>
                <a:ext cx="3206917" cy="861326"/>
              </a:xfrm>
              <a:prstGeom prst="rect">
                <a:avLst/>
              </a:prstGeom>
              <a:blipFill>
                <a:blip r:embed="rId10"/>
                <a:stretch>
                  <a:fillRect r="-791" b="-1014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/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above combines </a:t>
                </a:r>
                <a:r>
                  <a:rPr lang="de-DE" sz="2400" dirty="0" err="1"/>
                  <a:t>controller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400" dirty="0"/>
                  <a:t> and plant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5E3520AA-C07E-5285-60F1-A52A218580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20" y="6184059"/>
                <a:ext cx="7253396" cy="461665"/>
              </a:xfrm>
              <a:prstGeom prst="rect">
                <a:avLst/>
              </a:prstGeom>
              <a:blipFill>
                <a:blip r:embed="rId11"/>
                <a:stretch>
                  <a:fillRect l="-175" t="-10526" b="-289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CB3717-9DB3-1399-9CCC-728FFAB9C3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Controller 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increases</a:t>
                </a:r>
                <a:r>
                  <a:rPr lang="de-DE" dirty="0"/>
                  <a:t> loop </a:t>
                </a:r>
                <a:r>
                  <a:rPr lang="de-DE" dirty="0" err="1"/>
                  <a:t>gain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faster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, </a:t>
                </a:r>
                <a:r>
                  <a:rPr lang="de-DE" dirty="0" err="1"/>
                  <a:t>smaller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integrator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eliminates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error</a:t>
                </a:r>
                <a:r>
                  <a:rPr lang="de-DE" dirty="0"/>
                  <a:t>, </a:t>
                </a:r>
                <a:r>
                  <a:rPr lang="de-DE" dirty="0" err="1"/>
                  <a:t>may</a:t>
                </a:r>
                <a:r>
                  <a:rPr lang="de-DE" dirty="0"/>
                  <a:t> </a:t>
                </a:r>
                <a:r>
                  <a:rPr lang="de-DE" dirty="0" err="1"/>
                  <a:t>reduce</a:t>
                </a:r>
                <a:r>
                  <a:rPr lang="de-DE" dirty="0"/>
                  <a:t> </a:t>
                </a:r>
                <a:r>
                  <a:rPr lang="de-DE" dirty="0" err="1"/>
                  <a:t>stability</a:t>
                </a:r>
                <a:r>
                  <a:rPr lang="de-DE" dirty="0"/>
                  <a:t> </a:t>
                </a:r>
                <a:r>
                  <a:rPr lang="de-DE" dirty="0" err="1"/>
                  <a:t>margin</a:t>
                </a: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adds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reduces</a:t>
                </a:r>
                <a:r>
                  <a:rPr lang="de-DE" dirty="0"/>
                  <a:t> </a:t>
                </a:r>
                <a:r>
                  <a:rPr lang="de-DE" dirty="0" err="1"/>
                  <a:t>overshoot</a:t>
                </a:r>
                <a:r>
                  <a:rPr lang="de-DE" dirty="0"/>
                  <a:t>, </a:t>
                </a:r>
                <a:r>
                  <a:rPr lang="de-DE" dirty="0" err="1"/>
                  <a:t>improves</a:t>
                </a:r>
                <a:r>
                  <a:rPr lang="de-DE" dirty="0"/>
                  <a:t> transient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Controller design:</a:t>
                </a:r>
              </a:p>
              <a:p>
                <a:r>
                  <a:rPr lang="de-DE" dirty="0"/>
                  <a:t>Shape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obtain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desired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r>
                  <a:rPr lang="de-DE" dirty="0" err="1"/>
                  <a:t>Achieved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and </a:t>
                </a:r>
                <a:r>
                  <a:rPr lang="de-DE" dirty="0" err="1"/>
                  <a:t>tuning</a:t>
                </a:r>
                <a:r>
                  <a:rPr lang="de-DE" dirty="0"/>
                  <a:t> </a:t>
                </a:r>
                <a:r>
                  <a:rPr lang="de-DE" dirty="0" err="1"/>
                  <a:t>controller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 (</a:t>
                </a:r>
                <a:r>
                  <a:rPr lang="de-DE" dirty="0" err="1"/>
                  <a:t>move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1BC413E4-178D-A51B-5C3F-4C91A86DF2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EF15152-4A2F-9346-DFCE-B3D9FFBF6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3551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50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50172" y="3330802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814948" y="6318213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/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B2161CE0-1013-8244-6CB9-99D0AA5C0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9330" y="1224635"/>
                <a:ext cx="3471268" cy="733149"/>
              </a:xfrm>
              <a:prstGeom prst="rect">
                <a:avLst/>
              </a:prstGeom>
              <a:blipFill>
                <a:blip r:embed="rId16"/>
                <a:stretch>
                  <a:fillRect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045A292-E5B3-5B3E-253C-1C890023A612}"/>
              </a:ext>
            </a:extLst>
          </p:cNvPr>
          <p:cNvCxnSpPr>
            <a:stCxn id="71" idx="2"/>
          </p:cNvCxnSpPr>
          <p:nvPr/>
        </p:nvCxnSpPr>
        <p:spPr>
          <a:xfrm>
            <a:off x="1743408" y="4254132"/>
            <a:ext cx="413844" cy="2278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/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de-DE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)∙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de-DE" sz="2000" dirty="0"/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2D808F74-0F93-9135-ADD8-F1E5AA463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6" y="5835830"/>
                <a:ext cx="4071905" cy="733149"/>
              </a:xfrm>
              <a:prstGeom prst="rect">
                <a:avLst/>
              </a:prstGeom>
              <a:blipFill>
                <a:blip r:embed="rId17"/>
                <a:stretch>
                  <a:fillRect r="-312" b="-678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0A7F-554B-AAFD-7174-C16F8B9F0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B3F9417-F831-50D8-E02C-963FAFCAE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41253"/>
            <a:ext cx="10515600" cy="535709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Output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disturbances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CECDCBB-6B87-FF86-622B-B9435D0D9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51</a:t>
            </a:fld>
            <a:endParaRPr lang="en-GB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108F8C42-A1C7-07E0-4919-E338135B4D13}"/>
              </a:ext>
            </a:extLst>
          </p:cNvPr>
          <p:cNvGrpSpPr/>
          <p:nvPr/>
        </p:nvGrpSpPr>
        <p:grpSpPr>
          <a:xfrm>
            <a:off x="3103048" y="1924769"/>
            <a:ext cx="5985903" cy="1787065"/>
            <a:chOff x="838200" y="4102962"/>
            <a:chExt cx="5985903" cy="178706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Prozess 5">
                  <a:extLst>
                    <a:ext uri="{FF2B5EF4-FFF2-40B4-BE49-F238E27FC236}">
                      <a16:creationId xmlns:a16="http://schemas.microsoft.com/office/drawing/2014/main" id="{344459C9-9D71-DFD3-03AE-BDBDE1A7093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Verbindungsstelle 6">
              <a:extLst>
                <a:ext uri="{FF2B5EF4-FFF2-40B4-BE49-F238E27FC236}">
                  <a16:creationId xmlns:a16="http://schemas.microsoft.com/office/drawing/2014/main" id="{0BC1B9AA-4DD9-DFA6-F721-DA1E12B5751A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F751218D-8569-34E2-FB99-94A46711AC1D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E5BEB674-7EA7-6DEF-F4EA-3DC398D16A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Gerade Verbindung 9">
              <a:extLst>
                <a:ext uri="{FF2B5EF4-FFF2-40B4-BE49-F238E27FC236}">
                  <a16:creationId xmlns:a16="http://schemas.microsoft.com/office/drawing/2014/main" id="{560E0793-17C4-E965-5266-6FA085A439C2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ing 10">
              <a:extLst>
                <a:ext uri="{FF2B5EF4-FFF2-40B4-BE49-F238E27FC236}">
                  <a16:creationId xmlns:a16="http://schemas.microsoft.com/office/drawing/2014/main" id="{CB608118-6686-D197-791D-4DAC81DECD9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11">
              <a:extLst>
                <a:ext uri="{FF2B5EF4-FFF2-40B4-BE49-F238E27FC236}">
                  <a16:creationId xmlns:a16="http://schemas.microsoft.com/office/drawing/2014/main" id="{5EBEBF0D-BAAC-46B6-DAE3-12562407C9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839E4D9E-227A-1AC7-7AC8-A507CC99AC36}"/>
                </a:ext>
              </a:extLst>
            </p:cNvPr>
            <p:cNvCxnSpPr>
              <a:endCxn id="11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A81C6FD8-3032-29D4-653B-3F249E05EAC0}"/>
                </a:ext>
              </a:extLst>
            </p:cNvPr>
            <p:cNvCxnSpPr>
              <a:stCxn id="11" idx="6"/>
              <a:endCxn id="6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2284E165-5266-ACE4-A95E-04DC2A11DB3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250AE9EA-3504-C45F-BB69-CA262FD355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t="-4348" r="-14634" b="-3043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17" name="Textfeld 16">
                  <a:extLst>
                    <a:ext uri="{FF2B5EF4-FFF2-40B4-BE49-F238E27FC236}">
                      <a16:creationId xmlns:a16="http://schemas.microsoft.com/office/drawing/2014/main" id="{2DD76603-65E2-03C4-1708-D231F38EC1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Prozess 17">
                  <a:extLst>
                    <a:ext uri="{FF2B5EF4-FFF2-40B4-BE49-F238E27FC236}">
                      <a16:creationId xmlns:a16="http://schemas.microsoft.com/office/drawing/2014/main" id="{9477C179-5B78-3A35-54A1-11E1B4F03C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ing 20">
              <a:extLst>
                <a:ext uri="{FF2B5EF4-FFF2-40B4-BE49-F238E27FC236}">
                  <a16:creationId xmlns:a16="http://schemas.microsoft.com/office/drawing/2014/main" id="{ED6AAF6D-4865-4676-E885-88A22D4EDB1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830515" y="4885966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sp>
          <p:nvSpPr>
            <p:cNvPr id="22" name="Ring 21">
              <a:extLst>
                <a:ext uri="{FF2B5EF4-FFF2-40B4-BE49-F238E27FC236}">
                  <a16:creationId xmlns:a16="http://schemas.microsoft.com/office/drawing/2014/main" id="{DD0F5AB1-AAA4-41B2-A781-C4AA5673514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449974" y="488764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F1C7D86-ABFA-D87E-685A-270E8CA836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14216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64E812BB-17A8-1051-637A-76B4F4E7DB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0119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82F282A2-53EF-B23D-F157-B841A5E86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0805" y="4927120"/>
              <a:ext cx="298299" cy="82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CD8878B6-D6FD-EFEA-3C5E-EB7F4FE89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50844" y="4927120"/>
              <a:ext cx="29829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1AE436E-9AB7-93D2-AF39-472E44022315}"/>
                </a:ext>
              </a:extLst>
            </p:cNvPr>
            <p:cNvCxnSpPr>
              <a:endCxn id="21" idx="0"/>
            </p:cNvCxnSpPr>
            <p:nvPr/>
          </p:nvCxnSpPr>
          <p:spPr>
            <a:xfrm>
              <a:off x="3875515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39A8EFEC-9C9A-B1B7-D236-B3A55C353440}"/>
                </a:ext>
              </a:extLst>
            </p:cNvPr>
            <p:cNvCxnSpPr/>
            <p:nvPr/>
          </p:nvCxnSpPr>
          <p:spPr>
            <a:xfrm>
              <a:off x="5494974" y="4390452"/>
              <a:ext cx="0" cy="49551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/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DE05D10-7020-4B44-DACE-061D0C900A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9033" y="4102962"/>
                  <a:ext cx="295273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/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 xmlns="">
            <p:sp>
              <p:nvSpPr>
                <p:cNvPr id="39" name="Textfeld 38">
                  <a:extLst>
                    <a:ext uri="{FF2B5EF4-FFF2-40B4-BE49-F238E27FC236}">
                      <a16:creationId xmlns:a16="http://schemas.microsoft.com/office/drawing/2014/main" id="{EC95CF87-6405-181E-16E5-3A6121960B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8493" y="4104636"/>
                  <a:ext cx="295273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25000" r="-12083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/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41" name="Textfeld 40">
                <a:extLst>
                  <a:ext uri="{FF2B5EF4-FFF2-40B4-BE49-F238E27FC236}">
                    <a16:creationId xmlns:a16="http://schemas.microsoft.com/office/drawing/2014/main" id="{F3FDFB67-5838-02E3-D360-D19A4B76EF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413" y="4194470"/>
                <a:ext cx="10515600" cy="861326"/>
              </a:xfrm>
              <a:prstGeom prst="rect">
                <a:avLst/>
              </a:prstGeom>
              <a:blipFill>
                <a:blip r:embed="rId9"/>
                <a:stretch>
                  <a:fillRect b="-147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37450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5DC3A4-AEAB-C2F7-7972-19CE9C6E6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following</a:t>
                </a:r>
                <a:r>
                  <a:rPr lang="de-DE" dirty="0"/>
                  <a:t> </a:t>
                </a:r>
                <a:r>
                  <a:rPr lang="de-DE" dirty="0" err="1"/>
                  <a:t>signals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+5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</m:e>
                        </m:d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49BCB70-37A5-029B-AFF8-7107DA5190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AF5872-59E3-F5B2-87C9-185F75E63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82966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A91FBE-99C9-8927-00D6-37A02814F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, </a:t>
                </a:r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solution</a:t>
                </a:r>
                <a:r>
                  <a:rPr lang="de-DE" dirty="0"/>
                  <a:t> in </a:t>
                </a:r>
                <a:r>
                  <a:rPr lang="de-DE" dirty="0" err="1"/>
                  <a:t>the</a:t>
                </a:r>
                <a:r>
                  <a:rPr lang="de-DE" dirty="0"/>
                  <a:t> time </a:t>
                </a:r>
                <a:r>
                  <a:rPr lang="de-DE" dirty="0" err="1"/>
                  <a:t>domain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8216210-F69F-3C6C-AC3B-7B8F37B23D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BE623A-89FC-8C25-F95D-A8CA62EA5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89288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AE4ED-2026-1556-A5CB-334590351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⃛"/>
                        <m:ctrlP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  <m:acc>
                      <m:accPr>
                        <m:chr m:val="̈"/>
                        <m:ctrl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e>
                    </m:acc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/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.</a:t>
                </a:r>
              </a:p>
              <a:p>
                <a:pPr/>
                <a:r>
                  <a:rPr lang="de-DE" dirty="0" err="1"/>
                  <a:t>Calculate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and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this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ABEBF0B-2285-9F2B-D598-547B99D0DB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EA0A1A7-E12E-A224-9638-3BFB0590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3898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F57831-AC60-7DC6-6BC0-800B0AA90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unit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CAD7447-37B2-C2E8-36ED-1B2367547D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F99E8E-04AA-29F7-E20F-451296370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97237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767A4B-C466-6C0E-1949-2A7A6A4B7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consists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:</a:t>
                </a:r>
              </a:p>
              <a:p>
                <a:r>
                  <a:rPr lang="de-DE" dirty="0"/>
                  <a:t>Forward </a:t>
                </a:r>
                <a:r>
                  <a:rPr lang="de-DE" dirty="0" err="1"/>
                  <a:t>path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dirty="0"/>
                  <a:t>Feedback: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de-DE" b="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BF7DDB6-4AD0-D0AF-C917-20F5486110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200E97-F072-8204-451C-3F6F72EB5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60715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ED947E-54E1-F072-1CB6-260DA64E4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Find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4112F5C-0C6C-0CBB-5478-26CF94EAAE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04596B-1E5D-B9FF-655F-D20E67034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145261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FADC79-38BD-1CF5-1F0F-143B7C3B5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Consider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Bode </a:t>
                </a:r>
                <a:r>
                  <a:rPr lang="de-DE" dirty="0" err="1"/>
                  <a:t>plots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slope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magnitude</a:t>
                </a:r>
                <a:r>
                  <a:rPr lang="de-DE" dirty="0"/>
                  <a:t> </a:t>
                </a:r>
                <a:r>
                  <a:rPr lang="de-DE" dirty="0" err="1"/>
                  <a:t>plot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What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phase</a:t>
                </a:r>
                <a:r>
                  <a:rPr lang="de-DE" dirty="0"/>
                  <a:t>?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1EA22E7-7908-0DD2-97DB-B65D6E222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1EC3AE5-A7A8-1AAD-7D1A-26970F27B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615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094224-0CF2-5741-DE78-3972F9809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Given a first-order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1+0.1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Estimate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bandwidth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EABB01-CBCC-4AA5-3299-77C4898F6D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D34016-9510-5E6B-4C08-C94E47B40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215045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3F4700-4C37-4A3B-E96A-417374997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Exercise</a:t>
            </a:r>
            <a:r>
              <a:rPr lang="de-DE" dirty="0"/>
              <a:t>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Consider a plant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 PID </a:t>
                </a:r>
                <a:r>
                  <a:rPr lang="de-DE" dirty="0" err="1"/>
                  <a:t>controller</a:t>
                </a:r>
                <a:r>
                  <a:rPr lang="de-DE" dirty="0"/>
                  <a:t> in parallel form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parameters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de-D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Assume </a:t>
                </a:r>
                <a:r>
                  <a:rPr lang="de-DE" dirty="0" err="1"/>
                  <a:t>unity</a:t>
                </a:r>
                <a:r>
                  <a:rPr lang="de-DE" dirty="0"/>
                  <a:t> </a:t>
                </a:r>
                <a:r>
                  <a:rPr lang="de-DE" dirty="0" err="1"/>
                  <a:t>feedback</a:t>
                </a:r>
                <a:r>
                  <a:rPr lang="de-DE" dirty="0"/>
                  <a:t>.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open-loop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  <a:p>
                <a:r>
                  <a:rPr lang="de-DE" dirty="0" err="1"/>
                  <a:t>Derive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closed</a:t>
                </a:r>
                <a:r>
                  <a:rPr lang="de-DE" dirty="0"/>
                  <a:t>-loop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F1E9EB-2A0D-B856-4A02-0AC0AB14DA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8411DA-26AE-5E24-344C-F06B5A0E7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504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3116</Words>
  <Application>Microsoft Macintosh PowerPoint</Application>
  <PresentationFormat>Breitbild</PresentationFormat>
  <Paragraphs>594</Paragraphs>
  <Slides>60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60</vt:i4>
      </vt:variant>
    </vt:vector>
  </HeadingPairs>
  <TitlesOfParts>
    <vt:vector size="66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Step Response</vt:lpstr>
      <vt:lpstr>Final Value Theorem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Common Magnitude Unit: Decibel</vt:lpstr>
      <vt:lpstr>Bandwidth</vt:lpstr>
      <vt:lpstr>Individual Elements of Control Loops</vt:lpstr>
      <vt:lpstr>Proportional Element (P)</vt:lpstr>
      <vt:lpstr>Integral Element (I)</vt:lpstr>
      <vt:lpstr>First-Order Lag Element (PT1)</vt:lpstr>
      <vt:lpstr>PT1 Signal Flow Diagram</vt:lpstr>
      <vt:lpstr>Derivative Element (D)</vt:lpstr>
      <vt:lpstr>Filtered Differentiator (DT1)</vt:lpstr>
      <vt:lpstr>PowerPoint-Präsentation</vt:lpstr>
      <vt:lpstr>DT1 Signal Flow Diagram</vt:lpstr>
      <vt:lpstr>Second-Order Lag Element (PT2)</vt:lpstr>
      <vt:lpstr>PT2 as Product of Two PT1 Elements</vt:lpstr>
      <vt:lpstr>PowerPoint-Präsentation</vt:lpstr>
      <vt:lpstr>PT2 Signal Flow Diagram</vt:lpstr>
      <vt:lpstr>All-Pass Systems</vt:lpstr>
      <vt:lpstr>Systems with Dead Time</vt:lpstr>
      <vt:lpstr>PowerPoint-Präsentation</vt:lpstr>
      <vt:lpstr>System Identification with Bode Plots</vt:lpstr>
      <vt:lpstr>Example</vt:lpstr>
      <vt:lpstr>Control Loop</vt:lpstr>
      <vt:lpstr>PID Controller Transfer Function</vt:lpstr>
      <vt:lpstr>Hidden Assumptions</vt:lpstr>
      <vt:lpstr>Disturbances</vt:lpstr>
      <vt:lpstr>Exercise 1</vt:lpstr>
      <vt:lpstr>Exercise 2</vt:lpstr>
      <vt:lpstr>Exercise 3</vt:lpstr>
      <vt:lpstr>Exercise 4</vt:lpstr>
      <vt:lpstr>Exercise 5</vt:lpstr>
      <vt:lpstr>Exercise 6</vt:lpstr>
      <vt:lpstr>Exercise 7</vt:lpstr>
      <vt:lpstr>Exercise 8</vt:lpstr>
      <vt:lpstr>Exercise 9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320</cp:revision>
  <dcterms:created xsi:type="dcterms:W3CDTF">2025-01-08T09:27:30Z</dcterms:created>
  <dcterms:modified xsi:type="dcterms:W3CDTF">2026-04-15T18:54:31Z</dcterms:modified>
</cp:coreProperties>
</file>
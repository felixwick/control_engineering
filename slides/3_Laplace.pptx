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7"/>
  </p:notesMasterIdLst>
  <p:sldIdLst>
    <p:sldId id="256" r:id="rId2"/>
    <p:sldId id="265" r:id="rId3"/>
    <p:sldId id="266" r:id="rId4"/>
    <p:sldId id="267" r:id="rId5"/>
    <p:sldId id="276" r:id="rId6"/>
    <p:sldId id="278" r:id="rId7"/>
    <p:sldId id="268" r:id="rId8"/>
    <p:sldId id="291" r:id="rId9"/>
    <p:sldId id="269" r:id="rId10"/>
    <p:sldId id="279" r:id="rId11"/>
    <p:sldId id="280" r:id="rId12"/>
    <p:sldId id="271" r:id="rId13"/>
    <p:sldId id="283" r:id="rId14"/>
    <p:sldId id="282" r:id="rId15"/>
    <p:sldId id="284" r:id="rId16"/>
    <p:sldId id="281" r:id="rId17"/>
    <p:sldId id="286" r:id="rId18"/>
    <p:sldId id="292" r:id="rId19"/>
    <p:sldId id="272" r:id="rId20"/>
    <p:sldId id="290" r:id="rId21"/>
    <p:sldId id="287" r:id="rId22"/>
    <p:sldId id="288" r:id="rId23"/>
    <p:sldId id="289" r:id="rId24"/>
    <p:sldId id="273" r:id="rId25"/>
    <p:sldId id="274" r:id="rId26"/>
    <p:sldId id="275" r:id="rId27"/>
    <p:sldId id="293" r:id="rId28"/>
    <p:sldId id="294" r:id="rId29"/>
    <p:sldId id="295" r:id="rId30"/>
    <p:sldId id="296" r:id="rId31"/>
    <p:sldId id="310" r:id="rId32"/>
    <p:sldId id="297" r:id="rId33"/>
    <p:sldId id="298" r:id="rId34"/>
    <p:sldId id="311" r:id="rId35"/>
    <p:sldId id="309" r:id="rId36"/>
    <p:sldId id="305" r:id="rId37"/>
    <p:sldId id="306" r:id="rId38"/>
    <p:sldId id="308" r:id="rId39"/>
    <p:sldId id="307" r:id="rId40"/>
    <p:sldId id="300" r:id="rId41"/>
    <p:sldId id="285" r:id="rId42"/>
    <p:sldId id="301" r:id="rId43"/>
    <p:sldId id="303" r:id="rId44"/>
    <p:sldId id="302" r:id="rId45"/>
    <p:sldId id="304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909"/>
    <p:restoredTop sz="95028" autoAdjust="0"/>
  </p:normalViewPr>
  <p:slideViewPr>
    <p:cSldViewPr snapToGrid="0">
      <p:cViewPr varScale="1">
        <p:scale>
          <a:sx n="144" d="100"/>
          <a:sy n="144" d="100"/>
        </p:scale>
        <p:origin x="480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08/02/2026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08/02/2026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08/02/2026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08/02/2026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svg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6.png"/><Relationship Id="rId7" Type="http://schemas.openxmlformats.org/officeDocument/2006/relationships/image" Target="../media/image51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svg"/><Relationship Id="rId9" Type="http://schemas.openxmlformats.org/officeDocument/2006/relationships/image" Target="../media/image53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svg"/><Relationship Id="rId3" Type="http://schemas.openxmlformats.org/officeDocument/2006/relationships/image" Target="../media/image55.sv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sv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svg"/><Relationship Id="rId7" Type="http://schemas.openxmlformats.org/officeDocument/2006/relationships/image" Target="../media/image611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2.png"/><Relationship Id="rId5" Type="http://schemas.openxmlformats.org/officeDocument/2006/relationships/image" Target="../media/image68.svg"/><Relationship Id="rId4" Type="http://schemas.openxmlformats.org/officeDocument/2006/relationships/image" Target="../media/image6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9.sv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svg"/><Relationship Id="rId10" Type="http://schemas.openxmlformats.org/officeDocument/2006/relationships/image" Target="../media/image86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sv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0.png"/><Relationship Id="rId3" Type="http://schemas.openxmlformats.org/officeDocument/2006/relationships/image" Target="../media/image400.png"/><Relationship Id="rId7" Type="http://schemas.openxmlformats.org/officeDocument/2006/relationships/image" Target="../media/image450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0.png"/><Relationship Id="rId11" Type="http://schemas.openxmlformats.org/officeDocument/2006/relationships/image" Target="../media/image491.png"/><Relationship Id="rId5" Type="http://schemas.openxmlformats.org/officeDocument/2006/relationships/image" Target="../media/image43.png"/><Relationship Id="rId10" Type="http://schemas.openxmlformats.org/officeDocument/2006/relationships/image" Target="../media/image481.png"/><Relationship Id="rId4" Type="http://schemas.openxmlformats.org/officeDocument/2006/relationships/image" Target="../media/image420.png"/><Relationship Id="rId9" Type="http://schemas.openxmlformats.org/officeDocument/2006/relationships/image" Target="../media/image47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13" Type="http://schemas.openxmlformats.org/officeDocument/2006/relationships/image" Target="../media/image590.png"/><Relationship Id="rId3" Type="http://schemas.openxmlformats.org/officeDocument/2006/relationships/image" Target="../media/image480.png"/><Relationship Id="rId7" Type="http://schemas.openxmlformats.org/officeDocument/2006/relationships/image" Target="../media/image530.png"/><Relationship Id="rId12" Type="http://schemas.openxmlformats.org/officeDocument/2006/relationships/image" Target="../media/image580.png"/><Relationship Id="rId17" Type="http://schemas.openxmlformats.org/officeDocument/2006/relationships/image" Target="../media/image630.png"/><Relationship Id="rId2" Type="http://schemas.openxmlformats.org/officeDocument/2006/relationships/image" Target="../media/image470.png"/><Relationship Id="rId16" Type="http://schemas.openxmlformats.org/officeDocument/2006/relationships/image" Target="../media/image6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0.png"/><Relationship Id="rId11" Type="http://schemas.openxmlformats.org/officeDocument/2006/relationships/image" Target="../media/image570.png"/><Relationship Id="rId5" Type="http://schemas.openxmlformats.org/officeDocument/2006/relationships/image" Target="../media/image510.png"/><Relationship Id="rId15" Type="http://schemas.openxmlformats.org/officeDocument/2006/relationships/image" Target="../media/image610.png"/><Relationship Id="rId10" Type="http://schemas.openxmlformats.org/officeDocument/2006/relationships/image" Target="../media/image560.png"/><Relationship Id="rId4" Type="http://schemas.openxmlformats.org/officeDocument/2006/relationships/image" Target="../media/image490.png"/><Relationship Id="rId9" Type="http://schemas.openxmlformats.org/officeDocument/2006/relationships/image" Target="../media/image550.png"/><Relationship Id="rId14" Type="http://schemas.openxmlformats.org/officeDocument/2006/relationships/image" Target="../media/image600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easier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solve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05480-B392-6E46-7861-EE4AEBFC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Reminder</a:t>
            </a:r>
            <a:r>
              <a:rPr lang="de-DE" dirty="0"/>
              <a:t>: Fourier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sz="3800" dirty="0">
                    <a:sym typeface="Wingdings" pitchFamily="2" charset="2"/>
                  </a:rPr>
                  <a:t>Transformation from time to frequency domain:</a:t>
                </a:r>
                <a:endParaRPr lang="de-DE" sz="3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38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begChr m:val="{"/>
                        <m:endChr m:val="}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3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3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l-GR" sz="3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GB" sz="3800" dirty="0"/>
              </a:p>
              <a:p>
                <a:pPr marL="0" indent="0">
                  <a:buNone/>
                </a:pPr>
                <a:endParaRPr lang="en-GB" sz="3800" dirty="0"/>
              </a:p>
              <a:p>
                <a:pPr marL="0" indent="0">
                  <a:buNone/>
                </a:pPr>
                <a:r>
                  <a:rPr lang="en-GB" sz="3800" dirty="0"/>
                  <a:t>Tells which frequencies </a:t>
                </a:r>
                <a14:m>
                  <m:oMath xmlns:m="http://schemas.openxmlformats.org/officeDocument/2006/math">
                    <m:r>
                      <a:rPr lang="el-GR" sz="38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3800" dirty="0"/>
                  <a:t> are present in a signal or system</a:t>
                </a:r>
              </a:p>
              <a:p>
                <a:pPr marL="0" indent="0">
                  <a:buNone/>
                </a:pPr>
                <a:r>
                  <a:rPr lang="en-GB" sz="3800" dirty="0"/>
                  <a:t>To be exact, tabulation of both magnitude and phase response at each frequency </a:t>
                </a:r>
                <a:r>
                  <a:rPr lang="en-GB" sz="3800" dirty="0">
                    <a:sym typeface="Wingdings" pitchFamily="2" charset="2"/>
                  </a:rPr>
                  <a:t> complex numbers</a:t>
                </a:r>
                <a:r>
                  <a:rPr lang="en-GB" sz="3800" dirty="0"/>
                  <a:t>:</a:t>
                </a:r>
              </a:p>
              <a:p>
                <a:pPr marL="0" indent="0">
                  <a:buNone/>
                </a:pPr>
                <a:r>
                  <a:rPr lang="en-GB" sz="3800" dirty="0"/>
                  <a:t>	</a:t>
                </a:r>
                <a14:m>
                  <m:oMath xmlns:m="http://schemas.openxmlformats.org/officeDocument/2006/math">
                    <m:r>
                      <a:rPr lang="de-DE" sz="38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sz="3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sup>
                    </m:sSup>
                  </m:oMath>
                </a14:m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3800" dirty="0"/>
                  <a:t>: how much of that frequency in the signal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scales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GB" sz="3800" dirty="0"/>
                  <a:t>: time shift of that frequency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shifts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EBB75C-DADB-4E35-480C-549B10D1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89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302EC-437E-EA3F-ABBD-12AB0D05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Extend Fourier </a:t>
                </a:r>
                <a:r>
                  <a:rPr lang="de-DE" sz="2600" dirty="0" err="1"/>
                  <a:t>transform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include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about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growth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behavior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b="1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/>
                  <a:t>Add </a:t>
                </a:r>
                <a:r>
                  <a:rPr lang="de-DE" sz="2600" dirty="0" err="1"/>
                  <a:t>exponential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weighting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en-GB" sz="2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Combine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600" dirty="0"/>
                  <a:t> and growth/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rate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01655A-660F-62ED-E799-2180FEC7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6A86063-C604-2552-26AC-7D5E1B1F20B5}"/>
              </a:ext>
            </a:extLst>
          </p:cNvPr>
          <p:cNvSpPr txBox="1"/>
          <p:nvPr/>
        </p:nvSpPr>
        <p:spPr>
          <a:xfrm>
            <a:off x="1536569" y="4298618"/>
            <a:ext cx="1573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oscillation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849F4E-CFE9-EA0E-793A-52CA15F2FE16}"/>
              </a:ext>
            </a:extLst>
          </p:cNvPr>
          <p:cNvSpPr txBox="1"/>
          <p:nvPr/>
        </p:nvSpPr>
        <p:spPr>
          <a:xfrm>
            <a:off x="4522621" y="4298617"/>
            <a:ext cx="1974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growth</a:t>
            </a:r>
            <a:r>
              <a:rPr lang="de-DE" sz="2400" dirty="0"/>
              <a:t>/</a:t>
            </a:r>
            <a:r>
              <a:rPr lang="de-DE" sz="2400" dirty="0" err="1"/>
              <a:t>decay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C2B73FD-6829-4343-13EB-E71DAD9B5E61}"/>
              </a:ext>
            </a:extLst>
          </p:cNvPr>
          <p:cNvCxnSpPr>
            <a:stCxn id="5" idx="0"/>
          </p:cNvCxnSpPr>
          <p:nvPr/>
        </p:nvCxnSpPr>
        <p:spPr>
          <a:xfrm flipV="1">
            <a:off x="2323259" y="3827279"/>
            <a:ext cx="786689" cy="47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CB353A8-BE7B-96D4-79C6-8E3AE4963CCA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4522621" y="3827279"/>
            <a:ext cx="987258" cy="47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8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Integral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time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{"/>
                          <m:endChr m:val="}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Back transformation: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𝑑𝑠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 b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0450E5-8DCA-BD71-E31C-372FF191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Using</a:t>
                </a:r>
                <a:r>
                  <a:rPr lang="de-DE" dirty="0"/>
                  <a:t> partial </a:t>
                </a:r>
                <a:r>
                  <a:rPr lang="de-DE" dirty="0" err="1"/>
                  <a:t>integration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nary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𝑑𝑢</m:t>
                        </m:r>
                      </m:e>
                    </m:nary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</m:oMath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0465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60D098-3B05-CE80-361C-BB91980F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5" name="Geschweifte Klammer links 4">
            <a:extLst>
              <a:ext uri="{FF2B5EF4-FFF2-40B4-BE49-F238E27FC236}">
                <a16:creationId xmlns:a16="http://schemas.microsoft.com/office/drawing/2014/main" id="{5E84072F-465C-91FB-52E3-B86B0FDE7C4E}"/>
              </a:ext>
            </a:extLst>
          </p:cNvPr>
          <p:cNvSpPr/>
          <p:nvPr/>
        </p:nvSpPr>
        <p:spPr>
          <a:xfrm rot="16200000">
            <a:off x="5117233" y="5400340"/>
            <a:ext cx="275208" cy="14574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/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blipFill>
                <a:blip r:embed="rId3"/>
                <a:stretch>
                  <a:fillRect l="-5882" r="-11765" b="-43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7160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513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0207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01955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4151" r="-101087" b="-6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4151" r="-1087" b="-6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167308" r="-101087" b="-5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167308" r="-1087" b="-5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48387" r="-101087" b="-7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48387" r="-1087" b="-7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548387" r="-101087" b="-6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548387" r="-1087" b="-6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379245" r="-101087" b="-2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379245" r="-1087" b="-2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69163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79245" r="-101087" b="-1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79245" r="-1087" b="-1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18554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39583" r="-101087" b="-1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39583" r="-1087" b="-10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18427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724490" r="-101087" b="-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724490" r="-1087" b="-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/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blipFill>
                <a:blip r:embed="rId3"/>
                <a:stretch>
                  <a:fillRect l="-11230" t="-186207" b="-27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9BC42-E68C-0322-0807-0A212884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Linearity: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Convolution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Derivative: 	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Integration: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Frequency</a:t>
                </a:r>
                <a:r>
                  <a:rPr lang="de-DE" sz="2400" dirty="0"/>
                  <a:t> Shifting: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Shifting: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</a:t>
                </a:r>
                <a:r>
                  <a:rPr lang="de-DE" sz="2400" dirty="0" err="1"/>
                  <a:t>Scaling</a:t>
                </a:r>
                <a:r>
                  <a:rPr lang="de-DE" sz="2400" dirty="0"/>
                  <a:t>:	</a:t>
                </a: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52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939DB5-CD67-A9DD-27AD-5E3141FE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970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51533-F42B-419C-A4CD-31DD8AECE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 err="1"/>
              <a:t>From</a:t>
            </a:r>
            <a:r>
              <a:rPr lang="de-DE" sz="4300" dirty="0"/>
              <a:t> Differential </a:t>
            </a:r>
            <a:r>
              <a:rPr lang="de-DE" sz="4300" dirty="0" err="1"/>
              <a:t>Equation</a:t>
            </a:r>
            <a:r>
              <a:rPr lang="de-DE" sz="4300" dirty="0"/>
              <a:t> </a:t>
            </a:r>
            <a:r>
              <a:rPr lang="de-DE" sz="4300" dirty="0" err="1"/>
              <a:t>to</a:t>
            </a:r>
            <a:r>
              <a:rPr lang="de-DE" sz="4300" dirty="0"/>
              <a:t> Transfer </a:t>
            </a:r>
            <a:r>
              <a:rPr lang="de-DE" sz="4300" dirty="0" err="1"/>
              <a:t>Function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Example: PT2 </a:t>
                </a:r>
                <a:r>
                  <a:rPr lang="de-DE" dirty="0" err="1"/>
                  <a:t>system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sz="1800" dirty="0"/>
                  <a:t>(assuming zero initial conditions)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206" t="-20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9F6243-702E-1E02-C457-E736D622D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/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blipFill>
                <a:blip r:embed="rId3"/>
                <a:stretch>
                  <a:fillRect r="-1538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913E791-7613-C30A-347C-02884F72661E}"/>
              </a:ext>
            </a:extLst>
          </p:cNvPr>
          <p:cNvCxnSpPr>
            <a:cxnSpLocks/>
          </p:cNvCxnSpPr>
          <p:nvPr/>
        </p:nvCxnSpPr>
        <p:spPr>
          <a:xfrm>
            <a:off x="2509015" y="31429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14FA5D6-DF76-B2BC-4B06-780B8B784E5C}"/>
              </a:ext>
            </a:extLst>
          </p:cNvPr>
          <p:cNvCxnSpPr/>
          <p:nvPr/>
        </p:nvCxnSpPr>
        <p:spPr>
          <a:xfrm>
            <a:off x="9213807" y="3150812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/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𝐾𝑢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/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blipFill>
                <a:blip r:embed="rId5"/>
                <a:stretch>
                  <a:fillRect r="-1515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/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blipFill>
                <a:blip r:embed="rId6"/>
                <a:stretch>
                  <a:fillRect r="-1471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FCA4F09-2041-F6FA-DD21-E4AA47005528}"/>
              </a:ext>
            </a:extLst>
          </p:cNvPr>
          <p:cNvCxnSpPr>
            <a:cxnSpLocks/>
          </p:cNvCxnSpPr>
          <p:nvPr/>
        </p:nvCxnSpPr>
        <p:spPr>
          <a:xfrm>
            <a:off x="2527920" y="46913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5DCF5B-69FD-7B0B-DFF5-20A1025CEA65}"/>
              </a:ext>
            </a:extLst>
          </p:cNvPr>
          <p:cNvCxnSpPr/>
          <p:nvPr/>
        </p:nvCxnSpPr>
        <p:spPr>
          <a:xfrm>
            <a:off x="9217889" y="4699416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/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blipFill>
                <a:blip r:embed="rId7"/>
                <a:stretch>
                  <a:fillRect r="-664" b="-1578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/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blipFill>
                <a:blip r:embed="rId8"/>
                <a:stretch>
                  <a:fillRect r="-1429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EC354DA-6C50-D707-37BB-3DCE70F5E26C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943927" y="3323507"/>
            <a:ext cx="64885" cy="957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3D5D5395-4FAB-E768-6666-0B2153BC6D53}"/>
              </a:ext>
            </a:extLst>
          </p:cNvPr>
          <p:cNvSpPr/>
          <p:nvPr/>
        </p:nvSpPr>
        <p:spPr>
          <a:xfrm rot="5400000">
            <a:off x="3880806" y="3974049"/>
            <a:ext cx="256012" cy="8702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9393827-5039-EC2A-994B-DE0EFC26520C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548138" y="3335279"/>
            <a:ext cx="347821" cy="945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D4E5C9C-DF8C-E2A8-368B-46C4DAE9E293}"/>
              </a:ext>
            </a:extLst>
          </p:cNvPr>
          <p:cNvSpPr/>
          <p:nvPr/>
        </p:nvSpPr>
        <p:spPr>
          <a:xfrm rot="5400000">
            <a:off x="5767954" y="4061346"/>
            <a:ext cx="256011" cy="6956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119464F-EEAD-1565-F3AE-F42AF471BA38}"/>
              </a:ext>
            </a:extLst>
          </p:cNvPr>
          <p:cNvCxnSpPr>
            <a:cxnSpLocks/>
          </p:cNvCxnSpPr>
          <p:nvPr/>
        </p:nvCxnSpPr>
        <p:spPr>
          <a:xfrm>
            <a:off x="6854670" y="3317144"/>
            <a:ext cx="259869" cy="1228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F4165CB-1C5D-7E8A-56D4-52E984E2D6B1}"/>
              </a:ext>
            </a:extLst>
          </p:cNvPr>
          <p:cNvCxnSpPr>
            <a:cxnSpLocks/>
          </p:cNvCxnSpPr>
          <p:nvPr/>
        </p:nvCxnSpPr>
        <p:spPr>
          <a:xfrm>
            <a:off x="8428583" y="3335279"/>
            <a:ext cx="225937" cy="1210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763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Ratio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600" dirty="0"/>
                  <a:t> in Laplace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Fully </a:t>
                </a:r>
                <a:r>
                  <a:rPr lang="de-DE" sz="2600" dirty="0" err="1">
                    <a:sym typeface="Wingdings" pitchFamily="2" charset="2"/>
                  </a:rPr>
                  <a:t>d</a:t>
                </a:r>
                <a:r>
                  <a:rPr lang="de-DE" sz="2600" dirty="0" err="1"/>
                  <a:t>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–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In time </a:t>
                </a:r>
                <a:r>
                  <a:rPr lang="de-DE" sz="2600" dirty="0" err="1"/>
                  <a:t>domain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this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convolution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impulse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b="1" dirty="0" err="1"/>
                  <a:t>assuming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zero</a:t>
                </a:r>
                <a:r>
                  <a:rPr lang="de-DE" sz="2600" b="1" dirty="0"/>
                  <a:t> initial </a:t>
                </a:r>
                <a:r>
                  <a:rPr lang="de-DE" sz="2600" b="1" dirty="0" err="1"/>
                  <a:t>conditions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42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A717C-56F5-869C-9F4F-CFC5A09ED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PT1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163DCA-9B91-9E99-FD6C-FFD953846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B0BAB35-2806-3FDB-8F36-D520F89DF365}"/>
              </a:ext>
            </a:extLst>
          </p:cNvPr>
          <p:cNvSpPr txBox="1"/>
          <p:nvPr/>
        </p:nvSpPr>
        <p:spPr>
          <a:xfrm>
            <a:off x="5950525" y="5518787"/>
            <a:ext cx="31218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independent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685B94A-EE34-03D7-2D4F-F31D1DFD6F85}"/>
              </a:ext>
            </a:extLst>
          </p:cNvPr>
          <p:cNvCxnSpPr>
            <a:cxnSpLocks/>
          </p:cNvCxnSpPr>
          <p:nvPr/>
        </p:nvCxnSpPr>
        <p:spPr>
          <a:xfrm flipH="1">
            <a:off x="5052291" y="5726544"/>
            <a:ext cx="8774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974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EBE27-2089-8658-8E1C-BE5BB40B6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2400" dirty="0" err="1"/>
                  <a:t>where</a:t>
                </a:r>
                <a:r>
                  <a:rPr lang="de-DE" sz="2400" dirty="0"/>
                  <a:t>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  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 algn="ctr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num>
                              <m:den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4419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0A9BED-36D9-F6D5-0FB2-03A0B3657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/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Transformation </a:t>
                </a:r>
                <a:r>
                  <a:rPr lang="de-DE" dirty="0" err="1"/>
                  <a:t>table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↦1−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blipFill>
                <a:blip r:embed="rId3"/>
                <a:stretch>
                  <a:fillRect l="-2186" t="-2151" r="-10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/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blipFill>
                <a:blip r:embed="rId4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74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991F3DA-F3CC-74FD-02C3-50B802FF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Response </a:t>
            </a:r>
            <a:r>
              <a:rPr lang="de-DE" dirty="0" err="1"/>
              <a:t>with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642B1-11C5-4647-A145-4CED7244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EF41D7CB-C624-51DE-5592-461ECED117E3}"/>
              </a:ext>
            </a:extLst>
          </p:cNvPr>
          <p:cNvGrpSpPr/>
          <p:nvPr/>
        </p:nvGrpSpPr>
        <p:grpSpPr>
          <a:xfrm>
            <a:off x="2520988" y="2136261"/>
            <a:ext cx="4951767" cy="3774516"/>
            <a:chOff x="2551546" y="2435360"/>
            <a:chExt cx="4951767" cy="37745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/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Differential </a:t>
                  </a:r>
                  <a:r>
                    <a:rPr lang="de-DE" sz="2000" dirty="0" err="1"/>
                    <a:t>equation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(</a:t>
                  </a:r>
                  <a:r>
                    <a:rPr lang="de-DE" sz="2000" dirty="0" err="1"/>
                    <a:t>with</a:t>
                  </a:r>
                  <a:r>
                    <a:rPr lang="de-DE" sz="2000" dirty="0"/>
                    <a:t> </a:t>
                  </a:r>
                  <a14:m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de-DE" sz="2000" b="0" i="0" dirty="0" smtClean="0"/>
                        <m:t>)</m:t>
                      </m:r>
                    </m:oMath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/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Abgerundetes Rechteck 7">
              <a:extLst>
                <a:ext uri="{FF2B5EF4-FFF2-40B4-BE49-F238E27FC236}">
                  <a16:creationId xmlns:a16="http://schemas.microsoft.com/office/drawing/2014/main" id="{3407EC1A-17C8-7B8B-9BBE-08EF60B28A4E}"/>
                </a:ext>
              </a:extLst>
            </p:cNvPr>
            <p:cNvSpPr/>
            <p:nvPr/>
          </p:nvSpPr>
          <p:spPr>
            <a:xfrm>
              <a:off x="2551546" y="4953731"/>
              <a:ext cx="1634836" cy="125614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 err="1"/>
                <a:t>Algebraic</a:t>
              </a:r>
              <a:r>
                <a:rPr lang="de-DE" sz="2000" dirty="0"/>
                <a:t> </a:t>
              </a:r>
              <a:r>
                <a:rPr lang="de-DE" sz="2000" dirty="0" err="1"/>
                <a:t>equation</a:t>
              </a:r>
              <a:endParaRPr lang="de-DE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/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  <a:endParaRPr lang="de-DE" sz="13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)∙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1300" dirty="0"/>
                </a:p>
              </p:txBody>
            </p:sp>
          </mc:Choice>
          <mc:Fallback xmlns="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/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29167" r="-25000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/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13208" t="-2941" r="-3774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Pfeil nach unten 12">
              <a:extLst>
                <a:ext uri="{FF2B5EF4-FFF2-40B4-BE49-F238E27FC236}">
                  <a16:creationId xmlns:a16="http://schemas.microsoft.com/office/drawing/2014/main" id="{C4E8C679-6F33-E58A-FEB1-A159C0C7BC4F}"/>
                </a:ext>
              </a:extLst>
            </p:cNvPr>
            <p:cNvSpPr/>
            <p:nvPr/>
          </p:nvSpPr>
          <p:spPr>
            <a:xfrm>
              <a:off x="3071091" y="3928676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4" name="Pfeil nach unten 13">
              <a:extLst>
                <a:ext uri="{FF2B5EF4-FFF2-40B4-BE49-F238E27FC236}">
                  <a16:creationId xmlns:a16="http://schemas.microsoft.com/office/drawing/2014/main" id="{8CFD042A-E7A7-B998-A994-E185236A30FF}"/>
                </a:ext>
              </a:extLst>
            </p:cNvPr>
            <p:cNvSpPr/>
            <p:nvPr/>
          </p:nvSpPr>
          <p:spPr>
            <a:xfrm rot="16200000">
              <a:off x="4613603" y="5175402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Pfeil nach unten 14">
              <a:extLst>
                <a:ext uri="{FF2B5EF4-FFF2-40B4-BE49-F238E27FC236}">
                  <a16:creationId xmlns:a16="http://schemas.microsoft.com/office/drawing/2014/main" id="{6735BAF9-E180-5535-F394-C0ED2EB85AEB}"/>
                </a:ext>
              </a:extLst>
            </p:cNvPr>
            <p:cNvSpPr/>
            <p:nvPr/>
          </p:nvSpPr>
          <p:spPr>
            <a:xfrm rot="10800000">
              <a:off x="6156114" y="3916218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DCA6251-648F-272C-D284-5854FDFF9B09}"/>
              </a:ext>
            </a:extLst>
          </p:cNvPr>
          <p:cNvSpPr txBox="1"/>
          <p:nvPr/>
        </p:nvSpPr>
        <p:spPr>
          <a:xfrm>
            <a:off x="8968685" y="3820533"/>
            <a:ext cx="258006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most</a:t>
            </a:r>
            <a:r>
              <a:rPr lang="de-DE" sz="2200" dirty="0"/>
              <a:t> </a:t>
            </a:r>
            <a:r>
              <a:rPr lang="de-DE" sz="2200" dirty="0" err="1"/>
              <a:t>elaborate</a:t>
            </a:r>
            <a:r>
              <a:rPr lang="de-DE" sz="2200" dirty="0"/>
              <a:t> </a:t>
            </a:r>
            <a:r>
              <a:rPr lang="de-DE" sz="2200" dirty="0" err="1"/>
              <a:t>part</a:t>
            </a:r>
            <a:endParaRPr lang="de-DE" sz="2200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53CAC93A-0896-9F37-36E4-DF895F5CCD44}"/>
              </a:ext>
            </a:extLst>
          </p:cNvPr>
          <p:cNvCxnSpPr>
            <a:stCxn id="17" idx="1"/>
            <a:endCxn id="12" idx="3"/>
          </p:cNvCxnSpPr>
          <p:nvPr/>
        </p:nvCxnSpPr>
        <p:spPr>
          <a:xfrm flipH="1" flipV="1">
            <a:off x="7472755" y="3985967"/>
            <a:ext cx="1495930" cy="50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743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9FF17A-ACAD-0C7F-FA2D-2E1F656A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in Polynomial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18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sSup>
                            <m:s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sSub>
                            <m:sSubPr>
                              <m:ctrlP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…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∏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nary>
                          <m:naryPr>
                            <m:chr m:val="∏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den>
                    </m:f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95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01D8AB-1A6B-3BA3-1ABE-B24A0DAC5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/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sz="2400" dirty="0"/>
                  <a:t> zeros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blipFill>
                <a:blip r:embed="rId3"/>
                <a:stretch>
                  <a:fillRect l="-2424" t="-7895" b="-289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/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denominator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400" dirty="0"/>
                  <a:t> poles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blipFill>
                <a:blip r:embed="rId4"/>
                <a:stretch>
                  <a:fillRect l="-2279" t="-7500" b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9808AD5-7B95-DF7C-8A21-F1067736C967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4465558" y="5335480"/>
            <a:ext cx="848464" cy="126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E7EC522-CE07-C335-C674-FF6647DCCC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4465558" y="5705681"/>
            <a:ext cx="848464" cy="325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A24B6BD-9064-2C10-584D-40EE55520987}"/>
              </a:ext>
            </a:extLst>
          </p:cNvPr>
          <p:cNvSpPr txBox="1"/>
          <p:nvPr/>
        </p:nvSpPr>
        <p:spPr>
          <a:xfrm>
            <a:off x="8308285" y="1954045"/>
            <a:ext cx="33280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Input </a:t>
            </a:r>
            <a:r>
              <a:rPr lang="de-DE" dirty="0" err="1"/>
              <a:t>coupling</a:t>
            </a:r>
            <a:r>
              <a:rPr lang="de-DE" dirty="0"/>
              <a:t>:</a:t>
            </a:r>
          </a:p>
          <a:p>
            <a:r>
              <a:rPr lang="de-DE" dirty="0" err="1"/>
              <a:t>describes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enters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(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contain</a:t>
            </a:r>
            <a:r>
              <a:rPr lang="de-DE" dirty="0"/>
              <a:t> time derivatives)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FA35AC8-6DFE-7D78-25F3-032E358E4CDE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6684885" y="2554210"/>
            <a:ext cx="1623400" cy="459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0007549E-73E3-87CB-1FFB-C3A6797BD7AC}"/>
              </a:ext>
            </a:extLst>
          </p:cNvPr>
          <p:cNvSpPr txBox="1"/>
          <p:nvPr/>
        </p:nvSpPr>
        <p:spPr>
          <a:xfrm>
            <a:off x="8313118" y="4211011"/>
            <a:ext cx="33280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Intrinsic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</a:t>
            </a:r>
          </a:p>
          <a:p>
            <a:r>
              <a:rPr lang="de-DE" dirty="0" err="1">
                <a:ea typeface="Cambria Math" panose="02040503050406030204" pitchFamily="18" charset="0"/>
              </a:rPr>
              <a:t>characteristic</a:t>
            </a:r>
            <a:r>
              <a:rPr lang="de-DE" dirty="0">
                <a:ea typeface="Cambria Math" panose="02040503050406030204" pitchFamily="18" charset="0"/>
              </a:rPr>
              <a:t> polynomial </a:t>
            </a:r>
            <a:r>
              <a:rPr lang="de-DE" dirty="0" err="1">
                <a:ea typeface="Cambria Math" panose="02040503050406030204" pitchFamily="18" charset="0"/>
              </a:rPr>
              <a:t>of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the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system</a:t>
            </a:r>
            <a:endParaRPr lang="de-DE" dirty="0">
              <a:ea typeface="Cambria Math" panose="02040503050406030204" pitchFamily="18" charset="0"/>
            </a:endParaRP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70D907F-98BE-B745-4EF4-F0622F63A468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6684885" y="4031624"/>
            <a:ext cx="1628233" cy="641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/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blipFill>
                <a:blip r:embed="rId5"/>
                <a:stretch>
                  <a:fillRect l="-8065" t="-2174" b="-65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89A852-5C2C-AFAE-3C9A-7227CE29D482}"/>
              </a:ext>
            </a:extLst>
          </p:cNvPr>
          <p:cNvCxnSpPr/>
          <p:nvPr/>
        </p:nvCxnSpPr>
        <p:spPr>
          <a:xfrm flipV="1">
            <a:off x="2532356" y="5809605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feil nach unten 25">
            <a:extLst>
              <a:ext uri="{FF2B5EF4-FFF2-40B4-BE49-F238E27FC236}">
                <a16:creationId xmlns:a16="http://schemas.microsoft.com/office/drawing/2014/main" id="{07119AE8-4867-2072-86D0-2F22E8B120B3}"/>
              </a:ext>
            </a:extLst>
          </p:cNvPr>
          <p:cNvSpPr/>
          <p:nvPr/>
        </p:nvSpPr>
        <p:spPr>
          <a:xfrm>
            <a:off x="3205267" y="4253193"/>
            <a:ext cx="320040" cy="53080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383E774-549A-E483-8278-4F4E3B0384CE}"/>
              </a:ext>
            </a:extLst>
          </p:cNvPr>
          <p:cNvSpPr txBox="1"/>
          <p:nvPr/>
        </p:nvSpPr>
        <p:spPr>
          <a:xfrm>
            <a:off x="838200" y="4137669"/>
            <a:ext cx="2404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fundamental </a:t>
            </a:r>
            <a:r>
              <a:rPr lang="de-DE" dirty="0" err="1"/>
              <a:t>theorem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/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blipFill>
                <a:blip r:embed="rId6"/>
                <a:stretch>
                  <a:fillRect l="-6667" t="-2174" r="-3333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DAA396B-1C04-92B8-3C0F-1507F5A0BB25}"/>
              </a:ext>
            </a:extLst>
          </p:cNvPr>
          <p:cNvCxnSpPr/>
          <p:nvPr/>
        </p:nvCxnSpPr>
        <p:spPr>
          <a:xfrm flipV="1">
            <a:off x="5277446" y="3911320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/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/>
                  <a:t>Causality</a:t>
                </a:r>
                <a:r>
                  <a:rPr lang="de-DE" dirty="0"/>
                  <a:t>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cannot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derivative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blipFill>
                <a:blip r:embed="rId7"/>
                <a:stretch>
                  <a:fillRect l="-713" t="-6667" r="-535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47039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94C2F39-66B5-B156-C7D8-FFEC2670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Interpretation </a:t>
            </a:r>
            <a:r>
              <a:rPr lang="de-DE" dirty="0" err="1"/>
              <a:t>of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FDD05-DD21-A524-7C62-511A9043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7BC7395-9AD6-548C-CA25-8438970BA01D}"/>
              </a:ext>
            </a:extLst>
          </p:cNvPr>
          <p:cNvSpPr txBox="1"/>
          <p:nvPr/>
        </p:nvSpPr>
        <p:spPr>
          <a:xfrm>
            <a:off x="7772400" y="2905780"/>
            <a:ext cx="32447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Contains</a:t>
            </a:r>
            <a:r>
              <a:rPr lang="de-DE" sz="2800" dirty="0"/>
              <a:t> (</a:t>
            </a:r>
            <a:r>
              <a:rPr lang="de-DE" sz="2800" dirty="0" err="1"/>
              <a:t>complex</a:t>
            </a:r>
            <a:r>
              <a:rPr lang="de-DE" sz="2800" dirty="0"/>
              <a:t>) </a:t>
            </a:r>
            <a:r>
              <a:rPr lang="de-DE" sz="2800" dirty="0" err="1"/>
              <a:t>poles</a:t>
            </a:r>
            <a:r>
              <a:rPr lang="de-DE" sz="2800" dirty="0"/>
              <a:t> and </a:t>
            </a:r>
            <a:r>
              <a:rPr lang="de-DE" sz="2800" dirty="0" err="1"/>
              <a:t>zeros</a:t>
            </a:r>
            <a:endParaRPr lang="de-DE" sz="2800" dirty="0"/>
          </a:p>
        </p:txBody>
      </p:sp>
      <p:pic>
        <p:nvPicPr>
          <p:cNvPr id="11" name="Grafik 10" descr="Ein Bild, das Entwurf, Zeichnung, Origami, Diagramm enthält.&#10;&#10;KI-generierte Inhalte können fehlerhaft sein.">
            <a:extLst>
              <a:ext uri="{FF2B5EF4-FFF2-40B4-BE49-F238E27FC236}">
                <a16:creationId xmlns:a16="http://schemas.microsoft.com/office/drawing/2014/main" id="{3D23335F-E8F4-5BBE-5C33-FFBA307EF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" y="1867190"/>
            <a:ext cx="7772400" cy="4926802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2DAEBF4-5B96-EE5A-BA87-C11634B61553}"/>
              </a:ext>
            </a:extLst>
          </p:cNvPr>
          <p:cNvCxnSpPr>
            <a:cxnSpLocks/>
          </p:cNvCxnSpPr>
          <p:nvPr/>
        </p:nvCxnSpPr>
        <p:spPr>
          <a:xfrm flipH="1" flipV="1">
            <a:off x="4361688" y="2359152"/>
            <a:ext cx="3474720" cy="12185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F775822-432D-14E6-8B7A-C99F8178B959}"/>
              </a:ext>
            </a:extLst>
          </p:cNvPr>
          <p:cNvCxnSpPr>
            <a:cxnSpLocks/>
          </p:cNvCxnSpPr>
          <p:nvPr/>
        </p:nvCxnSpPr>
        <p:spPr>
          <a:xfrm flipH="1">
            <a:off x="4700016" y="3754203"/>
            <a:ext cx="4683681" cy="1805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E9F35980-4FB8-8C83-8890-0BE0F122F982}"/>
              </a:ext>
            </a:extLst>
          </p:cNvPr>
          <p:cNvSpPr txBox="1"/>
          <p:nvPr/>
        </p:nvSpPr>
        <p:spPr>
          <a:xfrm>
            <a:off x="2565647" y="1594273"/>
            <a:ext cx="1601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conjugate</a:t>
            </a:r>
            <a:r>
              <a:rPr lang="de-DE" dirty="0"/>
              <a:t> pair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A1A1B52-A664-2747-84E1-5B16A525A004}"/>
              </a:ext>
            </a:extLst>
          </p:cNvPr>
          <p:cNvCxnSpPr/>
          <p:nvPr/>
        </p:nvCxnSpPr>
        <p:spPr>
          <a:xfrm>
            <a:off x="3373515" y="1970843"/>
            <a:ext cx="834501" cy="284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8F829F5-2C4D-FD2F-F5C2-3F0092C14AC7}"/>
              </a:ext>
            </a:extLst>
          </p:cNvPr>
          <p:cNvCxnSpPr>
            <a:cxnSpLocks/>
          </p:cNvCxnSpPr>
          <p:nvPr/>
        </p:nvCxnSpPr>
        <p:spPr>
          <a:xfrm flipH="1">
            <a:off x="3204839" y="1963605"/>
            <a:ext cx="161636" cy="4688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231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F4967-3130-B3F1-64CE-102AB64E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Poles and 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poles</a:t>
                </a:r>
                <a:r>
                  <a:rPr lang="de-DE" sz="2600" dirty="0"/>
                  <a:t>/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always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appear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conjugate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pairs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coefficients</a:t>
                </a:r>
                <a:r>
                  <a:rPr lang="de-DE" sz="2600" dirty="0"/>
                  <a:t> in differential </a:t>
                </a:r>
                <a:r>
                  <a:rPr lang="de-DE" sz="2600" dirty="0" err="1"/>
                  <a:t>equations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Poles </a:t>
                </a:r>
                <a:r>
                  <a:rPr lang="de-DE" sz="2600" dirty="0" err="1"/>
                  <a:t>determine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system’s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,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</a:rPr>
                          <m:t>hom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nary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Zeros </a:t>
                </a: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forced</a:t>
                </a:r>
                <a:r>
                  <a:rPr lang="de-DE" sz="2600" dirty="0"/>
                  <a:t> (input-</a:t>
                </a:r>
                <a:r>
                  <a:rPr lang="de-DE" sz="2600" dirty="0" err="1"/>
                  <a:t>driven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9FD451-8B55-FF13-9926-81C399F00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/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blipFill>
                <a:blip r:embed="rId3"/>
                <a:stretch>
                  <a:fillRect b="-88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3F634B3A-D0D9-775A-F3DD-562AF0D54C5E}"/>
              </a:ext>
            </a:extLst>
          </p:cNvPr>
          <p:cNvSpPr txBox="1"/>
          <p:nvPr/>
        </p:nvSpPr>
        <p:spPr>
          <a:xfrm>
            <a:off x="8973705" y="5141798"/>
            <a:ext cx="24786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More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4281564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/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/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blipFill>
                <a:blip r:embed="rId3"/>
                <a:stretch>
                  <a:fillRect r="-3750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/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blipFill>
                <a:blip r:embed="rId4"/>
                <a:stretch>
                  <a:fillRect r="-3846" b="-1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5DDEB57-A4D8-0697-58DC-6AA68A82D2FE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034118" y="3429000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DBC24DB-981A-7369-A0B6-3DDFB5038549}"/>
              </a:ext>
            </a:extLst>
          </p:cNvPr>
          <p:cNvCxnSpPr>
            <a:cxnSpLocks/>
          </p:cNvCxnSpPr>
          <p:nvPr/>
        </p:nvCxnSpPr>
        <p:spPr>
          <a:xfrm>
            <a:off x="6265818" y="3458739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F5F19AC-2525-194E-CCAF-727E3C9C45D3}"/>
              </a:ext>
            </a:extLst>
          </p:cNvPr>
          <p:cNvSpPr txBox="1"/>
          <p:nvPr/>
        </p:nvSpPr>
        <p:spPr>
          <a:xfrm>
            <a:off x="3738538" y="5063490"/>
            <a:ext cx="38929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/>
              <a:t>Modular </a:t>
            </a:r>
            <a:r>
              <a:rPr lang="de-DE" sz="2800" dirty="0" err="1"/>
              <a:t>representation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4509E-E7E1-0210-2281-CCC9203C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Algebra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6C87ED-FF23-89FE-8CE1-3889D8FB3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6" name="Grafik 5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575BE577-3716-947E-23B2-F80FB1484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4966624" cy="2393896"/>
          </a:xfrm>
          <a:prstGeom prst="rect">
            <a:avLst/>
          </a:prstGeom>
        </p:spPr>
      </p:pic>
      <p:pic>
        <p:nvPicPr>
          <p:cNvPr id="8" name="Grafik 7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F0E4D41F-7CB3-580D-FDA7-6868FCF47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37894"/>
            <a:ext cx="6347012" cy="228358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A6DAF4C-271F-9B13-70E3-25562F5AE3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740" y="1689293"/>
            <a:ext cx="4339094" cy="274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68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34F634FB-12C6-E4A4-0192-D21C3C58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774033-957C-A897-7272-B390B212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pic>
        <p:nvPicPr>
          <p:cNvPr id="7" name="Grafik 6" descr="Ein Bild, das Diagramm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791EA583-7073-0F68-3004-F9F921AC6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03580"/>
            <a:ext cx="7772400" cy="458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346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82CCDB-22CC-281C-FF3B-8FCF564DD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847D79-D206-88A7-AE9A-827A142A9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pic>
        <p:nvPicPr>
          <p:cNvPr id="5" name="Grafik 4" descr="Ein Bild, das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C41CE227-16CA-55E5-6E3C-DA3C06B66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8829" y="1554163"/>
            <a:ext cx="4974342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613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508E0-7B7E-4B43-2546-AEE20621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714173-BB8F-B62F-E010-E837884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5" name="Grafik 4" descr="Ein Bild, das Diagramm, Reihe, Schrift, Rechteck enthält.&#10;&#10;KI-generierte Inhalte können fehlerhaft sein.">
            <a:extLst>
              <a:ext uri="{FF2B5EF4-FFF2-40B4-BE49-F238E27FC236}">
                <a16:creationId xmlns:a16="http://schemas.microsoft.com/office/drawing/2014/main" id="{BED82633-90FE-570B-EC32-F2379AF5F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5733" y="1546247"/>
            <a:ext cx="5260534" cy="5175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9256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DEC18C-E4CF-465B-E3BA-BAAD31B5A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/>
              <a:t>Amplitude and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8D483-42E5-4829-8E46-019410D93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Magnitude (dB)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/>
              <a:t>Phase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 err="1"/>
              <a:t>Logarithmic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typical</a:t>
            </a:r>
            <a:r>
              <a:rPr lang="de-DE" dirty="0"/>
              <a:t> Bode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B837AA-56DB-9D8D-884A-E061F1DB8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range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tracking</a:t>
            </a:r>
            <a:endParaRPr lang="de-DE" dirty="0"/>
          </a:p>
          <a:p>
            <a:r>
              <a:rPr lang="de-DE" dirty="0" err="1"/>
              <a:t>Indicates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/>
              <a:t>Higher </a:t>
            </a:r>
            <a:r>
              <a:rPr lang="de-DE" dirty="0" err="1"/>
              <a:t>bandwidth</a:t>
            </a:r>
            <a:r>
              <a:rPr lang="de-DE" dirty="0"/>
              <a:t> →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09711-0622-A5D8-C13E-4F5F68D3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Individual Elements </a:t>
            </a:r>
            <a:r>
              <a:rPr lang="de-DE" dirty="0" err="1"/>
              <a:t>of</a:t>
            </a:r>
            <a:r>
              <a:rPr lang="de-DE" dirty="0"/>
              <a:t> Control Loops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Polynomial form </a:t>
                </a:r>
                <a:r>
                  <a:rPr lang="de-DE" dirty="0" err="1"/>
                  <a:t>of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 /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Transfer </a:t>
                </a:r>
                <a:r>
                  <a:rPr lang="de-DE" dirty="0" err="1"/>
                  <a:t>functions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individual </a:t>
                </a:r>
                <a:r>
                  <a:rPr lang="de-DE" dirty="0" err="1"/>
                  <a:t>elements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setting</a:t>
                </a:r>
                <a:r>
                  <a:rPr lang="de-DE" dirty="0"/>
                  <a:t> a </a:t>
                </a:r>
                <a:r>
                  <a:rPr lang="de-DE" dirty="0" err="1"/>
                  <a:t>portion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16603C-CE9D-72CA-4D8E-D085DFD24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5363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A7D601-B01E-1FDE-3453-6A59EE28C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Element (P)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3708CE-7EE5-9BDA-5745-B70ECD02F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/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(just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blipFill>
                <a:blip r:embed="rId3"/>
                <a:stretch>
                  <a:fillRect l="-2198" r="-219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F4C7096-AB42-5118-B62A-789E041A55D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3790203" y="2752078"/>
            <a:ext cx="1669564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C91B448-2DB0-FA10-80CA-E48FB00AAEB3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2379216" y="2752078"/>
            <a:ext cx="1410987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Grafik 10">
            <a:extLst>
              <a:ext uri="{FF2B5EF4-FFF2-40B4-BE49-F238E27FC236}">
                <a16:creationId xmlns:a16="http://schemas.microsoft.com/office/drawing/2014/main" id="{854F6D8F-33C3-5206-9F04-358D921F4C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3" name="Grafik 12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6C669FE3-5E86-A73C-897E-C9398D3060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5" y="2416083"/>
            <a:ext cx="4038235" cy="303100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22D488D-91D5-5209-F881-975C9ED64DA7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59429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16328638-17B9-E945-7F5C-9DBA82BE5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4" y="2416082"/>
            <a:ext cx="4038235" cy="303100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2FC60166-DC1D-0D47-BD41-5302A569B6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8500" y="5175173"/>
            <a:ext cx="2857500" cy="154630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6D9FC5E-8347-871E-635A-5BB1F895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Element (I)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E2D02E-9009-08F2-F315-5C05EE0E6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/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skw"/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integrator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integral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blipFill>
                <a:blip r:embed="rId6"/>
                <a:stretch>
                  <a:fillRect l="-1359" t="-51456" r="-543" b="-669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40568D5-0F39-482C-88A4-EFBCBE335A0B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4095567" y="2752078"/>
            <a:ext cx="1337567" cy="814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28CE99F-E88B-F3F5-7A36-6AB221F2BA97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2414726" y="2752078"/>
            <a:ext cx="1680841" cy="814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/>
              <p:nvPr/>
            </p:nvSpPr>
            <p:spPr>
              <a:xfrm>
                <a:off x="7847860" y="1476363"/>
                <a:ext cx="2147832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Pole at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860" y="1476363"/>
                <a:ext cx="2147832" cy="523220"/>
              </a:xfrm>
              <a:prstGeom prst="rect">
                <a:avLst/>
              </a:prstGeom>
              <a:blipFill>
                <a:blip r:embed="rId7"/>
                <a:stretch>
                  <a:fillRect l="-5848" t="-11628" r="-585" b="-302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C2E99EA-1642-8B6E-5FED-01B4A3DBED2F}"/>
              </a:ext>
            </a:extLst>
          </p:cNvPr>
          <p:cNvCxnSpPr>
            <a:stCxn id="17" idx="1"/>
          </p:cNvCxnSpPr>
          <p:nvPr/>
        </p:nvCxnSpPr>
        <p:spPr>
          <a:xfrm flipH="1">
            <a:off x="6285390" y="1737973"/>
            <a:ext cx="1562470" cy="6781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87FC023-0044-8B7D-3A8F-82E003ADC60D}"/>
                  </a:ext>
                </a:extLst>
              </p:cNvPr>
              <p:cNvSpPr txBox="1"/>
              <p:nvPr/>
            </p:nvSpPr>
            <p:spPr>
              <a:xfrm>
                <a:off x="603166" y="3159459"/>
                <a:ext cx="1953148" cy="6976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de-DE" sz="1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1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de-DE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1500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87FC023-0044-8B7D-3A8F-82E003ADC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166" y="3159459"/>
                <a:ext cx="1953148" cy="697692"/>
              </a:xfrm>
              <a:prstGeom prst="rect">
                <a:avLst/>
              </a:prstGeom>
              <a:blipFill>
                <a:blip r:embed="rId8"/>
                <a:stretch>
                  <a:fillRect t="-125000" b="-1767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0D1E5A5E-783D-C5EA-85A6-6BC1CB3A3258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4296444-23CE-BD88-9186-A681BF32069D}"/>
                  </a:ext>
                </a:extLst>
              </p:cNvPr>
              <p:cNvSpPr txBox="1"/>
              <p:nvPr/>
            </p:nvSpPr>
            <p:spPr>
              <a:xfrm>
                <a:off x="1218747" y="6176963"/>
                <a:ext cx="1337567" cy="6976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1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de-DE" sz="15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const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de-DE" sz="1500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4296444-23CE-BD88-9186-A681BF320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747" y="6176963"/>
                <a:ext cx="1337567" cy="697692"/>
              </a:xfrm>
              <a:prstGeom prst="rect">
                <a:avLst/>
              </a:prstGeom>
              <a:blipFill>
                <a:blip r:embed="rId9"/>
                <a:stretch>
                  <a:fillRect l="-54717" t="-126786" b="-1767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feld 15">
            <a:extLst>
              <a:ext uri="{FF2B5EF4-FFF2-40B4-BE49-F238E27FC236}">
                <a16:creationId xmlns:a16="http://schemas.microsoft.com/office/drawing/2014/main" id="{0EC4EAFB-7A20-A560-E1BD-3FA5083B7ADD}"/>
              </a:ext>
            </a:extLst>
          </p:cNvPr>
          <p:cNvSpPr txBox="1"/>
          <p:nvPr/>
        </p:nvSpPr>
        <p:spPr>
          <a:xfrm>
            <a:off x="6407125" y="5391216"/>
            <a:ext cx="16957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Energy </a:t>
            </a:r>
            <a:r>
              <a:rPr lang="de-DE" dirty="0" err="1"/>
              <a:t>storage</a:t>
            </a:r>
            <a:r>
              <a:rPr lang="de-DE" dirty="0"/>
              <a:t>,</a:t>
            </a:r>
          </a:p>
          <a:p>
            <a:r>
              <a:rPr lang="de-DE" dirty="0" err="1"/>
              <a:t>memory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78468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fik 18">
            <a:extLst>
              <a:ext uri="{FF2B5EF4-FFF2-40B4-BE49-F238E27FC236}">
                <a16:creationId xmlns:a16="http://schemas.microsoft.com/office/drawing/2014/main" id="{705C08B2-33D4-35A5-13DE-40A99287D0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86298" y="0"/>
            <a:ext cx="3505702" cy="263150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057D8-6049-86EE-2DCE-77010CBC7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Lag Element (PT1)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8B993E-96D1-B19B-2D6E-6E5FD2D586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   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8B993E-96D1-B19B-2D6E-6E5FD2D586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654ED9-4626-A5EA-38F9-7CDCF34A1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3F0EE5F-DF90-4C6C-F9C3-DAAA053D4A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FFF33EF-3C7A-A741-2E21-090B6A0E1C5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72653" y="2985721"/>
            <a:ext cx="4619347" cy="346744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9F7C28C-8D8A-CC2E-8A4A-C59017CD520A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6E80EAA-B6EA-33F6-3CA4-CA4B264D3B4E}"/>
                  </a:ext>
                </a:extLst>
              </p:cNvPr>
              <p:cNvSpPr txBox="1"/>
              <p:nvPr/>
            </p:nvSpPr>
            <p:spPr>
              <a:xfrm>
                <a:off x="905520" y="3631962"/>
                <a:ext cx="25916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6E80EAA-B6EA-33F6-3CA4-CA4B264D3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520" y="3631962"/>
                <a:ext cx="259161" cy="369332"/>
              </a:xfrm>
              <a:prstGeom prst="rect">
                <a:avLst/>
              </a:prstGeom>
              <a:blipFill>
                <a:blip r:embed="rId9"/>
                <a:stretch>
                  <a:fillRect l="-28571" r="-23810" b="-6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C1BA72E-8E02-C008-2941-A7951D369B4F}"/>
                  </a:ext>
                </a:extLst>
              </p:cNvPr>
              <p:cNvSpPr txBox="1"/>
              <p:nvPr/>
            </p:nvSpPr>
            <p:spPr>
              <a:xfrm>
                <a:off x="2022260" y="3631962"/>
                <a:ext cx="28661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C1BA72E-8E02-C008-2941-A7951D369B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260" y="3631962"/>
                <a:ext cx="286617" cy="369332"/>
              </a:xfrm>
              <a:prstGeom prst="rect">
                <a:avLst/>
              </a:prstGeom>
              <a:blipFill>
                <a:blip r:embed="rId10"/>
                <a:stretch>
                  <a:fillRect l="-26087" r="-21739" b="-6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AC96BBA-3B89-95C9-B22F-6886694E13E1}"/>
              </a:ext>
            </a:extLst>
          </p:cNvPr>
          <p:cNvCxnSpPr>
            <a:stCxn id="7" idx="0"/>
          </p:cNvCxnSpPr>
          <p:nvPr/>
        </p:nvCxnSpPr>
        <p:spPr>
          <a:xfrm flipH="1" flipV="1">
            <a:off x="1035100" y="2985721"/>
            <a:ext cx="1" cy="6462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5699AFD-3BB7-E7B8-BD23-5F2F0B9785CC}"/>
              </a:ext>
            </a:extLst>
          </p:cNvPr>
          <p:cNvCxnSpPr>
            <a:stCxn id="9" idx="0"/>
          </p:cNvCxnSpPr>
          <p:nvPr/>
        </p:nvCxnSpPr>
        <p:spPr>
          <a:xfrm flipV="1">
            <a:off x="2165569" y="2636668"/>
            <a:ext cx="1072931" cy="995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03AE0B1-7CE2-DD9A-C202-F31A66C0CFB4}"/>
                  </a:ext>
                </a:extLst>
              </p:cNvPr>
              <p:cNvSpPr txBox="1"/>
              <p:nvPr/>
            </p:nvSpPr>
            <p:spPr>
              <a:xfrm>
                <a:off x="3901538" y="3177854"/>
                <a:ext cx="3194592" cy="7689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03AE0B1-7CE2-DD9A-C202-F31A66C0C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538" y="3177854"/>
                <a:ext cx="3194592" cy="768993"/>
              </a:xfrm>
              <a:prstGeom prst="rect">
                <a:avLst/>
              </a:prstGeom>
              <a:blipFill>
                <a:blip r:embed="rId11"/>
                <a:stretch>
                  <a:fillRect l="-1575" r="-1575" b="-476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560ADF16-B774-9E9D-EDFD-26FCC3CFD7A4}"/>
                  </a:ext>
                </a:extLst>
              </p:cNvPr>
              <p:cNvSpPr txBox="1"/>
              <p:nvPr/>
            </p:nvSpPr>
            <p:spPr>
              <a:xfrm>
                <a:off x="4667250" y="4316018"/>
                <a:ext cx="2122569" cy="6138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Pole at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560ADF16-B774-9E9D-EDFD-26FCC3CFD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250" y="4316018"/>
                <a:ext cx="2122569" cy="613886"/>
              </a:xfrm>
              <a:prstGeom prst="rect">
                <a:avLst/>
              </a:prstGeom>
              <a:blipFill>
                <a:blip r:embed="rId12"/>
                <a:stretch>
                  <a:fillRect l="-4167" b="-12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5212E73-8EE7-2D20-9739-2AA4DE7C5B7E}"/>
              </a:ext>
            </a:extLst>
          </p:cNvPr>
          <p:cNvCxnSpPr>
            <a:stCxn id="15" idx="0"/>
          </p:cNvCxnSpPr>
          <p:nvPr/>
        </p:nvCxnSpPr>
        <p:spPr>
          <a:xfrm flipV="1">
            <a:off x="5728535" y="4001294"/>
            <a:ext cx="468079" cy="3147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97105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078A2BC-CF98-642E-2FCD-E2A47B006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PT1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77DF98-423B-CF3E-1060-0D7989A34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F416CDD3-826A-569B-AAE0-DD046CE520B8}"/>
              </a:ext>
            </a:extLst>
          </p:cNvPr>
          <p:cNvGrpSpPr/>
          <p:nvPr/>
        </p:nvGrpSpPr>
        <p:grpSpPr>
          <a:xfrm>
            <a:off x="2159921" y="1690688"/>
            <a:ext cx="7872158" cy="5030787"/>
            <a:chOff x="2532081" y="1705590"/>
            <a:chExt cx="7410909" cy="5015885"/>
          </a:xfrm>
        </p:grpSpPr>
        <p:pic>
          <p:nvPicPr>
            <p:cNvPr id="7" name="Grafik 6" descr="Ein Bild, das Diagramm, Reihe, Entwurf, technische Zeichnung enthält.&#10;&#10;KI-generierte Inhalte können fehlerhaft sein.">
              <a:extLst>
                <a:ext uri="{FF2B5EF4-FFF2-40B4-BE49-F238E27FC236}">
                  <a16:creationId xmlns:a16="http://schemas.microsoft.com/office/drawing/2014/main" id="{C6358F3D-58CF-AA3B-2FC9-FA351EDECC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32081" y="1705590"/>
              <a:ext cx="7127838" cy="5015885"/>
            </a:xfrm>
            <a:prstGeom prst="rect">
              <a:avLst/>
            </a:prstGeom>
          </p:spPr>
        </p:pic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926A5624-5107-8198-5060-BB2E4C614718}"/>
                </a:ext>
              </a:extLst>
            </p:cNvPr>
            <p:cNvSpPr/>
            <p:nvPr/>
          </p:nvSpPr>
          <p:spPr>
            <a:xfrm>
              <a:off x="9215021" y="3684233"/>
              <a:ext cx="727969" cy="18820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0" name="Textfeld 9">
            <a:extLst>
              <a:ext uri="{FF2B5EF4-FFF2-40B4-BE49-F238E27FC236}">
                <a16:creationId xmlns:a16="http://schemas.microsoft.com/office/drawing/2014/main" id="{2F623EF5-2B61-F815-70A2-D506631EE023}"/>
              </a:ext>
            </a:extLst>
          </p:cNvPr>
          <p:cNvSpPr txBox="1"/>
          <p:nvPr/>
        </p:nvSpPr>
        <p:spPr>
          <a:xfrm>
            <a:off x="3851812" y="2128950"/>
            <a:ext cx="27308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One</a:t>
            </a:r>
            <a:r>
              <a:rPr lang="de-DE" sz="2400" dirty="0"/>
              <a:t> </a:t>
            </a:r>
            <a:r>
              <a:rPr lang="de-DE" sz="2400" dirty="0" err="1"/>
              <a:t>energy</a:t>
            </a:r>
            <a:r>
              <a:rPr lang="de-DE" sz="2400" dirty="0"/>
              <a:t> </a:t>
            </a:r>
            <a:r>
              <a:rPr lang="de-DE" sz="2400" dirty="0" err="1"/>
              <a:t>storage</a:t>
            </a:r>
            <a:endParaRPr lang="de-DE" sz="2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33AA5E3-5482-53CD-FED8-69712E82C98B}"/>
              </a:ext>
            </a:extLst>
          </p:cNvPr>
          <p:cNvCxnSpPr/>
          <p:nvPr/>
        </p:nvCxnSpPr>
        <p:spPr>
          <a:xfrm>
            <a:off x="5237825" y="2601157"/>
            <a:ext cx="639192" cy="1003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09982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18970A6B-EC73-325D-F60C-AFDE2FEF5F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A9121D7-0B6D-BE9B-7262-1F402C2757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93327" y="2416082"/>
            <a:ext cx="4041343" cy="303100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F3DBE99-2DA6-C88A-7611-518B693D1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Element (D)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773F82-BF78-41CB-6DB7-96DB8E21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/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differentiator</a:t>
                </a:r>
                <a:r>
                  <a:rPr lang="de-DE" sz="2000" dirty="0"/>
                  <a:t>/derivative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derivative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blipFill>
                <a:blip r:embed="rId7"/>
                <a:stretch>
                  <a:fillRect l="-98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6574445-9274-205F-65F8-E02FBBA876FA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4320250" y="2769833"/>
            <a:ext cx="1095129" cy="807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91548B9B-5801-02FD-7335-31C8FD8F7A17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2405849" y="2849732"/>
            <a:ext cx="1914401" cy="7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23E0541-7891-30D2-4661-379BD090843F}"/>
              </a:ext>
            </a:extLst>
          </p:cNvPr>
          <p:cNvSpPr txBox="1"/>
          <p:nvPr/>
        </p:nvSpPr>
        <p:spPr>
          <a:xfrm>
            <a:off x="7496077" y="1151357"/>
            <a:ext cx="4289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/>
              <a:t>Amplifies</a:t>
            </a:r>
            <a:r>
              <a:rPr lang="de-DE" sz="2000" dirty="0"/>
              <a:t> high </a:t>
            </a:r>
            <a:r>
              <a:rPr lang="de-DE" sz="2000" dirty="0" err="1"/>
              <a:t>frequencies</a:t>
            </a:r>
            <a:r>
              <a:rPr lang="de-DE" sz="2000" dirty="0"/>
              <a:t>, i.e., </a:t>
            </a:r>
            <a:r>
              <a:rPr lang="de-DE" sz="2000" dirty="0" err="1"/>
              <a:t>noise</a:t>
            </a:r>
            <a:endParaRPr lang="de-DE" sz="2000" dirty="0"/>
          </a:p>
          <a:p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use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filtered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differentiator</a:t>
            </a:r>
            <a:r>
              <a:rPr lang="de-DE" sz="2000" dirty="0">
                <a:sym typeface="Wingdings" pitchFamily="2" charset="2"/>
              </a:rPr>
              <a:t> (DT1)</a:t>
            </a:r>
            <a:endParaRPr lang="de-DE" sz="2000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87688D64-5667-BAB3-7EEA-4B43A90B80B0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6214369" y="1505300"/>
            <a:ext cx="1281708" cy="1042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C9F5823B-6BD5-9ADF-F789-E913F361C19A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9E2AEC4-0E0A-4251-EED1-3590A3DBFC70}"/>
              </a:ext>
            </a:extLst>
          </p:cNvPr>
          <p:cNvSpPr txBox="1"/>
          <p:nvPr/>
        </p:nvSpPr>
        <p:spPr>
          <a:xfrm>
            <a:off x="6556094" y="6003928"/>
            <a:ext cx="3638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physically</a:t>
            </a:r>
            <a:r>
              <a:rPr lang="de-DE" dirty="0"/>
              <a:t> </a:t>
            </a:r>
            <a:r>
              <a:rPr lang="de-DE" dirty="0" err="1"/>
              <a:t>unrealizable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damping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88977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97F2DE-ACD8-94EC-15BE-467846CA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Filtered</a:t>
            </a:r>
            <a:r>
              <a:rPr lang="de-DE" dirty="0"/>
              <a:t> Differentiator (DT1)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2606A89-4597-98EA-83F6-4C092A77DC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2606A89-4597-98EA-83F6-4C092A77DC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97B9B1-8E9B-8284-C7A9-AECD9668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1A3C78E-2F6D-98C4-E5D9-DA62F8056157}"/>
                  </a:ext>
                </a:extLst>
              </p:cNvPr>
              <p:cNvSpPr txBox="1"/>
              <p:nvPr/>
            </p:nvSpPr>
            <p:spPr>
              <a:xfrm>
                <a:off x="1367159" y="3244334"/>
                <a:ext cx="31072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1A3C78E-2F6D-98C4-E5D9-DA62F8056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159" y="3244334"/>
                <a:ext cx="310721" cy="369332"/>
              </a:xfrm>
              <a:prstGeom prst="rect">
                <a:avLst/>
              </a:prstGeom>
              <a:blipFill>
                <a:blip r:embed="rId3"/>
                <a:stretch>
                  <a:fillRect l="-28000" r="-16000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C66937D-FB01-5A86-7894-A927DF81D8E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1276588" y="2734322"/>
            <a:ext cx="245932" cy="5100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8795F3A-B9DF-3E97-D9A1-609F6310712C}"/>
                  </a:ext>
                </a:extLst>
              </p:cNvPr>
              <p:cNvSpPr txBox="1"/>
              <p:nvPr/>
            </p:nvSpPr>
            <p:spPr>
              <a:xfrm>
                <a:off x="3170805" y="3265803"/>
                <a:ext cx="31072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8795F3A-B9DF-3E97-D9A1-609F63107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805" y="3265803"/>
                <a:ext cx="310721" cy="369332"/>
              </a:xfrm>
              <a:prstGeom prst="rect">
                <a:avLst/>
              </a:prstGeom>
              <a:blipFill>
                <a:blip r:embed="rId4"/>
                <a:stretch>
                  <a:fillRect l="-26923" r="-11538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A66D832-3933-A3C4-B5DE-0C1B799BD16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3326166" y="2734322"/>
            <a:ext cx="299280" cy="5314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120BEAE-D28C-18C6-C257-8AECBF4C32EC}"/>
                  </a:ext>
                </a:extLst>
              </p:cNvPr>
              <p:cNvSpPr txBox="1"/>
              <p:nvPr/>
            </p:nvSpPr>
            <p:spPr>
              <a:xfrm>
                <a:off x="1522519" y="4004934"/>
                <a:ext cx="2352119" cy="7518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120BEAE-D28C-18C6-C257-8AECBF4C3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2519" y="4004934"/>
                <a:ext cx="2352119" cy="751872"/>
              </a:xfrm>
              <a:prstGeom prst="rect">
                <a:avLst/>
              </a:prstGeom>
              <a:blipFill>
                <a:blip r:embed="rId5"/>
                <a:stretch>
                  <a:fillRect l="-535" r="-535" b="-983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Grafik 12" descr="Ein Bild, das Schrift, Reihe, Diagramm, weiß enthält.&#10;&#10;KI-generierte Inhalte können fehlerhaft sein.">
            <a:extLst>
              <a:ext uri="{FF2B5EF4-FFF2-40B4-BE49-F238E27FC236}">
                <a16:creationId xmlns:a16="http://schemas.microsoft.com/office/drawing/2014/main" id="{0990F134-8769-251B-9856-EBDF176EB0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8406" y="5438299"/>
            <a:ext cx="3826276" cy="1404961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EE3F5106-1AC6-9970-061E-97A0EBB7821F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p:pic>
        <p:nvPicPr>
          <p:cNvPr id="16" name="Grafik 15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FE6AA1E0-A9C7-8D58-8185-06B929DDD3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1877" y="3280615"/>
            <a:ext cx="4918385" cy="307573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EB3735C7-C89D-7E19-AD02-007991264255}"/>
                  </a:ext>
                </a:extLst>
              </p:cNvPr>
              <p:cNvSpPr txBox="1"/>
              <p:nvPr/>
            </p:nvSpPr>
            <p:spPr>
              <a:xfrm>
                <a:off x="4558410" y="4001294"/>
                <a:ext cx="2334870" cy="52456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lim>
                          </m:limLow>
                        </m:fName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EB3735C7-C89D-7E19-AD02-0079912642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410" y="4001294"/>
                <a:ext cx="2334870" cy="524567"/>
              </a:xfrm>
              <a:prstGeom prst="rect">
                <a:avLst/>
              </a:prstGeom>
              <a:blipFill>
                <a:blip r:embed="rId8"/>
                <a:stretch>
                  <a:fillRect l="-1630" r="-1087" b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feld 19">
            <a:extLst>
              <a:ext uri="{FF2B5EF4-FFF2-40B4-BE49-F238E27FC236}">
                <a16:creationId xmlns:a16="http://schemas.microsoft.com/office/drawing/2014/main" id="{717B537C-97C7-D835-06EB-FEAAE4FCB003}"/>
              </a:ext>
            </a:extLst>
          </p:cNvPr>
          <p:cNvSpPr txBox="1"/>
          <p:nvPr/>
        </p:nvSpPr>
        <p:spPr>
          <a:xfrm>
            <a:off x="4401921" y="4587649"/>
            <a:ext cx="2635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ym typeface="Wingdings" pitchFamily="2" charset="2"/>
              </a:rPr>
              <a:t> ideal D </a:t>
            </a:r>
            <a:r>
              <a:rPr lang="de-DE" sz="2400" dirty="0" err="1">
                <a:sym typeface="Wingdings" pitchFamily="2" charset="2"/>
              </a:rPr>
              <a:t>element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4598377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D07DD78-7D0E-A2DB-B218-FADADC8F5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  <p:pic>
        <p:nvPicPr>
          <p:cNvPr id="6" name="Grafik 5" descr="Ein Bild, das Diagramm, Reihe enthält.&#10;&#10;KI-generierte Inhalte können fehlerhaft sein.">
            <a:extLst>
              <a:ext uri="{FF2B5EF4-FFF2-40B4-BE49-F238E27FC236}">
                <a16:creationId xmlns:a16="http://schemas.microsoft.com/office/drawing/2014/main" id="{976F9CE3-F38F-852C-6010-CA382C117D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69" y="1193772"/>
            <a:ext cx="11973261" cy="447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2382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19EB036-529B-5966-A2D7-5C37976AC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DT1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13713F-BEEB-EA87-DC79-2AED8B433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  <p:pic>
        <p:nvPicPr>
          <p:cNvPr id="7" name="Grafik 6" descr="Ein Bild, das Diagramm, Reihe, Entwurf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5366F733-B6FF-4958-BEF6-6050A628F0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5228" y="1905307"/>
            <a:ext cx="6961543" cy="4952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6684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0FD682-F803-4C07-B69E-9594CD239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EBBDDD-42A4-AA13-4A2F-C4F1032335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E747421-C035-8648-3D82-DD90B96DB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2677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52AC7-2EDE-14FD-988A-E0FF054F5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BD5689F1-D390-5252-9BE7-CB3E185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15153" y="5299075"/>
            <a:ext cx="2857500" cy="14224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E3D6218-AE75-FB82-93BA-2EF7EEE4E9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69184" y="1321557"/>
            <a:ext cx="5222816" cy="393372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8E55303-77A4-456D-2F3D-C33AFF652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Lag Element (PT2)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A4BED-941D-2DF9-FA89-2935119F18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A4BED-941D-2DF9-FA89-2935119F18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020C73-3932-B65A-94E5-2D739ECB2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37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9E73366-B6A4-1B0B-9C21-2504F3A6DF0A}"/>
              </a:ext>
            </a:extLst>
          </p:cNvPr>
          <p:cNvSpPr txBox="1"/>
          <p:nvPr/>
        </p:nvSpPr>
        <p:spPr>
          <a:xfrm>
            <a:off x="5056877" y="4842153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EC45AFE-4EA2-1FB1-0C60-2FFC0998BF44}"/>
                  </a:ext>
                </a:extLst>
              </p:cNvPr>
              <p:cNvSpPr txBox="1"/>
              <p:nvPr/>
            </p:nvSpPr>
            <p:spPr>
              <a:xfrm>
                <a:off x="289962" y="3032159"/>
                <a:ext cx="458781" cy="6539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EC45AFE-4EA2-1FB1-0C60-2FFC0998B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962" y="3032159"/>
                <a:ext cx="458781" cy="653962"/>
              </a:xfrm>
              <a:prstGeom prst="rect">
                <a:avLst/>
              </a:prstGeom>
              <a:blipFill>
                <a:blip r:embed="rId7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1BC678F-4758-EB33-290C-042E21B10469}"/>
                  </a:ext>
                </a:extLst>
              </p:cNvPr>
              <p:cNvSpPr txBox="1"/>
              <p:nvPr/>
            </p:nvSpPr>
            <p:spPr>
              <a:xfrm flipH="1">
                <a:off x="4888478" y="3140194"/>
                <a:ext cx="89275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1BC678F-4758-EB33-290C-042E21B104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888478" y="3140194"/>
                <a:ext cx="892757" cy="307777"/>
              </a:xfrm>
              <a:prstGeom prst="rect">
                <a:avLst/>
              </a:prstGeom>
              <a:blipFill>
                <a:blip r:embed="rId8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4691E0D-438D-82ED-B682-FFC7AA31AD2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519353" y="2659225"/>
            <a:ext cx="318847" cy="372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D0FD88BC-FAEB-31C7-04D2-F01A73352F7F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4758431" y="2659225"/>
            <a:ext cx="576425" cy="480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30F22F9-E742-53A4-8222-79B6CFF13896}"/>
                  </a:ext>
                </a:extLst>
              </p:cNvPr>
              <p:cNvSpPr txBox="1"/>
              <p:nvPr/>
            </p:nvSpPr>
            <p:spPr>
              <a:xfrm>
                <a:off x="876849" y="5026819"/>
                <a:ext cx="2752227" cy="9269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f>
                            <m:f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sSup>
                            <m:sSup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30F22F9-E742-53A4-8222-79B6CFF13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849" y="5026819"/>
                <a:ext cx="2752227" cy="926920"/>
              </a:xfrm>
              <a:prstGeom prst="rect">
                <a:avLst/>
              </a:prstGeom>
              <a:blipFill>
                <a:blip r:embed="rId9"/>
                <a:stretch>
                  <a:fillRect l="-1370" r="-1370" b="-4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A01984-12FD-97D8-F773-5ADBF18487F7}"/>
                  </a:ext>
                </a:extLst>
              </p:cNvPr>
              <p:cNvSpPr txBox="1"/>
              <p:nvPr/>
            </p:nvSpPr>
            <p:spPr>
              <a:xfrm>
                <a:off x="2629618" y="3055692"/>
                <a:ext cx="738157" cy="630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A01984-12FD-97D8-F773-5ADBF1848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618" y="3055692"/>
                <a:ext cx="738157" cy="630429"/>
              </a:xfrm>
              <a:prstGeom prst="rect">
                <a:avLst/>
              </a:prstGeom>
              <a:blipFill>
                <a:blip r:embed="rId10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4DD66A2-D98F-FFDA-85A5-0CC035CF0918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2569048" y="2666325"/>
            <a:ext cx="429649" cy="3893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1928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C3658D1-744D-30FC-180A-56744EEE0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38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B42B79A-BAA7-B097-D1B8-769BA2F24B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4573" y="65504"/>
            <a:ext cx="8742854" cy="65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410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C6604F1-EC43-DA27-4439-4E928DB24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PT2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FD0D3A-87F5-9AC2-A2C4-DE36C2E59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39</a:t>
            </a:fld>
            <a:endParaRPr lang="en-GB"/>
          </a:p>
        </p:txBody>
      </p:sp>
      <p:pic>
        <p:nvPicPr>
          <p:cNvPr id="6" name="Grafik 5" descr="Ein Bild, das Diagramm, Reihe, Entwurf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BC46509F-A2F4-91FE-24BC-D8516AA812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912" y="1690688"/>
            <a:ext cx="8386175" cy="516731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3049D8C-0E74-A4D7-2CE3-DF67E210A6E7}"/>
              </a:ext>
            </a:extLst>
          </p:cNvPr>
          <p:cNvSpPr txBox="1"/>
          <p:nvPr/>
        </p:nvSpPr>
        <p:spPr>
          <a:xfrm>
            <a:off x="3851812" y="2128950"/>
            <a:ext cx="2846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Two</a:t>
            </a:r>
            <a:r>
              <a:rPr lang="de-DE" sz="2400" dirty="0"/>
              <a:t> </a:t>
            </a:r>
            <a:r>
              <a:rPr lang="de-DE" sz="2400" dirty="0" err="1"/>
              <a:t>energy</a:t>
            </a:r>
            <a:r>
              <a:rPr lang="de-DE" sz="2400" dirty="0"/>
              <a:t> </a:t>
            </a:r>
            <a:r>
              <a:rPr lang="de-DE" sz="2400" dirty="0" err="1"/>
              <a:t>storages</a:t>
            </a:r>
            <a:endParaRPr lang="de-DE" sz="24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49148953-51A0-2B28-4F79-8E23ABFD1EC1}"/>
              </a:ext>
            </a:extLst>
          </p:cNvPr>
          <p:cNvCxnSpPr>
            <a:stCxn id="7" idx="2"/>
          </p:cNvCxnSpPr>
          <p:nvPr/>
        </p:nvCxnSpPr>
        <p:spPr>
          <a:xfrm flipH="1">
            <a:off x="4705165" y="2590615"/>
            <a:ext cx="570050" cy="12267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3CD943D-AF06-329B-E25B-2EB72F8F7473}"/>
              </a:ext>
            </a:extLst>
          </p:cNvPr>
          <p:cNvCxnSpPr>
            <a:stCxn id="7" idx="2"/>
          </p:cNvCxnSpPr>
          <p:nvPr/>
        </p:nvCxnSpPr>
        <p:spPr>
          <a:xfrm>
            <a:off x="5275215" y="2590615"/>
            <a:ext cx="1826921" cy="12267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50495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F18E32-3561-5B1B-88D6-04F26786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85FC6E-700C-B18E-BADF-335DCA3D4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02275FA-0948-586B-71B9-28EB35C3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48006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146A8B-0ADA-5706-7B0C-C2FC5915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Systems </a:t>
            </a:r>
            <a:r>
              <a:rPr lang="de-DE" dirty="0" err="1"/>
              <a:t>with</a:t>
            </a:r>
            <a:r>
              <a:rPr lang="de-DE" dirty="0"/>
              <a:t> 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extended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multiplying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represents</a:t>
                </a:r>
                <a:r>
                  <a:rPr lang="de-DE" dirty="0"/>
                  <a:t> a time </a:t>
                </a:r>
                <a:r>
                  <a:rPr lang="de-DE" dirty="0" err="1"/>
                  <a:t>delay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PT1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dead</a:t>
                </a:r>
                <a:r>
                  <a:rPr lang="de-DE" dirty="0"/>
                  <a:t> time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Mainly</a:t>
                </a:r>
                <a:r>
                  <a:rPr lang="de-DE" dirty="0"/>
                  <a:t> </a:t>
                </a:r>
                <a:r>
                  <a:rPr lang="de-DE" dirty="0" err="1"/>
                  <a:t>suitable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analysis</a:t>
                </a:r>
                <a:r>
                  <a:rPr lang="de-DE" dirty="0"/>
                  <a:t> (e.g., Bode </a:t>
                </a:r>
                <a:r>
                  <a:rPr lang="de-DE" dirty="0" err="1"/>
                  <a:t>plots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36B6975-D7D1-1504-841E-AD44A905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41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C23E2E2-7BAB-B0DC-155F-18BE9A930334}"/>
              </a:ext>
            </a:extLst>
          </p:cNvPr>
          <p:cNvSpPr txBox="1"/>
          <p:nvPr/>
        </p:nvSpPr>
        <p:spPr>
          <a:xfrm>
            <a:off x="1502546" y="3295830"/>
            <a:ext cx="26522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original 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792DF04-E9E3-B701-E8FB-C02356E21D65}"/>
              </a:ext>
            </a:extLst>
          </p:cNvPr>
          <p:cNvCxnSpPr/>
          <p:nvPr/>
        </p:nvCxnSpPr>
        <p:spPr>
          <a:xfrm flipV="1">
            <a:off x="2840854" y="2991770"/>
            <a:ext cx="239697" cy="304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238FAF0-5F1B-2600-5A07-4DF841173409}"/>
              </a:ext>
            </a:extLst>
          </p:cNvPr>
          <p:cNvSpPr txBox="1"/>
          <p:nvPr/>
        </p:nvSpPr>
        <p:spPr>
          <a:xfrm>
            <a:off x="4819096" y="3295830"/>
            <a:ext cx="2802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time </a:t>
            </a:r>
            <a:r>
              <a:rPr lang="de-DE" dirty="0" err="1"/>
              <a:t>delay</a:t>
            </a:r>
            <a:r>
              <a:rPr lang="de-DE" dirty="0"/>
              <a:t> (aka </a:t>
            </a:r>
            <a:r>
              <a:rPr lang="de-DE" dirty="0" err="1"/>
              <a:t>dead</a:t>
            </a:r>
            <a:r>
              <a:rPr lang="de-DE" dirty="0"/>
              <a:t> time)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EDEBF8D-3696-DBD0-D6B9-D3FE6E4DD679}"/>
              </a:ext>
            </a:extLst>
          </p:cNvPr>
          <p:cNvCxnSpPr/>
          <p:nvPr/>
        </p:nvCxnSpPr>
        <p:spPr>
          <a:xfrm flipH="1" flipV="1">
            <a:off x="4819096" y="2867482"/>
            <a:ext cx="321075" cy="497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58567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E7D95-1F5E-CE48-E953-D97B4D902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Loop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B4223A-1501-7599-2239-8ABB3D900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42</a:t>
            </a:fld>
            <a:endParaRPr lang="en-GB"/>
          </a:p>
        </p:txBody>
      </p: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6B685BC3-C175-CD83-FD48-F6388221A45E}"/>
              </a:ext>
            </a:extLst>
          </p:cNvPr>
          <p:cNvGrpSpPr/>
          <p:nvPr/>
        </p:nvGrpSpPr>
        <p:grpSpPr>
          <a:xfrm>
            <a:off x="838200" y="1993681"/>
            <a:ext cx="4379258" cy="1307375"/>
            <a:chOff x="3906371" y="2121625"/>
            <a:chExt cx="4379258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/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Verbindungsstelle 15">
              <a:extLst>
                <a:ext uri="{FF2B5EF4-FFF2-40B4-BE49-F238E27FC236}">
                  <a16:creationId xmlns:a16="http://schemas.microsoft.com/office/drawing/2014/main" id="{5A69D5A8-6BC7-EED6-B298-00BE7B488749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7297249" y="242326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01A8DB1A-B477-CE70-74C6-B0DDF2AD7AF9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6600387" y="2470762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B6451F44-2FDF-CAD1-32E0-67D1B57730BC}"/>
                </a:ext>
              </a:extLst>
            </p:cNvPr>
            <p:cNvCxnSpPr>
              <a:cxnSpLocks/>
            </p:cNvCxnSpPr>
            <p:nvPr/>
          </p:nvCxnSpPr>
          <p:spPr>
            <a:xfrm>
              <a:off x="7341635" y="246765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/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2821" t="-4348" r="-17949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DE28B529-D364-88B5-AE83-2ADEBCBDF542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>
              <a:off x="7341635" y="251203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Ring 48">
              <a:extLst>
                <a:ext uri="{FF2B5EF4-FFF2-40B4-BE49-F238E27FC236}">
                  <a16:creationId xmlns:a16="http://schemas.microsoft.com/office/drawing/2014/main" id="{86C1BC5B-5999-7107-6000-E9B34E1B4A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97391" y="2423264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53" name="Gerade Verbindung 52">
              <a:extLst>
                <a:ext uri="{FF2B5EF4-FFF2-40B4-BE49-F238E27FC236}">
                  <a16:creationId xmlns:a16="http://schemas.microsoft.com/office/drawing/2014/main" id="{E62F31E2-E6C0-953B-27A4-866D3CB230AE}"/>
                </a:ext>
              </a:extLst>
            </p:cNvPr>
            <p:cNvCxnSpPr/>
            <p:nvPr/>
          </p:nvCxnSpPr>
          <p:spPr>
            <a:xfrm flipH="1">
              <a:off x="4942391" y="3429000"/>
              <a:ext cx="239924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 Verbindung mit Pfeil 54">
              <a:extLst>
                <a:ext uri="{FF2B5EF4-FFF2-40B4-BE49-F238E27FC236}">
                  <a16:creationId xmlns:a16="http://schemas.microsoft.com/office/drawing/2014/main" id="{809360AC-7423-81D3-2207-4F8D3EBD52E7}"/>
                </a:ext>
              </a:extLst>
            </p:cNvPr>
            <p:cNvCxnSpPr>
              <a:endCxn id="49" idx="4"/>
            </p:cNvCxnSpPr>
            <p:nvPr/>
          </p:nvCxnSpPr>
          <p:spPr>
            <a:xfrm flipV="1">
              <a:off x="4942391" y="2513264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4D5FE632-0643-1613-F755-8F38A20CA551}"/>
                </a:ext>
              </a:extLst>
            </p:cNvPr>
            <p:cNvCxnSpPr>
              <a:stCxn id="49" idx="6"/>
              <a:endCxn id="10" idx="1"/>
            </p:cNvCxnSpPr>
            <p:nvPr/>
          </p:nvCxnSpPr>
          <p:spPr>
            <a:xfrm>
              <a:off x="4987391" y="2468264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3CA67442-B2C3-0F23-735F-81D48B7AA3B7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>
              <a:off x="4058403" y="2466093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/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/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E0B57D70-F2AF-3F2F-EB01-F5A113DB39FC}"/>
              </a:ext>
            </a:extLst>
          </p:cNvPr>
          <p:cNvGrpSpPr/>
          <p:nvPr/>
        </p:nvGrpSpPr>
        <p:grpSpPr>
          <a:xfrm>
            <a:off x="838200" y="4582652"/>
            <a:ext cx="5985903" cy="1307375"/>
            <a:chOff x="838200" y="4582652"/>
            <a:chExt cx="5985903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/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Verbindungsstelle 64">
              <a:extLst>
                <a:ext uri="{FF2B5EF4-FFF2-40B4-BE49-F238E27FC236}">
                  <a16:creationId xmlns:a16="http://schemas.microsoft.com/office/drawing/2014/main" id="{BDAE3FB9-9C6B-3155-245D-35209A08CA6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835723" y="488273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97175F72-AAAC-0F6E-276A-4D7FCBF56045}"/>
                </a:ext>
              </a:extLst>
            </p:cNvPr>
            <p:cNvCxnSpPr>
              <a:cxnSpLocks/>
            </p:cNvCxnSpPr>
            <p:nvPr/>
          </p:nvCxnSpPr>
          <p:spPr>
            <a:xfrm>
              <a:off x="5880109" y="492712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/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2500" r="-15000" b="-2916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Gerade Verbindung 68">
              <a:extLst>
                <a:ext uri="{FF2B5EF4-FFF2-40B4-BE49-F238E27FC236}">
                  <a16:creationId xmlns:a16="http://schemas.microsoft.com/office/drawing/2014/main" id="{C28E7F70-8EBF-A4F6-3AC0-91835D39CDB2}"/>
                </a:ext>
              </a:extLst>
            </p:cNvPr>
            <p:cNvCxnSpPr>
              <a:cxnSpLocks/>
              <a:stCxn id="65" idx="0"/>
            </p:cNvCxnSpPr>
            <p:nvPr/>
          </p:nvCxnSpPr>
          <p:spPr>
            <a:xfrm>
              <a:off x="5880109" y="497150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ing 69">
              <a:extLst>
                <a:ext uri="{FF2B5EF4-FFF2-40B4-BE49-F238E27FC236}">
                  <a16:creationId xmlns:a16="http://schemas.microsoft.com/office/drawing/2014/main" id="{E2C349AB-A258-9D25-5291-B4D4E5B132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29220" y="488429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71" name="Gerade Verbindung 70">
              <a:extLst>
                <a:ext uri="{FF2B5EF4-FFF2-40B4-BE49-F238E27FC236}">
                  <a16:creationId xmlns:a16="http://schemas.microsoft.com/office/drawing/2014/main" id="{1A18445C-FE0D-1911-B6BC-40F9C63CEB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4220" y="5888470"/>
              <a:ext cx="40058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B80942AE-AB88-1BA2-9153-06510B9FA331}"/>
                </a:ext>
              </a:extLst>
            </p:cNvPr>
            <p:cNvCxnSpPr>
              <a:endCxn id="70" idx="4"/>
            </p:cNvCxnSpPr>
            <p:nvPr/>
          </p:nvCxnSpPr>
          <p:spPr>
            <a:xfrm flipV="1">
              <a:off x="1874220" y="4974291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2CD06856-00F4-4F53-7399-8A98645D041F}"/>
                </a:ext>
              </a:extLst>
            </p:cNvPr>
            <p:cNvCxnSpPr>
              <a:stCxn id="70" idx="6"/>
              <a:endCxn id="64" idx="1"/>
            </p:cNvCxnSpPr>
            <p:nvPr/>
          </p:nvCxnSpPr>
          <p:spPr>
            <a:xfrm>
              <a:off x="1919220" y="4929291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D4793845-8003-4479-5483-8B9A3DC1D177}"/>
                </a:ext>
              </a:extLst>
            </p:cNvPr>
            <p:cNvCxnSpPr>
              <a:cxnSpLocks/>
              <a:endCxn id="70" idx="2"/>
            </p:cNvCxnSpPr>
            <p:nvPr/>
          </p:nvCxnSpPr>
          <p:spPr>
            <a:xfrm>
              <a:off x="990232" y="4927120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/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/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/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Gerade Verbindung 78">
              <a:extLst>
                <a:ext uri="{FF2B5EF4-FFF2-40B4-BE49-F238E27FC236}">
                  <a16:creationId xmlns:a16="http://schemas.microsoft.com/office/drawing/2014/main" id="{1B8BFFB9-903B-6997-1D1E-1D11BBC79C7C}"/>
                </a:ext>
              </a:extLst>
            </p:cNvPr>
            <p:cNvCxnSpPr>
              <a:cxnSpLocks/>
            </p:cNvCxnSpPr>
            <p:nvPr/>
          </p:nvCxnSpPr>
          <p:spPr>
            <a:xfrm>
              <a:off x="5139075" y="4927120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426DD009-601D-081A-D2C3-7D7EE673A4D1}"/>
                </a:ext>
              </a:extLst>
            </p:cNvPr>
            <p:cNvCxnSpPr>
              <a:cxnSpLocks/>
              <a:stCxn id="64" idx="3"/>
              <a:endCxn id="77" idx="1"/>
            </p:cNvCxnSpPr>
            <p:nvPr/>
          </p:nvCxnSpPr>
          <p:spPr>
            <a:xfrm flipV="1">
              <a:off x="3532216" y="4931465"/>
              <a:ext cx="698266" cy="3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/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blipFill>
                <a:blip r:embed="rId9"/>
                <a:stretch>
                  <a:fillRect l="-279" t="-565" r="-1397" b="-56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7B1B46A8-D3BE-8232-6FD3-0BBC2CD586D8}"/>
              </a:ext>
            </a:extLst>
          </p:cNvPr>
          <p:cNvSpPr txBox="1"/>
          <p:nvPr/>
        </p:nvSpPr>
        <p:spPr>
          <a:xfrm>
            <a:off x="7347911" y="3359443"/>
            <a:ext cx="40058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closed</a:t>
            </a:r>
            <a:r>
              <a:rPr lang="de-DE" sz="2400" dirty="0"/>
              <a:t>-loop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negative </a:t>
            </a:r>
            <a:r>
              <a:rPr lang="de-DE" sz="2400" dirty="0" err="1"/>
              <a:t>feedback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C464F60-FB62-DB77-A5C9-AA00849EF8D2}"/>
              </a:ext>
            </a:extLst>
          </p:cNvPr>
          <p:cNvCxnSpPr/>
          <p:nvPr/>
        </p:nvCxnSpPr>
        <p:spPr>
          <a:xfrm flipV="1">
            <a:off x="8610600" y="3060326"/>
            <a:ext cx="151660" cy="384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/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blipFill>
                <a:blip r:embed="rId10"/>
                <a:stretch>
                  <a:fillRect r="-395" b="-101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/>
              <p:nvPr/>
            </p:nvSpPr>
            <p:spPr>
              <a:xfrm>
                <a:off x="426220" y="6184059"/>
                <a:ext cx="705340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above combines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20" y="6184059"/>
                <a:ext cx="7053406" cy="461665"/>
              </a:xfrm>
              <a:prstGeom prst="rect">
                <a:avLst/>
              </a:prstGeom>
              <a:blipFill>
                <a:blip r:embed="rId11"/>
                <a:stretch>
                  <a:fillRect l="-180" t="-10526" b="-289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23082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CB3717-9DB3-1399-9CCC-728FFAB9C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Controller 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increases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faster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, </a:t>
                </a:r>
                <a:r>
                  <a:rPr lang="de-DE" dirty="0" err="1"/>
                  <a:t>smaller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integrator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eliminates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reduce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reduces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r>
                  <a:rPr lang="de-DE" dirty="0"/>
                  <a:t>, </a:t>
                </a:r>
                <a:r>
                  <a:rPr lang="de-DE" dirty="0" err="1"/>
                  <a:t>improves</a:t>
                </a:r>
                <a:r>
                  <a:rPr lang="de-DE" dirty="0"/>
                  <a:t> transient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Controller design:</a:t>
                </a:r>
              </a:p>
              <a:p>
                <a:r>
                  <a:rPr lang="de-DE" dirty="0"/>
                  <a:t>Shape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obtain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Achieved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selecting</a:t>
                </a:r>
                <a:r>
                  <a:rPr lang="de-DE" dirty="0"/>
                  <a:t> and </a:t>
                </a:r>
                <a:r>
                  <a:rPr lang="de-DE" dirty="0" err="1"/>
                  <a:t>tuning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(</a:t>
                </a:r>
                <a:r>
                  <a:rPr lang="de-DE" dirty="0" err="1"/>
                  <a:t>move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EF15152-4A2F-9346-DFCE-B3D9FFBF6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3551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212B22B2-EAB7-6720-A16E-276F12E8F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Hidden </a:t>
            </a:r>
            <a:r>
              <a:rPr lang="de-DE" dirty="0" err="1"/>
              <a:t>Assumptions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07D09CB-2114-E487-4ACA-4F1F296AB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44</a:t>
            </a:fld>
            <a:endParaRPr lang="en-GB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899EA923-B320-E430-7352-945C47FC665F}"/>
              </a:ext>
            </a:extLst>
          </p:cNvPr>
          <p:cNvGrpSpPr/>
          <p:nvPr/>
        </p:nvGrpSpPr>
        <p:grpSpPr>
          <a:xfrm>
            <a:off x="971273" y="1656233"/>
            <a:ext cx="5985903" cy="1612142"/>
            <a:chOff x="714083" y="2028176"/>
            <a:chExt cx="5985903" cy="16121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/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Verbindungsstelle 5">
              <a:extLst>
                <a:ext uri="{FF2B5EF4-FFF2-40B4-BE49-F238E27FC236}">
                  <a16:creationId xmlns:a16="http://schemas.microsoft.com/office/drawing/2014/main" id="{EEA8466F-7D3F-3081-F537-F2C5A6164EE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711606" y="2328258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611B80E7-F9CB-0ABE-6815-D4E90AD6CD78}"/>
                </a:ext>
              </a:extLst>
            </p:cNvPr>
            <p:cNvCxnSpPr>
              <a:cxnSpLocks/>
            </p:cNvCxnSpPr>
            <p:nvPr/>
          </p:nvCxnSpPr>
          <p:spPr>
            <a:xfrm>
              <a:off x="5755992" y="2372644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/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Gerade Verbindung 8">
              <a:extLst>
                <a:ext uri="{FF2B5EF4-FFF2-40B4-BE49-F238E27FC236}">
                  <a16:creationId xmlns:a16="http://schemas.microsoft.com/office/drawing/2014/main" id="{9AF120D8-734C-0613-5CA9-7A01EDA3C12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5755992" y="2417030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ing 9">
              <a:extLst>
                <a:ext uri="{FF2B5EF4-FFF2-40B4-BE49-F238E27FC236}">
                  <a16:creationId xmlns:a16="http://schemas.microsoft.com/office/drawing/2014/main" id="{9658AB60-BED2-3AEA-E449-CA55B13891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05103" y="2329815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0A0730A7-6D9B-E8B8-9397-3AC4F973A2AC}"/>
                </a:ext>
              </a:extLst>
            </p:cNvPr>
            <p:cNvCxnSpPr>
              <a:endCxn id="10" idx="4"/>
            </p:cNvCxnSpPr>
            <p:nvPr/>
          </p:nvCxnSpPr>
          <p:spPr>
            <a:xfrm flipV="1">
              <a:off x="1750103" y="2419815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F8AAAEB5-D007-9C8D-8975-3DEDC9C7963A}"/>
                </a:ext>
              </a:extLst>
            </p:cNvPr>
            <p:cNvCxnSpPr>
              <a:cxnSpLocks/>
              <a:stCxn id="10" idx="6"/>
              <a:endCxn id="5" idx="1"/>
            </p:cNvCxnSpPr>
            <p:nvPr/>
          </p:nvCxnSpPr>
          <p:spPr>
            <a:xfrm>
              <a:off x="1795103" y="2374815"/>
              <a:ext cx="698596" cy="15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D5B45189-1F92-866E-0FFA-671C55CAD1A1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866115" y="2374815"/>
              <a:ext cx="83898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/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756" r="-14634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/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/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E227C8EA-10B4-8C97-8335-222B7B531965}"/>
                </a:ext>
              </a:extLst>
            </p:cNvPr>
            <p:cNvCxnSpPr>
              <a:cxnSpLocks/>
            </p:cNvCxnSpPr>
            <p:nvPr/>
          </p:nvCxnSpPr>
          <p:spPr>
            <a:xfrm>
              <a:off x="5014958" y="2372644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DDE908A0-EBE7-EC72-474E-1DFA1E264530}"/>
                </a:ext>
              </a:extLst>
            </p:cNvPr>
            <p:cNvCxnSpPr>
              <a:stCxn id="5" idx="3"/>
              <a:endCxn id="17" idx="1"/>
            </p:cNvCxnSpPr>
            <p:nvPr/>
          </p:nvCxnSpPr>
          <p:spPr>
            <a:xfrm>
              <a:off x="3408099" y="2376324"/>
              <a:ext cx="69245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/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9B46319F-B1A8-B248-7DFD-BA204C5A3B21}"/>
                </a:ext>
              </a:extLst>
            </p:cNvPr>
            <p:cNvCxnSpPr>
              <a:endCxn id="21" idx="3"/>
            </p:cNvCxnSpPr>
            <p:nvPr/>
          </p:nvCxnSpPr>
          <p:spPr>
            <a:xfrm flipH="1">
              <a:off x="4211528" y="3333994"/>
              <a:ext cx="15444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26">
              <a:extLst>
                <a:ext uri="{FF2B5EF4-FFF2-40B4-BE49-F238E27FC236}">
                  <a16:creationId xmlns:a16="http://schemas.microsoft.com/office/drawing/2014/main" id="{625B1DDF-760D-0717-CDA1-EBDBED98185C}"/>
                </a:ext>
              </a:extLst>
            </p:cNvPr>
            <p:cNvCxnSpPr>
              <a:stCxn id="21" idx="1"/>
            </p:cNvCxnSpPr>
            <p:nvPr/>
          </p:nvCxnSpPr>
          <p:spPr>
            <a:xfrm flipH="1">
              <a:off x="1750103" y="3333994"/>
              <a:ext cx="1547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236376D0-DD6F-8F51-B718-82E522B4AD77}"/>
              </a:ext>
            </a:extLst>
          </p:cNvPr>
          <p:cNvGrpSpPr/>
          <p:nvPr/>
        </p:nvGrpSpPr>
        <p:grpSpPr>
          <a:xfrm>
            <a:off x="1166232" y="4445381"/>
            <a:ext cx="9212726" cy="1607783"/>
            <a:chOff x="1166232" y="4445381"/>
            <a:chExt cx="9212726" cy="16077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/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Verbindungsstelle 28">
              <a:extLst>
                <a:ext uri="{FF2B5EF4-FFF2-40B4-BE49-F238E27FC236}">
                  <a16:creationId xmlns:a16="http://schemas.microsoft.com/office/drawing/2014/main" id="{C2DABC03-F9C5-04BD-29EE-EEBE919F1731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9390578" y="4745463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 Verbindung mit Pfeil 29">
              <a:extLst>
                <a:ext uri="{FF2B5EF4-FFF2-40B4-BE49-F238E27FC236}">
                  <a16:creationId xmlns:a16="http://schemas.microsoft.com/office/drawing/2014/main" id="{36747D36-517B-D08B-611D-6EFABD456D55}"/>
                </a:ext>
              </a:extLst>
            </p:cNvPr>
            <p:cNvCxnSpPr>
              <a:cxnSpLocks/>
            </p:cNvCxnSpPr>
            <p:nvPr/>
          </p:nvCxnSpPr>
          <p:spPr>
            <a:xfrm>
              <a:off x="9434964" y="4789849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/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2500" t="-4545" r="-17500" b="-4090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2112C397-716A-805F-6585-5E187081CE67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>
              <a:off x="9434964" y="4834235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ng 32">
              <a:extLst>
                <a:ext uri="{FF2B5EF4-FFF2-40B4-BE49-F238E27FC236}">
                  <a16:creationId xmlns:a16="http://schemas.microsoft.com/office/drawing/2014/main" id="{B933FAA3-EA9E-D1A4-7AD8-3C43063755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68212" y="4748400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B7B9ED09-7295-0A91-E7E1-F489D4346057}"/>
                </a:ext>
              </a:extLst>
            </p:cNvPr>
            <p:cNvCxnSpPr>
              <a:endCxn id="33" idx="4"/>
            </p:cNvCxnSpPr>
            <p:nvPr/>
          </p:nvCxnSpPr>
          <p:spPr>
            <a:xfrm flipV="1">
              <a:off x="3813212" y="4838400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164A0B6F-9F37-D940-ABFA-5334CD65FD83}"/>
                </a:ext>
              </a:extLst>
            </p:cNvPr>
            <p:cNvCxnSpPr>
              <a:cxnSpLocks/>
              <a:stCxn id="33" idx="6"/>
              <a:endCxn id="28" idx="1"/>
            </p:cNvCxnSpPr>
            <p:nvPr/>
          </p:nvCxnSpPr>
          <p:spPr>
            <a:xfrm flipV="1">
              <a:off x="3858212" y="4792347"/>
              <a:ext cx="698596" cy="105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818EAB-AA81-1C28-8797-29AC86FA732C}"/>
                </a:ext>
              </a:extLst>
            </p:cNvPr>
            <p:cNvCxnSpPr>
              <a:cxnSpLocks/>
            </p:cNvCxnSpPr>
            <p:nvPr/>
          </p:nvCxnSpPr>
          <p:spPr>
            <a:xfrm>
              <a:off x="1318264" y="4789849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/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9756" r="-1707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/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11111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/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39">
              <a:extLst>
                <a:ext uri="{FF2B5EF4-FFF2-40B4-BE49-F238E27FC236}">
                  <a16:creationId xmlns:a16="http://schemas.microsoft.com/office/drawing/2014/main" id="{EEA8F883-E782-1706-820F-E6314EB97029}"/>
                </a:ext>
              </a:extLst>
            </p:cNvPr>
            <p:cNvCxnSpPr>
              <a:cxnSpLocks/>
            </p:cNvCxnSpPr>
            <p:nvPr/>
          </p:nvCxnSpPr>
          <p:spPr>
            <a:xfrm>
              <a:off x="8693930" y="4789849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8AA96FD2-748A-E9D8-A306-2D651395BBB8}"/>
                </a:ext>
              </a:extLst>
            </p:cNvPr>
            <p:cNvCxnSpPr>
              <a:cxnSpLocks/>
              <a:stCxn id="50" idx="3"/>
              <a:endCxn id="39" idx="1"/>
            </p:cNvCxnSpPr>
            <p:nvPr/>
          </p:nvCxnSpPr>
          <p:spPr>
            <a:xfrm>
              <a:off x="7087071" y="4788324"/>
              <a:ext cx="692459" cy="1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/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9A700742-08D2-ECEE-7218-C67B38B0EB0F}"/>
                </a:ext>
              </a:extLst>
            </p:cNvPr>
            <p:cNvCxnSpPr>
              <a:cxnSpLocks/>
              <a:endCxn id="42" idx="3"/>
            </p:cNvCxnSpPr>
            <p:nvPr/>
          </p:nvCxnSpPr>
          <p:spPr>
            <a:xfrm flipH="1">
              <a:off x="7087071" y="5746840"/>
              <a:ext cx="234789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43">
              <a:extLst>
                <a:ext uri="{FF2B5EF4-FFF2-40B4-BE49-F238E27FC236}">
                  <a16:creationId xmlns:a16="http://schemas.microsoft.com/office/drawing/2014/main" id="{3C815F60-69D7-2B7C-254D-77EF52021A2F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3813212" y="5746840"/>
              <a:ext cx="2359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/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5043C16D-D2F3-028D-8FE1-787F355099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5841" y="4783009"/>
              <a:ext cx="692459" cy="46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376B047-5677-8A80-4424-45F6D9F2A6DA}"/>
                </a:ext>
              </a:extLst>
            </p:cNvPr>
            <p:cNvCxnSpPr>
              <a:cxnSpLocks/>
            </p:cNvCxnSpPr>
            <p:nvPr/>
          </p:nvCxnSpPr>
          <p:spPr>
            <a:xfrm>
              <a:off x="5475397" y="4789849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/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1" name="Textfeld 70">
            <a:extLst>
              <a:ext uri="{FF2B5EF4-FFF2-40B4-BE49-F238E27FC236}">
                <a16:creationId xmlns:a16="http://schemas.microsoft.com/office/drawing/2014/main" id="{6B66D065-29A3-B303-FD24-3B010AB6FAD6}"/>
              </a:ext>
            </a:extLst>
          </p:cNvPr>
          <p:cNvSpPr txBox="1"/>
          <p:nvPr/>
        </p:nvSpPr>
        <p:spPr>
          <a:xfrm>
            <a:off x="50172" y="3330802"/>
            <a:ext cx="33864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prefilter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shaping</a:t>
            </a:r>
            <a:r>
              <a:rPr lang="de-DE" dirty="0"/>
              <a:t> </a:t>
            </a:r>
            <a:r>
              <a:rPr lang="de-DE" dirty="0" err="1"/>
              <a:t>doesn’t</a:t>
            </a:r>
            <a:r>
              <a:rPr lang="de-DE" dirty="0"/>
              <a:t> </a:t>
            </a:r>
            <a:r>
              <a:rPr lang="de-DE" dirty="0" err="1"/>
              <a:t>affect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treat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separately</a:t>
            </a:r>
            <a:r>
              <a:rPr lang="de-DE" dirty="0"/>
              <a:t>.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E6F8268F-0100-C316-3617-D001CD0E403E}"/>
              </a:ext>
            </a:extLst>
          </p:cNvPr>
          <p:cNvSpPr txBox="1"/>
          <p:nvPr/>
        </p:nvSpPr>
        <p:spPr>
          <a:xfrm>
            <a:off x="7433300" y="2317658"/>
            <a:ext cx="3563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fast,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unity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.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A7C4FE68-DDD9-948C-96C7-1767946F4E87}"/>
              </a:ext>
            </a:extLst>
          </p:cNvPr>
          <p:cNvSpPr txBox="1"/>
          <p:nvPr/>
        </p:nvSpPr>
        <p:spPr>
          <a:xfrm>
            <a:off x="5975670" y="3607801"/>
            <a:ext cx="57511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bandwidth</a:t>
            </a:r>
            <a:r>
              <a:rPr lang="de-DE" dirty="0"/>
              <a:t> ≫ </a:t>
            </a:r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bandwidth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ignore</a:t>
            </a:r>
            <a:r>
              <a:rPr lang="de-DE" dirty="0"/>
              <a:t> it.</a:t>
            </a:r>
          </a:p>
        </p:txBody>
      </p: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E2F2EFD4-C7AD-B538-2EF2-0B8EA98BA555}"/>
              </a:ext>
            </a:extLst>
          </p:cNvPr>
          <p:cNvCxnSpPr>
            <a:stCxn id="73" idx="1"/>
          </p:cNvCxnSpPr>
          <p:nvPr/>
        </p:nvCxnSpPr>
        <p:spPr>
          <a:xfrm flipH="1">
            <a:off x="4556808" y="2640824"/>
            <a:ext cx="2876492" cy="146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7573C1B-345F-FCCD-4567-9BFAC2A25428}"/>
              </a:ext>
            </a:extLst>
          </p:cNvPr>
          <p:cNvCxnSpPr>
            <a:endCxn id="50" idx="0"/>
          </p:cNvCxnSpPr>
          <p:nvPr/>
        </p:nvCxnSpPr>
        <p:spPr>
          <a:xfrm>
            <a:off x="6629871" y="4235146"/>
            <a:ext cx="0" cy="246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BF1213D3-CCCF-4672-CE77-9A2255E72F78}"/>
              </a:ext>
            </a:extLst>
          </p:cNvPr>
          <p:cNvSpPr txBox="1"/>
          <p:nvPr/>
        </p:nvSpPr>
        <p:spPr>
          <a:xfrm>
            <a:off x="4814948" y="6318213"/>
            <a:ext cx="49460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dirty="0"/>
              <a:t>Always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affect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endParaRPr lang="de-DE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/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blipFill>
                <a:blip r:embed="rId16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045A292-E5B3-5B3E-253C-1C890023A612}"/>
              </a:ext>
            </a:extLst>
          </p:cNvPr>
          <p:cNvCxnSpPr>
            <a:stCxn id="71" idx="2"/>
          </p:cNvCxnSpPr>
          <p:nvPr/>
        </p:nvCxnSpPr>
        <p:spPr>
          <a:xfrm>
            <a:off x="1743408" y="4254132"/>
            <a:ext cx="413844" cy="227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/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blipFill>
                <a:blip r:embed="rId17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59909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FA0A7F-554B-AAFD-7174-C16F8B9F0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3F9417-F831-50D8-E02C-963FAFCAE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ECDCBB-6B87-FF86-622B-B9435D0D9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745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1852</Words>
  <Application>Microsoft Macintosh PowerPoint</Application>
  <PresentationFormat>Breitbild</PresentationFormat>
  <Paragraphs>389</Paragraphs>
  <Slides>45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45</vt:i4>
      </vt:variant>
    </vt:vector>
  </HeadingPairs>
  <TitlesOfParts>
    <vt:vector size="51" baseType="lpstr">
      <vt:lpstr>Aptos</vt:lpstr>
      <vt:lpstr>Aptos Display</vt:lpstr>
      <vt:lpstr>Arial</vt:lpstr>
      <vt:lpstr>Cambria Math</vt:lpstr>
      <vt:lpstr>Wingdings</vt:lpstr>
      <vt:lpstr>Office Theme</vt:lpstr>
      <vt:lpstr>Laplace Domain</vt:lpstr>
      <vt:lpstr>Course Schedule</vt:lpstr>
      <vt:lpstr>Laplace Domain</vt:lpstr>
      <vt:lpstr>Why the Laplace Transform?</vt:lpstr>
      <vt:lpstr>Reminder: Fourier Transform</vt:lpstr>
      <vt:lpstr>Idea of Laplace Transform</vt:lpstr>
      <vt:lpstr>Definition of Laplace Transform</vt:lpstr>
      <vt:lpstr>Example</vt:lpstr>
      <vt:lpstr>Laplace of Common Signals</vt:lpstr>
      <vt:lpstr>Properties of Laplace Transform</vt:lpstr>
      <vt:lpstr>From Differential Equation to Transfer Function</vt:lpstr>
      <vt:lpstr>Transfer Function</vt:lpstr>
      <vt:lpstr>Transfer Function for PT1 System</vt:lpstr>
      <vt:lpstr>Example: Free Fall with Viscous Damping</vt:lpstr>
      <vt:lpstr>System Response with Transfer Function</vt:lpstr>
      <vt:lpstr>Transfer Function in Polynomial Form</vt:lpstr>
      <vt:lpstr>Graphical Interpretation of Transfer Function</vt:lpstr>
      <vt:lpstr>Poles and Zeros</vt:lpstr>
      <vt:lpstr>Block Diagrams</vt:lpstr>
      <vt:lpstr>Block Diagram Algebra</vt:lpstr>
      <vt:lpstr>Series Connection</vt:lpstr>
      <vt:lpstr>Parallel Connection</vt:lpstr>
      <vt:lpstr>Feedback Connection</vt:lpstr>
      <vt:lpstr>Frequency Response</vt:lpstr>
      <vt:lpstr>Bode Plots</vt:lpstr>
      <vt:lpstr>Bandwidth</vt:lpstr>
      <vt:lpstr>Individual Elements of Control Loops</vt:lpstr>
      <vt:lpstr>Proportional Element (P)</vt:lpstr>
      <vt:lpstr>Integral Element (I)</vt:lpstr>
      <vt:lpstr>First-Order Lag Element (PT1)</vt:lpstr>
      <vt:lpstr>PT1 Signal Flow Diagram</vt:lpstr>
      <vt:lpstr>Derivative Element (D)</vt:lpstr>
      <vt:lpstr>Filtered Differentiator (DT1)</vt:lpstr>
      <vt:lpstr>PowerPoint-Präsentation</vt:lpstr>
      <vt:lpstr>DT1 Signal Flow Diagram</vt:lpstr>
      <vt:lpstr>PowerPoint-Präsentation</vt:lpstr>
      <vt:lpstr>Second-Order Lag Element (PT2)</vt:lpstr>
      <vt:lpstr>PowerPoint-Präsentation</vt:lpstr>
      <vt:lpstr>PT2 Signal Flow Diagram</vt:lpstr>
      <vt:lpstr>PowerPoint-Präsentation</vt:lpstr>
      <vt:lpstr>Systems with Dead Time</vt:lpstr>
      <vt:lpstr>Control Loop</vt:lpstr>
      <vt:lpstr>PID Controller Transfer Function</vt:lpstr>
      <vt:lpstr>Hidden Assumptions</vt:lpstr>
      <vt:lpstr>Disturbances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204</cp:revision>
  <dcterms:created xsi:type="dcterms:W3CDTF">2025-01-08T09:27:30Z</dcterms:created>
  <dcterms:modified xsi:type="dcterms:W3CDTF">2026-02-09T08:41:14Z</dcterms:modified>
</cp:coreProperties>
</file>
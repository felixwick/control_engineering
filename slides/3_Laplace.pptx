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280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93" r:id="rId20"/>
    <p:sldId id="294" r:id="rId21"/>
    <p:sldId id="272" r:id="rId22"/>
    <p:sldId id="290" r:id="rId23"/>
    <p:sldId id="287" r:id="rId24"/>
    <p:sldId id="288" r:id="rId25"/>
    <p:sldId id="289" r:id="rId26"/>
    <p:sldId id="273" r:id="rId27"/>
    <p:sldId id="274" r:id="rId28"/>
    <p:sldId id="275" r:id="rId29"/>
    <p:sldId id="28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429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248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06/02/2026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06/02/2026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06/02/2026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06/02/2026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/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106925"/>
                <a:ext cx="179273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8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106925"/>
                <a:ext cx="1792735" cy="523220"/>
              </a:xfrm>
              <a:prstGeom prst="rect">
                <a:avLst/>
              </a:prstGeom>
              <a:blipFill>
                <a:blip r:embed="rId3"/>
                <a:stretch>
                  <a:fillRect t="-14286" b="-309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1735219" cy="556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8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8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1735219" cy="556434"/>
              </a:xfrm>
              <a:prstGeom prst="rect">
                <a:avLst/>
              </a:prstGeom>
              <a:blipFill>
                <a:blip r:embed="rId4"/>
                <a:stretch>
                  <a:fillRect t="-8889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0454"/>
            <a:ext cx="848464" cy="380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58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530639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530639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If real: </a:t>
                </a:r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,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oscillation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instability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Single real pole: PT1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: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oscillation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Two</a:t>
                </a:r>
                <a:r>
                  <a:rPr lang="de-DE" dirty="0">
                    <a:sym typeface="Wingdings" pitchFamily="2" charset="2"/>
                  </a:rPr>
                  <a:t> real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>
                    <a:sym typeface="Wingdings" pitchFamily="2" charset="2"/>
                  </a:rPr>
                  <a:t>aperiodic</a:t>
                </a:r>
                <a:r>
                  <a:rPr lang="de-DE" dirty="0">
                    <a:sym typeface="Wingdings" pitchFamily="2" charset="2"/>
                  </a:rPr>
                  <a:t> PT2 (</a:t>
                </a:r>
                <a:r>
                  <a:rPr lang="de-DE" dirty="0" err="1">
                    <a:sym typeface="Wingdings" pitchFamily="2" charset="2"/>
                  </a:rPr>
                  <a:t>sum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two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exponential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terms</a:t>
                </a:r>
                <a:r>
                  <a:rPr lang="de-DE" dirty="0">
                    <a:sym typeface="Wingdings" pitchFamily="2" charset="2"/>
                  </a:rPr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Conjugate</a:t>
                </a:r>
                <a:r>
                  <a:rPr lang="de-DE" dirty="0">
                    <a:sym typeface="Wingdings" pitchFamily="2" charset="2"/>
                  </a:rPr>
                  <a:t> pole pair: </a:t>
                </a:r>
                <a:r>
                  <a:rPr lang="de-DE" dirty="0" err="1">
                    <a:sym typeface="Wingdings" pitchFamily="2" charset="2"/>
                  </a:rPr>
                  <a:t>oscillating</a:t>
                </a:r>
                <a:r>
                  <a:rPr lang="de-DE" dirty="0">
                    <a:sym typeface="Wingdings" pitchFamily="2" charset="2"/>
                  </a:rPr>
                  <a:t> PT2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1C34838-0C4B-EE78-789F-FC094D2A34A6}"/>
                  </a:ext>
                </a:extLst>
              </p:cNvPr>
              <p:cNvSpPr txBox="1"/>
              <p:nvPr/>
            </p:nvSpPr>
            <p:spPr>
              <a:xfrm>
                <a:off x="2760953" y="4313878"/>
                <a:ext cx="2059622" cy="523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1C34838-0C4B-EE78-789F-FC094D2A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953" y="4313878"/>
                <a:ext cx="2059622" cy="523348"/>
              </a:xfrm>
              <a:prstGeom prst="rect">
                <a:avLst/>
              </a:prstGeom>
              <a:blipFill>
                <a:blip r:embed="rId3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6CE1D18-FDED-9E60-C451-0F5CBA67C7A2}"/>
              </a:ext>
            </a:extLst>
          </p:cNvPr>
          <p:cNvCxnSpPr>
            <a:cxnSpLocks/>
          </p:cNvCxnSpPr>
          <p:nvPr/>
        </p:nvCxnSpPr>
        <p:spPr>
          <a:xfrm>
            <a:off x="3462287" y="4185152"/>
            <a:ext cx="230819" cy="310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9073C81-2635-6669-91BA-470FD3850C9F}"/>
              </a:ext>
            </a:extLst>
          </p:cNvPr>
          <p:cNvCxnSpPr>
            <a:cxnSpLocks/>
          </p:cNvCxnSpPr>
          <p:nvPr/>
        </p:nvCxnSpPr>
        <p:spPr>
          <a:xfrm flipH="1">
            <a:off x="4509857" y="4178941"/>
            <a:ext cx="190131" cy="310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CF580F19-875F-D665-7ADB-17773E0F3910}"/>
              </a:ext>
            </a:extLst>
          </p:cNvPr>
          <p:cNvSpPr txBox="1"/>
          <p:nvPr/>
        </p:nvSpPr>
        <p:spPr>
          <a:xfrm>
            <a:off x="9982200" y="1027906"/>
            <a:ext cx="162288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PT1: </a:t>
            </a:r>
            <a:r>
              <a:rPr lang="de-DE" dirty="0" err="1"/>
              <a:t>one</a:t>
            </a:r>
            <a:r>
              <a:rPr lang="de-DE" dirty="0"/>
              <a:t> pole</a:t>
            </a:r>
          </a:p>
          <a:p>
            <a:r>
              <a:rPr lang="de-DE" dirty="0"/>
              <a:t>PT2: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If real: </a:t>
                </a:r>
                <a:r>
                  <a:rPr lang="de-DE" dirty="0" err="1"/>
                  <a:t>affect</a:t>
                </a:r>
                <a:r>
                  <a:rPr lang="de-DE" dirty="0"/>
                  <a:t> </a:t>
                </a:r>
                <a:r>
                  <a:rPr lang="de-DE" dirty="0" err="1"/>
                  <a:t>slope</a:t>
                </a:r>
                <a:r>
                  <a:rPr lang="de-DE" dirty="0"/>
                  <a:t> and initial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 (minimum-phase </a:t>
                </a:r>
                <a:r>
                  <a:rPr lang="de-DE" dirty="0" err="1"/>
                  <a:t>zeros</a:t>
                </a:r>
                <a:r>
                  <a:rPr lang="de-DE" dirty="0"/>
                  <a:t>): </a:t>
                </a:r>
                <a:r>
                  <a:rPr lang="de-DE" dirty="0" err="1"/>
                  <a:t>speeds</a:t>
                </a:r>
                <a:r>
                  <a:rPr lang="de-DE" dirty="0"/>
                  <a:t> </a:t>
                </a:r>
                <a:r>
                  <a:rPr lang="de-DE" dirty="0" err="1"/>
                  <a:t>up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lead</a:t>
                </a:r>
                <a:r>
                  <a:rPr lang="de-DE" dirty="0"/>
                  <a:t> 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/>
                  <a:t> (non-minimum-phase </a:t>
                </a:r>
                <a:r>
                  <a:rPr lang="de-DE" dirty="0" err="1"/>
                  <a:t>behavior</a:t>
                </a:r>
                <a:r>
                  <a:rPr lang="de-DE" dirty="0"/>
                  <a:t>): </a:t>
                </a:r>
                <a:r>
                  <a:rPr lang="de-DE" dirty="0" err="1"/>
                  <a:t>causes</a:t>
                </a:r>
                <a:r>
                  <a:rPr lang="de-DE" dirty="0"/>
                  <a:t> inverse </a:t>
                </a:r>
                <a:r>
                  <a:rPr lang="de-DE" dirty="0" err="1"/>
                  <a:t>response</a:t>
                </a:r>
                <a:r>
                  <a:rPr lang="de-DE" i="1" dirty="0"/>
                  <a:t>,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lag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: </a:t>
                </a:r>
                <a:r>
                  <a:rPr lang="de-DE" dirty="0" err="1"/>
                  <a:t>affect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and </a:t>
                </a:r>
                <a:r>
                  <a:rPr lang="de-DE" dirty="0" err="1"/>
                  <a:t>shape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transient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/>
                  <a:t>At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origin</a:t>
                </a:r>
                <a:r>
                  <a:rPr lang="de-DE" dirty="0"/>
                  <a:t>: </a:t>
                </a:r>
                <a:r>
                  <a:rPr lang="de-DE" dirty="0" err="1"/>
                  <a:t>introduce</a:t>
                </a:r>
                <a:r>
                  <a:rPr lang="de-DE" dirty="0"/>
                  <a:t> </a:t>
                </a:r>
                <a:r>
                  <a:rPr lang="de-DE" dirty="0" err="1"/>
                  <a:t>differentiating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: </a:t>
                </a:r>
                <a:r>
                  <a:rPr lang="de-DE" dirty="0" err="1"/>
                  <a:t>modify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829" y="1554163"/>
            <a:ext cx="497434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33" y="1546247"/>
            <a:ext cx="5260534" cy="517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PT1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  <m: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1195</Words>
  <Application>Microsoft Macintosh PowerPoint</Application>
  <PresentationFormat>Breitbild</PresentationFormat>
  <Paragraphs>268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Interpretation of Poles</vt:lpstr>
      <vt:lpstr>Interpretation of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Bandwidth</vt:lpstr>
      <vt:lpstr>PT1 with Dead Time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134</cp:revision>
  <dcterms:created xsi:type="dcterms:W3CDTF">2025-01-08T09:27:30Z</dcterms:created>
  <dcterms:modified xsi:type="dcterms:W3CDTF">2026-02-06T22:38:47Z</dcterms:modified>
</cp:coreProperties>
</file>
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7"/>
  </p:notesMasterIdLst>
  <p:sldIdLst>
    <p:sldId id="256" r:id="rId2"/>
    <p:sldId id="265" r:id="rId3"/>
    <p:sldId id="266" r:id="rId4"/>
    <p:sldId id="267" r:id="rId5"/>
    <p:sldId id="276" r:id="rId6"/>
    <p:sldId id="278" r:id="rId7"/>
    <p:sldId id="268" r:id="rId8"/>
    <p:sldId id="269" r:id="rId9"/>
    <p:sldId id="279" r:id="rId10"/>
    <p:sldId id="270" r:id="rId11"/>
    <p:sldId id="271" r:id="rId12"/>
    <p:sldId id="272" r:id="rId13"/>
    <p:sldId id="273" r:id="rId14"/>
    <p:sldId id="274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541"/>
    <p:restoredTop sz="95028" autoAdjust="0"/>
  </p:normalViewPr>
  <p:slideViewPr>
    <p:cSldViewPr snapToGrid="0">
      <p:cViewPr varScale="1">
        <p:scale>
          <a:sx n="135" d="100"/>
          <a:sy n="135" d="100"/>
        </p:scale>
        <p:origin x="208" y="36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04/02/2026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04/02/2026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04/02/2026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04/02/2026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04/02/2026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04/02/2026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Laplace Domain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Domain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transform</a:t>
            </a:r>
            <a:endParaRPr lang="de-DE" dirty="0"/>
          </a:p>
          <a:p>
            <a:r>
              <a:rPr lang="de-DE" dirty="0"/>
              <a:t>Transfer </a:t>
            </a:r>
            <a:r>
              <a:rPr lang="de-DE" dirty="0" err="1"/>
              <a:t>function</a:t>
            </a:r>
            <a:endParaRPr lang="de-DE" dirty="0"/>
          </a:p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Bode </a:t>
            </a:r>
            <a:r>
              <a:rPr lang="de-DE" dirty="0" err="1"/>
              <a:t>plots</a:t>
            </a:r>
            <a:endParaRPr lang="de-DE" dirty="0"/>
          </a:p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7741D1-FBFA-820C-BFA5-8ACB5E0C4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Laplace Transform?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2BD236-0880-C8F4-68F5-D1259FA32E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Converts</a:t>
            </a:r>
            <a:r>
              <a:rPr lang="de-DE" dirty="0"/>
              <a:t> differential </a:t>
            </a:r>
            <a:r>
              <a:rPr lang="de-DE" dirty="0" err="1"/>
              <a:t>equations</a:t>
            </a:r>
            <a:r>
              <a:rPr lang="de-DE" dirty="0"/>
              <a:t> (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) </a:t>
            </a:r>
            <a:r>
              <a:rPr lang="de-DE" dirty="0" err="1"/>
              <a:t>into</a:t>
            </a:r>
            <a:r>
              <a:rPr lang="de-DE" dirty="0"/>
              <a:t> </a:t>
            </a:r>
            <a:r>
              <a:rPr lang="de-DE" dirty="0" err="1"/>
              <a:t>algebraic</a:t>
            </a:r>
            <a:r>
              <a:rPr lang="de-DE" dirty="0"/>
              <a:t> </a:t>
            </a:r>
            <a:r>
              <a:rPr lang="de-DE" dirty="0" err="1"/>
              <a:t>equations</a:t>
            </a:r>
            <a:r>
              <a:rPr lang="de-DE" dirty="0"/>
              <a:t> </a:t>
            </a:r>
            <a:r>
              <a:rPr lang="de-DE" dirty="0">
                <a:sym typeface="Wingdings" pitchFamily="2" charset="2"/>
              </a:rPr>
              <a:t> </a:t>
            </a:r>
            <a:r>
              <a:rPr lang="de-DE" dirty="0" err="1">
                <a:sym typeface="Wingdings" pitchFamily="2" charset="2"/>
              </a:rPr>
              <a:t>easier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to</a:t>
            </a:r>
            <a:r>
              <a:rPr lang="de-DE" dirty="0">
                <a:sym typeface="Wingdings" pitchFamily="2" charset="2"/>
              </a:rPr>
              <a:t> </a:t>
            </a:r>
            <a:r>
              <a:rPr lang="de-DE" dirty="0" err="1">
                <a:sym typeface="Wingdings" pitchFamily="2" charset="2"/>
              </a:rPr>
              <a:t>solve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Simplifies</a:t>
            </a:r>
            <a:r>
              <a:rPr lang="de-DE" dirty="0"/>
              <a:t> </a:t>
            </a:r>
            <a:r>
              <a:rPr lang="de-DE" dirty="0" err="1"/>
              <a:t>analysis</a:t>
            </a:r>
            <a:r>
              <a:rPr lang="de-DE" dirty="0"/>
              <a:t> and design</a:t>
            </a:r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Natural </a:t>
            </a:r>
            <a:r>
              <a:rPr lang="de-DE" dirty="0" err="1"/>
              <a:t>language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90F3532-E720-6A9C-BDAA-D91C7C153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21888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6305480-B392-6E46-7861-EE4AEBFCE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Reminder</a:t>
            </a:r>
            <a:r>
              <a:rPr lang="de-DE" dirty="0"/>
              <a:t>: Fourier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sz="3800" dirty="0">
                    <a:sym typeface="Wingdings" pitchFamily="2" charset="2"/>
                  </a:rPr>
                  <a:t>Transformation from time to frequency domain:</a:t>
                </a:r>
                <a:endParaRPr lang="de-DE" sz="3800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3800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ℱ</m:t>
                    </m:r>
                    <m:d>
                      <m:dPr>
                        <m:begChr m:val="{"/>
                        <m:endChr m:val="}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de-DE" sz="3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sz="3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GB" sz="3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sz="3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sSup>
                          <m:sSup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GB" sz="38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l-GR" sz="38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  <m:r>
                              <a:rPr lang="de-DE" sz="3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sz="38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</m:oMath>
                </a14:m>
                <a:endParaRPr lang="en-GB" sz="3800" dirty="0"/>
              </a:p>
              <a:p>
                <a:pPr marL="0" indent="0">
                  <a:buNone/>
                </a:pPr>
                <a:endParaRPr lang="en-GB" sz="3800" dirty="0"/>
              </a:p>
              <a:p>
                <a:pPr marL="0" indent="0">
                  <a:buNone/>
                </a:pPr>
                <a:r>
                  <a:rPr lang="en-GB" sz="3800" dirty="0"/>
                  <a:t>Tells which frequencies </a:t>
                </a:r>
                <a14:m>
                  <m:oMath xmlns:m="http://schemas.openxmlformats.org/officeDocument/2006/math">
                    <m:r>
                      <a:rPr lang="el-GR" sz="38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en-GB" sz="3800" dirty="0"/>
                  <a:t> are present in a signal or system</a:t>
                </a:r>
              </a:p>
              <a:p>
                <a:pPr marL="0" indent="0">
                  <a:buNone/>
                </a:pPr>
                <a:r>
                  <a:rPr lang="en-GB" sz="3800" dirty="0"/>
                  <a:t>To be exact, tabulation of both magnitude and phase response at each frequency </a:t>
                </a:r>
                <a:r>
                  <a:rPr lang="en-GB" sz="3800" dirty="0">
                    <a:sym typeface="Wingdings" pitchFamily="2" charset="2"/>
                  </a:rPr>
                  <a:t> complex numbers</a:t>
                </a:r>
                <a:r>
                  <a:rPr lang="en-GB" sz="3800" dirty="0"/>
                  <a:t>:</a:t>
                </a:r>
              </a:p>
              <a:p>
                <a:pPr marL="0" indent="0">
                  <a:buNone/>
                </a:pPr>
                <a:r>
                  <a:rPr lang="en-GB" sz="3800" dirty="0"/>
                  <a:t>	</a:t>
                </a:r>
                <a14:m>
                  <m:oMath xmlns:m="http://schemas.openxmlformats.org/officeDocument/2006/math">
                    <m:r>
                      <a:rPr lang="de-DE" sz="38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</m:d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GB" sz="3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  <m:sSup>
                      <m:sSupPr>
                        <m:ctrlPr>
                          <a:rPr lang="en-GB" sz="3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38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</m:sup>
                    </m:sSup>
                  </m:oMath>
                </a14:m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sz="380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GB" sz="3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sz="3800" i="1">
                            <a:latin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en-GB" sz="3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sz="3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d>
                      </m:e>
                    </m:d>
                  </m:oMath>
                </a14:m>
                <a:r>
                  <a:rPr lang="en-GB" sz="3800" dirty="0"/>
                  <a:t>: how much of that frequency in the signal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scales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/>
                <a14:m>
                  <m:oMath xmlns:m="http://schemas.openxmlformats.org/officeDocument/2006/math">
                    <m:r>
                      <a:rPr lang="en-GB" sz="38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𝜙</m:t>
                    </m:r>
                  </m:oMath>
                </a14:m>
                <a:r>
                  <a:rPr lang="en-GB" sz="3800" dirty="0"/>
                  <a:t>: time shift of that frequency (</a:t>
                </a:r>
                <a:r>
                  <a:rPr lang="de-DE" sz="3800" dirty="0" err="1"/>
                  <a:t>how</a:t>
                </a:r>
                <a:r>
                  <a:rPr lang="de-DE" sz="3800" dirty="0"/>
                  <a:t> </a:t>
                </a:r>
                <a:r>
                  <a:rPr lang="de-DE" sz="3800" dirty="0" err="1"/>
                  <a:t>much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the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system</a:t>
                </a:r>
                <a:r>
                  <a:rPr lang="de-DE" sz="3800" dirty="0"/>
                  <a:t> </a:t>
                </a:r>
                <a:r>
                  <a:rPr lang="de-DE" sz="3800" dirty="0" err="1"/>
                  <a:t>shifts</a:t>
                </a:r>
                <a:r>
                  <a:rPr lang="de-DE" sz="3800" dirty="0"/>
                  <a:t> </a:t>
                </a:r>
                <a:r>
                  <a:rPr lang="de-DE" sz="3800" dirty="0" err="1"/>
                  <a:t>each</a:t>
                </a:r>
                <a:r>
                  <a:rPr lang="de-DE" sz="3800" dirty="0"/>
                  <a:t> </a:t>
                </a:r>
                <a:r>
                  <a:rPr lang="de-DE" sz="3800" dirty="0" err="1"/>
                  <a:t>frequency</a:t>
                </a:r>
                <a:r>
                  <a:rPr lang="en-GB" sz="3800" dirty="0"/>
                  <a:t>)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968BBEA0-AF7E-E525-FC6B-1BF45F89E95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93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AEBB75C-DADB-4E35-480C-549B10D19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8992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1E302EC-437E-EA3F-ABBD-12AB0D05C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Idea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600" dirty="0"/>
                  <a:t>Extend Fourier </a:t>
                </a:r>
                <a:r>
                  <a:rPr lang="de-DE" sz="2600" dirty="0" err="1"/>
                  <a:t>transform</a:t>
                </a:r>
                <a:r>
                  <a:rPr lang="de-DE" sz="2600" dirty="0"/>
                  <a:t> </a:t>
                </a:r>
                <a:r>
                  <a:rPr lang="de-DE" sz="2600" dirty="0" err="1"/>
                  <a:t>to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include</a:t>
                </a:r>
                <a:r>
                  <a:rPr lang="de-DE" sz="2600" dirty="0"/>
                  <a:t> </a:t>
                </a:r>
                <a:r>
                  <a:rPr lang="de-DE" sz="2600" dirty="0" err="1"/>
                  <a:t>information</a:t>
                </a:r>
                <a:r>
                  <a:rPr lang="de-DE" sz="2600" dirty="0"/>
                  <a:t> </a:t>
                </a:r>
                <a:r>
                  <a:rPr lang="de-DE" sz="2600" dirty="0" err="1"/>
                  <a:t>about</a:t>
                </a:r>
                <a:r>
                  <a:rPr lang="de-DE" sz="2600" dirty="0"/>
                  <a:t> </a:t>
                </a:r>
                <a:r>
                  <a:rPr lang="de-DE" sz="2600" dirty="0" err="1"/>
                  <a:t>growth</a:t>
                </a:r>
                <a:r>
                  <a:rPr lang="de-DE" sz="2600" dirty="0"/>
                  <a:t>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</a:t>
                </a:r>
                <a:r>
                  <a:rPr lang="de-DE" sz="2600" dirty="0" err="1"/>
                  <a:t>behavior</a:t>
                </a:r>
                <a:endParaRPr lang="de-DE" sz="2600" dirty="0"/>
              </a:p>
              <a:p>
                <a:pPr marL="0" indent="0">
                  <a:buNone/>
                </a:pPr>
                <a:endParaRPr lang="de-DE" sz="2600" b="1" dirty="0"/>
              </a:p>
              <a:p>
                <a:pPr marL="0" indent="0">
                  <a:buNone/>
                </a:pPr>
                <a:r>
                  <a:rPr lang="de-DE" sz="2600" dirty="0">
                    <a:sym typeface="Wingdings" pitchFamily="2" charset="2"/>
                  </a:rPr>
                  <a:t> </a:t>
                </a:r>
                <a:r>
                  <a:rPr lang="de-DE" sz="2600" dirty="0"/>
                  <a:t>Add </a:t>
                </a:r>
                <a:r>
                  <a:rPr lang="de-DE" sz="2600" dirty="0" err="1"/>
                  <a:t>exponential</a:t>
                </a:r>
                <a:r>
                  <a:rPr lang="de-DE" sz="2600" dirty="0"/>
                  <a:t> </a:t>
                </a:r>
                <a:r>
                  <a:rPr lang="de-DE" sz="2600" dirty="0" err="1"/>
                  <a:t>weighting</a:t>
                </a:r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en-GB" sz="2600" dirty="0"/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l-GR" sz="26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  <m:r>
                      <a:rPr lang="de-DE" sz="26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en-GB" sz="2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en-GB" sz="26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de-DE" sz="26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sz="2600" i="1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endParaRPr lang="de-DE" sz="2600" dirty="0"/>
              </a:p>
              <a:p>
                <a:pPr marL="0" indent="0">
                  <a:buNone/>
                </a:pPr>
                <a:r>
                  <a:rPr lang="de-DE" sz="2600" dirty="0"/>
                  <a:t>Combine </a:t>
                </a:r>
                <a:r>
                  <a:rPr lang="de-DE" sz="2600" dirty="0" err="1"/>
                  <a:t>frequency</a:t>
                </a:r>
                <a:r>
                  <a:rPr lang="de-DE" sz="2600" dirty="0"/>
                  <a:t> 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</m:oMath>
                </a14:m>
                <a:r>
                  <a:rPr lang="de-DE" sz="2600" dirty="0"/>
                  <a:t> and growth/</a:t>
                </a:r>
                <a:r>
                  <a:rPr lang="de-DE" sz="2600" dirty="0" err="1"/>
                  <a:t>decay</a:t>
                </a:r>
                <a:r>
                  <a:rPr lang="de-DE" sz="2600" dirty="0"/>
                  <a:t> rate </a:t>
                </a:r>
                <a14:m>
                  <m:oMath xmlns:m="http://schemas.openxmlformats.org/officeDocument/2006/math"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de-DE" sz="2600" dirty="0"/>
                  <a:t>:</a:t>
                </a:r>
              </a:p>
              <a:p>
                <a:pPr marL="0" indent="0">
                  <a:buNone/>
                </a:pPr>
                <a:r>
                  <a:rPr lang="de-DE" sz="2600" dirty="0"/>
                  <a:t>	</a:t>
                </a:r>
                <a14:m>
                  <m:oMath xmlns:m="http://schemas.openxmlformats.org/officeDocument/2006/math">
                    <m:r>
                      <a:rPr lang="el-GR" sz="2600" i="1">
                        <a:latin typeface="Cambria Math" panose="02040503050406030204" pitchFamily="18" charset="0"/>
                      </a:rPr>
                      <m:t>𝜔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de-DE" sz="26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𝑗</m:t>
                    </m:r>
                    <m:r>
                      <a:rPr lang="de-DE" sz="2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𝜔</m:t>
                    </m:r>
                  </m:oMath>
                </a14:m>
                <a:endParaRPr lang="de-DE" sz="2600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B48E3CE-4367-8744-A430-4E4C2B85D2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616" b="-87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F01655A-660F-62ED-E799-2180FEC7C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6A86063-C604-2552-26AC-7D5E1B1F20B5}"/>
              </a:ext>
            </a:extLst>
          </p:cNvPr>
          <p:cNvSpPr txBox="1"/>
          <p:nvPr/>
        </p:nvSpPr>
        <p:spPr>
          <a:xfrm>
            <a:off x="1536569" y="4298618"/>
            <a:ext cx="15733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oscillation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D3849F4E-CFE9-EA0E-793A-52CA15F2FE16}"/>
              </a:ext>
            </a:extLst>
          </p:cNvPr>
          <p:cNvSpPr txBox="1"/>
          <p:nvPr/>
        </p:nvSpPr>
        <p:spPr>
          <a:xfrm>
            <a:off x="4522621" y="4298617"/>
            <a:ext cx="19745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growth</a:t>
            </a:r>
            <a:r>
              <a:rPr lang="de-DE" sz="2400" dirty="0"/>
              <a:t>/</a:t>
            </a:r>
            <a:r>
              <a:rPr lang="de-DE" sz="2400" dirty="0" err="1"/>
              <a:t>decay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BC2B73FD-6829-4343-13EB-E71DAD9B5E61}"/>
              </a:ext>
            </a:extLst>
          </p:cNvPr>
          <p:cNvCxnSpPr>
            <a:stCxn id="5" idx="0"/>
          </p:cNvCxnSpPr>
          <p:nvPr/>
        </p:nvCxnSpPr>
        <p:spPr>
          <a:xfrm flipV="1">
            <a:off x="2323259" y="3827279"/>
            <a:ext cx="786689" cy="4713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CB353A8-BE7B-96D4-79C6-8E3AE4963CCA}"/>
              </a:ext>
            </a:extLst>
          </p:cNvPr>
          <p:cNvCxnSpPr>
            <a:stCxn id="6" idx="0"/>
          </p:cNvCxnSpPr>
          <p:nvPr/>
        </p:nvCxnSpPr>
        <p:spPr>
          <a:xfrm flipH="1" flipV="1">
            <a:off x="4522621" y="3827279"/>
            <a:ext cx="987258" cy="47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49810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353340-A86F-3E87-7941-CD2901047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Definition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de-DE" dirty="0"/>
                  <a:t>Integral </a:t>
                </a:r>
                <a:r>
                  <a:rPr lang="de-DE" dirty="0" err="1"/>
                  <a:t>transform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time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complex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ℒ</m:t>
                      </m:r>
                      <m:d>
                        <m:dPr>
                          <m:begChr m:val="{"/>
                          <m:endChr m:val="}"/>
                          <m:ctrlPr>
                            <a:rPr lang="de-DE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4"/>
                            </m:r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𝑠𝑡</m:t>
                              </m:r>
                            </m:sup>
                          </m:sSup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𝜎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𝑗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Back transformation:</a:t>
                </a:r>
              </a:p>
              <a:p>
                <a:pPr marL="0" indent="0">
                  <a:buNone/>
                </a:pPr>
                <a:r>
                  <a:rPr lang="de-DE" dirty="0">
                    <a:ea typeface="Cambria Math" panose="02040503050406030204" pitchFamily="18" charset="0"/>
                  </a:rPr>
                  <a:t>	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begChr m:val="{"/>
                        <m:endChr m:val="}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𝑗</m:t>
                        </m:r>
                      </m:den>
                    </m:f>
                    <m:nary>
                      <m:naryPr>
                        <m:limLoc m:val="undOvr"/>
                        <m:ctrl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brk m:alnAt="24"/>
                          </m:rP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b>
                      <m: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∞</m:t>
                        </m:r>
                      </m:sup>
                      <m:e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</m:t>
                        </m:r>
                        <m:d>
                          <m:d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𝑠𝑡</m:t>
                            </m:r>
                          </m:sup>
                        </m:sSup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de-DE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𝑑𝑠</m:t>
                        </m:r>
                      </m:e>
                    </m:nary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485D3F4-FE7F-D5B1-5361-8927EF1D91D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18314" b="-218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ADA87C-833A-FBF6-AD8D-199E591EEC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6807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5599DE0-CD22-B2A9-150F-84B7FAEF26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Laplace </a:t>
            </a:r>
            <a:r>
              <a:rPr lang="de-DE" dirty="0" err="1"/>
              <a:t>of</a:t>
            </a:r>
            <a:r>
              <a:rPr lang="de-DE" dirty="0"/>
              <a:t> Common Signals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13AC8B-8A91-1321-9E5A-A05CA1BD8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97471"/>
                  </p:ext>
                </p:extLst>
              </p:nvPr>
            </p:nvGraphicFramePr>
            <p:xfrm>
              <a:off x="838200" y="1690689"/>
              <a:ext cx="10515600" cy="47465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678528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Function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Time </a:t>
                          </a:r>
                          <a:r>
                            <a:rPr lang="de-DE" sz="2600" dirty="0" err="1"/>
                            <a:t>domain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Laplace </a:t>
                          </a:r>
                          <a:r>
                            <a:rPr lang="de-DE" sz="2600" dirty="0" err="1"/>
                            <a:t>domain</a:t>
                          </a:r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819421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Step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819421"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825770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Exponential</a:t>
                          </a:r>
                          <a:r>
                            <a:rPr lang="de-DE" sz="2600" dirty="0"/>
                            <a:t> </a:t>
                          </a:r>
                          <a:r>
                            <a:rPr lang="de-DE" sz="2600" dirty="0" err="1"/>
                            <a:t>decay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p>
                                  <m:sSup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p>
                                </m:sSup>
                                <m: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𝛼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761354"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60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761167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Cosine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unc>
                                  <m:func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de-DE" sz="260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r>
                                      <a:rPr lang="de-DE" sz="260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𝜔</m:t>
                                    </m:r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</m:func>
                                <m:r>
                                  <a:rPr lang="de-DE" sz="26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∙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𝑢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de-DE" sz="2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de-DE" sz="26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num>
                                  <m:den>
                                    <m:sSup>
                                      <m:sSupPr>
                                        <m:ctrlPr>
                                          <a:rPr lang="de-DE" sz="260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  <m:r>
                                      <a:rPr lang="de-DE" sz="2600" b="0" i="1" smtClean="0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sSup>
                                      <m:sSupPr>
                                        <m:ctrlP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𝜔</m:t>
                                        </m:r>
                                      </m:e>
                                      <m:sup>
                                        <m:r>
                                          <a:rPr lang="de-DE" sz="2600" b="0" i="1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den>
                                </m:f>
                              </m:oMath>
                            </m:oMathPara>
                          </a14:m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elle 4">
                <a:extLst>
                  <a:ext uri="{FF2B5EF4-FFF2-40B4-BE49-F238E27FC236}">
                    <a16:creationId xmlns:a16="http://schemas.microsoft.com/office/drawing/2014/main" id="{8D4846C7-6201-E02C-F64D-73668B3D1490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70297471"/>
                  </p:ext>
                </p:extLst>
              </p:nvPr>
            </p:nvGraphicFramePr>
            <p:xfrm>
              <a:off x="838200" y="1690689"/>
              <a:ext cx="10515600" cy="4746529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505200">
                      <a:extLst>
                        <a:ext uri="{9D8B030D-6E8A-4147-A177-3AD203B41FA5}">
                          <a16:colId xmlns:a16="http://schemas.microsoft.com/office/drawing/2014/main" val="1083059983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327686744"/>
                        </a:ext>
                      </a:extLst>
                    </a:gridCol>
                    <a:gridCol w="3505200">
                      <a:extLst>
                        <a:ext uri="{9D8B030D-6E8A-4147-A177-3AD203B41FA5}">
                          <a16:colId xmlns:a16="http://schemas.microsoft.com/office/drawing/2014/main" val="3949882825"/>
                        </a:ext>
                      </a:extLst>
                    </a:gridCol>
                  </a:tblGrid>
                  <a:tr h="678528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Function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Time </a:t>
                          </a:r>
                          <a:r>
                            <a:rPr lang="de-DE" sz="2600" dirty="0" err="1"/>
                            <a:t>domain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Laplace </a:t>
                          </a:r>
                          <a:r>
                            <a:rPr lang="de-DE" sz="2600" dirty="0" err="1"/>
                            <a:t>domain</a:t>
                          </a:r>
                          <a:endParaRPr lang="de-DE" sz="2600" dirty="0"/>
                        </a:p>
                      </a:txBody>
                      <a:tcPr anchor="ctr"/>
                    </a:tc>
                    <a:extLst>
                      <a:ext uri="{0D108BD9-81ED-4DB2-BD59-A6C34878D82A}">
                        <a16:rowId xmlns:a16="http://schemas.microsoft.com/office/drawing/2014/main" val="2233481217"/>
                      </a:ext>
                    </a:extLst>
                  </a:tr>
                  <a:tr h="836041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Step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81818" r="-101087" b="-39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81818" r="-1087" b="-3924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86937849"/>
                      </a:ext>
                    </a:extLst>
                  </a:tr>
                  <a:tr h="836041"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Ramp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181818" r="-101087" b="-29242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181818" r="-1087" b="-29242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13722524"/>
                      </a:ext>
                    </a:extLst>
                  </a:tr>
                  <a:tr h="842518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Exponential</a:t>
                          </a:r>
                          <a:r>
                            <a:rPr lang="de-DE" sz="2600" dirty="0"/>
                            <a:t> </a:t>
                          </a:r>
                          <a:r>
                            <a:rPr lang="de-DE" sz="2600" dirty="0" err="1"/>
                            <a:t>decay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277612" r="-101087" b="-18806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277612" r="-1087" b="-18806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68125907"/>
                      </a:ext>
                    </a:extLst>
                  </a:tr>
                  <a:tr h="776796">
                    <a:tc>
                      <a:txBody>
                        <a:bodyPr/>
                        <a:lstStyle/>
                        <a:p>
                          <a:r>
                            <a:rPr lang="de-DE" sz="2600" dirty="0"/>
                            <a:t>Sine</a:t>
                          </a:r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414754" r="-101087" b="-10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414754" r="-1087" b="-10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7300959"/>
                      </a:ext>
                    </a:extLst>
                  </a:tr>
                  <a:tr h="776605">
                    <a:tc>
                      <a:txBody>
                        <a:bodyPr/>
                        <a:lstStyle/>
                        <a:p>
                          <a:r>
                            <a:rPr lang="de-DE" sz="2600" dirty="0" err="1"/>
                            <a:t>Cosine</a:t>
                          </a:r>
                          <a:endParaRPr lang="de-DE" sz="2600" dirty="0"/>
                        </a:p>
                      </a:txBody>
                      <a:tcPr anchor="ctr"/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100362" t="-514754" r="-101087" b="-6557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de-DE"/>
                        </a:p>
                      </a:txBody>
                      <a:tcPr anchor="ctr">
                        <a:blipFill>
                          <a:blip r:embed="rId2"/>
                          <a:stretch>
                            <a:fillRect l="-200362" t="-514754" r="-1087" b="-65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831080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383894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A9BC42-E68C-0322-0807-0A2128846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Properties </a:t>
            </a:r>
            <a:r>
              <a:rPr lang="de-DE" dirty="0" err="1"/>
              <a:t>of</a:t>
            </a:r>
            <a:r>
              <a:rPr lang="de-DE" dirty="0"/>
              <a:t> Laplace Transform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16535FB-F981-3403-92ED-066478092A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 err="1"/>
              <a:t>Linearity</a:t>
            </a:r>
            <a:r>
              <a:rPr lang="de-DE" dirty="0"/>
              <a:t>:</a:t>
            </a:r>
          </a:p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Derivative:</a:t>
            </a:r>
          </a:p>
          <a:p>
            <a:pPr marL="0" indent="0">
              <a:buNone/>
            </a:pPr>
            <a:r>
              <a:rPr lang="de-DE" dirty="0"/>
              <a:t>…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Integration:</a:t>
            </a:r>
          </a:p>
          <a:p>
            <a:pPr marL="0" indent="0">
              <a:buNone/>
            </a:pPr>
            <a:r>
              <a:rPr lang="de-DE" dirty="0"/>
              <a:t>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A939DB5-CD67-A9DD-27AD-5E3141FE8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9700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20F29DE-9238-F98F-4E31-7312DD0422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0677041" cy="1325563"/>
          </a:xfrm>
        </p:spPr>
        <p:txBody>
          <a:bodyPr>
            <a:normAutofit/>
          </a:bodyPr>
          <a:lstStyle/>
          <a:p>
            <a:r>
              <a:rPr lang="de-DE" dirty="0" err="1"/>
              <a:t>From</a:t>
            </a:r>
            <a:r>
              <a:rPr lang="de-DE" dirty="0"/>
              <a:t> Differential </a:t>
            </a:r>
            <a:r>
              <a:rPr lang="de-DE" dirty="0" err="1"/>
              <a:t>Equation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Transfer </a:t>
            </a:r>
            <a:r>
              <a:rPr lang="de-DE" dirty="0" err="1"/>
              <a:t>Function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69AB511-EEC8-9C99-5716-6FB6D90C7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Assume</a:t>
            </a:r>
            <a:r>
              <a:rPr lang="de-DE" dirty="0"/>
              <a:t> </a:t>
            </a:r>
            <a:r>
              <a:rPr lang="de-DE" dirty="0" err="1"/>
              <a:t>zero</a:t>
            </a:r>
            <a:r>
              <a:rPr lang="de-DE" dirty="0"/>
              <a:t> initial </a:t>
            </a:r>
            <a:r>
              <a:rPr lang="de-DE" dirty="0" err="1"/>
              <a:t>conditions</a:t>
            </a:r>
            <a:endParaRPr lang="de-DE" dirty="0"/>
          </a:p>
          <a:p>
            <a:r>
              <a:rPr lang="de-DE" dirty="0"/>
              <a:t>Ratio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in Laplace </a:t>
            </a:r>
            <a:r>
              <a:rPr lang="de-DE" dirty="0" err="1"/>
              <a:t>domain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20D94CC-C83A-ADAF-CBC8-434022B692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4367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D6C1A5-60C2-D776-E22C-DF4611C42A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Transfer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FE3B30-8FA2-29B5-DC74-3E46F1E9F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Describe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–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 err="1"/>
              <a:t>Contain</a:t>
            </a:r>
            <a:r>
              <a:rPr lang="de-DE" dirty="0"/>
              <a:t> </a:t>
            </a:r>
            <a:r>
              <a:rPr lang="de-DE" dirty="0" err="1"/>
              <a:t>poles</a:t>
            </a:r>
            <a:r>
              <a:rPr lang="de-DE" dirty="0"/>
              <a:t> and </a:t>
            </a:r>
            <a:r>
              <a:rPr lang="de-DE" dirty="0" err="1"/>
              <a:t>zeros</a:t>
            </a:r>
            <a:endParaRPr lang="de-DE" dirty="0"/>
          </a:p>
          <a:p>
            <a:r>
              <a:rPr lang="de-DE" dirty="0"/>
              <a:t>Independent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64B9C5-72B9-E365-6CAF-535A0DBA5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0801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59FCA0B-0590-B36D-0C61-9DF2C0CEA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Block </a:t>
            </a:r>
            <a:r>
              <a:rPr lang="de-DE" dirty="0" err="1"/>
              <a:t>Diagrams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F979A6A-4D72-3612-95F6-A426ADBE2D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Modular </a:t>
            </a:r>
            <a:r>
              <a:rPr lang="de-DE" dirty="0" err="1"/>
              <a:t>representation</a:t>
            </a:r>
            <a:endParaRPr lang="de-DE" dirty="0"/>
          </a:p>
          <a:p>
            <a:r>
              <a:rPr lang="de-DE" dirty="0"/>
              <a:t>Series, parallel,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connections</a:t>
            </a:r>
            <a:endParaRPr lang="de-DE" dirty="0"/>
          </a:p>
          <a:p>
            <a:r>
              <a:rPr lang="de-DE" dirty="0"/>
              <a:t>Block </a:t>
            </a:r>
            <a:r>
              <a:rPr lang="de-DE" dirty="0" err="1"/>
              <a:t>diagram</a:t>
            </a:r>
            <a:r>
              <a:rPr lang="de-DE" dirty="0"/>
              <a:t> </a:t>
            </a:r>
            <a:r>
              <a:rPr lang="de-DE" dirty="0" err="1"/>
              <a:t>algebra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085116-0531-3B25-1AD7-9FEC807FC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3320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04A78D5-067E-21F1-2645-890D26DEF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DEC18C-E4CF-465B-E3BA-BAAD31B5AC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sinusoidal</a:t>
            </a:r>
            <a:r>
              <a:rPr lang="de-DE" dirty="0"/>
              <a:t> </a:t>
            </a:r>
            <a:r>
              <a:rPr lang="de-DE" dirty="0" err="1"/>
              <a:t>inputs</a:t>
            </a:r>
            <a:endParaRPr lang="de-DE" dirty="0"/>
          </a:p>
          <a:p>
            <a:r>
              <a:rPr lang="de-DE" dirty="0"/>
              <a:t>Amplitude and </a:t>
            </a:r>
            <a:r>
              <a:rPr lang="de-DE" dirty="0" err="1"/>
              <a:t>phase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function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C4FAB9-93C0-FAFE-8178-BA6143807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6988199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C6D322-35CE-E406-E736-C42B96BBFA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Bode Plots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BA8D483-42E5-4829-8E46-019410D93D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Magnitude (dB)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/>
              <a:t>Phase </a:t>
            </a:r>
            <a:r>
              <a:rPr lang="de-DE" dirty="0" err="1"/>
              <a:t>vs</a:t>
            </a:r>
            <a:r>
              <a:rPr lang="de-DE" dirty="0"/>
              <a:t> </a:t>
            </a:r>
            <a:r>
              <a:rPr lang="de-DE" dirty="0" err="1"/>
              <a:t>frequency</a:t>
            </a:r>
            <a:endParaRPr lang="de-DE" dirty="0"/>
          </a:p>
          <a:p>
            <a:r>
              <a:rPr lang="de-DE" dirty="0" err="1"/>
              <a:t>Logarithmic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axis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typical</a:t>
            </a:r>
            <a:r>
              <a:rPr lang="de-DE" dirty="0"/>
              <a:t> Bode </a:t>
            </a:r>
            <a:r>
              <a:rPr lang="de-DE" dirty="0" err="1"/>
              <a:t>diagram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71EA5C-6E4F-2473-04F2-AEB7179078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7782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77BFFA-EEF3-DEE2-E225-4573FB292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Bandwidth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6B837AA-56DB-9D8D-884A-E061F1DB81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range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good</a:t>
            </a:r>
            <a:r>
              <a:rPr lang="de-DE" dirty="0"/>
              <a:t> </a:t>
            </a:r>
            <a:r>
              <a:rPr lang="de-DE" dirty="0" err="1"/>
              <a:t>tracking</a:t>
            </a:r>
            <a:endParaRPr lang="de-DE" dirty="0"/>
          </a:p>
          <a:p>
            <a:r>
              <a:rPr lang="de-DE" dirty="0" err="1"/>
              <a:t>Indicates</a:t>
            </a:r>
            <a:r>
              <a:rPr lang="de-DE" dirty="0"/>
              <a:t> </a:t>
            </a:r>
            <a:r>
              <a:rPr lang="de-DE" dirty="0" err="1"/>
              <a:t>speed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system</a:t>
            </a:r>
            <a:endParaRPr lang="de-DE" dirty="0"/>
          </a:p>
          <a:p>
            <a:r>
              <a:rPr lang="de-DE" dirty="0"/>
              <a:t>Higher </a:t>
            </a:r>
            <a:r>
              <a:rPr lang="de-DE" dirty="0" err="1"/>
              <a:t>bandwidth</a:t>
            </a:r>
            <a:r>
              <a:rPr lang="de-DE" dirty="0"/>
              <a:t> → </a:t>
            </a:r>
            <a:r>
              <a:rPr lang="de-DE" dirty="0" err="1"/>
              <a:t>faster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7FCF89C-B017-A883-0BAE-9BED25E6B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700898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407</Words>
  <Application>Microsoft Macintosh PowerPoint</Application>
  <PresentationFormat>Breitbild</PresentationFormat>
  <Paragraphs>126</Paragraphs>
  <Slides>15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1" baseType="lpstr">
      <vt:lpstr>Aptos</vt:lpstr>
      <vt:lpstr>Aptos Display</vt:lpstr>
      <vt:lpstr>Arial</vt:lpstr>
      <vt:lpstr>Cambria Math</vt:lpstr>
      <vt:lpstr>Wingdings</vt:lpstr>
      <vt:lpstr>Office Theme</vt:lpstr>
      <vt:lpstr>Laplace Domain</vt:lpstr>
      <vt:lpstr>Course Schedule</vt:lpstr>
      <vt:lpstr>Laplace Domain</vt:lpstr>
      <vt:lpstr>Why the Laplace Transform?</vt:lpstr>
      <vt:lpstr>Reminder: Fourier Transform</vt:lpstr>
      <vt:lpstr>Idea of Laplace Transform</vt:lpstr>
      <vt:lpstr>Definition of Laplace Transform</vt:lpstr>
      <vt:lpstr>Laplace of Common Signals</vt:lpstr>
      <vt:lpstr>Properties of Laplace Transform</vt:lpstr>
      <vt:lpstr>From Differential Equation to Transfer Function</vt:lpstr>
      <vt:lpstr>Transfer Functions</vt:lpstr>
      <vt:lpstr>Block Diagrams</vt:lpstr>
      <vt:lpstr>Frequency Response</vt:lpstr>
      <vt:lpstr>Bode Plots</vt:lpstr>
      <vt:lpstr>Bandwidth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63</cp:revision>
  <dcterms:created xsi:type="dcterms:W3CDTF">2025-01-08T09:27:30Z</dcterms:created>
  <dcterms:modified xsi:type="dcterms:W3CDTF">2026-02-04T16:24:40Z</dcterms:modified>
</cp:coreProperties>
</file>
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1"/>
  </p:notesMasterIdLst>
  <p:sldIdLst>
    <p:sldId id="256" r:id="rId2"/>
    <p:sldId id="265" r:id="rId3"/>
    <p:sldId id="266" r:id="rId4"/>
    <p:sldId id="267" r:id="rId5"/>
    <p:sldId id="276" r:id="rId6"/>
    <p:sldId id="278" r:id="rId7"/>
    <p:sldId id="268" r:id="rId8"/>
    <p:sldId id="291" r:id="rId9"/>
    <p:sldId id="269" r:id="rId10"/>
    <p:sldId id="279" r:id="rId11"/>
    <p:sldId id="314" r:id="rId12"/>
    <p:sldId id="271" r:id="rId13"/>
    <p:sldId id="283" r:id="rId14"/>
    <p:sldId id="282" r:id="rId15"/>
    <p:sldId id="284" r:id="rId16"/>
    <p:sldId id="281" r:id="rId17"/>
    <p:sldId id="286" r:id="rId18"/>
    <p:sldId id="292" r:id="rId19"/>
    <p:sldId id="272" r:id="rId20"/>
    <p:sldId id="290" r:id="rId21"/>
    <p:sldId id="287" r:id="rId22"/>
    <p:sldId id="288" r:id="rId23"/>
    <p:sldId id="289" r:id="rId24"/>
    <p:sldId id="273" r:id="rId25"/>
    <p:sldId id="274" r:id="rId26"/>
    <p:sldId id="315" r:id="rId27"/>
    <p:sldId id="275" r:id="rId28"/>
    <p:sldId id="293" r:id="rId29"/>
    <p:sldId id="294" r:id="rId30"/>
    <p:sldId id="295" r:id="rId31"/>
    <p:sldId id="296" r:id="rId32"/>
    <p:sldId id="310" r:id="rId33"/>
    <p:sldId id="297" r:id="rId34"/>
    <p:sldId id="298" r:id="rId35"/>
    <p:sldId id="311" r:id="rId36"/>
    <p:sldId id="309" r:id="rId37"/>
    <p:sldId id="306" r:id="rId38"/>
    <p:sldId id="313" r:id="rId39"/>
    <p:sldId id="308" r:id="rId40"/>
    <p:sldId id="307" r:id="rId41"/>
    <p:sldId id="300" r:id="rId42"/>
    <p:sldId id="285" r:id="rId43"/>
    <p:sldId id="312" r:id="rId44"/>
    <p:sldId id="316" r:id="rId45"/>
    <p:sldId id="317" r:id="rId46"/>
    <p:sldId id="301" r:id="rId47"/>
    <p:sldId id="303" r:id="rId48"/>
    <p:sldId id="302" r:id="rId49"/>
    <p:sldId id="304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683"/>
    <p:restoredTop sz="95028" autoAdjust="0"/>
  </p:normalViewPr>
  <p:slideViewPr>
    <p:cSldViewPr snapToGrid="0">
      <p:cViewPr varScale="1">
        <p:scale>
          <a:sx n="120" d="100"/>
          <a:sy n="120" d="100"/>
        </p:scale>
        <p:origin x="216" y="6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14/04/2026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14/04/2026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14/04/2026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14/04/2026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14/04/2026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14/04/2026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8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1.png"/><Relationship Id="rId2" Type="http://schemas.openxmlformats.org/officeDocument/2006/relationships/image" Target="../media/image3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5.sv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1.svg"/><Relationship Id="rId7" Type="http://schemas.openxmlformats.org/officeDocument/2006/relationships/image" Target="../media/image5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2.png"/><Relationship Id="rId9" Type="http://schemas.openxmlformats.org/officeDocument/2006/relationships/image" Target="../media/image53.png"/></Relationships>
</file>

<file path=ppt/slides/_rels/slide3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7" Type="http://schemas.openxmlformats.org/officeDocument/2006/relationships/image" Target="../media/image54.png"/><Relationship Id="rId12" Type="http://schemas.openxmlformats.org/officeDocument/2006/relationships/image" Target="../media/image57.png"/><Relationship Id="rId2" Type="http://schemas.openxmlformats.org/officeDocument/2006/relationships/image" Target="../media/image4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svg"/><Relationship Id="rId11" Type="http://schemas.openxmlformats.org/officeDocument/2006/relationships/image" Target="../media/image56.png"/><Relationship Id="rId5" Type="http://schemas.openxmlformats.org/officeDocument/2006/relationships/image" Target="../media/image43.svg"/><Relationship Id="rId10" Type="http://schemas.openxmlformats.org/officeDocument/2006/relationships/image" Target="../media/image61.png"/><Relationship Id="rId4" Type="http://schemas.openxmlformats.org/officeDocument/2006/relationships/image" Target="../media/image55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7" Type="http://schemas.openxmlformats.org/officeDocument/2006/relationships/image" Target="../media/image611.png"/><Relationship Id="rId2" Type="http://schemas.openxmlformats.org/officeDocument/2006/relationships/image" Target="../media/image4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2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59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64.svg"/><Relationship Id="rId7" Type="http://schemas.openxmlformats.org/officeDocument/2006/relationships/image" Target="../media/image83.png"/><Relationship Id="rId2" Type="http://schemas.openxmlformats.org/officeDocument/2006/relationships/image" Target="../media/image6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11" Type="http://schemas.openxmlformats.org/officeDocument/2006/relationships/image" Target="../media/image74.png"/><Relationship Id="rId10" Type="http://schemas.openxmlformats.org/officeDocument/2006/relationships/image" Target="../media/image73.png"/><Relationship Id="rId9" Type="http://schemas.openxmlformats.org/officeDocument/2006/relationships/image" Target="../media/image6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sv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7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sv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7.png"/><Relationship Id="rId4" Type="http://schemas.openxmlformats.org/officeDocument/2006/relationships/image" Target="../media/image81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92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400.png"/><Relationship Id="rId7" Type="http://schemas.openxmlformats.org/officeDocument/2006/relationships/image" Target="../media/image45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0.png"/><Relationship Id="rId11" Type="http://schemas.openxmlformats.org/officeDocument/2006/relationships/image" Target="../media/image880.png"/><Relationship Id="rId5" Type="http://schemas.openxmlformats.org/officeDocument/2006/relationships/image" Target="../media/image430.png"/><Relationship Id="rId10" Type="http://schemas.openxmlformats.org/officeDocument/2006/relationships/image" Target="../media/image870.png"/><Relationship Id="rId4" Type="http://schemas.openxmlformats.org/officeDocument/2006/relationships/image" Target="../media/image420.png"/><Relationship Id="rId9" Type="http://schemas.openxmlformats.org/officeDocument/2006/relationships/image" Target="../media/image860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0.png"/><Relationship Id="rId13" Type="http://schemas.openxmlformats.org/officeDocument/2006/relationships/image" Target="../media/image590.png"/><Relationship Id="rId3" Type="http://schemas.openxmlformats.org/officeDocument/2006/relationships/image" Target="../media/image480.png"/><Relationship Id="rId7" Type="http://schemas.openxmlformats.org/officeDocument/2006/relationships/image" Target="../media/image530.png"/><Relationship Id="rId12" Type="http://schemas.openxmlformats.org/officeDocument/2006/relationships/image" Target="../media/image910.png"/><Relationship Id="rId17" Type="http://schemas.openxmlformats.org/officeDocument/2006/relationships/image" Target="../media/image950.png"/><Relationship Id="rId2" Type="http://schemas.openxmlformats.org/officeDocument/2006/relationships/image" Target="../media/image470.png"/><Relationship Id="rId16" Type="http://schemas.openxmlformats.org/officeDocument/2006/relationships/image" Target="../media/image9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90.png"/><Relationship Id="rId11" Type="http://schemas.openxmlformats.org/officeDocument/2006/relationships/image" Target="../media/image570.png"/><Relationship Id="rId5" Type="http://schemas.openxmlformats.org/officeDocument/2006/relationships/image" Target="../media/image510.png"/><Relationship Id="rId15" Type="http://schemas.openxmlformats.org/officeDocument/2006/relationships/image" Target="../media/image610.png"/><Relationship Id="rId10" Type="http://schemas.openxmlformats.org/officeDocument/2006/relationships/image" Target="../media/image560.png"/><Relationship Id="rId4" Type="http://schemas.openxmlformats.org/officeDocument/2006/relationships/image" Target="../media/image490.png"/><Relationship Id="rId9" Type="http://schemas.openxmlformats.org/officeDocument/2006/relationships/image" Target="../media/image550.png"/><Relationship Id="rId14" Type="http://schemas.openxmlformats.org/officeDocument/2006/relationships/image" Target="../media/image600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102.png"/><Relationship Id="rId7" Type="http://schemas.openxmlformats.org/officeDocument/2006/relationships/image" Target="../media/image97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Relationship Id="rId9" Type="http://schemas.openxmlformats.org/officeDocument/2006/relationships/image" Target="../media/image9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Domain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Domain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transform</a:t>
            </a:r>
            <a:endParaRPr lang="de-DE" dirty="0"/>
          </a:p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Bode </a:t>
            </a:r>
            <a:r>
              <a:rPr lang="de-DE" dirty="0" err="1"/>
              <a:t>plots</a:t>
            </a:r>
            <a:endParaRPr lang="de-DE" dirty="0"/>
          </a:p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741D1-FBFA-820C-BFA5-8ACB5E0C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2BD236-0880-C8F4-68F5-D1259FA32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Converts</a:t>
            </a:r>
            <a:r>
              <a:rPr lang="de-DE" dirty="0"/>
              <a:t> differential </a:t>
            </a:r>
            <a:r>
              <a:rPr lang="de-DE" dirty="0" err="1"/>
              <a:t>equations</a:t>
            </a:r>
            <a:r>
              <a:rPr lang="de-DE" dirty="0"/>
              <a:t> (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algebraic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easier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solve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and design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Natural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0F3532-E720-6A9C-BDAA-D91C7C15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18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305480-B392-6E46-7861-EE4AEBFCE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Reminder</a:t>
            </a:r>
            <a:r>
              <a:rPr lang="de-DE" dirty="0"/>
              <a:t>: Fourier Transform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sz="3800" dirty="0">
                    <a:sym typeface="Wingdings" pitchFamily="2" charset="2"/>
                  </a:rPr>
                  <a:t>Transformation from time to frequency domain:</a:t>
                </a:r>
                <a:endParaRPr lang="de-DE" sz="3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38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begChr m:val="{"/>
                        <m:endChr m:val="}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3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8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GB" sz="3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l-GR" sz="38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</m:oMath>
                </a14:m>
                <a:endParaRPr lang="en-GB" sz="3800" dirty="0"/>
              </a:p>
              <a:p>
                <a:pPr marL="0" indent="0">
                  <a:buNone/>
                </a:pPr>
                <a:endParaRPr lang="en-GB" sz="3800" dirty="0"/>
              </a:p>
              <a:p>
                <a:pPr marL="0" indent="0">
                  <a:buNone/>
                </a:pPr>
                <a:r>
                  <a:rPr lang="en-GB" sz="3800" dirty="0"/>
                  <a:t>Tells which frequencies </a:t>
                </a:r>
                <a14:m>
                  <m:oMath xmlns:m="http://schemas.openxmlformats.org/officeDocument/2006/math">
                    <m:r>
                      <a:rPr lang="el-GR" sz="38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GB" sz="3800" dirty="0"/>
                  <a:t> are present in a signal or system</a:t>
                </a:r>
              </a:p>
              <a:p>
                <a:pPr marL="0" indent="0">
                  <a:buNone/>
                </a:pPr>
                <a:r>
                  <a:rPr lang="en-GB" sz="3800" dirty="0"/>
                  <a:t>To be exact, tabulation of both magnitude and phase response at each frequency </a:t>
                </a:r>
                <a:r>
                  <a:rPr lang="en-GB" sz="3800" dirty="0">
                    <a:sym typeface="Wingdings" pitchFamily="2" charset="2"/>
                  </a:rPr>
                  <a:t> complex numbers</a:t>
                </a:r>
                <a:r>
                  <a:rPr lang="en-GB" sz="3800" dirty="0"/>
                  <a:t>:</a:t>
                </a:r>
              </a:p>
              <a:p>
                <a:pPr marL="0" indent="0">
                  <a:buNone/>
                </a:pPr>
                <a:r>
                  <a:rPr lang="en-GB" sz="3800" dirty="0"/>
                  <a:t>	</a:t>
                </a:r>
                <a14:m>
                  <m:oMath xmlns:m="http://schemas.openxmlformats.org/officeDocument/2006/math">
                    <m:r>
                      <a:rPr lang="de-DE" sz="38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GB" sz="3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sup>
                    </m:sSup>
                  </m:oMath>
                </a14:m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en-GB" sz="3800" dirty="0"/>
                  <a:t>: how much of that frequency in the signal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scales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GB" sz="3800" dirty="0"/>
                  <a:t>: time shift of that frequency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shifts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AEBB75C-DADB-4E35-480C-549B10D1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899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302EC-437E-EA3F-ABBD-12AB0D05C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Extend Fourier </a:t>
                </a:r>
                <a:r>
                  <a:rPr lang="de-DE" sz="2600" dirty="0" err="1"/>
                  <a:t>transform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include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about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growth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behavior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b="1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/>
                  <a:t>Add </a:t>
                </a:r>
                <a:r>
                  <a:rPr lang="de-DE" sz="2600" dirty="0" err="1"/>
                  <a:t>exponential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weighting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en-GB" sz="26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Combine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600" dirty="0"/>
                  <a:t> and growth/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rate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6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01655A-660F-62ED-E799-2180FEC7C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6A86063-C604-2552-26AC-7D5E1B1F20B5}"/>
              </a:ext>
            </a:extLst>
          </p:cNvPr>
          <p:cNvSpPr txBox="1"/>
          <p:nvPr/>
        </p:nvSpPr>
        <p:spPr>
          <a:xfrm>
            <a:off x="1536569" y="4298618"/>
            <a:ext cx="1573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oscillation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3849F4E-CFE9-EA0E-793A-52CA15F2FE16}"/>
              </a:ext>
            </a:extLst>
          </p:cNvPr>
          <p:cNvSpPr txBox="1"/>
          <p:nvPr/>
        </p:nvSpPr>
        <p:spPr>
          <a:xfrm>
            <a:off x="4522621" y="4298617"/>
            <a:ext cx="1974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growth</a:t>
            </a:r>
            <a:r>
              <a:rPr lang="de-DE" sz="2400" dirty="0"/>
              <a:t>/</a:t>
            </a:r>
            <a:r>
              <a:rPr lang="de-DE" sz="2400" dirty="0" err="1"/>
              <a:t>decay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C2B73FD-6829-4343-13EB-E71DAD9B5E61}"/>
              </a:ext>
            </a:extLst>
          </p:cNvPr>
          <p:cNvCxnSpPr>
            <a:stCxn id="5" idx="0"/>
          </p:cNvCxnSpPr>
          <p:nvPr/>
        </p:nvCxnSpPr>
        <p:spPr>
          <a:xfrm flipV="1">
            <a:off x="2323259" y="3827279"/>
            <a:ext cx="786689" cy="47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CB353A8-BE7B-96D4-79C6-8E3AE4963CCA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4522621" y="3827279"/>
            <a:ext cx="987258" cy="47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81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53340-A86F-3E87-7941-CD2901047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Integral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time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{"/>
                          <m:endChr m:val="}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Back transformation: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den>
                    </m:f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𝑑𝑠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314" b="-218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ADA87C-833A-FBF6-AD8D-199E591E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807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0450E5-8DCA-BD71-E31C-372FF191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Using</a:t>
                </a:r>
                <a:r>
                  <a:rPr lang="de-DE" dirty="0"/>
                  <a:t> partial </a:t>
                </a:r>
                <a:r>
                  <a:rPr lang="de-DE" dirty="0" err="1"/>
                  <a:t>integration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nary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𝑑𝑢</m:t>
                        </m:r>
                      </m:e>
                    </m:nary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</m:oMath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f>
                                  <m:f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num>
                                  <m:den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den>
                            </m:f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0465" b="-183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60D098-3B05-CE80-361C-BB91980F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sp>
        <p:nvSpPr>
          <p:cNvPr id="5" name="Geschweifte Klammer links 4">
            <a:extLst>
              <a:ext uri="{FF2B5EF4-FFF2-40B4-BE49-F238E27FC236}">
                <a16:creationId xmlns:a16="http://schemas.microsoft.com/office/drawing/2014/main" id="{5E84072F-465C-91FB-52E3-B86B0FDE7C4E}"/>
              </a:ext>
            </a:extLst>
          </p:cNvPr>
          <p:cNvSpPr/>
          <p:nvPr/>
        </p:nvSpPr>
        <p:spPr>
          <a:xfrm rot="16200000">
            <a:off x="5117233" y="5400340"/>
            <a:ext cx="275208" cy="14574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/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blipFill>
                <a:blip r:embed="rId3"/>
                <a:stretch>
                  <a:fillRect l="-5882" r="-11765" b="-43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7160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513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0207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01955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4151" r="-101087" b="-6037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4151" r="-1087" b="-6037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167308" r="-101087" b="-5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167308" r="-1087" b="-51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48387" r="-101087" b="-7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48387" r="-1087" b="-7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548387" r="-101087" b="-6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548387" r="-1087" b="-6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379245" r="-101087" b="-2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379245" r="-1087" b="-2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69163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79245" r="-101087" b="-1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79245" r="-1087" b="-1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18554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39583" r="-101087" b="-10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39583" r="-1087" b="-10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18427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724490" r="-101087" b="-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724490" r="-1087" b="-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05599DE0-CD22-B2A9-150F-84B7FAE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of</a:t>
            </a:r>
            <a:r>
              <a:rPr lang="de-DE" dirty="0"/>
              <a:t> Common Signals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13AC8B-8A91-1321-9E5A-A05CA1BD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/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blipFill>
                <a:blip r:embed="rId3"/>
                <a:stretch>
                  <a:fillRect l="-11230" t="-186207" b="-27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8389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A9BC42-E68C-0322-0807-0A212884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Linearity: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Convolution</a:t>
                </a:r>
                <a:r>
                  <a:rPr lang="de-DE" sz="2400" dirty="0"/>
                  <a:t>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Derivative: 	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𝑑𝑥</m:t>
                            </m:r>
                          </m:den>
                        </m:f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Integration: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Frequency</a:t>
                </a:r>
                <a:r>
                  <a:rPr lang="de-DE" sz="2400" dirty="0"/>
                  <a:t> Shifting: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Shifting: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</a:t>
                </a:r>
                <a:r>
                  <a:rPr lang="de-DE" sz="2400" dirty="0" err="1"/>
                  <a:t>Scaling</a:t>
                </a:r>
                <a:r>
                  <a:rPr lang="de-DE" sz="2400" dirty="0"/>
                  <a:t>:	</a:t>
                </a: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52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939DB5-CD67-A9DD-27AD-5E3141FE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970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51533-F42B-419C-A4CD-31DD8AECE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 err="1"/>
              <a:t>From</a:t>
            </a:r>
            <a:r>
              <a:rPr lang="de-DE" sz="4300" dirty="0"/>
              <a:t> Differential </a:t>
            </a:r>
            <a:r>
              <a:rPr lang="de-DE" sz="4300" dirty="0" err="1"/>
              <a:t>Equation</a:t>
            </a:r>
            <a:r>
              <a:rPr lang="de-DE" sz="4300" dirty="0"/>
              <a:t> </a:t>
            </a:r>
            <a:r>
              <a:rPr lang="de-DE" sz="4300" dirty="0" err="1"/>
              <a:t>to</a:t>
            </a:r>
            <a:r>
              <a:rPr lang="de-DE" sz="4300" dirty="0"/>
              <a:t> Transfer </a:t>
            </a:r>
            <a:r>
              <a:rPr lang="de-DE" sz="4300" dirty="0" err="1"/>
              <a:t>Function</a:t>
            </a:r>
            <a:endParaRPr lang="de-DE" sz="4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Example: PT2 </a:t>
                </a:r>
                <a:r>
                  <a:rPr lang="de-DE" dirty="0" err="1"/>
                  <a:t>system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sz="1800" dirty="0"/>
                  <a:t>(assuming zero initial conditions)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206" t="-20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9F6243-702E-1E02-C457-E736D622D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/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blipFill>
                <a:blip r:embed="rId3"/>
                <a:stretch>
                  <a:fillRect r="-1538" b="-1578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913E791-7613-C30A-347C-02884F72661E}"/>
              </a:ext>
            </a:extLst>
          </p:cNvPr>
          <p:cNvCxnSpPr>
            <a:cxnSpLocks/>
          </p:cNvCxnSpPr>
          <p:nvPr/>
        </p:nvCxnSpPr>
        <p:spPr>
          <a:xfrm>
            <a:off x="2509015" y="3142918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14FA5D6-DF76-B2BC-4B06-780B8B784E5C}"/>
              </a:ext>
            </a:extLst>
          </p:cNvPr>
          <p:cNvCxnSpPr/>
          <p:nvPr/>
        </p:nvCxnSpPr>
        <p:spPr>
          <a:xfrm>
            <a:off x="9213807" y="3150812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/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𝐾𝑢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/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blipFill>
                <a:blip r:embed="rId5"/>
                <a:stretch>
                  <a:fillRect r="-1515" b="-13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/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blipFill>
                <a:blip r:embed="rId6"/>
                <a:stretch>
                  <a:fillRect r="-1471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FCA4F09-2041-F6FA-DD21-E4AA47005528}"/>
              </a:ext>
            </a:extLst>
          </p:cNvPr>
          <p:cNvCxnSpPr>
            <a:cxnSpLocks/>
          </p:cNvCxnSpPr>
          <p:nvPr/>
        </p:nvCxnSpPr>
        <p:spPr>
          <a:xfrm>
            <a:off x="2527920" y="4691381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55DCF5B-69FD-7B0B-DFF5-20A1025CEA65}"/>
              </a:ext>
            </a:extLst>
          </p:cNvPr>
          <p:cNvCxnSpPr/>
          <p:nvPr/>
        </p:nvCxnSpPr>
        <p:spPr>
          <a:xfrm>
            <a:off x="9217889" y="4699416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/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blipFill>
                <a:blip r:embed="rId7"/>
                <a:stretch>
                  <a:fillRect r="-664" b="-1578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/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blipFill>
                <a:blip r:embed="rId8"/>
                <a:stretch>
                  <a:fillRect r="-1429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EC354DA-6C50-D707-37BB-3DCE70F5E26C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943927" y="3323507"/>
            <a:ext cx="64885" cy="9576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3D5D5395-4FAB-E768-6666-0B2153BC6D53}"/>
              </a:ext>
            </a:extLst>
          </p:cNvPr>
          <p:cNvSpPr/>
          <p:nvPr/>
        </p:nvSpPr>
        <p:spPr>
          <a:xfrm rot="5400000">
            <a:off x="3880806" y="3974049"/>
            <a:ext cx="256012" cy="87023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9393827-5039-EC2A-994B-DE0EFC26520C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5548138" y="3335279"/>
            <a:ext cx="347821" cy="945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D4E5C9C-DF8C-E2A8-368B-46C4DAE9E293}"/>
              </a:ext>
            </a:extLst>
          </p:cNvPr>
          <p:cNvSpPr/>
          <p:nvPr/>
        </p:nvSpPr>
        <p:spPr>
          <a:xfrm rot="5400000">
            <a:off x="5767954" y="4061346"/>
            <a:ext cx="256011" cy="6956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F119464F-EEAD-1565-F3AE-F42AF471BA38}"/>
              </a:ext>
            </a:extLst>
          </p:cNvPr>
          <p:cNvCxnSpPr>
            <a:cxnSpLocks/>
          </p:cNvCxnSpPr>
          <p:nvPr/>
        </p:nvCxnSpPr>
        <p:spPr>
          <a:xfrm>
            <a:off x="6854670" y="3317144"/>
            <a:ext cx="259869" cy="1228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6F4165CB-1C5D-7E8A-56D4-52E984E2D6B1}"/>
              </a:ext>
            </a:extLst>
          </p:cNvPr>
          <p:cNvCxnSpPr>
            <a:cxnSpLocks/>
          </p:cNvCxnSpPr>
          <p:nvPr/>
        </p:nvCxnSpPr>
        <p:spPr>
          <a:xfrm>
            <a:off x="8428583" y="3335279"/>
            <a:ext cx="225937" cy="1210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59748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6C1A5-60C2-D776-E22C-DF4611C4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Ratio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600" dirty="0"/>
                  <a:t> in Laplace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Fully </a:t>
                </a:r>
                <a:r>
                  <a:rPr lang="de-DE" sz="2600" dirty="0" err="1">
                    <a:sym typeface="Wingdings" pitchFamily="2" charset="2"/>
                  </a:rPr>
                  <a:t>d</a:t>
                </a:r>
                <a:r>
                  <a:rPr lang="de-DE" sz="2600" dirty="0" err="1"/>
                  <a:t>escribes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–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b="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In time </a:t>
                </a:r>
                <a:r>
                  <a:rPr lang="de-DE" sz="2600" dirty="0" err="1"/>
                  <a:t>domain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this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convolution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impulse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b="1" dirty="0" err="1"/>
                  <a:t>assuming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zero</a:t>
                </a:r>
                <a:r>
                  <a:rPr lang="de-DE" sz="2600" b="1" dirty="0"/>
                  <a:t> initial </a:t>
                </a:r>
                <a:r>
                  <a:rPr lang="de-DE" sz="2600" b="1" dirty="0" err="1"/>
                  <a:t>conditions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142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64B9C5-72B9-E365-6CAF-535A0DBA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080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A717C-56F5-869C-9F4F-CFC5A09ED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PT1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)+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9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163DCA-9B91-9E99-FD6C-FFD953846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B0BAB35-2806-3FDB-8F36-D520F89DF365}"/>
              </a:ext>
            </a:extLst>
          </p:cNvPr>
          <p:cNvSpPr txBox="1"/>
          <p:nvPr/>
        </p:nvSpPr>
        <p:spPr>
          <a:xfrm>
            <a:off x="5950525" y="5518787"/>
            <a:ext cx="31218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independent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685B94A-EE34-03D7-2D4F-F31D1DFD6F85}"/>
              </a:ext>
            </a:extLst>
          </p:cNvPr>
          <p:cNvCxnSpPr>
            <a:cxnSpLocks/>
          </p:cNvCxnSpPr>
          <p:nvPr/>
        </p:nvCxnSpPr>
        <p:spPr>
          <a:xfrm flipH="1">
            <a:off x="5052291" y="5726544"/>
            <a:ext cx="8774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974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EEBE27-2089-8658-8E1C-BE5BB40B6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2400" dirty="0" err="1"/>
                  <a:t>where</a:t>
                </a:r>
                <a:r>
                  <a:rPr lang="de-DE" sz="2400" dirty="0"/>
                  <a:t>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0,  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      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  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 algn="ctr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num>
                              <m:den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4419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0A9BED-36D9-F6D5-0FB2-03A0B3657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/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Transformation </a:t>
                </a:r>
                <a:r>
                  <a:rPr lang="de-DE" dirty="0" err="1"/>
                  <a:t>table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↦1−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blipFill>
                <a:blip r:embed="rId3"/>
                <a:stretch>
                  <a:fillRect l="-2186" t="-2151" r="-10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/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blipFill>
                <a:blip r:embed="rId4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974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991F3DA-F3CC-74FD-02C3-50B802FF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Response </a:t>
            </a:r>
            <a:r>
              <a:rPr lang="de-DE" dirty="0" err="1"/>
              <a:t>with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4642B1-11C5-4647-A145-4CED7244D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EF41D7CB-C624-51DE-5592-461ECED117E3}"/>
              </a:ext>
            </a:extLst>
          </p:cNvPr>
          <p:cNvGrpSpPr/>
          <p:nvPr/>
        </p:nvGrpSpPr>
        <p:grpSpPr>
          <a:xfrm>
            <a:off x="2520988" y="2136261"/>
            <a:ext cx="4951767" cy="3774516"/>
            <a:chOff x="2551546" y="2435360"/>
            <a:chExt cx="4951767" cy="37745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/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Differential </a:t>
                  </a:r>
                  <a:r>
                    <a:rPr lang="de-DE" sz="2000" dirty="0" err="1"/>
                    <a:t>equation</a:t>
                  </a:r>
                  <a:endParaRPr lang="de-DE" sz="2000" dirty="0"/>
                </a:p>
                <a:p>
                  <a:pPr algn="ctr"/>
                  <a:r>
                    <a:rPr lang="de-DE" sz="2000" dirty="0"/>
                    <a:t>(</a:t>
                  </a:r>
                  <a:r>
                    <a:rPr lang="de-DE" sz="2000" dirty="0" err="1"/>
                    <a:t>with</a:t>
                  </a:r>
                  <a:r>
                    <a:rPr lang="de-DE" sz="2000" dirty="0"/>
                    <a:t> </a:t>
                  </a:r>
                  <a14:m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de-DE" sz="2000" b="0" i="0" dirty="0" smtClean="0"/>
                        <m:t>)</m:t>
                      </m:r>
                    </m:oMath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/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Abgerundetes Rechteck 7">
              <a:extLst>
                <a:ext uri="{FF2B5EF4-FFF2-40B4-BE49-F238E27FC236}">
                  <a16:creationId xmlns:a16="http://schemas.microsoft.com/office/drawing/2014/main" id="{3407EC1A-17C8-7B8B-9BBE-08EF60B28A4E}"/>
                </a:ext>
              </a:extLst>
            </p:cNvPr>
            <p:cNvSpPr/>
            <p:nvPr/>
          </p:nvSpPr>
          <p:spPr>
            <a:xfrm>
              <a:off x="2551546" y="4953731"/>
              <a:ext cx="1634836" cy="125614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 err="1"/>
                <a:t>Algebraic</a:t>
              </a:r>
              <a:r>
                <a:rPr lang="de-DE" sz="2000" dirty="0"/>
                <a:t> </a:t>
              </a:r>
              <a:r>
                <a:rPr lang="de-DE" sz="2000" dirty="0" err="1"/>
                <a:t>equation</a:t>
              </a:r>
              <a:endParaRPr lang="de-DE" sz="20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/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  <a:endParaRPr lang="de-DE" sz="13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)∙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1300" dirty="0"/>
                </a:p>
              </p:txBody>
            </p:sp>
          </mc:Choice>
          <mc:Fallback xmlns="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/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29167" r="-25000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/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de-DE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13208" t="-2941" r="-3774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Pfeil nach unten 12">
              <a:extLst>
                <a:ext uri="{FF2B5EF4-FFF2-40B4-BE49-F238E27FC236}">
                  <a16:creationId xmlns:a16="http://schemas.microsoft.com/office/drawing/2014/main" id="{C4E8C679-6F33-E58A-FEB1-A159C0C7BC4F}"/>
                </a:ext>
              </a:extLst>
            </p:cNvPr>
            <p:cNvSpPr/>
            <p:nvPr/>
          </p:nvSpPr>
          <p:spPr>
            <a:xfrm>
              <a:off x="3071091" y="3928676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4" name="Pfeil nach unten 13">
              <a:extLst>
                <a:ext uri="{FF2B5EF4-FFF2-40B4-BE49-F238E27FC236}">
                  <a16:creationId xmlns:a16="http://schemas.microsoft.com/office/drawing/2014/main" id="{8CFD042A-E7A7-B998-A994-E185236A30FF}"/>
                </a:ext>
              </a:extLst>
            </p:cNvPr>
            <p:cNvSpPr/>
            <p:nvPr/>
          </p:nvSpPr>
          <p:spPr>
            <a:xfrm rot="16200000">
              <a:off x="4613603" y="5175402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5" name="Pfeil nach unten 14">
              <a:extLst>
                <a:ext uri="{FF2B5EF4-FFF2-40B4-BE49-F238E27FC236}">
                  <a16:creationId xmlns:a16="http://schemas.microsoft.com/office/drawing/2014/main" id="{6735BAF9-E180-5535-F394-C0ED2EB85AEB}"/>
                </a:ext>
              </a:extLst>
            </p:cNvPr>
            <p:cNvSpPr/>
            <p:nvPr/>
          </p:nvSpPr>
          <p:spPr>
            <a:xfrm rot="10800000">
              <a:off x="6156114" y="3916218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5DCA6251-648F-272C-D284-5854FDFF9B09}"/>
              </a:ext>
            </a:extLst>
          </p:cNvPr>
          <p:cNvSpPr txBox="1"/>
          <p:nvPr/>
        </p:nvSpPr>
        <p:spPr>
          <a:xfrm>
            <a:off x="8968685" y="3820533"/>
            <a:ext cx="258006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most</a:t>
            </a:r>
            <a:r>
              <a:rPr lang="de-DE" sz="2200" dirty="0"/>
              <a:t> </a:t>
            </a:r>
            <a:r>
              <a:rPr lang="de-DE" sz="2200" dirty="0" err="1"/>
              <a:t>elaborate</a:t>
            </a:r>
            <a:r>
              <a:rPr lang="de-DE" sz="2200" dirty="0"/>
              <a:t> </a:t>
            </a:r>
            <a:r>
              <a:rPr lang="de-DE" sz="2200" dirty="0" err="1"/>
              <a:t>part</a:t>
            </a:r>
            <a:endParaRPr lang="de-DE" sz="2200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53CAC93A-0896-9F37-36E4-DF895F5CCD44}"/>
              </a:ext>
            </a:extLst>
          </p:cNvPr>
          <p:cNvCxnSpPr>
            <a:stCxn id="17" idx="1"/>
            <a:endCxn id="12" idx="3"/>
          </p:cNvCxnSpPr>
          <p:nvPr/>
        </p:nvCxnSpPr>
        <p:spPr>
          <a:xfrm flipH="1" flipV="1">
            <a:off x="7472755" y="3985967"/>
            <a:ext cx="1495930" cy="50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7435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9FF17A-ACAD-0C7F-FA2D-2E1F656A4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in Polynomial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de-DE" sz="18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f>
                            <m:f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sSup>
                            <m:s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𝜁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den>
                          </m:f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…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sz="1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p>
                          <m:sSup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∏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num>
                      <m:den>
                        <m:nary>
                          <m:naryPr>
                            <m:chr m:val="∏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den>
                    </m:f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581" b="-95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01D8AB-1A6B-3BA3-1ABE-B24A0DAC5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/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numerator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sz="2400" dirty="0"/>
                  <a:t> zeros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blipFill>
                <a:blip r:embed="rId3"/>
                <a:stretch>
                  <a:fillRect l="-2424" t="-7895" b="-289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/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denominator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sz="2400" dirty="0"/>
                  <a:t> poles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blipFill>
                <a:blip r:embed="rId4"/>
                <a:stretch>
                  <a:fillRect l="-2279" t="-7500" b="-2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9808AD5-7B95-DF7C-8A21-F1067736C967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4465558" y="5335480"/>
            <a:ext cx="848464" cy="126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E7EC522-CE07-C335-C674-FF6647DCCCB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4465558" y="5705681"/>
            <a:ext cx="848464" cy="325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A24B6BD-9064-2C10-584D-40EE55520987}"/>
              </a:ext>
            </a:extLst>
          </p:cNvPr>
          <p:cNvSpPr txBox="1"/>
          <p:nvPr/>
        </p:nvSpPr>
        <p:spPr>
          <a:xfrm>
            <a:off x="8308285" y="1954045"/>
            <a:ext cx="33280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Input </a:t>
            </a:r>
            <a:r>
              <a:rPr lang="de-DE" dirty="0" err="1"/>
              <a:t>coupling</a:t>
            </a:r>
            <a:r>
              <a:rPr lang="de-DE" dirty="0"/>
              <a:t>:</a:t>
            </a:r>
          </a:p>
          <a:p>
            <a:r>
              <a:rPr lang="de-DE" dirty="0" err="1"/>
              <a:t>describes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enters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(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contain</a:t>
            </a:r>
            <a:r>
              <a:rPr lang="de-DE" dirty="0"/>
              <a:t> time derivatives)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FA35AC8-6DFE-7D78-25F3-032E358E4CDE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6684885" y="2554210"/>
            <a:ext cx="1623400" cy="459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0007549E-73E3-87CB-1FFB-C3A6797BD7AC}"/>
              </a:ext>
            </a:extLst>
          </p:cNvPr>
          <p:cNvSpPr txBox="1"/>
          <p:nvPr/>
        </p:nvSpPr>
        <p:spPr>
          <a:xfrm>
            <a:off x="8313118" y="4211011"/>
            <a:ext cx="33280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Intrinsic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</a:t>
            </a:r>
          </a:p>
          <a:p>
            <a:r>
              <a:rPr lang="de-DE" dirty="0" err="1">
                <a:ea typeface="Cambria Math" panose="02040503050406030204" pitchFamily="18" charset="0"/>
              </a:rPr>
              <a:t>characteristic</a:t>
            </a:r>
            <a:r>
              <a:rPr lang="de-DE" dirty="0">
                <a:ea typeface="Cambria Math" panose="02040503050406030204" pitchFamily="18" charset="0"/>
              </a:rPr>
              <a:t> polynomial </a:t>
            </a:r>
            <a:r>
              <a:rPr lang="de-DE" dirty="0" err="1">
                <a:ea typeface="Cambria Math" panose="02040503050406030204" pitchFamily="18" charset="0"/>
              </a:rPr>
              <a:t>of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the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system</a:t>
            </a:r>
            <a:endParaRPr lang="de-DE" dirty="0">
              <a:ea typeface="Cambria Math" panose="02040503050406030204" pitchFamily="18" charset="0"/>
            </a:endParaRP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70D907F-98BE-B745-4EF4-F0622F63A468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6684885" y="4031624"/>
            <a:ext cx="1628233" cy="641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/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blipFill>
                <a:blip r:embed="rId5"/>
                <a:stretch>
                  <a:fillRect l="-8065" t="-2174" b="-65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89A852-5C2C-AFAE-3C9A-7227CE29D482}"/>
              </a:ext>
            </a:extLst>
          </p:cNvPr>
          <p:cNvCxnSpPr/>
          <p:nvPr/>
        </p:nvCxnSpPr>
        <p:spPr>
          <a:xfrm flipV="1">
            <a:off x="2532356" y="5809605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feil nach unten 25">
            <a:extLst>
              <a:ext uri="{FF2B5EF4-FFF2-40B4-BE49-F238E27FC236}">
                <a16:creationId xmlns:a16="http://schemas.microsoft.com/office/drawing/2014/main" id="{07119AE8-4867-2072-86D0-2F22E8B120B3}"/>
              </a:ext>
            </a:extLst>
          </p:cNvPr>
          <p:cNvSpPr/>
          <p:nvPr/>
        </p:nvSpPr>
        <p:spPr>
          <a:xfrm>
            <a:off x="3205267" y="4253193"/>
            <a:ext cx="320040" cy="53080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E383E774-549A-E483-8278-4F4E3B0384CE}"/>
              </a:ext>
            </a:extLst>
          </p:cNvPr>
          <p:cNvSpPr txBox="1"/>
          <p:nvPr/>
        </p:nvSpPr>
        <p:spPr>
          <a:xfrm>
            <a:off x="838200" y="4137669"/>
            <a:ext cx="2404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fundamental </a:t>
            </a:r>
            <a:r>
              <a:rPr lang="de-DE" dirty="0" err="1"/>
              <a:t>theorem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algebra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/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blipFill>
                <a:blip r:embed="rId6"/>
                <a:stretch>
                  <a:fillRect l="-6667" t="-2174" r="-3333"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DAA396B-1C04-92B8-3C0F-1507F5A0BB25}"/>
              </a:ext>
            </a:extLst>
          </p:cNvPr>
          <p:cNvCxnSpPr/>
          <p:nvPr/>
        </p:nvCxnSpPr>
        <p:spPr>
          <a:xfrm flipV="1">
            <a:off x="5277446" y="3911320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/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/>
                  <a:t>Causality</a:t>
                </a:r>
                <a:r>
                  <a:rPr lang="de-DE" dirty="0"/>
                  <a:t>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cannot</a:t>
                </a:r>
                <a:r>
                  <a:rPr lang="de-DE" dirty="0"/>
                  <a:t> </a:t>
                </a:r>
                <a:r>
                  <a:rPr lang="de-DE" dirty="0" err="1"/>
                  <a:t>depend</a:t>
                </a:r>
                <a:r>
                  <a:rPr lang="de-DE" dirty="0"/>
                  <a:t> on derivative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blipFill>
                <a:blip r:embed="rId7"/>
                <a:stretch>
                  <a:fillRect l="-713" t="-6667" r="-535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47039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94C2F39-66B5-B156-C7D8-FFEC26701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Interpretation </a:t>
            </a:r>
            <a:r>
              <a:rPr lang="de-DE" dirty="0" err="1"/>
              <a:t>of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CFDD05-DD21-A524-7C62-511A9043C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7BC7395-9AD6-548C-CA25-8438970BA01D}"/>
              </a:ext>
            </a:extLst>
          </p:cNvPr>
          <p:cNvSpPr txBox="1"/>
          <p:nvPr/>
        </p:nvSpPr>
        <p:spPr>
          <a:xfrm>
            <a:off x="7772400" y="2905780"/>
            <a:ext cx="32447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Contains</a:t>
            </a:r>
            <a:r>
              <a:rPr lang="de-DE" sz="2800" dirty="0"/>
              <a:t> (</a:t>
            </a:r>
            <a:r>
              <a:rPr lang="de-DE" sz="2800" dirty="0" err="1"/>
              <a:t>complex</a:t>
            </a:r>
            <a:r>
              <a:rPr lang="de-DE" sz="2800" dirty="0"/>
              <a:t>) </a:t>
            </a:r>
            <a:r>
              <a:rPr lang="de-DE" sz="2800" dirty="0" err="1"/>
              <a:t>poles</a:t>
            </a:r>
            <a:r>
              <a:rPr lang="de-DE" sz="2800" dirty="0"/>
              <a:t> and </a:t>
            </a:r>
            <a:r>
              <a:rPr lang="de-DE" sz="2800" dirty="0" err="1"/>
              <a:t>zeros</a:t>
            </a:r>
            <a:endParaRPr lang="de-DE" sz="2800" dirty="0"/>
          </a:p>
        </p:txBody>
      </p:sp>
      <p:pic>
        <p:nvPicPr>
          <p:cNvPr id="11" name="Grafik 10" descr="Ein Bild, das Entwurf, Zeichnung, Origami, Diagramm enthält.&#10;&#10;KI-generierte Inhalte können fehlerhaft sein.">
            <a:extLst>
              <a:ext uri="{FF2B5EF4-FFF2-40B4-BE49-F238E27FC236}">
                <a16:creationId xmlns:a16="http://schemas.microsoft.com/office/drawing/2014/main" id="{3D23335F-E8F4-5BBE-5C33-FFBA307EF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" y="1867190"/>
            <a:ext cx="7772400" cy="4926802"/>
          </a:xfrm>
          <a:prstGeom prst="rect">
            <a:avLst/>
          </a:prstGeom>
        </p:spPr>
      </p:pic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2DAEBF4-5B96-EE5A-BA87-C11634B61553}"/>
              </a:ext>
            </a:extLst>
          </p:cNvPr>
          <p:cNvCxnSpPr>
            <a:cxnSpLocks/>
          </p:cNvCxnSpPr>
          <p:nvPr/>
        </p:nvCxnSpPr>
        <p:spPr>
          <a:xfrm flipH="1" flipV="1">
            <a:off x="4361688" y="2359152"/>
            <a:ext cx="3474720" cy="12185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F775822-432D-14E6-8B7A-C99F8178B959}"/>
              </a:ext>
            </a:extLst>
          </p:cNvPr>
          <p:cNvCxnSpPr>
            <a:cxnSpLocks/>
          </p:cNvCxnSpPr>
          <p:nvPr/>
        </p:nvCxnSpPr>
        <p:spPr>
          <a:xfrm flipH="1">
            <a:off x="4700016" y="3754203"/>
            <a:ext cx="4683681" cy="1805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E9F35980-4FB8-8C83-8890-0BE0F122F982}"/>
              </a:ext>
            </a:extLst>
          </p:cNvPr>
          <p:cNvSpPr txBox="1"/>
          <p:nvPr/>
        </p:nvSpPr>
        <p:spPr>
          <a:xfrm>
            <a:off x="2565647" y="1594273"/>
            <a:ext cx="1601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conjugate</a:t>
            </a:r>
            <a:r>
              <a:rPr lang="de-DE" dirty="0"/>
              <a:t> pair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A1A1B52-A664-2747-84E1-5B16A525A004}"/>
              </a:ext>
            </a:extLst>
          </p:cNvPr>
          <p:cNvCxnSpPr/>
          <p:nvPr/>
        </p:nvCxnSpPr>
        <p:spPr>
          <a:xfrm>
            <a:off x="3373515" y="1970843"/>
            <a:ext cx="834501" cy="284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8F829F5-2C4D-FD2F-F5C2-3F0092C14AC7}"/>
              </a:ext>
            </a:extLst>
          </p:cNvPr>
          <p:cNvCxnSpPr>
            <a:cxnSpLocks/>
          </p:cNvCxnSpPr>
          <p:nvPr/>
        </p:nvCxnSpPr>
        <p:spPr>
          <a:xfrm flipH="1">
            <a:off x="3204839" y="1963605"/>
            <a:ext cx="161636" cy="4688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231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6F4967-3130-B3F1-64CE-102AB64E9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Poles and 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complex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poles</a:t>
                </a:r>
                <a:r>
                  <a:rPr lang="de-DE" sz="2600" dirty="0"/>
                  <a:t>/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always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appear</a:t>
                </a:r>
                <a:r>
                  <a:rPr lang="de-DE" sz="2600" dirty="0"/>
                  <a:t> in </a:t>
                </a:r>
                <a:r>
                  <a:rPr lang="de-DE" sz="2600" dirty="0" err="1"/>
                  <a:t>conjugate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pairs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coefficients</a:t>
                </a:r>
                <a:r>
                  <a:rPr lang="de-DE" sz="2600" dirty="0"/>
                  <a:t> in differential </a:t>
                </a:r>
                <a:r>
                  <a:rPr lang="de-DE" sz="2600" dirty="0" err="1"/>
                  <a:t>equations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Poles </a:t>
                </a:r>
                <a:r>
                  <a:rPr lang="de-DE" sz="2600" dirty="0" err="1"/>
                  <a:t>determine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system’s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natural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𝑝𝑖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,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</a:rPr>
                          <m:t>hom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nary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Zeros </a:t>
                </a:r>
                <a:r>
                  <a:rPr lang="de-DE" sz="2600" dirty="0" err="1"/>
                  <a:t>shape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forced</a:t>
                </a:r>
                <a:r>
                  <a:rPr lang="de-DE" sz="2600" dirty="0"/>
                  <a:t> (input-</a:t>
                </a:r>
                <a:r>
                  <a:rPr lang="de-DE" sz="2600" dirty="0" err="1"/>
                  <a:t>driven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9FD451-8B55-FF13-9926-81C399F00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/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</m:d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blipFill>
                <a:blip r:embed="rId3"/>
                <a:stretch>
                  <a:fillRect b="-882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3F634B3A-D0D9-775A-F3DD-562AF0D54C5E}"/>
              </a:ext>
            </a:extLst>
          </p:cNvPr>
          <p:cNvSpPr txBox="1"/>
          <p:nvPr/>
        </p:nvSpPr>
        <p:spPr>
          <a:xfrm>
            <a:off x="8973705" y="5141798"/>
            <a:ext cx="247862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More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…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B9B69A3-FC84-A46A-7F08-579BF2031417}"/>
              </a:ext>
            </a:extLst>
          </p:cNvPr>
          <p:cNvSpPr txBox="1"/>
          <p:nvPr/>
        </p:nvSpPr>
        <p:spPr>
          <a:xfrm>
            <a:off x="9982200" y="405629"/>
            <a:ext cx="162288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PT1: </a:t>
            </a:r>
            <a:r>
              <a:rPr lang="de-DE" dirty="0" err="1"/>
              <a:t>one</a:t>
            </a:r>
            <a:r>
              <a:rPr lang="de-DE" dirty="0"/>
              <a:t> pole</a:t>
            </a:r>
          </a:p>
          <a:p>
            <a:r>
              <a:rPr lang="de-DE" dirty="0"/>
              <a:t>PT2: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poles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1564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FCA0B-0590-B36D-0C61-9DF2C0CE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085116-0531-3B25-1AD7-9FEC807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/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/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blipFill>
                <a:blip r:embed="rId3"/>
                <a:stretch>
                  <a:fillRect r="-3750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/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blipFill>
                <a:blip r:embed="rId4"/>
                <a:stretch>
                  <a:fillRect r="-3846" b="-1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5DDEB57-A4D8-0697-58DC-6AA68A82D2FE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4034118" y="3429000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1DBC24DB-981A-7369-A0B6-3DDFB5038549}"/>
              </a:ext>
            </a:extLst>
          </p:cNvPr>
          <p:cNvCxnSpPr>
            <a:cxnSpLocks/>
          </p:cNvCxnSpPr>
          <p:nvPr/>
        </p:nvCxnSpPr>
        <p:spPr>
          <a:xfrm>
            <a:off x="6265818" y="3458739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F5F19AC-2525-194E-CCAF-727E3C9C45D3}"/>
              </a:ext>
            </a:extLst>
          </p:cNvPr>
          <p:cNvSpPr txBox="1"/>
          <p:nvPr/>
        </p:nvSpPr>
        <p:spPr>
          <a:xfrm>
            <a:off x="3738538" y="5063490"/>
            <a:ext cx="38929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/>
              <a:t>Modular </a:t>
            </a:r>
            <a:r>
              <a:rPr lang="de-DE" sz="2800" dirty="0" err="1"/>
              <a:t>representation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7633200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4509E-E7E1-0210-2281-CCC9203C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</a:t>
            </a:r>
            <a:r>
              <a:rPr lang="de-DE" dirty="0"/>
              <a:t> Algebra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6C87ED-FF23-89FE-8CE1-3889D8FB3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pic>
        <p:nvPicPr>
          <p:cNvPr id="6" name="Grafik 5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575BE577-3716-947E-23B2-F80FB14846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4966624" cy="2393896"/>
          </a:xfrm>
          <a:prstGeom prst="rect">
            <a:avLst/>
          </a:prstGeom>
        </p:spPr>
      </p:pic>
      <p:pic>
        <p:nvPicPr>
          <p:cNvPr id="8" name="Grafik 7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F0E4D41F-7CB3-580D-FDA7-6868FCF47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437894"/>
            <a:ext cx="6347012" cy="228358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A6DAF4C-271F-9B13-70E3-25562F5AE3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5740" y="1689293"/>
            <a:ext cx="4339094" cy="274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68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Diagramm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791EA583-7073-0F68-3004-F9F921AC68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03580"/>
            <a:ext cx="7772400" cy="4589295"/>
          </a:xfrm>
          <a:prstGeom prst="rect">
            <a:avLst/>
          </a:prstGeom>
        </p:spPr>
      </p:pic>
      <p:sp>
        <p:nvSpPr>
          <p:cNvPr id="14" name="Abgerundetes Rechteck 13">
            <a:extLst>
              <a:ext uri="{FF2B5EF4-FFF2-40B4-BE49-F238E27FC236}">
                <a16:creationId xmlns:a16="http://schemas.microsoft.com/office/drawing/2014/main" id="{D9687877-49B6-A887-8A5B-033A185CED8A}"/>
              </a:ext>
            </a:extLst>
          </p:cNvPr>
          <p:cNvSpPr/>
          <p:nvPr/>
        </p:nvSpPr>
        <p:spPr>
          <a:xfrm>
            <a:off x="3001703" y="3699641"/>
            <a:ext cx="4520570" cy="74623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4F634FB-12C6-E4A4-0192-D21C3C58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774033-957C-A897-7272-B390B212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5BD6DC8-0230-2D8D-E6FB-9B0338382128}"/>
              </a:ext>
            </a:extLst>
          </p:cNvPr>
          <p:cNvSpPr txBox="1"/>
          <p:nvPr/>
        </p:nvSpPr>
        <p:spPr>
          <a:xfrm>
            <a:off x="5511109" y="3845992"/>
            <a:ext cx="749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PT1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32278DB-9F2A-EE9F-C943-4CA068A308F6}"/>
              </a:ext>
            </a:extLst>
          </p:cNvPr>
          <p:cNvSpPr txBox="1"/>
          <p:nvPr/>
        </p:nvSpPr>
        <p:spPr>
          <a:xfrm>
            <a:off x="6772901" y="3845992"/>
            <a:ext cx="749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PT1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7B61BB7-96D1-737B-BDFA-11D6DA06D64F}"/>
              </a:ext>
            </a:extLst>
          </p:cNvPr>
          <p:cNvSpPr txBox="1"/>
          <p:nvPr/>
        </p:nvSpPr>
        <p:spPr>
          <a:xfrm>
            <a:off x="4157116" y="3845992"/>
            <a:ext cx="749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PT2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5AD086E-7AED-8FF6-4098-C823AEF4A138}"/>
              </a:ext>
            </a:extLst>
          </p:cNvPr>
          <p:cNvCxnSpPr/>
          <p:nvPr/>
        </p:nvCxnSpPr>
        <p:spPr>
          <a:xfrm>
            <a:off x="4498428" y="4369212"/>
            <a:ext cx="0" cy="822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D60CC58D-A27A-ECC1-ABCC-47D14641926A}"/>
              </a:ext>
            </a:extLst>
          </p:cNvPr>
          <p:cNvCxnSpPr>
            <a:cxnSpLocks/>
          </p:cNvCxnSpPr>
          <p:nvPr/>
        </p:nvCxnSpPr>
        <p:spPr>
          <a:xfrm>
            <a:off x="5686098" y="4369212"/>
            <a:ext cx="0" cy="822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3EFFABF6-35F9-2CB9-25C3-5DA2BDF1F637}"/>
              </a:ext>
            </a:extLst>
          </p:cNvPr>
          <p:cNvCxnSpPr/>
          <p:nvPr/>
        </p:nvCxnSpPr>
        <p:spPr>
          <a:xfrm>
            <a:off x="6942084" y="4369212"/>
            <a:ext cx="0" cy="822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6EF22397-690D-CEF9-C49A-C2294EE95E9C}"/>
              </a:ext>
            </a:extLst>
          </p:cNvPr>
          <p:cNvSpPr txBox="1"/>
          <p:nvPr/>
        </p:nvSpPr>
        <p:spPr>
          <a:xfrm>
            <a:off x="3001703" y="3922936"/>
            <a:ext cx="1101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484346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82CCDB-22CC-281C-FF3B-8FCF564DD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847D79-D206-88A7-AE9A-827A142A9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pic>
        <p:nvPicPr>
          <p:cNvPr id="5" name="Grafik 4" descr="Ein Bild, das Diagramm, Schrift, Reihe enthält.&#10;&#10;KI-generierte Inhalte können fehlerhaft sein.">
            <a:extLst>
              <a:ext uri="{FF2B5EF4-FFF2-40B4-BE49-F238E27FC236}">
                <a16:creationId xmlns:a16="http://schemas.microsoft.com/office/drawing/2014/main" id="{C41CE227-16CA-55E5-6E3C-DA3C06B66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54163"/>
            <a:ext cx="4974342" cy="5167312"/>
          </a:xfrm>
          <a:prstGeom prst="rect">
            <a:avLst/>
          </a:prstGeom>
        </p:spPr>
      </p:pic>
      <p:pic>
        <p:nvPicPr>
          <p:cNvPr id="4" name="Picture 2" descr="undefined">
            <a:extLst>
              <a:ext uri="{FF2B5EF4-FFF2-40B4-BE49-F238E27FC236}">
                <a16:creationId xmlns:a16="http://schemas.microsoft.com/office/drawing/2014/main" id="{C0FB5DB8-43D0-BB4E-B0D2-2360F5E1F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8806" y="3027562"/>
            <a:ext cx="5619123" cy="1998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7613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508E0-7B7E-4B43-2546-AEE206214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F714173-BB8F-B62F-E010-E8378845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pic>
        <p:nvPicPr>
          <p:cNvPr id="5" name="Grafik 4" descr="Ein Bild, das Diagramm, Reihe, Schrift, Rechteck enthält.&#10;&#10;KI-generierte Inhalte können fehlerhaft sein.">
            <a:extLst>
              <a:ext uri="{FF2B5EF4-FFF2-40B4-BE49-F238E27FC236}">
                <a16:creationId xmlns:a16="http://schemas.microsoft.com/office/drawing/2014/main" id="{BED82633-90FE-570B-EC32-F2379AF5F6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134" y="1546247"/>
            <a:ext cx="5260534" cy="51752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D637DFE1-5DC8-845D-B96C-295954D14241}"/>
                  </a:ext>
                </a:extLst>
              </p:cNvPr>
              <p:cNvSpPr txBox="1"/>
              <p:nvPr/>
            </p:nvSpPr>
            <p:spPr>
              <a:xfrm>
                <a:off x="6211668" y="2020398"/>
                <a:ext cx="5825697" cy="35217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e-DE" sz="2400" b="0" dirty="0">
                  <a:ea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de-DE" sz="2400" b="0" dirty="0">
                  <a:ea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D637DFE1-5DC8-845D-B96C-295954D14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1668" y="2020398"/>
                <a:ext cx="5825697" cy="3521733"/>
              </a:xfrm>
              <a:prstGeom prst="rect">
                <a:avLst/>
              </a:prstGeom>
              <a:blipFill>
                <a:blip r:embed="rId3"/>
                <a:stretch>
                  <a:fillRect b="-3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6D319F34-84D6-0BE4-5FC9-E856E7A6B88D}"/>
              </a:ext>
            </a:extLst>
          </p:cNvPr>
          <p:cNvSpPr txBox="1"/>
          <p:nvPr/>
        </p:nvSpPr>
        <p:spPr>
          <a:xfrm>
            <a:off x="523981" y="4376791"/>
            <a:ext cx="1239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unity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BC000A4-65B7-5DDF-9EE8-6DA9A545C94C}"/>
              </a:ext>
            </a:extLst>
          </p:cNvPr>
          <p:cNvCxnSpPr/>
          <p:nvPr/>
        </p:nvCxnSpPr>
        <p:spPr>
          <a:xfrm flipV="1">
            <a:off x="1777429" y="4232953"/>
            <a:ext cx="955497" cy="3184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19256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A78D5-067E-21F1-2645-890D26DEF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EDEC18C-E4CF-465B-E3BA-BAAD31B5AC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inputs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r>
                  <a:rPr lang="de-DE" dirty="0"/>
                  <a:t>Amplitude and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EDEC18C-E4CF-465B-E3BA-BAAD31B5A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C4FAB9-93C0-FAFE-8178-BA614380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p:pic>
        <p:nvPicPr>
          <p:cNvPr id="6" name="Grafik 5" descr="Ein Bild, das Reihe, Diagramm, Schrift, Text enthält.&#10;&#10;KI-generierte Inhalte können fehlerhaft sein.">
            <a:extLst>
              <a:ext uri="{FF2B5EF4-FFF2-40B4-BE49-F238E27FC236}">
                <a16:creationId xmlns:a16="http://schemas.microsoft.com/office/drawing/2014/main" id="{399C5ED7-6CFC-B786-AD6C-AE178645B0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2151" y="3429000"/>
            <a:ext cx="5318449" cy="342900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24DA6AE-440B-E2D6-22B2-A2A6EECC83FE}"/>
              </a:ext>
            </a:extLst>
          </p:cNvPr>
          <p:cNvSpPr txBox="1"/>
          <p:nvPr/>
        </p:nvSpPr>
        <p:spPr>
          <a:xfrm>
            <a:off x="5015478" y="3059668"/>
            <a:ext cx="1871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Nyquist</a:t>
            </a:r>
            <a:r>
              <a:rPr lang="de-DE" dirty="0"/>
              <a:t> </a:t>
            </a:r>
            <a:r>
              <a:rPr lang="de-DE" dirty="0" err="1"/>
              <a:t>diagram</a:t>
            </a:r>
            <a:r>
              <a:rPr lang="de-DE" dirty="0"/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618FC8D-F656-BCC3-0343-18B5C60E892F}"/>
              </a:ext>
            </a:extLst>
          </p:cNvPr>
          <p:cNvSpPr txBox="1"/>
          <p:nvPr/>
        </p:nvSpPr>
        <p:spPr>
          <a:xfrm>
            <a:off x="7142480" y="311705"/>
            <a:ext cx="457817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response</a:t>
            </a:r>
            <a:r>
              <a:rPr lang="de-DE" dirty="0"/>
              <a:t> = transient </a:t>
            </a:r>
            <a:r>
              <a:rPr lang="de-DE" dirty="0" err="1"/>
              <a:t>part</a:t>
            </a:r>
            <a:r>
              <a:rPr lang="de-DE" dirty="0"/>
              <a:t> +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part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A91FE63-60A8-A252-682D-9336A8319657}"/>
              </a:ext>
            </a:extLst>
          </p:cNvPr>
          <p:cNvCxnSpPr/>
          <p:nvPr/>
        </p:nvCxnSpPr>
        <p:spPr>
          <a:xfrm flipH="1">
            <a:off x="7457440" y="609600"/>
            <a:ext cx="3210560" cy="14528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98819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C6D322-35CE-E406-E736-C42B96BB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Bode Plots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A8D483-42E5-4829-8E46-019410D93D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4193" y="1750900"/>
                <a:ext cx="5391807" cy="46054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dirty="0"/>
                  <a:t>):</a:t>
                </a: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endParaRPr lang="de-DE" b="0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e>
                        </m:d>
                      </m:e>
                    </m:func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Magnitude (dB) </a:t>
                </a:r>
                <a:r>
                  <a:rPr lang="de-DE" dirty="0" err="1"/>
                  <a:t>vs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Phase </a:t>
                </a:r>
                <a:r>
                  <a:rPr lang="de-DE" dirty="0" err="1"/>
                  <a:t>vs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Both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logarithmic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A8D483-42E5-4829-8E46-019410D93D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4193" y="1750900"/>
                <a:ext cx="5391807" cy="4605449"/>
              </a:xfrm>
              <a:blipFill>
                <a:blip r:embed="rId2"/>
                <a:stretch>
                  <a:fillRect l="-2347" t="-2198" b="-27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71EA5C-6E4F-2473-04F2-AEB71790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  <p:pic>
        <p:nvPicPr>
          <p:cNvPr id="6" name="Grafik 5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0F640E51-9C5C-ED2F-1E43-FF8C39C299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8308" y="1690688"/>
            <a:ext cx="6173692" cy="43513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9A62419-3F1C-2A25-DCE0-BB372E992F5A}"/>
                  </a:ext>
                </a:extLst>
              </p:cNvPr>
              <p:cNvSpPr txBox="1"/>
              <p:nvPr/>
            </p:nvSpPr>
            <p:spPr>
              <a:xfrm>
                <a:off x="7657546" y="136998"/>
                <a:ext cx="2895216" cy="1613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	</a:t>
                </a:r>
                <a:r>
                  <a:rPr lang="de-DE" dirty="0" err="1"/>
                  <a:t>Example</a:t>
                </a:r>
                <a:r>
                  <a:rPr lang="de-DE" dirty="0"/>
                  <a:t> PT1:</a:t>
                </a:r>
                <a:endParaRPr lang="de-DE" dirty="0">
                  <a:sym typeface="Wingdings" pitchFamily="2" charset="2"/>
                </a:endParaRPr>
              </a:p>
              <a:p>
                <a:r>
                  <a:rPr lang="de-DE" b="0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𝑗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𝜔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dirty="0"/>
                  <a:t>	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  <a:endParaRPr lang="de-DE" dirty="0"/>
              </a:p>
              <a:p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de-DE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de-DE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9A62419-3F1C-2A25-DCE0-BB372E992F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7546" y="136998"/>
                <a:ext cx="2895216" cy="1613903"/>
              </a:xfrm>
              <a:prstGeom prst="rect">
                <a:avLst/>
              </a:prstGeom>
              <a:blipFill>
                <a:blip r:embed="rId4"/>
                <a:stretch>
                  <a:fillRect t="-15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893BC0F-A51C-13AB-156F-830335359AFA}"/>
                  </a:ext>
                </a:extLst>
              </p:cNvPr>
              <p:cNvSpPr txBox="1"/>
              <p:nvPr/>
            </p:nvSpPr>
            <p:spPr>
              <a:xfrm>
                <a:off x="7104316" y="2646919"/>
                <a:ext cx="176644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893BC0F-A51C-13AB-156F-830335359A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4316" y="2646919"/>
                <a:ext cx="1766446" cy="369332"/>
              </a:xfrm>
              <a:prstGeom prst="rect">
                <a:avLst/>
              </a:prstGeom>
              <a:blipFill>
                <a:blip r:embed="rId5"/>
                <a:stretch>
                  <a:fillRect l="-3571" t="-3333" b="-3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93E65824-7D56-0666-92FF-AEC1EC445B26}"/>
                  </a:ext>
                </a:extLst>
              </p:cNvPr>
              <p:cNvSpPr txBox="1"/>
              <p:nvPr/>
            </p:nvSpPr>
            <p:spPr>
              <a:xfrm>
                <a:off x="9392686" y="4455548"/>
                <a:ext cx="19611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93E65824-7D56-0666-92FF-AEC1EC445B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2686" y="4455548"/>
                <a:ext cx="1961114" cy="369332"/>
              </a:xfrm>
              <a:prstGeom prst="rect">
                <a:avLst/>
              </a:prstGeom>
              <a:blipFill>
                <a:blip r:embed="rId6"/>
                <a:stretch>
                  <a:fillRect l="-3205" t="-3333" r="-4487" b="-3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27782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2519C2-5674-2455-AD55-B1B91ADAE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Common Magnitude Unit: </a:t>
            </a:r>
            <a:r>
              <a:rPr lang="de-DE" dirty="0" err="1"/>
              <a:t>Decibel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10C005D-C1B5-F5D2-7728-38D64A2AD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Ratio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two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power </a:t>
                </a:r>
                <a:r>
                  <a:rPr lang="de-DE" dirty="0" err="1"/>
                  <a:t>quantity</a:t>
                </a:r>
                <a:r>
                  <a:rPr lang="de-DE" dirty="0"/>
                  <a:t> (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measurement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de-DE" dirty="0"/>
                  <a:t> and a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dirty="0"/>
                  <a:t>):</a:t>
                </a:r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10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A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in power </a:t>
                </a:r>
                <a:r>
                  <a:rPr lang="de-DE" dirty="0" err="1"/>
                  <a:t>by</a:t>
                </a:r>
                <a:r>
                  <a:rPr lang="de-DE" dirty="0"/>
                  <a:t> a </a:t>
                </a:r>
                <a:r>
                  <a:rPr lang="de-DE" dirty="0" err="1"/>
                  <a:t>factor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corresponds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14:m>
                  <m:oMath xmlns:m="http://schemas.openxmlformats.org/officeDocument/2006/math">
                    <m:r>
                      <a:rPr lang="de-DE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b="0" i="0" dirty="0" smtClean="0">
                        <a:latin typeface="Cambria Math" panose="02040503050406030204" pitchFamily="18" charset="0"/>
                      </a:rPr>
                      <m:t>0 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Ratio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two</a:t>
                </a:r>
                <a:r>
                  <a:rPr lang="de-DE" dirty="0"/>
                  <a:t> </a:t>
                </a:r>
                <a:r>
                  <a:rPr lang="de-DE" dirty="0" err="1"/>
                  <a:t>amplitudes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 root-power </a:t>
                </a:r>
                <a:r>
                  <a:rPr lang="de-DE" dirty="0" err="1">
                    <a:sym typeface="Wingdings" pitchFamily="2" charset="2"/>
                  </a:rPr>
                  <a:t>quantities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</m:e>
                    </m:func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20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𝐺</m:t>
                                </m:r>
                                <m:d>
                                  <m:d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</m:d>
                              </m:e>
                            </m:d>
                          </m:e>
                        </m:d>
                        <m: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</m:e>
                    </m:func>
                  </m:oMath>
                </a14:m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A </a:t>
                </a:r>
                <a:r>
                  <a:rPr lang="de-DE" dirty="0" err="1"/>
                  <a:t>change</a:t>
                </a:r>
                <a:r>
                  <a:rPr lang="de-DE" dirty="0"/>
                  <a:t> in </a:t>
                </a:r>
                <a:r>
                  <a:rPr lang="de-DE" dirty="0" err="1"/>
                  <a:t>amplitude</a:t>
                </a:r>
                <a:r>
                  <a:rPr lang="de-DE" dirty="0"/>
                  <a:t> </a:t>
                </a:r>
                <a:r>
                  <a:rPr lang="de-DE" dirty="0" err="1"/>
                  <a:t>by</a:t>
                </a:r>
                <a:r>
                  <a:rPr lang="de-DE" dirty="0"/>
                  <a:t> a </a:t>
                </a:r>
                <a:r>
                  <a:rPr lang="de-DE" dirty="0" err="1"/>
                  <a:t>factor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corresponds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14:m>
                  <m:oMath xmlns:m="http://schemas.openxmlformats.org/officeDocument/2006/math">
                    <m:r>
                      <a:rPr lang="de-DE" b="0" i="0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dirty="0">
                        <a:latin typeface="Cambria Math" panose="02040503050406030204" pitchFamily="18" charset="0"/>
                      </a:rPr>
                      <m:t>0 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endParaRPr lang="de-DE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10C005D-C1B5-F5D2-7728-38D64A2AD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r="-7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AB54B-B2BF-3A0A-E285-51D329F2F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90738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77BFFA-EEF3-DEE2-E225-4573FB292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Bandwidth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6B837AA-56DB-9D8D-884A-E061F1DB81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Frequency </a:t>
                </a:r>
                <a:r>
                  <a:rPr lang="de-DE" sz="2600" dirty="0" err="1"/>
                  <a:t>range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good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tracking</a:t>
                </a:r>
                <a:r>
                  <a:rPr lang="de-DE" sz="2600" dirty="0"/>
                  <a:t> (i.e.,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follows</a:t>
                </a:r>
                <a:r>
                  <a:rPr lang="de-DE" dirty="0"/>
                  <a:t>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:r>
                  <a:rPr lang="de-DE" dirty="0" err="1"/>
                  <a:t>signal</a:t>
                </a:r>
                <a:r>
                  <a:rPr lang="de-DE" dirty="0"/>
                  <a:t> </a:t>
                </a:r>
                <a:r>
                  <a:rPr lang="de-DE" dirty="0" err="1"/>
                  <a:t>closely</a:t>
                </a:r>
                <a:r>
                  <a:rPr lang="de-DE" dirty="0"/>
                  <a:t> in </a:t>
                </a:r>
                <a:r>
                  <a:rPr lang="de-DE" dirty="0" err="1"/>
                  <a:t>shape</a:t>
                </a:r>
                <a:r>
                  <a:rPr lang="de-DE" dirty="0"/>
                  <a:t>, </a:t>
                </a:r>
                <a:r>
                  <a:rPr lang="de-DE" dirty="0" err="1"/>
                  <a:t>speed</a:t>
                </a:r>
                <a:r>
                  <a:rPr lang="de-DE" dirty="0"/>
                  <a:t>, and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sz="2600" dirty="0"/>
                  <a:t>) </a:t>
                </a:r>
              </a:p>
              <a:p>
                <a:pPr marL="0" indent="0">
                  <a:buNone/>
                </a:pPr>
                <a:r>
                  <a:rPr lang="de-DE" sz="2600" dirty="0"/>
                  <a:t>Strong </a:t>
                </a:r>
                <a:r>
                  <a:rPr lang="de-DE" sz="2600" dirty="0" err="1"/>
                  <a:t>damping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higher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frequencies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kind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filter</a:t>
                </a:r>
                <a:r>
                  <a:rPr lang="de-DE" sz="2600" dirty="0"/>
                  <a:t> on </a:t>
                </a:r>
                <a:r>
                  <a:rPr lang="de-DE" sz="2600" dirty="0" err="1"/>
                  <a:t>reference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Typically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consider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which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de-DE" sz="2600" dirty="0"/>
                  <a:t> changes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−3 </m:t>
                    </m:r>
                    <m:r>
                      <m:rPr>
                        <m:sty m:val="p"/>
                      </m:rPr>
                      <a:rPr lang="de-DE" sz="2600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sSub>
                              <m:sSubPr>
                                <m:ctrlPr>
                                  <a:rPr lang="de-DE" sz="2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de-DE" sz="2600" dirty="0"/>
                  <a:t> (amplitude drops to </a:t>
                </a:r>
                <a14:m>
                  <m:oMath xmlns:m="http://schemas.openxmlformats.org/officeDocument/2006/math">
                    <m:r>
                      <a:rPr lang="de-DE" sz="2600" b="0" i="1" dirty="0" smtClean="0">
                        <a:latin typeface="Cambria Math" panose="02040503050406030204" pitchFamily="18" charset="0"/>
                      </a:rPr>
                      <m:t>70.7%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its</a:t>
                </a:r>
                <a:r>
                  <a:rPr lang="de-DE" sz="2600" dirty="0"/>
                  <a:t> DC </a:t>
                </a:r>
                <a:r>
                  <a:rPr lang="de-DE" sz="2600" dirty="0" err="1"/>
                  <a:t>value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Indicates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speed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higher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bandwidth</a:t>
                </a:r>
                <a:r>
                  <a:rPr lang="de-DE" sz="2600" dirty="0"/>
                  <a:t> → </a:t>
                </a:r>
                <a:r>
                  <a:rPr lang="de-DE" sz="2600" dirty="0" err="1"/>
                  <a:t>faster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But also </a:t>
                </a:r>
                <a:r>
                  <a:rPr lang="de-DE" sz="2600" dirty="0" err="1"/>
                  <a:t>less</a:t>
                </a:r>
                <a:r>
                  <a:rPr lang="de-DE" sz="2600" dirty="0"/>
                  <a:t> robust and </a:t>
                </a:r>
                <a:r>
                  <a:rPr lang="de-DE" sz="2600" dirty="0" err="1"/>
                  <a:t>higher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noise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amplification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6B837AA-56DB-9D8D-884A-E061F1DB81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FCF89C-B017-A883-0BAE-9BED25E6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898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09711-0622-A5D8-C13E-4F5F68D3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Individual Elements </a:t>
            </a:r>
            <a:r>
              <a:rPr lang="de-DE" dirty="0" err="1"/>
              <a:t>of</a:t>
            </a:r>
            <a:r>
              <a:rPr lang="de-DE" dirty="0"/>
              <a:t> Control Loops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CAFBA99-1E36-D127-DA0A-B58C86F44C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Polynomial form </a:t>
                </a:r>
                <a:r>
                  <a:rPr lang="de-DE" dirty="0" err="1"/>
                  <a:t>of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r>
                  <a:rPr lang="de-DE" dirty="0"/>
                  <a:t> /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Transfer </a:t>
                </a:r>
                <a:r>
                  <a:rPr lang="de-DE" dirty="0" err="1"/>
                  <a:t>functions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individual </a:t>
                </a:r>
                <a:r>
                  <a:rPr lang="de-DE" dirty="0" err="1"/>
                  <a:t>elements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setting</a:t>
                </a:r>
                <a:r>
                  <a:rPr lang="de-DE" dirty="0"/>
                  <a:t> a </a:t>
                </a:r>
                <a:r>
                  <a:rPr lang="de-DE" dirty="0" err="1"/>
                  <a:t>portion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coefficients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CAFBA99-1E36-D127-DA0A-B58C86F44C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16603C-CE9D-72CA-4D8E-D085DFD24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5363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A7D601-B01E-1FDE-3453-6A59EE28C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Element (P)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6B36AA-A815-490D-4A12-1020A99298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6B36AA-A815-490D-4A12-1020A99298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3708CE-7EE5-9BDA-5745-B70ECD02F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8CB410D-9FAD-7206-ACD0-1E2E8745F26B}"/>
                  </a:ext>
                </a:extLst>
              </p:cNvPr>
              <p:cNvSpPr txBox="1"/>
              <p:nvPr/>
            </p:nvSpPr>
            <p:spPr>
              <a:xfrm>
                <a:off x="2641683" y="3542186"/>
                <a:ext cx="2297039" cy="12913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(just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8CB410D-9FAD-7206-ACD0-1E2E8745F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1683" y="3542186"/>
                <a:ext cx="2297039" cy="1291316"/>
              </a:xfrm>
              <a:prstGeom prst="rect">
                <a:avLst/>
              </a:prstGeom>
              <a:blipFill>
                <a:blip r:embed="rId3"/>
                <a:stretch>
                  <a:fillRect l="-2198" r="-2198" b="-7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F4C7096-AB42-5118-B62A-789E041A55D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3790203" y="2752078"/>
            <a:ext cx="1669564" cy="790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C91B448-2DB0-FA10-80CA-E48FB00AAEB3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2379216" y="2752078"/>
            <a:ext cx="1410987" cy="790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Grafik 10">
            <a:extLst>
              <a:ext uri="{FF2B5EF4-FFF2-40B4-BE49-F238E27FC236}">
                <a16:creationId xmlns:a16="http://schemas.microsoft.com/office/drawing/2014/main" id="{854F6D8F-33C3-5206-9F04-358D921F4C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13" name="Grafik 12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6C669FE3-5E86-A73C-897E-C9398D3060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35" y="2416083"/>
            <a:ext cx="4038235" cy="303100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022D488D-91D5-5209-F881-975C9ED64DA7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59429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16328638-17B9-E945-7F5C-9DBA82BE5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34" y="2416082"/>
            <a:ext cx="4038235" cy="303100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2FC60166-DC1D-0D47-BD41-5302A569B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38500" y="5175173"/>
            <a:ext cx="2857500" cy="154630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6D9FC5E-8347-871E-635A-5BB1F895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Integral Element (I)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7518DA5-C78D-1D5F-305A-38A9EF60E7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7518DA5-C78D-1D5F-305A-38A9EF60E7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E2D02E-9009-08F2-F315-5C05EE0E6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4C93CD5-4692-2EC1-FE0A-DDC2A64BB955}"/>
                  </a:ext>
                </a:extLst>
              </p:cNvPr>
              <p:cNvSpPr txBox="1"/>
              <p:nvPr/>
            </p:nvSpPr>
            <p:spPr>
              <a:xfrm>
                <a:off x="1764672" y="3566840"/>
                <a:ext cx="4661789" cy="12886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skw"/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integrator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or</a:t>
                </a:r>
                <a:r>
                  <a:rPr lang="de-DE" sz="2000" dirty="0"/>
                  <a:t> integral time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4C93CD5-4692-2EC1-FE0A-DDC2A64BB9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4672" y="3566840"/>
                <a:ext cx="4661789" cy="1288623"/>
              </a:xfrm>
              <a:prstGeom prst="rect">
                <a:avLst/>
              </a:prstGeom>
              <a:blipFill>
                <a:blip r:embed="rId6"/>
                <a:stretch>
                  <a:fillRect l="-1359" t="-51456" r="-543" b="-669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A40568D5-0F39-482C-88A4-EFBCBE335A0B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4095567" y="2752078"/>
            <a:ext cx="1337567" cy="814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28CE99F-E88B-F3F5-7A36-6AB221F2BA97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2414726" y="2752078"/>
            <a:ext cx="1680841" cy="814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7D85998-381F-16A6-B6F9-5C6C85432CB6}"/>
                  </a:ext>
                </a:extLst>
              </p:cNvPr>
              <p:cNvSpPr txBox="1"/>
              <p:nvPr/>
            </p:nvSpPr>
            <p:spPr>
              <a:xfrm>
                <a:off x="7847860" y="1476363"/>
                <a:ext cx="2147832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Pole at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7D85998-381F-16A6-B6F9-5C6C85432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7860" y="1476363"/>
                <a:ext cx="2147832" cy="523220"/>
              </a:xfrm>
              <a:prstGeom prst="rect">
                <a:avLst/>
              </a:prstGeom>
              <a:blipFill>
                <a:blip r:embed="rId7"/>
                <a:stretch>
                  <a:fillRect l="-5848" t="-11628" r="-585" b="-302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C2E99EA-1642-8B6E-5FED-01B4A3DBED2F}"/>
              </a:ext>
            </a:extLst>
          </p:cNvPr>
          <p:cNvCxnSpPr>
            <a:stCxn id="17" idx="1"/>
          </p:cNvCxnSpPr>
          <p:nvPr/>
        </p:nvCxnSpPr>
        <p:spPr>
          <a:xfrm flipH="1">
            <a:off x="6285390" y="1737973"/>
            <a:ext cx="1562470" cy="6781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87FC023-0044-8B7D-3A8F-82E003ADC60D}"/>
                  </a:ext>
                </a:extLst>
              </p:cNvPr>
              <p:cNvSpPr txBox="1"/>
              <p:nvPr/>
            </p:nvSpPr>
            <p:spPr>
              <a:xfrm>
                <a:off x="603166" y="3159459"/>
                <a:ext cx="1953148" cy="6976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de-DE" sz="1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1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de-DE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15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87FC023-0044-8B7D-3A8F-82E003ADC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166" y="3159459"/>
                <a:ext cx="1953148" cy="697692"/>
              </a:xfrm>
              <a:prstGeom prst="rect">
                <a:avLst/>
              </a:prstGeom>
              <a:blipFill>
                <a:blip r:embed="rId8"/>
                <a:stretch>
                  <a:fillRect t="-125000" b="-1767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feld 13">
            <a:extLst>
              <a:ext uri="{FF2B5EF4-FFF2-40B4-BE49-F238E27FC236}">
                <a16:creationId xmlns:a16="http://schemas.microsoft.com/office/drawing/2014/main" id="{0D1E5A5E-783D-C5EA-85A6-6BC1CB3A3258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4296444-23CE-BD88-9186-A681BF32069D}"/>
                  </a:ext>
                </a:extLst>
              </p:cNvPr>
              <p:cNvSpPr txBox="1"/>
              <p:nvPr/>
            </p:nvSpPr>
            <p:spPr>
              <a:xfrm>
                <a:off x="1218747" y="6176963"/>
                <a:ext cx="1337567" cy="6976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1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de-DE" sz="15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const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de-DE" sz="15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4296444-23CE-BD88-9186-A681BF320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8747" y="6176963"/>
                <a:ext cx="1337567" cy="697692"/>
              </a:xfrm>
              <a:prstGeom prst="rect">
                <a:avLst/>
              </a:prstGeom>
              <a:blipFill>
                <a:blip r:embed="rId9"/>
                <a:stretch>
                  <a:fillRect l="-54717" t="-126786" b="-1767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feld 15">
            <a:extLst>
              <a:ext uri="{FF2B5EF4-FFF2-40B4-BE49-F238E27FC236}">
                <a16:creationId xmlns:a16="http://schemas.microsoft.com/office/drawing/2014/main" id="{0EC4EAFB-7A20-A560-E1BD-3FA5083B7ADD}"/>
              </a:ext>
            </a:extLst>
          </p:cNvPr>
          <p:cNvSpPr txBox="1"/>
          <p:nvPr/>
        </p:nvSpPr>
        <p:spPr>
          <a:xfrm>
            <a:off x="6407125" y="5391216"/>
            <a:ext cx="16957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Energy </a:t>
            </a:r>
            <a:r>
              <a:rPr lang="de-DE" dirty="0" err="1"/>
              <a:t>storage</a:t>
            </a:r>
            <a:r>
              <a:rPr lang="de-DE" dirty="0"/>
              <a:t>,</a:t>
            </a:r>
          </a:p>
          <a:p>
            <a:r>
              <a:rPr lang="de-DE" dirty="0" err="1"/>
              <a:t>memory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78468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fik 18">
            <a:extLst>
              <a:ext uri="{FF2B5EF4-FFF2-40B4-BE49-F238E27FC236}">
                <a16:creationId xmlns:a16="http://schemas.microsoft.com/office/drawing/2014/main" id="{705C08B2-33D4-35A5-13DE-40A99287D0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86298" y="0"/>
            <a:ext cx="3505702" cy="263150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8057D8-6049-86EE-2DCE-77010CBC7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Lag Element (PT1)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8B993E-96D1-B19B-2D6E-6E5FD2D586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sz="2400" dirty="0"/>
                  <a:t>Consider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   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 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8B993E-96D1-B19B-2D6E-6E5FD2D586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654ED9-4626-A5EA-38F9-7CDCF34A1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3F0EE5F-DF90-4C6C-F9C3-DAAA053D4A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FFF33EF-3C7A-A741-2E21-090B6A0E1C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72653" y="2985721"/>
            <a:ext cx="4619347" cy="346744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D9F7C28C-8D8A-CC2E-8A4A-C59017CD520A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6E80EAA-B6EA-33F6-3CA4-CA4B264D3B4E}"/>
                  </a:ext>
                </a:extLst>
              </p:cNvPr>
              <p:cNvSpPr txBox="1"/>
              <p:nvPr/>
            </p:nvSpPr>
            <p:spPr>
              <a:xfrm>
                <a:off x="905520" y="3631962"/>
                <a:ext cx="25916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6E80EAA-B6EA-33F6-3CA4-CA4B264D3B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520" y="3631962"/>
                <a:ext cx="259161" cy="369332"/>
              </a:xfrm>
              <a:prstGeom prst="rect">
                <a:avLst/>
              </a:prstGeom>
              <a:blipFill>
                <a:blip r:embed="rId7"/>
                <a:stretch>
                  <a:fillRect l="-4762" r="-47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C1BA72E-8E02-C008-2941-A7951D369B4F}"/>
                  </a:ext>
                </a:extLst>
              </p:cNvPr>
              <p:cNvSpPr txBox="1"/>
              <p:nvPr/>
            </p:nvSpPr>
            <p:spPr>
              <a:xfrm>
                <a:off x="2022260" y="3631962"/>
                <a:ext cx="286617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C1BA72E-8E02-C008-2941-A7951D369B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260" y="3631962"/>
                <a:ext cx="286617" cy="369332"/>
              </a:xfrm>
              <a:prstGeom prst="rect">
                <a:avLst/>
              </a:prstGeom>
              <a:blipFill>
                <a:blip r:embed="rId10"/>
                <a:stretch>
                  <a:fillRect l="-26087" r="-21739" b="-6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AC96BBA-3B89-95C9-B22F-6886694E13E1}"/>
              </a:ext>
            </a:extLst>
          </p:cNvPr>
          <p:cNvCxnSpPr>
            <a:stCxn id="7" idx="0"/>
          </p:cNvCxnSpPr>
          <p:nvPr/>
        </p:nvCxnSpPr>
        <p:spPr>
          <a:xfrm flipH="1" flipV="1">
            <a:off x="1035100" y="2985721"/>
            <a:ext cx="1" cy="6462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35699AFD-3BB7-E7B8-BD23-5F2F0B9785CC}"/>
              </a:ext>
            </a:extLst>
          </p:cNvPr>
          <p:cNvCxnSpPr>
            <a:stCxn id="9" idx="0"/>
          </p:cNvCxnSpPr>
          <p:nvPr/>
        </p:nvCxnSpPr>
        <p:spPr>
          <a:xfrm flipV="1">
            <a:off x="2165569" y="2636668"/>
            <a:ext cx="1072931" cy="995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03AE0B1-7CE2-DD9A-C202-F31A66C0CFB4}"/>
                  </a:ext>
                </a:extLst>
              </p:cNvPr>
              <p:cNvSpPr txBox="1"/>
              <p:nvPr/>
            </p:nvSpPr>
            <p:spPr>
              <a:xfrm>
                <a:off x="3901538" y="3177854"/>
                <a:ext cx="2922787" cy="7689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03AE0B1-7CE2-DD9A-C202-F31A66C0C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538" y="3177854"/>
                <a:ext cx="2922787" cy="768993"/>
              </a:xfrm>
              <a:prstGeom prst="rect">
                <a:avLst/>
              </a:prstGeom>
              <a:blipFill>
                <a:blip r:embed="rId11"/>
                <a:stretch>
                  <a:fillRect l="-1724" r="-862" b="-476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560ADF16-B774-9E9D-EDFD-26FCC3CFD7A4}"/>
                  </a:ext>
                </a:extLst>
              </p:cNvPr>
              <p:cNvSpPr txBox="1"/>
              <p:nvPr/>
            </p:nvSpPr>
            <p:spPr>
              <a:xfrm>
                <a:off x="4667250" y="4316018"/>
                <a:ext cx="2107756" cy="61587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Pole at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den>
                    </m:f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560ADF16-B774-9E9D-EDFD-26FCC3CFD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7250" y="4316018"/>
                <a:ext cx="2107756" cy="615874"/>
              </a:xfrm>
              <a:prstGeom prst="rect">
                <a:avLst/>
              </a:prstGeom>
              <a:blipFill>
                <a:blip r:embed="rId12"/>
                <a:stretch>
                  <a:fillRect l="-4192" b="-12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5212E73-8EE7-2D20-9739-2AA4DE7C5B7E}"/>
              </a:ext>
            </a:extLst>
          </p:cNvPr>
          <p:cNvCxnSpPr>
            <a:stCxn id="15" idx="0"/>
          </p:cNvCxnSpPr>
          <p:nvPr/>
        </p:nvCxnSpPr>
        <p:spPr>
          <a:xfrm flipV="1">
            <a:off x="5721128" y="4001294"/>
            <a:ext cx="475486" cy="3147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5A8E33A-FF45-025F-14DF-730FE5FD8094}"/>
                  </a:ext>
                </a:extLst>
              </p:cNvPr>
              <p:cNvSpPr txBox="1"/>
              <p:nvPr/>
            </p:nvSpPr>
            <p:spPr>
              <a:xfrm>
                <a:off x="5400900" y="5288565"/>
                <a:ext cx="259161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5A8E33A-FF45-025F-14DF-730FE5FD8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900" y="5288565"/>
                <a:ext cx="259161" cy="400110"/>
              </a:xfrm>
              <a:prstGeom prst="rect">
                <a:avLst/>
              </a:prstGeom>
              <a:blipFill>
                <a:blip r:embed="rId13"/>
                <a:stretch>
                  <a:fillRect l="-14286" r="-95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97105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078A2BC-CF98-642E-2FCD-E2A47B006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PT1 Signal Flow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77DF98-423B-CF3E-1060-0D7989A34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F416CDD3-826A-569B-AAE0-DD046CE520B8}"/>
              </a:ext>
            </a:extLst>
          </p:cNvPr>
          <p:cNvGrpSpPr/>
          <p:nvPr/>
        </p:nvGrpSpPr>
        <p:grpSpPr>
          <a:xfrm>
            <a:off x="2159921" y="1690688"/>
            <a:ext cx="7872158" cy="5030787"/>
            <a:chOff x="2532081" y="1705590"/>
            <a:chExt cx="7410909" cy="5015885"/>
          </a:xfrm>
        </p:grpSpPr>
        <p:pic>
          <p:nvPicPr>
            <p:cNvPr id="7" name="Grafik 6" descr="Ein Bild, das Diagramm, Reihe, Entwurf, technische Zeichnung enthält.&#10;&#10;KI-generierte Inhalte können fehlerhaft sein.">
              <a:extLst>
                <a:ext uri="{FF2B5EF4-FFF2-40B4-BE49-F238E27FC236}">
                  <a16:creationId xmlns:a16="http://schemas.microsoft.com/office/drawing/2014/main" id="{C6358F3D-58CF-AA3B-2FC9-FA351EDECC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32081" y="1705590"/>
              <a:ext cx="7127838" cy="5015885"/>
            </a:xfrm>
            <a:prstGeom prst="rect">
              <a:avLst/>
            </a:prstGeom>
          </p:spPr>
        </p:pic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926A5624-5107-8198-5060-BB2E4C614718}"/>
                </a:ext>
              </a:extLst>
            </p:cNvPr>
            <p:cNvSpPr/>
            <p:nvPr/>
          </p:nvSpPr>
          <p:spPr>
            <a:xfrm>
              <a:off x="9215021" y="3684233"/>
              <a:ext cx="727969" cy="188206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0" name="Textfeld 9">
            <a:extLst>
              <a:ext uri="{FF2B5EF4-FFF2-40B4-BE49-F238E27FC236}">
                <a16:creationId xmlns:a16="http://schemas.microsoft.com/office/drawing/2014/main" id="{2F623EF5-2B61-F815-70A2-D506631EE023}"/>
              </a:ext>
            </a:extLst>
          </p:cNvPr>
          <p:cNvSpPr txBox="1"/>
          <p:nvPr/>
        </p:nvSpPr>
        <p:spPr>
          <a:xfrm>
            <a:off x="3851812" y="2128950"/>
            <a:ext cx="27308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One</a:t>
            </a:r>
            <a:r>
              <a:rPr lang="de-DE" sz="2400" dirty="0"/>
              <a:t> </a:t>
            </a:r>
            <a:r>
              <a:rPr lang="de-DE" sz="2400" dirty="0" err="1"/>
              <a:t>energy</a:t>
            </a:r>
            <a:r>
              <a:rPr lang="de-DE" sz="2400" dirty="0"/>
              <a:t> </a:t>
            </a:r>
            <a:r>
              <a:rPr lang="de-DE" sz="2400" dirty="0" err="1"/>
              <a:t>storage</a:t>
            </a:r>
            <a:endParaRPr lang="de-DE" sz="24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33AA5E3-5482-53CD-FED8-69712E82C98B}"/>
              </a:ext>
            </a:extLst>
          </p:cNvPr>
          <p:cNvCxnSpPr/>
          <p:nvPr/>
        </p:nvCxnSpPr>
        <p:spPr>
          <a:xfrm>
            <a:off x="5237825" y="2601157"/>
            <a:ext cx="639192" cy="1003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09982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18970A6B-EC73-325D-F60C-AFDE2FEF5F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A9121D7-0B6D-BE9B-7262-1F402C2757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3327" y="2416082"/>
            <a:ext cx="4041343" cy="303100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F3DBE99-2DA6-C88A-7611-518B693D1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Derivative Element (D)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E13401-6D0B-FA9F-0932-D52BE1570C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E13401-6D0B-FA9F-0932-D52BE1570C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773F82-BF78-41CB-6DB7-96DB8E21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D862DA39-5BCE-43AD-53C9-20C18B8F708E}"/>
                  </a:ext>
                </a:extLst>
              </p:cNvPr>
              <p:cNvSpPr txBox="1"/>
              <p:nvPr/>
            </p:nvSpPr>
            <p:spPr>
              <a:xfrm>
                <a:off x="1114725" y="3577697"/>
                <a:ext cx="6411050" cy="12913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differentiator</a:t>
                </a:r>
                <a:r>
                  <a:rPr lang="de-DE" sz="2000" dirty="0"/>
                  <a:t>/derivative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or</a:t>
                </a:r>
                <a:r>
                  <a:rPr lang="de-DE" sz="2000" dirty="0"/>
                  <a:t> derivative time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D862DA39-5BCE-43AD-53C9-20C18B8F7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725" y="3577697"/>
                <a:ext cx="6411050" cy="1291316"/>
              </a:xfrm>
              <a:prstGeom prst="rect">
                <a:avLst/>
              </a:prstGeom>
              <a:blipFill>
                <a:blip r:embed="rId7"/>
                <a:stretch>
                  <a:fillRect l="-988" b="-7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6574445-9274-205F-65F8-E02FBBA876FA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4320250" y="2769833"/>
            <a:ext cx="1095129" cy="807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91548B9B-5801-02FD-7335-31C8FD8F7A17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2405849" y="2849732"/>
            <a:ext cx="1914401" cy="7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23E0541-7891-30D2-4661-379BD090843F}"/>
              </a:ext>
            </a:extLst>
          </p:cNvPr>
          <p:cNvSpPr txBox="1"/>
          <p:nvPr/>
        </p:nvSpPr>
        <p:spPr>
          <a:xfrm>
            <a:off x="7496077" y="1151357"/>
            <a:ext cx="4289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/>
              <a:t>Amplifies</a:t>
            </a:r>
            <a:r>
              <a:rPr lang="de-DE" sz="2000" dirty="0"/>
              <a:t> high </a:t>
            </a:r>
            <a:r>
              <a:rPr lang="de-DE" sz="2000" dirty="0" err="1"/>
              <a:t>frequencies</a:t>
            </a:r>
            <a:r>
              <a:rPr lang="de-DE" sz="2000" dirty="0"/>
              <a:t>, i.e., </a:t>
            </a:r>
            <a:r>
              <a:rPr lang="de-DE" sz="2000" dirty="0" err="1"/>
              <a:t>noise</a:t>
            </a:r>
            <a:endParaRPr lang="de-DE" sz="2000" dirty="0"/>
          </a:p>
          <a:p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>
                <a:sym typeface="Wingdings" pitchFamily="2" charset="2"/>
              </a:rPr>
              <a:t>use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filtered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differentiator</a:t>
            </a:r>
            <a:r>
              <a:rPr lang="de-DE" sz="2000" dirty="0">
                <a:sym typeface="Wingdings" pitchFamily="2" charset="2"/>
              </a:rPr>
              <a:t> (DT1)</a:t>
            </a:r>
            <a:endParaRPr lang="de-DE" sz="2000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87688D64-5667-BAB3-7EEA-4B43A90B80B0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6214369" y="1505300"/>
            <a:ext cx="1281708" cy="1042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C9F5823B-6BD5-9ADF-F789-E913F361C19A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9E2AEC4-0E0A-4251-EED1-3590A3DBFC70}"/>
              </a:ext>
            </a:extLst>
          </p:cNvPr>
          <p:cNvSpPr txBox="1"/>
          <p:nvPr/>
        </p:nvSpPr>
        <p:spPr>
          <a:xfrm>
            <a:off x="6556094" y="6003928"/>
            <a:ext cx="3638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physically</a:t>
            </a:r>
            <a:r>
              <a:rPr lang="de-DE" dirty="0"/>
              <a:t> </a:t>
            </a:r>
            <a:r>
              <a:rPr lang="de-DE" dirty="0" err="1"/>
              <a:t>unrealizable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damping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88977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97F2DE-ACD8-94EC-15BE-467846CA0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Filtered</a:t>
            </a:r>
            <a:r>
              <a:rPr lang="de-DE" dirty="0"/>
              <a:t> Differentiator (DT1)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2606A89-4597-98EA-83F6-4C092A77DC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𝑑𝑢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2606A89-4597-98EA-83F6-4C092A77DC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97B9B1-8E9B-8284-C7A9-AECD9668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61A3C78E-2F6D-98C4-E5D9-DA62F8056157}"/>
                  </a:ext>
                </a:extLst>
              </p:cNvPr>
              <p:cNvSpPr txBox="1"/>
              <p:nvPr/>
            </p:nvSpPr>
            <p:spPr>
              <a:xfrm>
                <a:off x="1367159" y="3244334"/>
                <a:ext cx="31072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61A3C78E-2F6D-98C4-E5D9-DA62F8056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7159" y="3244334"/>
                <a:ext cx="310721" cy="369332"/>
              </a:xfrm>
              <a:prstGeom prst="rect">
                <a:avLst/>
              </a:prstGeom>
              <a:blipFill>
                <a:blip r:embed="rId3"/>
                <a:stretch>
                  <a:fillRect l="-28000" r="-16000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C66937D-FB01-5A86-7894-A927DF81D8E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1276588" y="2734322"/>
            <a:ext cx="245932" cy="5100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8795F3A-B9DF-3E97-D9A1-609F6310712C}"/>
                  </a:ext>
                </a:extLst>
              </p:cNvPr>
              <p:cNvSpPr txBox="1"/>
              <p:nvPr/>
            </p:nvSpPr>
            <p:spPr>
              <a:xfrm>
                <a:off x="3170805" y="3265803"/>
                <a:ext cx="31072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8795F3A-B9DF-3E97-D9A1-609F63107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0805" y="3265803"/>
                <a:ext cx="310721" cy="369332"/>
              </a:xfrm>
              <a:prstGeom prst="rect">
                <a:avLst/>
              </a:prstGeom>
              <a:blipFill>
                <a:blip r:embed="rId4"/>
                <a:stretch>
                  <a:fillRect l="-26923" r="-11538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A66D832-3933-A3C4-B5DE-0C1B799BD16E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3326166" y="2734322"/>
            <a:ext cx="299280" cy="5314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120BEAE-D28C-18C6-C257-8AECBF4C32EC}"/>
                  </a:ext>
                </a:extLst>
              </p:cNvPr>
              <p:cNvSpPr txBox="1"/>
              <p:nvPr/>
            </p:nvSpPr>
            <p:spPr>
              <a:xfrm>
                <a:off x="1522519" y="4004934"/>
                <a:ext cx="2352119" cy="7518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120BEAE-D28C-18C6-C257-8AECBF4C3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2519" y="4004934"/>
                <a:ext cx="2352119" cy="751872"/>
              </a:xfrm>
              <a:prstGeom prst="rect">
                <a:avLst/>
              </a:prstGeom>
              <a:blipFill>
                <a:blip r:embed="rId5"/>
                <a:stretch>
                  <a:fillRect l="-535" r="-535" b="-983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Grafik 12" descr="Ein Bild, das Schrift, Reihe, Diagramm, weiß enthält.&#10;&#10;KI-generierte Inhalte können fehlerhaft sein.">
            <a:extLst>
              <a:ext uri="{FF2B5EF4-FFF2-40B4-BE49-F238E27FC236}">
                <a16:creationId xmlns:a16="http://schemas.microsoft.com/office/drawing/2014/main" id="{0990F134-8769-251B-9856-EBDF176EB0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8406" y="5438299"/>
            <a:ext cx="3826276" cy="1404961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EE3F5106-1AC6-9970-061E-97A0EBB7821F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p:pic>
        <p:nvPicPr>
          <p:cNvPr id="16" name="Grafik 15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FE6AA1E0-A9C7-8D58-8185-06B929DDD3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1877" y="3280615"/>
            <a:ext cx="4918385" cy="30757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EB3735C7-C89D-7E19-AD02-007991264255}"/>
                  </a:ext>
                </a:extLst>
              </p:cNvPr>
              <p:cNvSpPr txBox="1"/>
              <p:nvPr/>
            </p:nvSpPr>
            <p:spPr>
              <a:xfrm>
                <a:off x="4558410" y="4001294"/>
                <a:ext cx="2334870" cy="52456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lim>
                          </m:limLow>
                        </m:fName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EB3735C7-C89D-7E19-AD02-0079912642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410" y="4001294"/>
                <a:ext cx="2334870" cy="524567"/>
              </a:xfrm>
              <a:prstGeom prst="rect">
                <a:avLst/>
              </a:prstGeom>
              <a:blipFill>
                <a:blip r:embed="rId8"/>
                <a:stretch>
                  <a:fillRect l="-1630" r="-1087" b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feld 19">
            <a:extLst>
              <a:ext uri="{FF2B5EF4-FFF2-40B4-BE49-F238E27FC236}">
                <a16:creationId xmlns:a16="http://schemas.microsoft.com/office/drawing/2014/main" id="{717B537C-97C7-D835-06EB-FEAAE4FCB003}"/>
              </a:ext>
            </a:extLst>
          </p:cNvPr>
          <p:cNvSpPr txBox="1"/>
          <p:nvPr/>
        </p:nvSpPr>
        <p:spPr>
          <a:xfrm>
            <a:off x="4401921" y="4587649"/>
            <a:ext cx="2635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sym typeface="Wingdings" pitchFamily="2" charset="2"/>
              </a:rPr>
              <a:t> ideal D </a:t>
            </a:r>
            <a:r>
              <a:rPr lang="de-DE" sz="2400" dirty="0" err="1">
                <a:sym typeface="Wingdings" pitchFamily="2" charset="2"/>
              </a:rPr>
              <a:t>element</a:t>
            </a:r>
            <a:endParaRPr lang="de-DE" sz="24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4E13B32-F2FE-9FA6-B180-F45DC17AC802}"/>
              </a:ext>
            </a:extLst>
          </p:cNvPr>
          <p:cNvSpPr txBox="1"/>
          <p:nvPr/>
        </p:nvSpPr>
        <p:spPr>
          <a:xfrm>
            <a:off x="8610600" y="501650"/>
            <a:ext cx="321959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Used</a:t>
            </a:r>
            <a:r>
              <a:rPr lang="de-DE" sz="2400" dirty="0"/>
              <a:t> in PID </a:t>
            </a:r>
            <a:r>
              <a:rPr lang="de-DE" sz="2400" dirty="0" err="1"/>
              <a:t>controllers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4598377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D07DD78-7D0E-A2DB-B218-FADADC8F5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  <p:pic>
        <p:nvPicPr>
          <p:cNvPr id="6" name="Grafik 5" descr="Ein Bild, das Diagramm, Reihe enthält.&#10;&#10;KI-generierte Inhalte können fehlerhaft sein.">
            <a:extLst>
              <a:ext uri="{FF2B5EF4-FFF2-40B4-BE49-F238E27FC236}">
                <a16:creationId xmlns:a16="http://schemas.microsoft.com/office/drawing/2014/main" id="{976F9CE3-F38F-852C-6010-CA382C117D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69" y="1193772"/>
            <a:ext cx="11973261" cy="447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2382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C19EB036-529B-5966-A2D7-5C37976AC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DT1 Signal Flow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13713F-BEEB-EA87-DC79-2AED8B433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36</a:t>
            </a:fld>
            <a:endParaRPr lang="en-GB"/>
          </a:p>
        </p:txBody>
      </p:sp>
      <p:pic>
        <p:nvPicPr>
          <p:cNvPr id="7" name="Grafik 6" descr="Ein Bild, das Diagramm, Reihe, Entwurf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5366F733-B6FF-4958-BEF6-6050A628F0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5228" y="1905307"/>
            <a:ext cx="6961543" cy="4952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6684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52AC7-2EDE-14FD-988A-E0FF054F5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BD5689F1-D390-5252-9BE7-CB3E185AC1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5153" y="5299075"/>
            <a:ext cx="2857500" cy="14224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E3D6218-AE75-FB82-93BA-2EF7EEE4E9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69184" y="1321557"/>
            <a:ext cx="5222816" cy="393372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8E55303-77A4-456D-2F3D-C33AFF652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Lag Element (PT2)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A4BED-941D-2DF9-FA89-2935119F18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Consider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A4BED-941D-2DF9-FA89-2935119F18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020C73-3932-B65A-94E5-2D739ECB2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37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9E73366-B6A4-1B0B-9C21-2504F3A6DF0A}"/>
              </a:ext>
            </a:extLst>
          </p:cNvPr>
          <p:cNvSpPr txBox="1"/>
          <p:nvPr/>
        </p:nvSpPr>
        <p:spPr>
          <a:xfrm>
            <a:off x="5056877" y="4842153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EC45AFE-4EA2-1FB1-0C60-2FFC0998BF44}"/>
                  </a:ext>
                </a:extLst>
              </p:cNvPr>
              <p:cNvSpPr txBox="1"/>
              <p:nvPr/>
            </p:nvSpPr>
            <p:spPr>
              <a:xfrm>
                <a:off x="289962" y="3032159"/>
                <a:ext cx="458781" cy="6539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EC45AFE-4EA2-1FB1-0C60-2FFC0998BF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962" y="3032159"/>
                <a:ext cx="458781" cy="653962"/>
              </a:xfrm>
              <a:prstGeom prst="rect">
                <a:avLst/>
              </a:prstGeom>
              <a:blipFill>
                <a:blip r:embed="rId7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91BC678F-4758-EB33-290C-042E21B10469}"/>
                  </a:ext>
                </a:extLst>
              </p:cNvPr>
              <p:cNvSpPr txBox="1"/>
              <p:nvPr/>
            </p:nvSpPr>
            <p:spPr>
              <a:xfrm flipH="1">
                <a:off x="4888478" y="3140194"/>
                <a:ext cx="89275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91BC678F-4758-EB33-290C-042E21B104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888478" y="3140194"/>
                <a:ext cx="892757" cy="307777"/>
              </a:xfrm>
              <a:prstGeom prst="rect">
                <a:avLst/>
              </a:prstGeom>
              <a:blipFill>
                <a:blip r:embed="rId8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D4691E0D-438D-82ED-B682-FFC7AA31AD2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519353" y="2659225"/>
            <a:ext cx="318847" cy="3729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D0FD88BC-FAEB-31C7-04D2-F01A73352F7F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4758431" y="2659225"/>
            <a:ext cx="576425" cy="4809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B30F22F9-E742-53A4-8222-79B6CFF13896}"/>
                  </a:ext>
                </a:extLst>
              </p:cNvPr>
              <p:cNvSpPr txBox="1"/>
              <p:nvPr/>
            </p:nvSpPr>
            <p:spPr>
              <a:xfrm>
                <a:off x="876849" y="5026819"/>
                <a:ext cx="2786596" cy="9476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f>
                            <m:f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sSup>
                            <m:sSup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l-G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𝜁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den>
                          </m:f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B30F22F9-E742-53A4-8222-79B6CFF13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849" y="5026819"/>
                <a:ext cx="2786596" cy="947695"/>
              </a:xfrm>
              <a:prstGeom prst="rect">
                <a:avLst/>
              </a:prstGeom>
              <a:blipFill>
                <a:blip r:embed="rId9"/>
                <a:stretch>
                  <a:fillRect l="-452" r="-45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A01984-12FD-97D8-F773-5ADBF18487F7}"/>
                  </a:ext>
                </a:extLst>
              </p:cNvPr>
              <p:cNvSpPr txBox="1"/>
              <p:nvPr/>
            </p:nvSpPr>
            <p:spPr>
              <a:xfrm>
                <a:off x="2629618" y="3055692"/>
                <a:ext cx="738157" cy="630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l-G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A01984-12FD-97D8-F773-5ADBF1848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618" y="3055692"/>
                <a:ext cx="738157" cy="630429"/>
              </a:xfrm>
              <a:prstGeom prst="rect">
                <a:avLst/>
              </a:prstGeom>
              <a:blipFill>
                <a:blip r:embed="rId10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E4DD66A2-D98F-FFDA-85A5-0CC035CF0918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2569048" y="2666325"/>
            <a:ext cx="429649" cy="3893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9665A68-18A0-9434-BCD8-FABE54F2453E}"/>
                  </a:ext>
                </a:extLst>
              </p:cNvPr>
              <p:cNvSpPr txBox="1"/>
              <p:nvPr/>
            </p:nvSpPr>
            <p:spPr>
              <a:xfrm>
                <a:off x="6285650" y="5221378"/>
                <a:ext cx="897603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l-GR" sz="24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9665A68-18A0-9434-BCD8-FABE54F245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5650" y="5221378"/>
                <a:ext cx="897603" cy="461665"/>
              </a:xfrm>
              <a:prstGeom prst="rect">
                <a:avLst/>
              </a:prstGeom>
              <a:blipFill>
                <a:blip r:embed="rId11"/>
                <a:stretch>
                  <a:fillRect l="-4167" t="-10811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24761B3C-F472-89D7-FFC8-A11A6A942A0C}"/>
              </a:ext>
            </a:extLst>
          </p:cNvPr>
          <p:cNvSpPr txBox="1"/>
          <p:nvPr/>
        </p:nvSpPr>
        <p:spPr>
          <a:xfrm>
            <a:off x="10265952" y="666952"/>
            <a:ext cx="17713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Resonance</a:t>
            </a:r>
            <a:endParaRPr lang="de-DE" dirty="0"/>
          </a:p>
          <a:p>
            <a:r>
              <a:rPr lang="de-DE" dirty="0"/>
              <a:t>(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)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F2441A8-5B95-A486-6F90-2D73BB749229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9824484" y="1313283"/>
            <a:ext cx="1327159" cy="7600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1928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51CAC9-9F9A-309B-EAAC-79C00D689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PT2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Product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PT1 Elements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69731F-6CDE-2B00-6FA1-70721ED2DE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15723"/>
                <a:ext cx="10515600" cy="4895851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Sup>
                              <m:sSub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de-DE" sz="2400" dirty="0"/>
                  <a:t>    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written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product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two</a:t>
                </a:r>
                <a:r>
                  <a:rPr lang="de-DE" sz="2400" dirty="0"/>
                  <a:t> PT1 </a:t>
                </a:r>
                <a:r>
                  <a:rPr lang="de-DE" sz="2400" dirty="0" err="1"/>
                  <a:t>elements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Sup>
                          <m:sSub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de-DE" sz="2400" b="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Sup>
                          <m:sSub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400" dirty="0"/>
                  <a:t>,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rad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for</a:t>
                </a:r>
                <a:r>
                  <a:rPr lang="de-DE" sz="2400" dirty="0"/>
                  <a:t> real PT1 elements: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rad>
                  </m:oMath>
                </a14:m>
                <a:r>
                  <a:rPr lang="de-DE" sz="2400" dirty="0">
                    <a:ea typeface="Cambria Math" panose="02040503050406030204" pitchFamily="18" charset="0"/>
                  </a:rPr>
                  <a:t> (</a:t>
                </a:r>
                <a:r>
                  <a:rPr lang="de-DE" sz="2400" dirty="0" err="1"/>
                  <a:t>arithmetic-geometric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inequality</a:t>
                </a:r>
                <a:r>
                  <a:rPr lang="de-DE" sz="2400" dirty="0">
                    <a:ea typeface="Cambria Math" panose="02040503050406030204" pitchFamily="18" charset="0"/>
                  </a:rPr>
                  <a:t>)</a:t>
                </a: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overdamped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14:m>
                  <m:oMath xmlns:m="http://schemas.openxmlformats.org/officeDocument/2006/math">
                    <m: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) </a:t>
                </a:r>
                <a:r>
                  <a:rPr lang="de-DE" sz="2400" dirty="0" err="1">
                    <a:sym typeface="Wingdings" pitchFamily="2" charset="2"/>
                  </a:rPr>
                  <a:t>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critically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damped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14:m>
                  <m:oMath xmlns:m="http://schemas.openxmlformats.org/officeDocument/2006/math">
                    <m: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) </a:t>
                </a:r>
                <a:r>
                  <a:rPr lang="de-DE" sz="2400" dirty="0" err="1">
                    <a:sym typeface="Wingdings" pitchFamily="2" charset="2"/>
                  </a:rPr>
                  <a:t>for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69731F-6CDE-2B00-6FA1-70721ED2DE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15723"/>
                <a:ext cx="10515600" cy="4895851"/>
              </a:xfrm>
              <a:blipFill>
                <a:blip r:embed="rId2"/>
                <a:stretch>
                  <a:fillRect l="-724" t="-259" b="-207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270AFD-C1DE-8C01-FD6D-9258B218F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38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61716C4-F3BA-0B5F-0ADC-6D6F516A806C}"/>
              </a:ext>
            </a:extLst>
          </p:cNvPr>
          <p:cNvSpPr txBox="1"/>
          <p:nvPr/>
        </p:nvSpPr>
        <p:spPr>
          <a:xfrm>
            <a:off x="7215200" y="3103299"/>
            <a:ext cx="2693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individual time </a:t>
            </a:r>
            <a:r>
              <a:rPr lang="de-DE" dirty="0" err="1"/>
              <a:t>constants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2A78EBE-4B13-5090-5E97-905AD3A5472D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6894786" y="2753713"/>
            <a:ext cx="320414" cy="5342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A15884A-4F63-A711-4C5F-DE8DABE340AB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5833241" y="2753713"/>
            <a:ext cx="1381959" cy="5342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33B1815-D43B-3632-92CC-82F572DEEC53}"/>
              </a:ext>
            </a:extLst>
          </p:cNvPr>
          <p:cNvSpPr txBox="1"/>
          <p:nvPr/>
        </p:nvSpPr>
        <p:spPr>
          <a:xfrm>
            <a:off x="6174980" y="6396919"/>
            <a:ext cx="33894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/>
              <a:t>fastest non-</a:t>
            </a:r>
            <a:r>
              <a:rPr lang="de-DE" dirty="0" err="1"/>
              <a:t>oscillatory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18" name="Geschweifte Klammer links 17">
            <a:extLst>
              <a:ext uri="{FF2B5EF4-FFF2-40B4-BE49-F238E27FC236}">
                <a16:creationId xmlns:a16="http://schemas.microsoft.com/office/drawing/2014/main" id="{5D23FD76-3019-5A32-A011-A30FE78C0749}"/>
              </a:ext>
            </a:extLst>
          </p:cNvPr>
          <p:cNvSpPr/>
          <p:nvPr/>
        </p:nvSpPr>
        <p:spPr>
          <a:xfrm rot="16200000">
            <a:off x="7811127" y="5883851"/>
            <a:ext cx="164287" cy="861851"/>
          </a:xfrm>
          <a:prstGeom prst="leftBrace">
            <a:avLst>
              <a:gd name="adj1" fmla="val 8333"/>
              <a:gd name="adj2" fmla="val 475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5936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C3658D1-744D-30FC-180A-56744EEE0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39</a:t>
            </a:fld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B42B79A-BAA7-B097-D1B8-769BA2F24B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24573" y="65504"/>
            <a:ext cx="8742854" cy="658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4108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FC6604F1-EC43-DA27-4439-4E928DB24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PT2 Signal Flow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FD0D3A-87F5-9AC2-A2C4-DE36C2E59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40</a:t>
            </a:fld>
            <a:endParaRPr lang="en-GB"/>
          </a:p>
        </p:txBody>
      </p:sp>
      <p:pic>
        <p:nvPicPr>
          <p:cNvPr id="6" name="Grafik 5" descr="Ein Bild, das Diagramm, Reihe, Entwurf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BC46509F-A2F4-91FE-24BC-D8516AA812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912" y="1690688"/>
            <a:ext cx="8386175" cy="516731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3049D8C-0E74-A4D7-2CE3-DF67E210A6E7}"/>
              </a:ext>
            </a:extLst>
          </p:cNvPr>
          <p:cNvSpPr txBox="1"/>
          <p:nvPr/>
        </p:nvSpPr>
        <p:spPr>
          <a:xfrm>
            <a:off x="3851812" y="2128950"/>
            <a:ext cx="2846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Two</a:t>
            </a:r>
            <a:r>
              <a:rPr lang="de-DE" sz="2400" dirty="0"/>
              <a:t> </a:t>
            </a:r>
            <a:r>
              <a:rPr lang="de-DE" sz="2400" dirty="0" err="1"/>
              <a:t>energy</a:t>
            </a:r>
            <a:r>
              <a:rPr lang="de-DE" sz="2400" dirty="0"/>
              <a:t> </a:t>
            </a:r>
            <a:r>
              <a:rPr lang="de-DE" sz="2400" dirty="0" err="1"/>
              <a:t>storages</a:t>
            </a:r>
            <a:endParaRPr lang="de-DE" sz="24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49148953-51A0-2B28-4F79-8E23ABFD1EC1}"/>
              </a:ext>
            </a:extLst>
          </p:cNvPr>
          <p:cNvCxnSpPr>
            <a:stCxn id="7" idx="2"/>
          </p:cNvCxnSpPr>
          <p:nvPr/>
        </p:nvCxnSpPr>
        <p:spPr>
          <a:xfrm flipH="1">
            <a:off x="4705165" y="2590615"/>
            <a:ext cx="570050" cy="12267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3CD943D-AF06-329B-E25B-2EB72F8F7473}"/>
              </a:ext>
            </a:extLst>
          </p:cNvPr>
          <p:cNvCxnSpPr>
            <a:stCxn id="7" idx="2"/>
          </p:cNvCxnSpPr>
          <p:nvPr/>
        </p:nvCxnSpPr>
        <p:spPr>
          <a:xfrm>
            <a:off x="5275215" y="2590615"/>
            <a:ext cx="1826921" cy="12267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50495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F18E32-3561-5B1B-88D6-04F26786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All-Pass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385FC6E-700C-B18E-BADF-335DCA3D4B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6431213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Magnitude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all </a:t>
                </a:r>
                <a:r>
                  <a:rPr lang="de-DE" sz="2400" dirty="0" err="1"/>
                  <a:t>frequencies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/>
                  <a:t>), but </a:t>
                </a:r>
                <a:r>
                  <a:rPr lang="de-DE" sz="2400" dirty="0" err="1"/>
                  <a:t>phase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frequency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coefficients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Zeros </a:t>
                </a:r>
                <a:r>
                  <a:rPr lang="de-DE" sz="2400" dirty="0" err="1"/>
                  <a:t>are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mirror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images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imaginary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axis</a:t>
                </a:r>
                <a:r>
                  <a:rPr lang="de-DE" sz="2400" dirty="0"/>
                  <a:t>.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Important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signal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processing</a:t>
                </a:r>
                <a:r>
                  <a:rPr lang="de-DE" sz="2400" dirty="0"/>
                  <a:t>, e.g.,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runtime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alignment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385FC6E-700C-B18E-BADF-335DCA3D4B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6431213" cy="4351338"/>
              </a:xfrm>
              <a:blipFill>
                <a:blip r:embed="rId2"/>
                <a:stretch>
                  <a:fillRect l="-1378" t="-2035" r="-39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02275FA-0948-586B-71B9-28EB35C3F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41</a:t>
            </a:fld>
            <a:endParaRPr lang="en-GB"/>
          </a:p>
        </p:txBody>
      </p:sp>
      <p:pic>
        <p:nvPicPr>
          <p:cNvPr id="5" name="Grafik 4" descr="Ein Bild, das Diagramm, Reihe, Schrift, Kreis enthält.&#10;&#10;KI-generierte Inhalte können fehlerhaft sein.">
            <a:extLst>
              <a:ext uri="{FF2B5EF4-FFF2-40B4-BE49-F238E27FC236}">
                <a16:creationId xmlns:a16="http://schemas.microsoft.com/office/drawing/2014/main" id="{E13B6A26-66B4-FCD3-374E-0324D6D33F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9413" y="717413"/>
            <a:ext cx="4922587" cy="2017643"/>
          </a:xfrm>
          <a:prstGeom prst="rect">
            <a:avLst/>
          </a:prstGeom>
        </p:spPr>
      </p:pic>
      <p:pic>
        <p:nvPicPr>
          <p:cNvPr id="6" name="Grafik 5" descr="Ein Bild, das Diagramm, Kreis, Reihe enthält.&#10;&#10;KI-generierte Inhalte können fehlerhaft sein.">
            <a:extLst>
              <a:ext uri="{FF2B5EF4-FFF2-40B4-BE49-F238E27FC236}">
                <a16:creationId xmlns:a16="http://schemas.microsoft.com/office/drawing/2014/main" id="{AB0D2284-D8CC-E9B2-7ACB-E0BEE700C7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9413" y="3569441"/>
            <a:ext cx="4928745" cy="28763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11E2D89C-E118-15D5-B856-54F2B56F726C}"/>
                  </a:ext>
                </a:extLst>
              </p:cNvPr>
              <p:cNvSpPr txBox="1"/>
              <p:nvPr/>
            </p:nvSpPr>
            <p:spPr>
              <a:xfrm>
                <a:off x="8053478" y="166907"/>
                <a:ext cx="3354456" cy="4629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1800" dirty="0"/>
                  <a:t>first-order all-pass: </a:t>
                </a: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1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de-DE" sz="18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11E2D89C-E118-15D5-B856-54F2B56F7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478" y="166907"/>
                <a:ext cx="3354456" cy="462947"/>
              </a:xfrm>
              <a:prstGeom prst="rect">
                <a:avLst/>
              </a:prstGeom>
              <a:blipFill>
                <a:blip r:embed="rId5"/>
                <a:stretch>
                  <a:fillRect l="-1509" b="-789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2624273-F4A0-B76C-F913-E830233C455B}"/>
                  </a:ext>
                </a:extLst>
              </p:cNvPr>
              <p:cNvSpPr txBox="1"/>
              <p:nvPr/>
            </p:nvSpPr>
            <p:spPr>
              <a:xfrm>
                <a:off x="7542855" y="3010890"/>
                <a:ext cx="4375702" cy="558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1800" dirty="0"/>
                  <a:t>second-order all-pass: </a:t>
                </a: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1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sz="18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2624273-F4A0-B76C-F913-E830233C4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55" y="3010890"/>
                <a:ext cx="4375702" cy="558551"/>
              </a:xfrm>
              <a:prstGeom prst="rect">
                <a:avLst/>
              </a:prstGeom>
              <a:blipFill>
                <a:blip r:embed="rId6"/>
                <a:stretch>
                  <a:fillRect l="-11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48006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146A8B-0ADA-5706-7B0C-C2FC59154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Systems </a:t>
            </a:r>
            <a:r>
              <a:rPr lang="de-DE" dirty="0" err="1"/>
              <a:t>with</a:t>
            </a:r>
            <a:r>
              <a:rPr lang="de-DE" dirty="0"/>
              <a:t> Dead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The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extended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multiplying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represents</a:t>
                </a:r>
                <a:r>
                  <a:rPr lang="de-DE" dirty="0"/>
                  <a:t> a time </a:t>
                </a:r>
                <a:r>
                  <a:rPr lang="de-DE" dirty="0" err="1"/>
                  <a:t>delay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PT1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dead</a:t>
                </a:r>
                <a:r>
                  <a:rPr lang="de-DE" dirty="0"/>
                  <a:t> time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Mainly</a:t>
                </a:r>
                <a:r>
                  <a:rPr lang="de-DE" dirty="0"/>
                  <a:t> </a:t>
                </a:r>
                <a:r>
                  <a:rPr lang="de-DE" dirty="0" err="1"/>
                  <a:t>suitable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analysis</a:t>
                </a:r>
                <a:r>
                  <a:rPr lang="de-DE" dirty="0"/>
                  <a:t> (e.g., Bode </a:t>
                </a:r>
                <a:r>
                  <a:rPr lang="de-DE" dirty="0" err="1"/>
                  <a:t>plots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Dead time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most</a:t>
                </a:r>
                <a:r>
                  <a:rPr lang="de-DE" dirty="0"/>
                  <a:t> </a:t>
                </a:r>
                <a:r>
                  <a:rPr lang="de-DE" dirty="0" err="1"/>
                  <a:t>common</a:t>
                </a:r>
                <a:r>
                  <a:rPr lang="de-DE" dirty="0"/>
                  <a:t> </a:t>
                </a:r>
                <a:r>
                  <a:rPr lang="de-DE" dirty="0" err="1"/>
                  <a:t>reasons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r>
                  <a:rPr lang="de-DE" dirty="0"/>
                  <a:t> and </a:t>
                </a:r>
                <a:r>
                  <a:rPr lang="de-DE" dirty="0" err="1"/>
                  <a:t>poor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36B6975-D7D1-1504-841E-AD44A905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42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C23E2E2-7BAB-B0DC-155F-18BE9A930334}"/>
              </a:ext>
            </a:extLst>
          </p:cNvPr>
          <p:cNvSpPr txBox="1"/>
          <p:nvPr/>
        </p:nvSpPr>
        <p:spPr>
          <a:xfrm>
            <a:off x="1502546" y="3295830"/>
            <a:ext cx="26522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original 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792DF04-E9E3-B701-E8FB-C02356E21D65}"/>
              </a:ext>
            </a:extLst>
          </p:cNvPr>
          <p:cNvCxnSpPr/>
          <p:nvPr/>
        </p:nvCxnSpPr>
        <p:spPr>
          <a:xfrm flipV="1">
            <a:off x="2840854" y="2991770"/>
            <a:ext cx="239697" cy="3040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238FAF0-5F1B-2600-5A07-4DF841173409}"/>
              </a:ext>
            </a:extLst>
          </p:cNvPr>
          <p:cNvSpPr txBox="1"/>
          <p:nvPr/>
        </p:nvSpPr>
        <p:spPr>
          <a:xfrm>
            <a:off x="4819096" y="3295830"/>
            <a:ext cx="2802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time </a:t>
            </a:r>
            <a:r>
              <a:rPr lang="de-DE" dirty="0" err="1"/>
              <a:t>delay</a:t>
            </a:r>
            <a:r>
              <a:rPr lang="de-DE" dirty="0"/>
              <a:t> (aka </a:t>
            </a:r>
            <a:r>
              <a:rPr lang="de-DE" dirty="0" err="1"/>
              <a:t>dead</a:t>
            </a:r>
            <a:r>
              <a:rPr lang="de-DE" dirty="0"/>
              <a:t> time)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EDEBF8D-3696-DBD0-D6B9-D3FE6E4DD679}"/>
              </a:ext>
            </a:extLst>
          </p:cNvPr>
          <p:cNvCxnSpPr/>
          <p:nvPr/>
        </p:nvCxnSpPr>
        <p:spPr>
          <a:xfrm flipH="1" flipV="1">
            <a:off x="4819096" y="2867482"/>
            <a:ext cx="321075" cy="4971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849A6A0B-7B0A-3167-280A-07C8CCA493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60704" y="3665162"/>
            <a:ext cx="2857500" cy="1422400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5BED860-0BB1-7B23-BF19-6E448A09B50F}"/>
              </a:ext>
            </a:extLst>
          </p:cNvPr>
          <p:cNvSpPr txBox="1"/>
          <p:nvPr/>
        </p:nvSpPr>
        <p:spPr>
          <a:xfrm>
            <a:off x="9260703" y="3041466"/>
            <a:ext cx="28575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(P </a:t>
            </a:r>
            <a:r>
              <a:rPr lang="de-DE" dirty="0" err="1"/>
              <a:t>element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dead</a:t>
            </a:r>
            <a:r>
              <a:rPr lang="de-DE" dirty="0"/>
              <a:t> time):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77D9DC5-EB66-C724-A7E5-4EB656F8A374}"/>
              </a:ext>
            </a:extLst>
          </p:cNvPr>
          <p:cNvSpPr/>
          <p:nvPr/>
        </p:nvSpPr>
        <p:spPr>
          <a:xfrm>
            <a:off x="11265763" y="3665162"/>
            <a:ext cx="443884" cy="4008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>
                <a:solidFill>
                  <a:schemeClr val="tx1"/>
                </a:solidFill>
              </a:rPr>
              <a:t>T</a:t>
            </a:r>
            <a:r>
              <a:rPr lang="de-DE" sz="2000" baseline="-25000" dirty="0">
                <a:solidFill>
                  <a:schemeClr val="tx1"/>
                </a:solidFill>
              </a:rPr>
              <a:t>D</a:t>
            </a:r>
            <a:endParaRPr lang="de-DE" sz="2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7749B73-558C-FCA2-EC0A-03E1F75C9A01}"/>
                  </a:ext>
                </a:extLst>
              </p:cNvPr>
              <p:cNvSpPr txBox="1"/>
              <p:nvPr/>
            </p:nvSpPr>
            <p:spPr>
              <a:xfrm>
                <a:off x="11276272" y="3665162"/>
                <a:ext cx="321075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7749B73-558C-FCA2-EC0A-03E1F75C9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76272" y="3665162"/>
                <a:ext cx="321075" cy="400110"/>
              </a:xfrm>
              <a:prstGeom prst="rect">
                <a:avLst/>
              </a:prstGeom>
              <a:blipFill>
                <a:blip r:embed="rId4"/>
                <a:stretch>
                  <a:fillRect r="-2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58567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CCB4EE6-FB21-E428-AFA4-B3E042F35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43</a:t>
            </a:fld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B259E4D-64AB-389E-6117-BBCCBA1A7E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00574" y="1589102"/>
            <a:ext cx="4012645" cy="4012645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0FD4A938-5623-70C8-BB79-671071A0E847}"/>
              </a:ext>
            </a:extLst>
          </p:cNvPr>
          <p:cNvSpPr txBox="1"/>
          <p:nvPr/>
        </p:nvSpPr>
        <p:spPr>
          <a:xfrm>
            <a:off x="8268961" y="713860"/>
            <a:ext cx="33116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Nyquist</a:t>
            </a:r>
            <a:r>
              <a:rPr lang="de-DE" sz="2400" dirty="0"/>
              <a:t> </a:t>
            </a:r>
            <a:r>
              <a:rPr lang="de-DE" sz="2400" dirty="0" err="1"/>
              <a:t>diagram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PT1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dead</a:t>
            </a:r>
            <a:r>
              <a:rPr lang="de-DE" sz="2400" dirty="0"/>
              <a:t> time:</a:t>
            </a:r>
          </a:p>
        </p:txBody>
      </p:sp>
      <p:pic>
        <p:nvPicPr>
          <p:cNvPr id="7" name="Grafik 6" descr="Ein Bild, das Diagramm, Kreis, Reihe enthält.&#10;&#10;KI-generierte Inhalte können fehlerhaft sein.">
            <a:extLst>
              <a:ext uri="{FF2B5EF4-FFF2-40B4-BE49-F238E27FC236}">
                <a16:creationId xmlns:a16="http://schemas.microsoft.com/office/drawing/2014/main" id="{08E294EB-6019-AEA2-F733-F1499C2202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948" y="2130640"/>
            <a:ext cx="3559626" cy="292956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E86264FE-B2A5-CB8B-4A25-43EAF80285CA}"/>
              </a:ext>
            </a:extLst>
          </p:cNvPr>
          <p:cNvSpPr txBox="1"/>
          <p:nvPr/>
        </p:nvSpPr>
        <p:spPr>
          <a:xfrm>
            <a:off x="4171018" y="1129359"/>
            <a:ext cx="32322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Nyquist</a:t>
            </a:r>
            <a:r>
              <a:rPr lang="de-DE" sz="2400" dirty="0"/>
              <a:t> </a:t>
            </a:r>
            <a:r>
              <a:rPr lang="de-DE" sz="2400" dirty="0" err="1"/>
              <a:t>diagram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dead</a:t>
            </a:r>
            <a:r>
              <a:rPr lang="de-DE" sz="2400" dirty="0"/>
              <a:t> time:</a:t>
            </a:r>
          </a:p>
        </p:txBody>
      </p:sp>
      <p:pic>
        <p:nvPicPr>
          <p:cNvPr id="10" name="Grafik 9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3C34F394-B9D4-A22A-7B92-7F0D95011C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781" y="1544858"/>
            <a:ext cx="3497935" cy="3493363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B4A940BB-AE86-B489-1CC6-5D2DCC80ABEB}"/>
              </a:ext>
            </a:extLst>
          </p:cNvPr>
          <p:cNvSpPr txBox="1"/>
          <p:nvPr/>
        </p:nvSpPr>
        <p:spPr>
          <a:xfrm>
            <a:off x="611392" y="563755"/>
            <a:ext cx="32322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Bode </a:t>
            </a:r>
            <a:r>
              <a:rPr lang="de-DE" sz="2400" dirty="0" err="1"/>
              <a:t>diagram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dead</a:t>
            </a:r>
            <a:r>
              <a:rPr lang="de-DE" sz="2400" dirty="0"/>
              <a:t> time: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B2A190AE-3AA5-43A2-8A96-21C95EFC3423}"/>
                  </a:ext>
                </a:extLst>
              </p:cNvPr>
              <p:cNvSpPr txBox="1"/>
              <p:nvPr/>
            </p:nvSpPr>
            <p:spPr>
              <a:xfrm>
                <a:off x="164507" y="5149826"/>
                <a:ext cx="4588246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200" dirty="0"/>
                  <a:t>Delay = additional </a:t>
                </a:r>
                <a:r>
                  <a:rPr lang="de-DE" sz="2200" dirty="0" err="1"/>
                  <a:t>phase</a:t>
                </a:r>
                <a:r>
                  <a:rPr lang="de-DE" sz="2200" dirty="0"/>
                  <a:t> shift </a:t>
                </a:r>
                <a:r>
                  <a:rPr lang="de-DE" sz="2200" dirty="0" err="1"/>
                  <a:t>that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grows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linearly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200" dirty="0">
                  <a:sym typeface="Wingdings" pitchFamily="2" charset="2"/>
                </a:endParaRPr>
              </a:p>
              <a:p>
                <a:r>
                  <a:rPr lang="de-DE" sz="2200" dirty="0">
                    <a:sym typeface="Wingdings" pitchFamily="2" charset="2"/>
                  </a:rPr>
                  <a:t> </a:t>
                </a:r>
                <a:r>
                  <a:rPr lang="de-DE" sz="2200" dirty="0"/>
                  <a:t>Dead time </a:t>
                </a:r>
                <a:r>
                  <a:rPr lang="de-DE" sz="2200" dirty="0" err="1"/>
                  <a:t>hides</a:t>
                </a:r>
                <a:r>
                  <a:rPr lang="de-DE" sz="2200" dirty="0"/>
                  <a:t> in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amplitude</a:t>
                </a:r>
                <a:r>
                  <a:rPr lang="de-DE" sz="2200" dirty="0"/>
                  <a:t>, but </a:t>
                </a:r>
                <a:r>
                  <a:rPr lang="de-DE" sz="2200" dirty="0" err="1"/>
                  <a:t>reveals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itself</a:t>
                </a:r>
                <a:r>
                  <a:rPr lang="de-DE" sz="2200" dirty="0"/>
                  <a:t> in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phase</a:t>
                </a:r>
                <a:r>
                  <a:rPr lang="de-DE" sz="2200" dirty="0"/>
                  <a:t>.</a:t>
                </a: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B2A190AE-3AA5-43A2-8A96-21C95EFC3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507" y="5149826"/>
                <a:ext cx="4588246" cy="1446550"/>
              </a:xfrm>
              <a:prstGeom prst="rect">
                <a:avLst/>
              </a:prstGeom>
              <a:blipFill>
                <a:blip r:embed="rId5"/>
                <a:stretch>
                  <a:fillRect l="-1653" t="-2609" r="-2479" b="-78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14445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83B0DC-31BB-6D9E-792A-D380DBFBB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000" dirty="0"/>
              <a:t>System </a:t>
            </a:r>
            <a:r>
              <a:rPr lang="de-DE" sz="4000" dirty="0" err="1"/>
              <a:t>Identification</a:t>
            </a:r>
            <a:r>
              <a:rPr lang="de-DE" sz="4000" dirty="0"/>
              <a:t> </a:t>
            </a:r>
            <a:r>
              <a:rPr lang="de-DE" sz="4000" dirty="0" err="1"/>
              <a:t>with</a:t>
            </a:r>
            <a:r>
              <a:rPr lang="de-DE" sz="4000" dirty="0"/>
              <a:t> Bode Plots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252DC4-2B8B-95BC-0680-FD70429DCF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Experiment: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measurement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Bode </a:t>
                </a:r>
                <a:r>
                  <a:rPr lang="de-DE" dirty="0" err="1">
                    <a:sym typeface="Wingdings" pitchFamily="2" charset="2"/>
                  </a:rPr>
                  <a:t>plots</a:t>
                </a:r>
                <a:endParaRPr lang="de-DE" dirty="0"/>
              </a:p>
              <a:p>
                <a:r>
                  <a:rPr lang="de-DE" dirty="0"/>
                  <a:t>Magnitude </a:t>
                </a:r>
                <a:r>
                  <a:rPr lang="de-DE" dirty="0" err="1"/>
                  <a:t>plot</a:t>
                </a:r>
                <a:r>
                  <a:rPr lang="de-DE" dirty="0"/>
                  <a:t>: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contributions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components</a:t>
                </a:r>
                <a:endParaRPr lang="de-DE" dirty="0"/>
              </a:p>
              <a:p>
                <a:r>
                  <a:rPr lang="de-DE" dirty="0"/>
                  <a:t>Phase </a:t>
                </a:r>
                <a:r>
                  <a:rPr lang="de-DE" dirty="0" err="1"/>
                  <a:t>plot</a:t>
                </a:r>
                <a:r>
                  <a:rPr lang="de-DE" dirty="0"/>
                  <a:t>: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:r>
                  <a:rPr lang="de-DE" dirty="0" err="1"/>
                  <a:t>contributions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Decompose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into</a:t>
                </a:r>
                <a:r>
                  <a:rPr lang="de-DE" dirty="0"/>
                  <a:t> </a:t>
                </a:r>
                <a:r>
                  <a:rPr lang="de-DE" dirty="0" err="1"/>
                  <a:t>standard</a:t>
                </a:r>
                <a:r>
                  <a:rPr lang="de-DE" dirty="0"/>
                  <a:t> </a:t>
                </a:r>
                <a:r>
                  <a:rPr lang="de-DE" dirty="0" err="1"/>
                  <a:t>building</a:t>
                </a:r>
                <a:r>
                  <a:rPr lang="de-DE" dirty="0"/>
                  <a:t> </a:t>
                </a:r>
                <a:r>
                  <a:rPr lang="de-DE" dirty="0" err="1"/>
                  <a:t>blocks</a:t>
                </a:r>
                <a:r>
                  <a:rPr lang="de-DE" dirty="0"/>
                  <a:t> (</a:t>
                </a:r>
                <a:r>
                  <a:rPr lang="de-DE" dirty="0" err="1"/>
                  <a:t>integrator</a:t>
                </a:r>
                <a:r>
                  <a:rPr lang="de-DE" dirty="0"/>
                  <a:t>, PT1, </a:t>
                </a:r>
                <a:r>
                  <a:rPr lang="de-DE" dirty="0" err="1"/>
                  <a:t>gain</a:t>
                </a:r>
                <a:r>
                  <a:rPr lang="de-DE" dirty="0"/>
                  <a:t>, ...)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straight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line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segments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System </a:t>
                </a:r>
                <a:r>
                  <a:rPr lang="de-DE" dirty="0" err="1"/>
                  <a:t>identification</a:t>
                </a:r>
                <a:r>
                  <a:rPr lang="de-DE" dirty="0"/>
                  <a:t> </a:t>
                </a:r>
                <a:r>
                  <a:rPr lang="de-DE" dirty="0" err="1"/>
                  <a:t>procedure</a:t>
                </a:r>
                <a:r>
                  <a:rPr lang="de-DE" dirty="0"/>
                  <a:t> (</a:t>
                </a:r>
                <a:r>
                  <a:rPr lang="de-DE" dirty="0" err="1"/>
                  <a:t>construct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):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Determine</a:t>
                </a:r>
                <a:r>
                  <a:rPr lang="de-DE" dirty="0"/>
                  <a:t> initial </a:t>
                </a:r>
                <a:r>
                  <a:rPr lang="de-DE" dirty="0" err="1"/>
                  <a:t>slope</a:t>
                </a:r>
                <a:r>
                  <a:rPr lang="de-DE" dirty="0"/>
                  <a:t> (</a:t>
                </a:r>
                <a:r>
                  <a:rPr lang="de-DE" dirty="0" err="1"/>
                  <a:t>low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indicates</a:t>
                </a:r>
                <a:r>
                  <a:rPr lang="de-DE" dirty="0"/>
                  <a:t> </a:t>
                </a:r>
                <a:r>
                  <a:rPr lang="de-DE" dirty="0" err="1"/>
                  <a:t>integrators</a:t>
                </a:r>
                <a:r>
                  <a:rPr lang="de-DE" dirty="0"/>
                  <a:t>/</a:t>
                </a:r>
                <a:r>
                  <a:rPr lang="de-DE" dirty="0" err="1"/>
                  <a:t>differentiators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Identify</a:t>
                </a:r>
                <a:r>
                  <a:rPr lang="de-DE" dirty="0"/>
                  <a:t> </a:t>
                </a:r>
                <a:r>
                  <a:rPr lang="de-DE" dirty="0" err="1"/>
                  <a:t>corner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r>
                  <a:rPr lang="de-DE" dirty="0"/>
                  <a:t> </a:t>
                </a:r>
                <a:r>
                  <a:rPr lang="de-DE" dirty="0" err="1"/>
                  <a:t>where</a:t>
                </a:r>
                <a:r>
                  <a:rPr lang="de-DE" dirty="0"/>
                  <a:t> </a:t>
                </a:r>
                <a:r>
                  <a:rPr lang="de-DE" dirty="0" err="1"/>
                  <a:t>slope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Analyze </a:t>
                </a:r>
                <a:r>
                  <a:rPr lang="de-DE" dirty="0" err="1"/>
                  <a:t>slope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−20 </m:t>
                        </m:r>
                        <m:r>
                          <m:rPr>
                            <m:sty m:val="p"/>
                          </m:rPr>
                          <a:rPr lang="de-D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dB</m:t>
                        </m:r>
                        <m:r>
                          <m:rPr>
                            <m:nor/>
                          </m:rPr>
                          <a:rPr lang="de-DE" dirty="0">
                            <a:solidFill>
                              <a:schemeClr val="tx1"/>
                            </a:solidFill>
                          </a:rPr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decade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pole,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20 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decade</m:t>
                        </m:r>
                      </m:den>
                    </m:f>
                  </m:oMath>
                </a14:m>
                <a:r>
                  <a:rPr lang="de-DE" dirty="0">
                    <a:sym typeface="Wingdings" pitchFamily="2" charset="2"/>
                  </a:rPr>
                  <a:t> 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Determine</a:t>
                </a:r>
                <a:r>
                  <a:rPr lang="de-DE" dirty="0"/>
                  <a:t> time </a:t>
                </a:r>
                <a:r>
                  <a:rPr lang="de-DE" dirty="0" err="1"/>
                  <a:t>constants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den>
                    </m:f>
                  </m:oMath>
                </a14:m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 K </a:t>
                </a:r>
                <a:r>
                  <a:rPr lang="de-DE" dirty="0" err="1"/>
                  <a:t>from</a:t>
                </a:r>
                <a:r>
                  <a:rPr lang="de-DE" dirty="0"/>
                  <a:t> absolute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level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slope</a:t>
                </a:r>
                <a:r>
                  <a:rPr lang="de-DE" dirty="0"/>
                  <a:t> = </a:t>
                </a:r>
                <a:r>
                  <a:rPr lang="de-DE" dirty="0" err="1"/>
                  <a:t>structure</a:t>
                </a:r>
                <a:r>
                  <a:rPr lang="de-DE" dirty="0"/>
                  <a:t>, </a:t>
                </a:r>
                <a:r>
                  <a:rPr lang="de-DE" dirty="0" err="1"/>
                  <a:t>corner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= </a:t>
                </a:r>
                <a:r>
                  <a:rPr lang="de-DE" dirty="0" err="1"/>
                  <a:t>dynamics</a:t>
                </a:r>
                <a:r>
                  <a:rPr lang="de-DE" dirty="0"/>
                  <a:t>, </a:t>
                </a:r>
                <a:r>
                  <a:rPr lang="de-DE" dirty="0" err="1"/>
                  <a:t>level</a:t>
                </a:r>
                <a:r>
                  <a:rPr lang="de-DE" dirty="0"/>
                  <a:t> = </a:t>
                </a:r>
                <a:r>
                  <a:rPr lang="de-DE" dirty="0" err="1"/>
                  <a:t>gain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252DC4-2B8B-95BC-0680-FD70429DCF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  <a:blipFill>
                <a:blip r:embed="rId2"/>
                <a:stretch>
                  <a:fillRect l="-844" t="-25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1046C4B-4832-CAE2-3B8B-739987984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47950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CF6AB-6150-2496-7055-205640593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797"/>
            <a:ext cx="10515600" cy="1325563"/>
          </a:xfrm>
        </p:spPr>
        <p:txBody>
          <a:bodyPr/>
          <a:lstStyle/>
          <a:p>
            <a:pPr algn="ctr"/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E137E9-AE31-F34F-0F9C-D3E4034792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218" y="1135117"/>
                <a:ext cx="6068599" cy="5722883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Check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plot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−20 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decade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more</a:t>
                </a:r>
                <a:r>
                  <a:rPr lang="de-DE" dirty="0">
                    <a:sym typeface="Wingdings" pitchFamily="2" charset="2"/>
                  </a:rPr>
                  <a:t> pole </a:t>
                </a:r>
                <a:r>
                  <a:rPr lang="de-DE" dirty="0" err="1">
                    <a:sym typeface="Wingdings" pitchFamily="2" charset="2"/>
                  </a:rPr>
                  <a:t>than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zeros</a:t>
                </a:r>
                <a:r>
                  <a:rPr lang="de-DE" dirty="0">
                    <a:sym typeface="Wingdings" pitchFamily="2" charset="2"/>
                  </a:rPr>
                  <a:t> (</a:t>
                </a:r>
                <a:r>
                  <a:rPr lang="de-DE" dirty="0" err="1">
                    <a:sym typeface="Wingdings" pitchFamily="2" charset="2"/>
                  </a:rPr>
                  <a:t>often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integrator</a:t>
                </a:r>
                <a:r>
                  <a:rPr lang="de-DE" dirty="0">
                    <a:sym typeface="Wingdings" pitchFamily="2" charset="2"/>
                  </a:rPr>
                  <a:t>)</a:t>
                </a:r>
                <a:endParaRPr lang="de-DE" dirty="0"/>
              </a:p>
              <a:p>
                <a:r>
                  <a:rPr lang="de-DE" dirty="0" err="1"/>
                  <a:t>For</a:t>
                </a:r>
                <a:r>
                  <a:rPr lang="de-DE" dirty="0"/>
                  <a:t> large </a:t>
                </a:r>
                <a:r>
                  <a:rPr lang="de-DE" dirty="0" err="1"/>
                  <a:t>frequencies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0 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decade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two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poles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overall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20 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r>
                  <a:rPr lang="de-DE" dirty="0"/>
                  <a:t>   at  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Gain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=10</m:t>
                    </m:r>
                  </m:oMath>
                </a14:m>
                <a:r>
                  <a:rPr lang="de-DE" dirty="0"/>
                  <a:t>  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20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dB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=20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</m:t>
                            </m:r>
                          </m:e>
                        </m:d>
                      </m:e>
                    </m:func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pole </a:t>
                </a:r>
                <a:r>
                  <a:rPr lang="de-DE" dirty="0" err="1">
                    <a:sym typeface="Wingdings" pitchFamily="2" charset="2"/>
                  </a:rPr>
                  <a:t>always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active</a:t>
                </a:r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>
                    <a:sym typeface="Wingdings" pitchFamily="2" charset="2"/>
                  </a:rPr>
                  <a:t>integrator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den>
                    </m:f>
                  </m:oMath>
                </a14:m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more</a:t>
                </a:r>
                <a:r>
                  <a:rPr lang="de-DE" dirty="0">
                    <a:sym typeface="Wingdings" pitchFamily="2" charset="2"/>
                  </a:rPr>
                  <a:t> pole </a:t>
                </a:r>
                <a:r>
                  <a:rPr lang="de-DE" dirty="0" err="1">
                    <a:sym typeface="Wingdings" pitchFamily="2" charset="2"/>
                  </a:rPr>
                  <a:t>comes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later</a:t>
                </a:r>
                <a:r>
                  <a:rPr lang="de-DE" dirty="0">
                    <a:sym typeface="Wingdings" pitchFamily="2" charset="2"/>
                  </a:rPr>
                  <a:t>: </a:t>
                </a:r>
                <a:r>
                  <a:rPr lang="de-DE" dirty="0" err="1"/>
                  <a:t>kink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corner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≈10</m:t>
                    </m:r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rad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den>
                    </m:f>
                    <m:r>
                      <a:rPr lang="de-DE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 PT1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1+0.1</m:t>
                        </m:r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den>
                    </m:f>
                  </m:oMath>
                </a14:m>
                <a:endParaRPr lang="de-DE" b="0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1+0.1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E137E9-AE31-F34F-0F9C-D3E4034792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218" y="1135117"/>
                <a:ext cx="6068599" cy="5722883"/>
              </a:xfrm>
              <a:blipFill>
                <a:blip r:embed="rId2"/>
                <a:stretch>
                  <a:fillRect l="-5637" t="-6208" r="-20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06E2ED-F427-7057-2702-60EBE459A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45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22988934-2359-699F-54A9-9A1BECA30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509510"/>
            <a:ext cx="6012782" cy="4533446"/>
          </a:xfrm>
          <a:prstGeom prst="rect">
            <a:avLst/>
          </a:prstGeom>
        </p:spPr>
      </p:pic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77DDB740-819C-FAE4-78EB-35263FD7821F}"/>
              </a:ext>
            </a:extLst>
          </p:cNvPr>
          <p:cNvCxnSpPr>
            <a:cxnSpLocks/>
          </p:cNvCxnSpPr>
          <p:nvPr/>
        </p:nvCxnSpPr>
        <p:spPr>
          <a:xfrm>
            <a:off x="6936828" y="2091557"/>
            <a:ext cx="2417380" cy="1103587"/>
          </a:xfrm>
          <a:prstGeom prst="line">
            <a:avLst/>
          </a:prstGeom>
          <a:ln w="31750">
            <a:solidFill>
              <a:schemeClr val="accent5"/>
            </a:solidFill>
            <a:prstDash val="dash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29E10C8C-B23F-1E41-07B0-12AA994EE92D}"/>
              </a:ext>
            </a:extLst>
          </p:cNvPr>
          <p:cNvCxnSpPr>
            <a:cxnSpLocks/>
          </p:cNvCxnSpPr>
          <p:nvPr/>
        </p:nvCxnSpPr>
        <p:spPr>
          <a:xfrm>
            <a:off x="9354208" y="3195144"/>
            <a:ext cx="2396358" cy="2153346"/>
          </a:xfrm>
          <a:prstGeom prst="line">
            <a:avLst/>
          </a:prstGeom>
          <a:ln w="31750">
            <a:solidFill>
              <a:schemeClr val="accent6"/>
            </a:solidFill>
            <a:prstDash val="sysDot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D9CDAD1-7CB8-30E4-E1EA-936CA35FF38D}"/>
                  </a:ext>
                </a:extLst>
              </p:cNvPr>
              <p:cNvSpPr txBox="1"/>
              <p:nvPr/>
            </p:nvSpPr>
            <p:spPr>
              <a:xfrm>
                <a:off x="8278400" y="2371885"/>
                <a:ext cx="170380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de-DE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−20 </m:t>
                          </m:r>
                          <m:r>
                            <m:rPr>
                              <m:sty m:val="p"/>
                            </m:rPr>
                            <a:rPr lang="de-DE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dB</m:t>
                          </m:r>
                          <m:r>
                            <m:rPr>
                              <m:nor/>
                            </m:rPr>
                            <a:rPr lang="de-DE" dirty="0">
                              <a:solidFill>
                                <a:schemeClr val="accent5"/>
                              </a:solidFill>
                            </a:rPr>
                            <m:t> 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decade</m:t>
                          </m:r>
                        </m:den>
                      </m:f>
                    </m:oMath>
                  </m:oMathPara>
                </a14:m>
                <a:endParaRPr lang="de-DE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D9CDAD1-7CB8-30E4-E1EA-936CA35FF3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8400" y="2371885"/>
                <a:ext cx="1703800" cy="276999"/>
              </a:xfrm>
              <a:prstGeom prst="rect">
                <a:avLst/>
              </a:prstGeom>
              <a:blipFill>
                <a:blip r:embed="rId4"/>
                <a:stretch>
                  <a:fillRect t="-160870" r="-1471" b="-2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10C551F6-3624-13AD-B04D-339DD52C989B}"/>
                  </a:ext>
                </a:extLst>
              </p:cNvPr>
              <p:cNvSpPr txBox="1"/>
              <p:nvPr/>
            </p:nvSpPr>
            <p:spPr>
              <a:xfrm>
                <a:off x="10225874" y="3637733"/>
                <a:ext cx="16650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de-DE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de-DE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0 </m:t>
                          </m:r>
                          <m:r>
                            <m:rPr>
                              <m:sty m:val="p"/>
                            </m:rPr>
                            <a:rPr lang="de-DE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dB</m:t>
                          </m:r>
                          <m:r>
                            <m:rPr>
                              <m:nor/>
                            </m:rPr>
                            <a:rPr lang="de-DE" dirty="0">
                              <a:solidFill>
                                <a:schemeClr val="accent6"/>
                              </a:solidFill>
                            </a:rPr>
                            <m:t> 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decade</m:t>
                          </m:r>
                        </m:den>
                      </m:f>
                    </m:oMath>
                  </m:oMathPara>
                </a14:m>
                <a:endParaRPr lang="de-DE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10C551F6-3624-13AD-B04D-339DD52C98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5874" y="3637733"/>
                <a:ext cx="1665071" cy="276999"/>
              </a:xfrm>
              <a:prstGeom prst="rect">
                <a:avLst/>
              </a:prstGeom>
              <a:blipFill>
                <a:blip r:embed="rId5"/>
                <a:stretch>
                  <a:fillRect t="-160870" r="-3008" b="-2304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feld 14">
            <a:extLst>
              <a:ext uri="{FF2B5EF4-FFF2-40B4-BE49-F238E27FC236}">
                <a16:creationId xmlns:a16="http://schemas.microsoft.com/office/drawing/2014/main" id="{140798D8-914C-9EFB-6759-118A69B2B311}"/>
              </a:ext>
            </a:extLst>
          </p:cNvPr>
          <p:cNvSpPr txBox="1"/>
          <p:nvPr/>
        </p:nvSpPr>
        <p:spPr>
          <a:xfrm>
            <a:off x="7536212" y="4087151"/>
            <a:ext cx="18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corner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</p:txBody>
      </p:sp>
      <p:cxnSp>
        <p:nvCxnSpPr>
          <p:cNvPr id="17" name="Gerade Verbindung 16">
            <a:extLst>
              <a:ext uri="{FF2B5EF4-FFF2-40B4-BE49-F238E27FC236}">
                <a16:creationId xmlns:a16="http://schemas.microsoft.com/office/drawing/2014/main" id="{35B21F36-93F1-55DA-F500-212FC42D7057}"/>
              </a:ext>
            </a:extLst>
          </p:cNvPr>
          <p:cNvCxnSpPr/>
          <p:nvPr/>
        </p:nvCxnSpPr>
        <p:spPr>
          <a:xfrm>
            <a:off x="9354208" y="3195144"/>
            <a:ext cx="0" cy="2343808"/>
          </a:xfrm>
          <a:prstGeom prst="line">
            <a:avLst/>
          </a:prstGeom>
          <a:ln>
            <a:prstDash val="lgDashDot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36828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E7D95-1F5E-CE48-E953-D97B4D902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Loop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B4223A-1501-7599-2239-8ABB3D900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46</a:t>
            </a:fld>
            <a:endParaRPr lang="en-GB"/>
          </a:p>
        </p:txBody>
      </p: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6B685BC3-C175-CD83-FD48-F6388221A45E}"/>
              </a:ext>
            </a:extLst>
          </p:cNvPr>
          <p:cNvGrpSpPr/>
          <p:nvPr/>
        </p:nvGrpSpPr>
        <p:grpSpPr>
          <a:xfrm>
            <a:off x="838200" y="1993681"/>
            <a:ext cx="4379258" cy="1307375"/>
            <a:chOff x="3906371" y="2121625"/>
            <a:chExt cx="4379258" cy="13073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/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Verbindungsstelle 15">
              <a:extLst>
                <a:ext uri="{FF2B5EF4-FFF2-40B4-BE49-F238E27FC236}">
                  <a16:creationId xmlns:a16="http://schemas.microsoft.com/office/drawing/2014/main" id="{5A69D5A8-6BC7-EED6-B298-00BE7B488749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7297249" y="242326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01A8DB1A-B477-CE70-74C6-B0DDF2AD7AF9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6600387" y="2470762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B6451F44-2FDF-CAD1-32E0-67D1B57730BC}"/>
                </a:ext>
              </a:extLst>
            </p:cNvPr>
            <p:cNvCxnSpPr>
              <a:cxnSpLocks/>
            </p:cNvCxnSpPr>
            <p:nvPr/>
          </p:nvCxnSpPr>
          <p:spPr>
            <a:xfrm>
              <a:off x="7341635" y="246765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/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2821" t="-4348" r="-17949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DE28B529-D364-88B5-AE83-2ADEBCBDF542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>
              <a:off x="7341635" y="251203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Ring 48">
              <a:extLst>
                <a:ext uri="{FF2B5EF4-FFF2-40B4-BE49-F238E27FC236}">
                  <a16:creationId xmlns:a16="http://schemas.microsoft.com/office/drawing/2014/main" id="{86C1BC5B-5999-7107-6000-E9B34E1B4A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97391" y="2423264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53" name="Gerade Verbindung 52">
              <a:extLst>
                <a:ext uri="{FF2B5EF4-FFF2-40B4-BE49-F238E27FC236}">
                  <a16:creationId xmlns:a16="http://schemas.microsoft.com/office/drawing/2014/main" id="{E62F31E2-E6C0-953B-27A4-866D3CB230AE}"/>
                </a:ext>
              </a:extLst>
            </p:cNvPr>
            <p:cNvCxnSpPr/>
            <p:nvPr/>
          </p:nvCxnSpPr>
          <p:spPr>
            <a:xfrm flipH="1">
              <a:off x="4942391" y="3429000"/>
              <a:ext cx="239924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 Verbindung mit Pfeil 54">
              <a:extLst>
                <a:ext uri="{FF2B5EF4-FFF2-40B4-BE49-F238E27FC236}">
                  <a16:creationId xmlns:a16="http://schemas.microsoft.com/office/drawing/2014/main" id="{809360AC-7423-81D3-2207-4F8D3EBD52E7}"/>
                </a:ext>
              </a:extLst>
            </p:cNvPr>
            <p:cNvCxnSpPr>
              <a:endCxn id="49" idx="4"/>
            </p:cNvCxnSpPr>
            <p:nvPr/>
          </p:nvCxnSpPr>
          <p:spPr>
            <a:xfrm flipV="1">
              <a:off x="4942391" y="2513264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4D5FE632-0643-1613-F755-8F38A20CA551}"/>
                </a:ext>
              </a:extLst>
            </p:cNvPr>
            <p:cNvCxnSpPr>
              <a:stCxn id="49" idx="6"/>
              <a:endCxn id="10" idx="1"/>
            </p:cNvCxnSpPr>
            <p:nvPr/>
          </p:nvCxnSpPr>
          <p:spPr>
            <a:xfrm>
              <a:off x="4987391" y="2468264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3CA67442-B2C3-0F23-735F-81D48B7AA3B7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>
              <a:off x="4058403" y="2466093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/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/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E0B57D70-F2AF-3F2F-EB01-F5A113DB39FC}"/>
              </a:ext>
            </a:extLst>
          </p:cNvPr>
          <p:cNvGrpSpPr/>
          <p:nvPr/>
        </p:nvGrpSpPr>
        <p:grpSpPr>
          <a:xfrm>
            <a:off x="838200" y="4582652"/>
            <a:ext cx="5985903" cy="1307375"/>
            <a:chOff x="838200" y="4582652"/>
            <a:chExt cx="5985903" cy="13073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/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Verbindungsstelle 64">
              <a:extLst>
                <a:ext uri="{FF2B5EF4-FFF2-40B4-BE49-F238E27FC236}">
                  <a16:creationId xmlns:a16="http://schemas.microsoft.com/office/drawing/2014/main" id="{BDAE3FB9-9C6B-3155-245D-35209A08CA6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835723" y="488273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97175F72-AAAC-0F6E-276A-4D7FCBF56045}"/>
                </a:ext>
              </a:extLst>
            </p:cNvPr>
            <p:cNvCxnSpPr>
              <a:cxnSpLocks/>
            </p:cNvCxnSpPr>
            <p:nvPr/>
          </p:nvCxnSpPr>
          <p:spPr>
            <a:xfrm>
              <a:off x="5880109" y="492712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/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2500" r="-15000" b="-2916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Gerade Verbindung 68">
              <a:extLst>
                <a:ext uri="{FF2B5EF4-FFF2-40B4-BE49-F238E27FC236}">
                  <a16:creationId xmlns:a16="http://schemas.microsoft.com/office/drawing/2014/main" id="{C28E7F70-8EBF-A4F6-3AC0-91835D39CDB2}"/>
                </a:ext>
              </a:extLst>
            </p:cNvPr>
            <p:cNvCxnSpPr>
              <a:cxnSpLocks/>
              <a:stCxn id="65" idx="0"/>
            </p:cNvCxnSpPr>
            <p:nvPr/>
          </p:nvCxnSpPr>
          <p:spPr>
            <a:xfrm>
              <a:off x="5880109" y="497150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Ring 69">
              <a:extLst>
                <a:ext uri="{FF2B5EF4-FFF2-40B4-BE49-F238E27FC236}">
                  <a16:creationId xmlns:a16="http://schemas.microsoft.com/office/drawing/2014/main" id="{E2C349AB-A258-9D25-5291-B4D4E5B132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29220" y="488429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71" name="Gerade Verbindung 70">
              <a:extLst>
                <a:ext uri="{FF2B5EF4-FFF2-40B4-BE49-F238E27FC236}">
                  <a16:creationId xmlns:a16="http://schemas.microsoft.com/office/drawing/2014/main" id="{1A18445C-FE0D-1911-B6BC-40F9C63CEB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74220" y="5888470"/>
              <a:ext cx="40058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B80942AE-AB88-1BA2-9153-06510B9FA331}"/>
                </a:ext>
              </a:extLst>
            </p:cNvPr>
            <p:cNvCxnSpPr>
              <a:endCxn id="70" idx="4"/>
            </p:cNvCxnSpPr>
            <p:nvPr/>
          </p:nvCxnSpPr>
          <p:spPr>
            <a:xfrm flipV="1">
              <a:off x="1874220" y="4974291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2CD06856-00F4-4F53-7399-8A98645D041F}"/>
                </a:ext>
              </a:extLst>
            </p:cNvPr>
            <p:cNvCxnSpPr>
              <a:stCxn id="70" idx="6"/>
              <a:endCxn id="64" idx="1"/>
            </p:cNvCxnSpPr>
            <p:nvPr/>
          </p:nvCxnSpPr>
          <p:spPr>
            <a:xfrm>
              <a:off x="1919220" y="4929291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D4793845-8003-4479-5483-8B9A3DC1D177}"/>
                </a:ext>
              </a:extLst>
            </p:cNvPr>
            <p:cNvCxnSpPr>
              <a:cxnSpLocks/>
              <a:endCxn id="70" idx="2"/>
            </p:cNvCxnSpPr>
            <p:nvPr/>
          </p:nvCxnSpPr>
          <p:spPr>
            <a:xfrm>
              <a:off x="990232" y="4927120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/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/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/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9" name="Gerade Verbindung 78">
              <a:extLst>
                <a:ext uri="{FF2B5EF4-FFF2-40B4-BE49-F238E27FC236}">
                  <a16:creationId xmlns:a16="http://schemas.microsoft.com/office/drawing/2014/main" id="{1B8BFFB9-903B-6997-1D1E-1D11BBC79C7C}"/>
                </a:ext>
              </a:extLst>
            </p:cNvPr>
            <p:cNvCxnSpPr>
              <a:cxnSpLocks/>
            </p:cNvCxnSpPr>
            <p:nvPr/>
          </p:nvCxnSpPr>
          <p:spPr>
            <a:xfrm>
              <a:off x="5139075" y="4927120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426DD009-601D-081A-D2C3-7D7EE673A4D1}"/>
                </a:ext>
              </a:extLst>
            </p:cNvPr>
            <p:cNvCxnSpPr>
              <a:cxnSpLocks/>
              <a:stCxn id="64" idx="3"/>
              <a:endCxn id="77" idx="1"/>
            </p:cNvCxnSpPr>
            <p:nvPr/>
          </p:nvCxnSpPr>
          <p:spPr>
            <a:xfrm flipV="1">
              <a:off x="3532216" y="4931465"/>
              <a:ext cx="698266" cy="32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3EB245D8-DA26-0DE3-DA5B-9168829BC6D1}"/>
                  </a:ext>
                </a:extLst>
              </p:cNvPr>
              <p:cNvSpPr txBox="1"/>
              <p:nvPr/>
            </p:nvSpPr>
            <p:spPr>
              <a:xfrm>
                <a:off x="6096000" y="814005"/>
                <a:ext cx="4538615" cy="22463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3EB245D8-DA26-0DE3-DA5B-9168829BC6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814005"/>
                <a:ext cx="4538615" cy="2246321"/>
              </a:xfrm>
              <a:prstGeom prst="rect">
                <a:avLst/>
              </a:prstGeom>
              <a:blipFill>
                <a:blip r:embed="rId9"/>
                <a:stretch>
                  <a:fillRect t="-565" r="-559" b="-56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7B1B46A8-D3BE-8232-6FD3-0BBC2CD586D8}"/>
              </a:ext>
            </a:extLst>
          </p:cNvPr>
          <p:cNvSpPr txBox="1"/>
          <p:nvPr/>
        </p:nvSpPr>
        <p:spPr>
          <a:xfrm>
            <a:off x="7347911" y="3359443"/>
            <a:ext cx="40058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closed</a:t>
            </a:r>
            <a:r>
              <a:rPr lang="de-DE" sz="2400" dirty="0"/>
              <a:t>-loop </a:t>
            </a:r>
            <a:r>
              <a:rPr lang="de-DE" sz="2400" dirty="0" err="1"/>
              <a:t>transfer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negative </a:t>
            </a:r>
            <a:r>
              <a:rPr lang="de-DE" sz="2400" dirty="0" err="1"/>
              <a:t>feedback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C464F60-FB62-DB77-A5C9-AA00849EF8D2}"/>
              </a:ext>
            </a:extLst>
          </p:cNvPr>
          <p:cNvCxnSpPr/>
          <p:nvPr/>
        </p:nvCxnSpPr>
        <p:spPr>
          <a:xfrm flipV="1">
            <a:off x="8610600" y="3060326"/>
            <a:ext cx="151660" cy="3842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1F6F8F9-8529-3D6B-67E4-7AC0BCCEA22A}"/>
                  </a:ext>
                </a:extLst>
              </p:cNvPr>
              <p:cNvSpPr txBox="1"/>
              <p:nvPr/>
            </p:nvSpPr>
            <p:spPr>
              <a:xfrm>
                <a:off x="7747396" y="5176410"/>
                <a:ext cx="3206917" cy="861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1F6F8F9-8529-3D6B-67E4-7AC0BCCEA2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7396" y="5176410"/>
                <a:ext cx="3206917" cy="861326"/>
              </a:xfrm>
              <a:prstGeom prst="rect">
                <a:avLst/>
              </a:prstGeom>
              <a:blipFill>
                <a:blip r:embed="rId10"/>
                <a:stretch>
                  <a:fillRect r="-791" b="-101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E3520AA-C07E-5285-60F1-A52A218580C9}"/>
                  </a:ext>
                </a:extLst>
              </p:cNvPr>
              <p:cNvSpPr txBox="1"/>
              <p:nvPr/>
            </p:nvSpPr>
            <p:spPr>
              <a:xfrm>
                <a:off x="426220" y="6184059"/>
                <a:ext cx="72533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above combines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and plant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E3520AA-C07E-5285-60F1-A52A21858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20" y="6184059"/>
                <a:ext cx="7253396" cy="461665"/>
              </a:xfrm>
              <a:prstGeom prst="rect">
                <a:avLst/>
              </a:prstGeom>
              <a:blipFill>
                <a:blip r:embed="rId11"/>
                <a:stretch>
                  <a:fillRect l="-175" t="-10526" b="-289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230822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CB3717-9DB3-1399-9CCC-728FFAB9C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Controller 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1BC413E4-178D-A51B-5C3F-4C91A86DF2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increases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faster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, </a:t>
                </a:r>
                <a:r>
                  <a:rPr lang="de-DE" dirty="0" err="1"/>
                  <a:t>smaller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integrator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eliminates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reduce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reduces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r>
                  <a:rPr lang="de-DE" dirty="0"/>
                  <a:t>, </a:t>
                </a:r>
                <a:r>
                  <a:rPr lang="de-DE" dirty="0" err="1"/>
                  <a:t>improves</a:t>
                </a:r>
                <a:r>
                  <a:rPr lang="de-DE" dirty="0"/>
                  <a:t> transient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Controller design:</a:t>
                </a:r>
              </a:p>
              <a:p>
                <a:r>
                  <a:rPr lang="de-DE" dirty="0"/>
                  <a:t>Shape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obtain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r>
                  <a:rPr lang="de-DE" dirty="0" err="1"/>
                  <a:t>Achieved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selecting</a:t>
                </a:r>
                <a:r>
                  <a:rPr lang="de-DE" dirty="0"/>
                  <a:t> and </a:t>
                </a:r>
                <a:r>
                  <a:rPr lang="de-DE" dirty="0" err="1"/>
                  <a:t>tuning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(</a:t>
                </a:r>
                <a:r>
                  <a:rPr lang="de-DE" dirty="0" err="1"/>
                  <a:t>move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1BC413E4-178D-A51B-5C3F-4C91A86DF2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EF15152-4A2F-9346-DFCE-B3D9FFBF6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3551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9">
            <a:extLst>
              <a:ext uri="{FF2B5EF4-FFF2-40B4-BE49-F238E27FC236}">
                <a16:creationId xmlns:a16="http://schemas.microsoft.com/office/drawing/2014/main" id="{212B22B2-EAB7-6720-A16E-276F12E8F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Hidden </a:t>
            </a:r>
            <a:r>
              <a:rPr lang="de-DE" dirty="0" err="1"/>
              <a:t>Assumptions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07D09CB-2114-E487-4ACA-4F1F296AB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48</a:t>
            </a:fld>
            <a:endParaRPr lang="en-GB"/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899EA923-B320-E430-7352-945C47FC665F}"/>
              </a:ext>
            </a:extLst>
          </p:cNvPr>
          <p:cNvGrpSpPr/>
          <p:nvPr/>
        </p:nvGrpSpPr>
        <p:grpSpPr>
          <a:xfrm>
            <a:off x="971273" y="1656233"/>
            <a:ext cx="5985903" cy="1612142"/>
            <a:chOff x="714083" y="2028176"/>
            <a:chExt cx="5985903" cy="16121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/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Verbindungsstelle 5">
              <a:extLst>
                <a:ext uri="{FF2B5EF4-FFF2-40B4-BE49-F238E27FC236}">
                  <a16:creationId xmlns:a16="http://schemas.microsoft.com/office/drawing/2014/main" id="{EEA8466F-7D3F-3081-F537-F2C5A6164EE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711606" y="2328258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611B80E7-F9CB-0ABE-6815-D4E90AD6CD78}"/>
                </a:ext>
              </a:extLst>
            </p:cNvPr>
            <p:cNvCxnSpPr>
              <a:cxnSpLocks/>
            </p:cNvCxnSpPr>
            <p:nvPr/>
          </p:nvCxnSpPr>
          <p:spPr>
            <a:xfrm>
              <a:off x="5755992" y="2372644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/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Gerade Verbindung 8">
              <a:extLst>
                <a:ext uri="{FF2B5EF4-FFF2-40B4-BE49-F238E27FC236}">
                  <a16:creationId xmlns:a16="http://schemas.microsoft.com/office/drawing/2014/main" id="{9AF120D8-734C-0613-5CA9-7A01EDA3C12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5755992" y="2417030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ing 9">
              <a:extLst>
                <a:ext uri="{FF2B5EF4-FFF2-40B4-BE49-F238E27FC236}">
                  <a16:creationId xmlns:a16="http://schemas.microsoft.com/office/drawing/2014/main" id="{9658AB60-BED2-3AEA-E449-CA55B13891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05103" y="2329815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0A0730A7-6D9B-E8B8-9397-3AC4F973A2AC}"/>
                </a:ext>
              </a:extLst>
            </p:cNvPr>
            <p:cNvCxnSpPr>
              <a:endCxn id="10" idx="4"/>
            </p:cNvCxnSpPr>
            <p:nvPr/>
          </p:nvCxnSpPr>
          <p:spPr>
            <a:xfrm flipV="1">
              <a:off x="1750103" y="2419815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F8AAAEB5-D007-9C8D-8975-3DEDC9C7963A}"/>
                </a:ext>
              </a:extLst>
            </p:cNvPr>
            <p:cNvCxnSpPr>
              <a:cxnSpLocks/>
              <a:stCxn id="10" idx="6"/>
              <a:endCxn id="5" idx="1"/>
            </p:cNvCxnSpPr>
            <p:nvPr/>
          </p:nvCxnSpPr>
          <p:spPr>
            <a:xfrm>
              <a:off x="1795103" y="2374815"/>
              <a:ext cx="698596" cy="15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D5B45189-1F92-866E-0FFA-671C55CAD1A1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>
              <a:off x="866115" y="2374815"/>
              <a:ext cx="83898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/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756" r="-14634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/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/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E227C8EA-10B4-8C97-8335-222B7B531965}"/>
                </a:ext>
              </a:extLst>
            </p:cNvPr>
            <p:cNvCxnSpPr>
              <a:cxnSpLocks/>
            </p:cNvCxnSpPr>
            <p:nvPr/>
          </p:nvCxnSpPr>
          <p:spPr>
            <a:xfrm>
              <a:off x="5014958" y="2372644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DDE908A0-EBE7-EC72-474E-1DFA1E264530}"/>
                </a:ext>
              </a:extLst>
            </p:cNvPr>
            <p:cNvCxnSpPr>
              <a:stCxn id="5" idx="3"/>
              <a:endCxn id="17" idx="1"/>
            </p:cNvCxnSpPr>
            <p:nvPr/>
          </p:nvCxnSpPr>
          <p:spPr>
            <a:xfrm>
              <a:off x="3408099" y="2376324"/>
              <a:ext cx="69245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/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9B46319F-B1A8-B248-7DFD-BA204C5A3B21}"/>
                </a:ext>
              </a:extLst>
            </p:cNvPr>
            <p:cNvCxnSpPr>
              <a:endCxn id="21" idx="3"/>
            </p:cNvCxnSpPr>
            <p:nvPr/>
          </p:nvCxnSpPr>
          <p:spPr>
            <a:xfrm flipH="1">
              <a:off x="4211528" y="3333994"/>
              <a:ext cx="154446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26">
              <a:extLst>
                <a:ext uri="{FF2B5EF4-FFF2-40B4-BE49-F238E27FC236}">
                  <a16:creationId xmlns:a16="http://schemas.microsoft.com/office/drawing/2014/main" id="{625B1DDF-760D-0717-CDA1-EBDBED98185C}"/>
                </a:ext>
              </a:extLst>
            </p:cNvPr>
            <p:cNvCxnSpPr>
              <a:stCxn id="21" idx="1"/>
            </p:cNvCxnSpPr>
            <p:nvPr/>
          </p:nvCxnSpPr>
          <p:spPr>
            <a:xfrm flipH="1">
              <a:off x="1750103" y="3333994"/>
              <a:ext cx="1547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236376D0-DD6F-8F51-B718-82E522B4AD77}"/>
              </a:ext>
            </a:extLst>
          </p:cNvPr>
          <p:cNvGrpSpPr/>
          <p:nvPr/>
        </p:nvGrpSpPr>
        <p:grpSpPr>
          <a:xfrm>
            <a:off x="1166232" y="4445381"/>
            <a:ext cx="9212726" cy="1607783"/>
            <a:chOff x="1166232" y="4445381"/>
            <a:chExt cx="9212726" cy="16077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/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Verbindungsstelle 28">
              <a:extLst>
                <a:ext uri="{FF2B5EF4-FFF2-40B4-BE49-F238E27FC236}">
                  <a16:creationId xmlns:a16="http://schemas.microsoft.com/office/drawing/2014/main" id="{C2DABC03-F9C5-04BD-29EE-EEBE919F1731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9390578" y="4745463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 Verbindung mit Pfeil 29">
              <a:extLst>
                <a:ext uri="{FF2B5EF4-FFF2-40B4-BE49-F238E27FC236}">
                  <a16:creationId xmlns:a16="http://schemas.microsoft.com/office/drawing/2014/main" id="{36747D36-517B-D08B-611D-6EFABD456D55}"/>
                </a:ext>
              </a:extLst>
            </p:cNvPr>
            <p:cNvCxnSpPr>
              <a:cxnSpLocks/>
            </p:cNvCxnSpPr>
            <p:nvPr/>
          </p:nvCxnSpPr>
          <p:spPr>
            <a:xfrm>
              <a:off x="9434964" y="4789849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/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2500" t="-4545" r="-17500" b="-40909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2112C397-716A-805F-6585-5E187081CE67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>
              <a:off x="9434964" y="4834235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ng 32">
              <a:extLst>
                <a:ext uri="{FF2B5EF4-FFF2-40B4-BE49-F238E27FC236}">
                  <a16:creationId xmlns:a16="http://schemas.microsoft.com/office/drawing/2014/main" id="{B933FAA3-EA9E-D1A4-7AD8-3C43063755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68212" y="4748400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B7B9ED09-7295-0A91-E7E1-F489D4346057}"/>
                </a:ext>
              </a:extLst>
            </p:cNvPr>
            <p:cNvCxnSpPr>
              <a:endCxn id="33" idx="4"/>
            </p:cNvCxnSpPr>
            <p:nvPr/>
          </p:nvCxnSpPr>
          <p:spPr>
            <a:xfrm flipV="1">
              <a:off x="3813212" y="4838400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164A0B6F-9F37-D940-ABFA-5334CD65FD83}"/>
                </a:ext>
              </a:extLst>
            </p:cNvPr>
            <p:cNvCxnSpPr>
              <a:cxnSpLocks/>
              <a:stCxn id="33" idx="6"/>
              <a:endCxn id="28" idx="1"/>
            </p:cNvCxnSpPr>
            <p:nvPr/>
          </p:nvCxnSpPr>
          <p:spPr>
            <a:xfrm flipV="1">
              <a:off x="3858212" y="4792347"/>
              <a:ext cx="698596" cy="105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818EAB-AA81-1C28-8797-29AC86FA732C}"/>
                </a:ext>
              </a:extLst>
            </p:cNvPr>
            <p:cNvCxnSpPr>
              <a:cxnSpLocks/>
            </p:cNvCxnSpPr>
            <p:nvPr/>
          </p:nvCxnSpPr>
          <p:spPr>
            <a:xfrm>
              <a:off x="1318264" y="4789849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/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9756" r="-1707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/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11111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/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Gerade Verbindung 39">
              <a:extLst>
                <a:ext uri="{FF2B5EF4-FFF2-40B4-BE49-F238E27FC236}">
                  <a16:creationId xmlns:a16="http://schemas.microsoft.com/office/drawing/2014/main" id="{EEA8F883-E782-1706-820F-E6314EB97029}"/>
                </a:ext>
              </a:extLst>
            </p:cNvPr>
            <p:cNvCxnSpPr>
              <a:cxnSpLocks/>
            </p:cNvCxnSpPr>
            <p:nvPr/>
          </p:nvCxnSpPr>
          <p:spPr>
            <a:xfrm>
              <a:off x="8693930" y="4789849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8AA96FD2-748A-E9D8-A306-2D651395BBB8}"/>
                </a:ext>
              </a:extLst>
            </p:cNvPr>
            <p:cNvCxnSpPr>
              <a:cxnSpLocks/>
              <a:stCxn id="50" idx="3"/>
              <a:endCxn id="39" idx="1"/>
            </p:cNvCxnSpPr>
            <p:nvPr/>
          </p:nvCxnSpPr>
          <p:spPr>
            <a:xfrm>
              <a:off x="7087071" y="4788324"/>
              <a:ext cx="692459" cy="1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/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9A700742-08D2-ECEE-7218-C67B38B0EB0F}"/>
                </a:ext>
              </a:extLst>
            </p:cNvPr>
            <p:cNvCxnSpPr>
              <a:cxnSpLocks/>
              <a:endCxn id="42" idx="3"/>
            </p:cNvCxnSpPr>
            <p:nvPr/>
          </p:nvCxnSpPr>
          <p:spPr>
            <a:xfrm flipH="1">
              <a:off x="7087071" y="5746840"/>
              <a:ext cx="234789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43">
              <a:extLst>
                <a:ext uri="{FF2B5EF4-FFF2-40B4-BE49-F238E27FC236}">
                  <a16:creationId xmlns:a16="http://schemas.microsoft.com/office/drawing/2014/main" id="{3C815F60-69D7-2B7C-254D-77EF52021A2F}"/>
                </a:ext>
              </a:extLst>
            </p:cNvPr>
            <p:cNvCxnSpPr>
              <a:cxnSpLocks/>
              <a:stCxn id="42" idx="1"/>
            </p:cNvCxnSpPr>
            <p:nvPr/>
          </p:nvCxnSpPr>
          <p:spPr>
            <a:xfrm flipH="1">
              <a:off x="3813212" y="5746840"/>
              <a:ext cx="2359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/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Gerade Verbindung mit Pfeil 47">
              <a:extLst>
                <a:ext uri="{FF2B5EF4-FFF2-40B4-BE49-F238E27FC236}">
                  <a16:creationId xmlns:a16="http://schemas.microsoft.com/office/drawing/2014/main" id="{5043C16D-D2F3-028D-8FE1-787F355099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5841" y="4783009"/>
              <a:ext cx="692459" cy="46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376B047-5677-8A80-4424-45F6D9F2A6DA}"/>
                </a:ext>
              </a:extLst>
            </p:cNvPr>
            <p:cNvCxnSpPr>
              <a:cxnSpLocks/>
            </p:cNvCxnSpPr>
            <p:nvPr/>
          </p:nvCxnSpPr>
          <p:spPr>
            <a:xfrm>
              <a:off x="5475397" y="4789849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/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1" name="Textfeld 70">
            <a:extLst>
              <a:ext uri="{FF2B5EF4-FFF2-40B4-BE49-F238E27FC236}">
                <a16:creationId xmlns:a16="http://schemas.microsoft.com/office/drawing/2014/main" id="{6B66D065-29A3-B303-FD24-3B010AB6FAD6}"/>
              </a:ext>
            </a:extLst>
          </p:cNvPr>
          <p:cNvSpPr txBox="1"/>
          <p:nvPr/>
        </p:nvSpPr>
        <p:spPr>
          <a:xfrm>
            <a:off x="50172" y="3330802"/>
            <a:ext cx="33864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prefilter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shaping</a:t>
            </a:r>
            <a:r>
              <a:rPr lang="de-DE" dirty="0"/>
              <a:t> </a:t>
            </a:r>
            <a:r>
              <a:rPr lang="de-DE" dirty="0" err="1"/>
              <a:t>doesn’t</a:t>
            </a:r>
            <a:r>
              <a:rPr lang="de-DE" dirty="0"/>
              <a:t> </a:t>
            </a:r>
            <a:r>
              <a:rPr lang="de-DE" dirty="0" err="1"/>
              <a:t>affect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treat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separately</a:t>
            </a:r>
            <a:r>
              <a:rPr lang="de-DE" dirty="0"/>
              <a:t>.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E6F8268F-0100-C316-3617-D001CD0E403E}"/>
              </a:ext>
            </a:extLst>
          </p:cNvPr>
          <p:cNvSpPr txBox="1"/>
          <p:nvPr/>
        </p:nvSpPr>
        <p:spPr>
          <a:xfrm>
            <a:off x="7433300" y="2317658"/>
            <a:ext cx="3563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fast,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unity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.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A7C4FE68-DDD9-948C-96C7-1767946F4E87}"/>
              </a:ext>
            </a:extLst>
          </p:cNvPr>
          <p:cNvSpPr txBox="1"/>
          <p:nvPr/>
        </p:nvSpPr>
        <p:spPr>
          <a:xfrm>
            <a:off x="5975670" y="3607801"/>
            <a:ext cx="57511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bandwidth</a:t>
            </a:r>
            <a:r>
              <a:rPr lang="de-DE" dirty="0"/>
              <a:t> ≫ </a:t>
            </a:r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bandwidth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ignore</a:t>
            </a:r>
            <a:r>
              <a:rPr lang="de-DE" dirty="0"/>
              <a:t> it.</a:t>
            </a:r>
          </a:p>
        </p:txBody>
      </p: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E2F2EFD4-C7AD-B538-2EF2-0B8EA98BA555}"/>
              </a:ext>
            </a:extLst>
          </p:cNvPr>
          <p:cNvCxnSpPr>
            <a:stCxn id="73" idx="1"/>
          </p:cNvCxnSpPr>
          <p:nvPr/>
        </p:nvCxnSpPr>
        <p:spPr>
          <a:xfrm flipH="1">
            <a:off x="4556808" y="2640824"/>
            <a:ext cx="2876492" cy="146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7573C1B-345F-FCCD-4567-9BFAC2A25428}"/>
              </a:ext>
            </a:extLst>
          </p:cNvPr>
          <p:cNvCxnSpPr>
            <a:endCxn id="50" idx="0"/>
          </p:cNvCxnSpPr>
          <p:nvPr/>
        </p:nvCxnSpPr>
        <p:spPr>
          <a:xfrm>
            <a:off x="6629871" y="4235146"/>
            <a:ext cx="0" cy="2468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BF1213D3-CCCF-4672-CE77-9A2255E72F78}"/>
              </a:ext>
            </a:extLst>
          </p:cNvPr>
          <p:cNvSpPr txBox="1"/>
          <p:nvPr/>
        </p:nvSpPr>
        <p:spPr>
          <a:xfrm>
            <a:off x="4814948" y="6318213"/>
            <a:ext cx="49460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dirty="0"/>
              <a:t>Always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what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affect</a:t>
            </a:r>
            <a:r>
              <a:rPr lang="de-DE" sz="2400" dirty="0"/>
              <a:t> </a:t>
            </a:r>
            <a:r>
              <a:rPr lang="de-DE" sz="2400" dirty="0" err="1"/>
              <a:t>poles</a:t>
            </a:r>
            <a:endParaRPr lang="de-DE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B2161CE0-1013-8244-6CB9-99D0AA5C063D}"/>
                  </a:ext>
                </a:extLst>
              </p:cNvPr>
              <p:cNvSpPr txBox="1"/>
              <p:nvPr/>
            </p:nvSpPr>
            <p:spPr>
              <a:xfrm>
                <a:off x="7699330" y="1224635"/>
                <a:ext cx="3471268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B2161CE0-1013-8244-6CB9-99D0AA5C0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9330" y="1224635"/>
                <a:ext cx="3471268" cy="733149"/>
              </a:xfrm>
              <a:prstGeom prst="rect">
                <a:avLst/>
              </a:prstGeom>
              <a:blipFill>
                <a:blip r:embed="rId16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045A292-E5B3-5B3E-253C-1C890023A612}"/>
              </a:ext>
            </a:extLst>
          </p:cNvPr>
          <p:cNvCxnSpPr>
            <a:stCxn id="71" idx="2"/>
          </p:cNvCxnSpPr>
          <p:nvPr/>
        </p:nvCxnSpPr>
        <p:spPr>
          <a:xfrm>
            <a:off x="1743408" y="4254132"/>
            <a:ext cx="413844" cy="227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2D808F74-0F93-9135-ADD8-F1E5AA463FBB}"/>
                  </a:ext>
                </a:extLst>
              </p:cNvPr>
              <p:cNvSpPr txBox="1"/>
              <p:nvPr/>
            </p:nvSpPr>
            <p:spPr>
              <a:xfrm>
                <a:off x="2126" y="5835830"/>
                <a:ext cx="4071905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2D808F74-0F93-9135-ADD8-F1E5AA463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" y="5835830"/>
                <a:ext cx="4071905" cy="733149"/>
              </a:xfrm>
              <a:prstGeom prst="rect">
                <a:avLst/>
              </a:prstGeom>
              <a:blipFill>
                <a:blip r:embed="rId17"/>
                <a:stretch>
                  <a:fillRect r="-312" b="-67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59909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FA0A7F-554B-AAFD-7174-C16F8B9F0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B3F9417-F831-50D8-E02C-963FAFCAE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41253"/>
            <a:ext cx="10515600" cy="535709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Output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superposition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and </a:t>
            </a:r>
            <a:r>
              <a:rPr lang="de-DE" dirty="0" err="1"/>
              <a:t>disturbances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CECDCBB-6B87-FF86-622B-B9435D0D9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49</a:t>
            </a:fld>
            <a:endParaRPr lang="en-GB"/>
          </a:p>
        </p:txBody>
      </p: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108F8C42-A1C7-07E0-4919-E338135B4D13}"/>
              </a:ext>
            </a:extLst>
          </p:cNvPr>
          <p:cNvGrpSpPr/>
          <p:nvPr/>
        </p:nvGrpSpPr>
        <p:grpSpPr>
          <a:xfrm>
            <a:off x="3103048" y="1924769"/>
            <a:ext cx="5985903" cy="1787065"/>
            <a:chOff x="838200" y="4102962"/>
            <a:chExt cx="5985903" cy="178706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344459C9-9D71-DFD3-03AE-BDBDE1A70930}"/>
                    </a:ext>
                  </a:extLst>
                </p:cNvPr>
                <p:cNvSpPr/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344459C9-9D71-DFD3-03AE-BDBDE1A709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Verbindungsstelle 6">
              <a:extLst>
                <a:ext uri="{FF2B5EF4-FFF2-40B4-BE49-F238E27FC236}">
                  <a16:creationId xmlns:a16="http://schemas.microsoft.com/office/drawing/2014/main" id="{0BC1B9AA-4DD9-DFA6-F721-DA1E12B5751A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835723" y="488273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F751218D-8569-34E2-FB99-94A46711AC1D}"/>
                </a:ext>
              </a:extLst>
            </p:cNvPr>
            <p:cNvCxnSpPr>
              <a:cxnSpLocks/>
            </p:cNvCxnSpPr>
            <p:nvPr/>
          </p:nvCxnSpPr>
          <p:spPr>
            <a:xfrm>
              <a:off x="5880109" y="492712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E5BEB674-7EA7-6DEF-F4EA-3DC398D16A88}"/>
                    </a:ext>
                  </a:extLst>
                </p:cNvPr>
                <p:cNvSpPr txBox="1"/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E5BEB674-7EA7-6DEF-F4EA-3DC398D16A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9">
              <a:extLst>
                <a:ext uri="{FF2B5EF4-FFF2-40B4-BE49-F238E27FC236}">
                  <a16:creationId xmlns:a16="http://schemas.microsoft.com/office/drawing/2014/main" id="{560E0793-17C4-E965-5266-6FA085A439C2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>
              <a:off x="5880109" y="497150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ing 10">
              <a:extLst>
                <a:ext uri="{FF2B5EF4-FFF2-40B4-BE49-F238E27FC236}">
                  <a16:creationId xmlns:a16="http://schemas.microsoft.com/office/drawing/2014/main" id="{CB608118-6686-D197-791D-4DAC81DECD9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29220" y="488429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11">
              <a:extLst>
                <a:ext uri="{FF2B5EF4-FFF2-40B4-BE49-F238E27FC236}">
                  <a16:creationId xmlns:a16="http://schemas.microsoft.com/office/drawing/2014/main" id="{5EBEBF0D-BAAC-46B6-DAE3-12562407C9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74220" y="5888470"/>
              <a:ext cx="40058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839E4D9E-227A-1AC7-7AC8-A507CC99AC36}"/>
                </a:ext>
              </a:extLst>
            </p:cNvPr>
            <p:cNvCxnSpPr>
              <a:endCxn id="11" idx="4"/>
            </p:cNvCxnSpPr>
            <p:nvPr/>
          </p:nvCxnSpPr>
          <p:spPr>
            <a:xfrm flipV="1">
              <a:off x="1874220" y="4974291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A81C6FD8-3032-29D4-653B-3F249E05EAC0}"/>
                </a:ext>
              </a:extLst>
            </p:cNvPr>
            <p:cNvCxnSpPr>
              <a:stCxn id="11" idx="6"/>
              <a:endCxn id="6" idx="1"/>
            </p:cNvCxnSpPr>
            <p:nvPr/>
          </p:nvCxnSpPr>
          <p:spPr>
            <a:xfrm>
              <a:off x="1919220" y="4929291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2284E165-5266-ACE4-A95E-04DC2A11DB3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>
              <a:off x="990232" y="4927120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250AE9EA-3504-C45F-BB69-CA262FD35556}"/>
                    </a:ext>
                  </a:extLst>
                </p:cNvPr>
                <p:cNvSpPr txBox="1"/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250AE9EA-3504-C45F-BB69-CA262FD355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756" t="-4348" r="-14634" b="-3043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DD76603-65E2-03C4-1708-D231F38EC171}"/>
                    </a:ext>
                  </a:extLst>
                </p:cNvPr>
                <p:cNvSpPr txBox="1"/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DD76603-65E2-03C4-1708-D231F38EC1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9477C179-5B78-3A35-54A1-11E1B4F03CDF}"/>
                    </a:ext>
                  </a:extLst>
                </p:cNvPr>
                <p:cNvSpPr/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9477C179-5B78-3A35-54A1-11E1B4F03C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Ring 20">
              <a:extLst>
                <a:ext uri="{FF2B5EF4-FFF2-40B4-BE49-F238E27FC236}">
                  <a16:creationId xmlns:a16="http://schemas.microsoft.com/office/drawing/2014/main" id="{ED6AAF6D-4865-4676-E885-88A22D4EDB1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830515" y="4885966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22" name="Ring 21">
              <a:extLst>
                <a:ext uri="{FF2B5EF4-FFF2-40B4-BE49-F238E27FC236}">
                  <a16:creationId xmlns:a16="http://schemas.microsoft.com/office/drawing/2014/main" id="{DD0F5AB1-AAA4-41B2-A781-C4AA5673514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49974" y="488764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CF1C7D86-ABFA-D87E-685A-270E8CA836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14216" y="4927120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 Verbindung mit Pfeil 25">
              <a:extLst>
                <a:ext uri="{FF2B5EF4-FFF2-40B4-BE49-F238E27FC236}">
                  <a16:creationId xmlns:a16="http://schemas.microsoft.com/office/drawing/2014/main" id="{64E812BB-17A8-1051-637A-76B4F4E7DB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30119" y="4927120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82F282A2-53EF-B23D-F157-B841A5E861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0805" y="4927120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CD8878B6-D6FD-EFEA-3C5E-EB7F4FE89A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0844" y="4927120"/>
              <a:ext cx="29829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71AE436E-9AB7-93D2-AF39-472E44022315}"/>
                </a:ext>
              </a:extLst>
            </p:cNvPr>
            <p:cNvCxnSpPr>
              <a:endCxn id="21" idx="0"/>
            </p:cNvCxnSpPr>
            <p:nvPr/>
          </p:nvCxnSpPr>
          <p:spPr>
            <a:xfrm>
              <a:off x="3875515" y="4390452"/>
              <a:ext cx="0" cy="49551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39A8EFEC-9C9A-B1B7-D236-B3A55C353440}"/>
                </a:ext>
              </a:extLst>
            </p:cNvPr>
            <p:cNvCxnSpPr/>
            <p:nvPr/>
          </p:nvCxnSpPr>
          <p:spPr>
            <a:xfrm>
              <a:off x="5494974" y="4390452"/>
              <a:ext cx="0" cy="49551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6DE05D10-7020-4B44-DACE-061D0C900A2B}"/>
                    </a:ext>
                  </a:extLst>
                </p:cNvPr>
                <p:cNvSpPr txBox="1"/>
                <p:nvPr/>
              </p:nvSpPr>
              <p:spPr>
                <a:xfrm>
                  <a:off x="3739033" y="4102962"/>
                  <a:ext cx="29527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6DE05D10-7020-4B44-DACE-061D0C900A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39033" y="4102962"/>
                  <a:ext cx="295273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12083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EC95CF87-6405-181E-16E5-3A6121960B6E}"/>
                    </a:ext>
                  </a:extLst>
                </p:cNvPr>
                <p:cNvSpPr txBox="1"/>
                <p:nvPr/>
              </p:nvSpPr>
              <p:spPr>
                <a:xfrm>
                  <a:off x="5358493" y="4104636"/>
                  <a:ext cx="29527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EC95CF87-6405-181E-16E5-3A6121960B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58493" y="4104636"/>
                  <a:ext cx="295273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25000" r="-12083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F3FDFB67-5838-02E3-D360-D19A4B76EFBA}"/>
                  </a:ext>
                </a:extLst>
              </p:cNvPr>
              <p:cNvSpPr txBox="1"/>
              <p:nvPr/>
            </p:nvSpPr>
            <p:spPr>
              <a:xfrm>
                <a:off x="1070413" y="4194470"/>
                <a:ext cx="10515600" cy="861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F3FDFB67-5838-02E3-D360-D19A4B76EF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413" y="4194470"/>
                <a:ext cx="10515600" cy="861326"/>
              </a:xfrm>
              <a:prstGeom prst="rect">
                <a:avLst/>
              </a:prstGeom>
              <a:blipFill>
                <a:blip r:embed="rId9"/>
                <a:stretch>
                  <a:fillRect b="-14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3745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2618</Words>
  <Application>Microsoft Macintosh PowerPoint</Application>
  <PresentationFormat>Breitbild</PresentationFormat>
  <Paragraphs>503</Paragraphs>
  <Slides>49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49</vt:i4>
      </vt:variant>
    </vt:vector>
  </HeadingPairs>
  <TitlesOfParts>
    <vt:vector size="55" baseType="lpstr">
      <vt:lpstr>Aptos</vt:lpstr>
      <vt:lpstr>Aptos Display</vt:lpstr>
      <vt:lpstr>Arial</vt:lpstr>
      <vt:lpstr>Cambria Math</vt:lpstr>
      <vt:lpstr>Wingdings</vt:lpstr>
      <vt:lpstr>Office Theme</vt:lpstr>
      <vt:lpstr>Laplace Domain</vt:lpstr>
      <vt:lpstr>Course Schedule</vt:lpstr>
      <vt:lpstr>Laplace Domain</vt:lpstr>
      <vt:lpstr>Why the Laplace Transform?</vt:lpstr>
      <vt:lpstr>Reminder: Fourier Transform</vt:lpstr>
      <vt:lpstr>Idea of Laplace Transform</vt:lpstr>
      <vt:lpstr>Definition of Laplace Transform</vt:lpstr>
      <vt:lpstr>Example</vt:lpstr>
      <vt:lpstr>Laplace of Common Signals</vt:lpstr>
      <vt:lpstr>Properties of Laplace Transform</vt:lpstr>
      <vt:lpstr>From Differential Equation to Transfer Function</vt:lpstr>
      <vt:lpstr>Transfer Function</vt:lpstr>
      <vt:lpstr>Transfer Function for PT1 System</vt:lpstr>
      <vt:lpstr>Example: Free Fall with Viscous Damping</vt:lpstr>
      <vt:lpstr>System Response with Transfer Function</vt:lpstr>
      <vt:lpstr>Transfer Function in Polynomial Form</vt:lpstr>
      <vt:lpstr>Graphical Interpretation of Transfer Function</vt:lpstr>
      <vt:lpstr>Poles and Zeros</vt:lpstr>
      <vt:lpstr>Block Diagrams</vt:lpstr>
      <vt:lpstr>Block Diagram Algebra</vt:lpstr>
      <vt:lpstr>Series Connection</vt:lpstr>
      <vt:lpstr>Parallel Connection</vt:lpstr>
      <vt:lpstr>Feedback Connection</vt:lpstr>
      <vt:lpstr>Frequency Response</vt:lpstr>
      <vt:lpstr>Bode Plots</vt:lpstr>
      <vt:lpstr>Common Magnitude Unit: Decibel</vt:lpstr>
      <vt:lpstr>Bandwidth</vt:lpstr>
      <vt:lpstr>Individual Elements of Control Loops</vt:lpstr>
      <vt:lpstr>Proportional Element (P)</vt:lpstr>
      <vt:lpstr>Integral Element (I)</vt:lpstr>
      <vt:lpstr>First-Order Lag Element (PT1)</vt:lpstr>
      <vt:lpstr>PT1 Signal Flow Diagram</vt:lpstr>
      <vt:lpstr>Derivative Element (D)</vt:lpstr>
      <vt:lpstr>Filtered Differentiator (DT1)</vt:lpstr>
      <vt:lpstr>PowerPoint-Präsentation</vt:lpstr>
      <vt:lpstr>DT1 Signal Flow Diagram</vt:lpstr>
      <vt:lpstr>Second-Order Lag Element (PT2)</vt:lpstr>
      <vt:lpstr>PT2 as Product of Two PT1 Elements</vt:lpstr>
      <vt:lpstr>PowerPoint-Präsentation</vt:lpstr>
      <vt:lpstr>PT2 Signal Flow Diagram</vt:lpstr>
      <vt:lpstr>All-Pass Systems</vt:lpstr>
      <vt:lpstr>Systems with Dead Time</vt:lpstr>
      <vt:lpstr>PowerPoint-Präsentation</vt:lpstr>
      <vt:lpstr>System Identification with Bode Plots</vt:lpstr>
      <vt:lpstr>Example</vt:lpstr>
      <vt:lpstr>Control Loop</vt:lpstr>
      <vt:lpstr>PID Controller Transfer Function</vt:lpstr>
      <vt:lpstr>Hidden Assumptions</vt:lpstr>
      <vt:lpstr>Disturbances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294</cp:revision>
  <dcterms:created xsi:type="dcterms:W3CDTF">2025-01-08T09:27:30Z</dcterms:created>
  <dcterms:modified xsi:type="dcterms:W3CDTF">2026-04-14T19:28:03Z</dcterms:modified>
</cp:coreProperties>
</file>
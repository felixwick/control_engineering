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314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329" r:id="rId20"/>
    <p:sldId id="328" r:id="rId21"/>
    <p:sldId id="272" r:id="rId22"/>
    <p:sldId id="287" r:id="rId23"/>
    <p:sldId id="288" r:id="rId24"/>
    <p:sldId id="290" r:id="rId25"/>
    <p:sldId id="289" r:id="rId26"/>
    <p:sldId id="273" r:id="rId27"/>
    <p:sldId id="274" r:id="rId28"/>
    <p:sldId id="315" r:id="rId29"/>
    <p:sldId id="275" r:id="rId30"/>
    <p:sldId id="293" r:id="rId31"/>
    <p:sldId id="294" r:id="rId32"/>
    <p:sldId id="295" r:id="rId33"/>
    <p:sldId id="296" r:id="rId34"/>
    <p:sldId id="310" r:id="rId35"/>
    <p:sldId id="297" r:id="rId36"/>
    <p:sldId id="298" r:id="rId37"/>
    <p:sldId id="311" r:id="rId38"/>
    <p:sldId id="309" r:id="rId39"/>
    <p:sldId id="306" r:id="rId40"/>
    <p:sldId id="313" r:id="rId41"/>
    <p:sldId id="308" r:id="rId42"/>
    <p:sldId id="307" r:id="rId43"/>
    <p:sldId id="300" r:id="rId44"/>
    <p:sldId id="285" r:id="rId45"/>
    <p:sldId id="312" r:id="rId46"/>
    <p:sldId id="316" r:id="rId47"/>
    <p:sldId id="317" r:id="rId48"/>
    <p:sldId id="301" r:id="rId49"/>
    <p:sldId id="303" r:id="rId50"/>
    <p:sldId id="302" r:id="rId51"/>
    <p:sldId id="304" r:id="rId52"/>
    <p:sldId id="318" r:id="rId53"/>
    <p:sldId id="323" r:id="rId54"/>
    <p:sldId id="319" r:id="rId55"/>
    <p:sldId id="326" r:id="rId56"/>
    <p:sldId id="321" r:id="rId57"/>
    <p:sldId id="322" r:id="rId58"/>
    <p:sldId id="324" r:id="rId59"/>
    <p:sldId id="325" r:id="rId60"/>
    <p:sldId id="32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12"/>
    <p:restoredTop sz="95028" autoAdjust="0"/>
  </p:normalViewPr>
  <p:slideViewPr>
    <p:cSldViewPr snapToGrid="0">
      <p:cViewPr varScale="1">
        <p:scale>
          <a:sx n="119" d="100"/>
          <a:sy n="119" d="100"/>
        </p:scale>
        <p:origin x="200" y="6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7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svg"/><Relationship Id="rId7" Type="http://schemas.openxmlformats.org/officeDocument/2006/relationships/image" Target="../media/image5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2.png"/><Relationship Id="rId9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7" Type="http://schemas.openxmlformats.org/officeDocument/2006/relationships/image" Target="../media/image54.png"/><Relationship Id="rId12" Type="http://schemas.openxmlformats.org/officeDocument/2006/relationships/image" Target="../media/image57.pn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svg"/><Relationship Id="rId11" Type="http://schemas.openxmlformats.org/officeDocument/2006/relationships/image" Target="../media/image56.png"/><Relationship Id="rId5" Type="http://schemas.openxmlformats.org/officeDocument/2006/relationships/image" Target="../media/image45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611.png"/><Relationship Id="rId2" Type="http://schemas.openxmlformats.org/officeDocument/2006/relationships/image" Target="../media/image4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6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65.svg"/><Relationship Id="rId7" Type="http://schemas.openxmlformats.org/officeDocument/2006/relationships/image" Target="../media/image83.pn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7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880.png"/><Relationship Id="rId5" Type="http://schemas.openxmlformats.org/officeDocument/2006/relationships/image" Target="../media/image430.png"/><Relationship Id="rId10" Type="http://schemas.openxmlformats.org/officeDocument/2006/relationships/image" Target="../media/image870.png"/><Relationship Id="rId4" Type="http://schemas.openxmlformats.org/officeDocument/2006/relationships/image" Target="../media/image420.png"/><Relationship Id="rId9" Type="http://schemas.openxmlformats.org/officeDocument/2006/relationships/image" Target="../media/image8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910.png"/><Relationship Id="rId17" Type="http://schemas.openxmlformats.org/officeDocument/2006/relationships/image" Target="../media/image950.png"/><Relationship Id="rId2" Type="http://schemas.openxmlformats.org/officeDocument/2006/relationships/image" Target="../media/image470.png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9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2.png"/><Relationship Id="rId7" Type="http://schemas.openxmlformats.org/officeDocument/2006/relationships/image" Target="../media/image97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9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systems</a:t>
            </a:r>
            <a:r>
              <a:rPr lang="de-DE" dirty="0"/>
              <a:t> (</a:t>
            </a:r>
            <a:r>
              <a:rPr lang="de-DE" dirty="0" err="1"/>
              <a:t>feedback</a:t>
            </a:r>
            <a:r>
              <a:rPr lang="de-DE" dirty="0"/>
              <a:t>)</a:t>
            </a:r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965" t="-1897" b="-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74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581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9B69A3-FC84-A46A-7F08-579BF2031417}"/>
              </a:ext>
            </a:extLst>
          </p:cNvPr>
          <p:cNvSpPr txBox="1"/>
          <p:nvPr/>
        </p:nvSpPr>
        <p:spPr>
          <a:xfrm>
            <a:off x="9982200" y="405629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CA27535-52A0-4EAA-78A3-2D236A06F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Unit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in Laplace </a:t>
                </a:r>
                <a:r>
                  <a:rPr lang="de-DE" sz="2400" dirty="0" err="1"/>
                  <a:t>domain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=−1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	back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B355F49-6977-F363-B194-B15CC834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859D8A-1F14-E745-DE23-2B47C6780206}"/>
              </a:ext>
            </a:extLst>
          </p:cNvPr>
          <p:cNvSpPr txBox="1"/>
          <p:nvPr/>
        </p:nvSpPr>
        <p:spPr>
          <a:xfrm>
            <a:off x="4845269" y="3607794"/>
            <a:ext cx="2708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partial </a:t>
            </a:r>
            <a:r>
              <a:rPr lang="de-DE" dirty="0" err="1"/>
              <a:t>fraction</a:t>
            </a:r>
            <a:r>
              <a:rPr lang="de-DE" dirty="0"/>
              <a:t> </a:t>
            </a:r>
            <a:r>
              <a:rPr lang="de-DE" dirty="0" err="1"/>
              <a:t>expansion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8282469-F812-E4D4-E848-6C9EC20C8D6F}"/>
              </a:ext>
            </a:extLst>
          </p:cNvPr>
          <p:cNvCxnSpPr/>
          <p:nvPr/>
        </p:nvCxnSpPr>
        <p:spPr>
          <a:xfrm flipH="1">
            <a:off x="3279228" y="3815255"/>
            <a:ext cx="1513489" cy="536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92C24F4-20E5-61AE-AFE1-B7140EFCC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Value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Steady-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unit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/>
                  <a:t>Derivation:</a:t>
                </a: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:r>
                  <a:rPr lang="de-DE" sz="2400" dirty="0" err="1"/>
                  <a:t>using</a:t>
                </a:r>
                <a:r>
                  <a:rPr lang="de-DE" sz="2400" dirty="0"/>
                  <a:t>: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𝑠𝐹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B47718-740B-9FE6-51A2-441F150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161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9687877-49B6-A887-8A5B-033A185CED8A}"/>
              </a:ext>
            </a:extLst>
          </p:cNvPr>
          <p:cNvSpPr/>
          <p:nvPr/>
        </p:nvSpPr>
        <p:spPr>
          <a:xfrm>
            <a:off x="3001703" y="3699641"/>
            <a:ext cx="4520570" cy="7462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BD6DC8-0230-2D8D-E6FB-9B0338382128}"/>
              </a:ext>
            </a:extLst>
          </p:cNvPr>
          <p:cNvSpPr txBox="1"/>
          <p:nvPr/>
        </p:nvSpPr>
        <p:spPr>
          <a:xfrm>
            <a:off x="5511109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32278DB-9F2A-EE9F-C943-4CA068A308F6}"/>
              </a:ext>
            </a:extLst>
          </p:cNvPr>
          <p:cNvSpPr txBox="1"/>
          <p:nvPr/>
        </p:nvSpPr>
        <p:spPr>
          <a:xfrm>
            <a:off x="6772901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7B61BB7-96D1-737B-BDFA-11D6DA06D64F}"/>
              </a:ext>
            </a:extLst>
          </p:cNvPr>
          <p:cNvSpPr txBox="1"/>
          <p:nvPr/>
        </p:nvSpPr>
        <p:spPr>
          <a:xfrm>
            <a:off x="4157116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PT2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AD086E-7AED-8FF6-4098-C823AEF4A138}"/>
              </a:ext>
            </a:extLst>
          </p:cNvPr>
          <p:cNvCxnSpPr/>
          <p:nvPr/>
        </p:nvCxnSpPr>
        <p:spPr>
          <a:xfrm>
            <a:off x="449842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60CC58D-A27A-ECC1-ABCC-47D14641926A}"/>
              </a:ext>
            </a:extLst>
          </p:cNvPr>
          <p:cNvCxnSpPr>
            <a:cxnSpLocks/>
          </p:cNvCxnSpPr>
          <p:nvPr/>
        </p:nvCxnSpPr>
        <p:spPr>
          <a:xfrm>
            <a:off x="568609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EFFABF6-35F9-2CB9-25C3-5DA2BDF1F637}"/>
              </a:ext>
            </a:extLst>
          </p:cNvPr>
          <p:cNvCxnSpPr/>
          <p:nvPr/>
        </p:nvCxnSpPr>
        <p:spPr>
          <a:xfrm>
            <a:off x="6942084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EF22397-690D-CEF9-C49A-C2294EE95E9C}"/>
              </a:ext>
            </a:extLst>
          </p:cNvPr>
          <p:cNvSpPr txBox="1"/>
          <p:nvPr/>
        </p:nvSpPr>
        <p:spPr>
          <a:xfrm>
            <a:off x="3001703" y="3922936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54163"/>
            <a:ext cx="4974342" cy="5167312"/>
          </a:xfrm>
          <a:prstGeom prst="rect">
            <a:avLst/>
          </a:prstGeom>
        </p:spPr>
      </p:pic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C0FB5DB8-43D0-BB4E-B0D2-2360F5E1F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06" y="3027562"/>
            <a:ext cx="5619123" cy="199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4" y="1546247"/>
            <a:ext cx="5260534" cy="51752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/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D319F34-84D6-0BE4-5FC9-E856E7A6B88D}"/>
              </a:ext>
            </a:extLst>
          </p:cNvPr>
          <p:cNvSpPr txBox="1"/>
          <p:nvPr/>
        </p:nvSpPr>
        <p:spPr>
          <a:xfrm>
            <a:off x="523981" y="4376791"/>
            <a:ext cx="1239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unity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BC000A4-65B7-5DDF-9EE8-6DA9A545C94C}"/>
              </a:ext>
            </a:extLst>
          </p:cNvPr>
          <p:cNvCxnSpPr/>
          <p:nvPr/>
        </p:nvCxnSpPr>
        <p:spPr>
          <a:xfrm flipV="1">
            <a:off x="1777429" y="4232953"/>
            <a:ext cx="955497" cy="31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inputs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Amplitude and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399C5ED7-6CFC-B786-AD6C-AE17864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151" y="3429000"/>
            <a:ext cx="5318449" cy="3429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24DA6AE-440B-E2D6-22B2-A2A6EECC83FE}"/>
              </a:ext>
            </a:extLst>
          </p:cNvPr>
          <p:cNvSpPr txBox="1"/>
          <p:nvPr/>
        </p:nvSpPr>
        <p:spPr>
          <a:xfrm>
            <a:off x="5015478" y="3059668"/>
            <a:ext cx="18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18FC8D-F656-BCC3-0343-18B5C60E892F}"/>
              </a:ext>
            </a:extLst>
          </p:cNvPr>
          <p:cNvSpPr txBox="1"/>
          <p:nvPr/>
        </p:nvSpPr>
        <p:spPr>
          <a:xfrm>
            <a:off x="7142480" y="311705"/>
            <a:ext cx="45781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response</a:t>
            </a:r>
            <a:r>
              <a:rPr lang="de-DE" dirty="0"/>
              <a:t> = transient </a:t>
            </a:r>
            <a:r>
              <a:rPr lang="de-DE" dirty="0" err="1"/>
              <a:t>part</a:t>
            </a:r>
            <a:r>
              <a:rPr lang="de-DE" dirty="0"/>
              <a:t> +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A91FE63-60A8-A252-682D-9336A8319657}"/>
              </a:ext>
            </a:extLst>
          </p:cNvPr>
          <p:cNvCxnSpPr/>
          <p:nvPr/>
        </p:nvCxnSpPr>
        <p:spPr>
          <a:xfrm flipH="1">
            <a:off x="7457440" y="609600"/>
            <a:ext cx="321056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dirty="0"/>
                  <a:t>):</a:t>
                </a: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Magnitude (dB)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Phase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Both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logarithmic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  <a:blipFill>
                <a:blip r:embed="rId2"/>
                <a:stretch>
                  <a:fillRect l="-2347" t="-2198" b="-2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0F640E51-9C5C-ED2F-1E43-FF8C39C299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308" y="1690688"/>
            <a:ext cx="6173692" cy="435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/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	</a:t>
                </a:r>
                <a:r>
                  <a:rPr lang="de-DE" dirty="0" err="1"/>
                  <a:t>Example</a:t>
                </a:r>
                <a:r>
                  <a:rPr lang="de-DE" dirty="0"/>
                  <a:t> PT1:</a:t>
                </a:r>
                <a:endParaRPr lang="de-DE" dirty="0">
                  <a:sym typeface="Wingdings" pitchFamily="2" charset="2"/>
                </a:endParaRPr>
              </a:p>
              <a:p>
                <a:r>
                  <a:rPr lang="de-DE" b="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blipFill>
                <a:blip r:embed="rId4"/>
                <a:stretch>
                  <a:fillRect t="-15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/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blipFill>
                <a:blip r:embed="rId5"/>
                <a:stretch>
                  <a:fillRect l="-3571" t="-3333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/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blipFill>
                <a:blip r:embed="rId6"/>
                <a:stretch>
                  <a:fillRect l="-3205" t="-3333" r="-4487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2519C2-5674-2455-AD55-B1B91ADA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Magnitude Unit: </a:t>
            </a:r>
            <a:r>
              <a:rPr lang="de-DE" dirty="0" err="1"/>
              <a:t>Decibel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power </a:t>
                </a:r>
                <a:r>
                  <a:rPr lang="de-DE" dirty="0" err="1"/>
                  <a:t>quantity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):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A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in power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amplitudes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root-power </a:t>
                </a:r>
                <a:r>
                  <a:rPr lang="de-DE" dirty="0" err="1">
                    <a:sym typeface="Wingdings" pitchFamily="2" charset="2"/>
                  </a:rPr>
                  <a:t>quantities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  <m: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 </a:t>
                </a:r>
                <a:r>
                  <a:rPr lang="de-DE" dirty="0" err="1"/>
                  <a:t>change</a:t>
                </a:r>
                <a:r>
                  <a:rPr lang="de-DE" dirty="0"/>
                  <a:t> in </a:t>
                </a:r>
                <a:r>
                  <a:rPr lang="de-DE" dirty="0" err="1"/>
                  <a:t>amplitude</a:t>
                </a:r>
                <a:r>
                  <a:rPr lang="de-DE" dirty="0"/>
                  <a:t>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AB54B-B2BF-3A0A-E285-51D329F2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0738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Frequency </a:t>
                </a:r>
                <a:r>
                  <a:rPr lang="de-DE" sz="2400" dirty="0" err="1"/>
                  <a:t>range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(i.e.,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follows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closely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, and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 </a:t>
                </a:r>
              </a:p>
              <a:p>
                <a:pPr marL="0" indent="0">
                  <a:buNone/>
                </a:pPr>
                <a:r>
                  <a:rPr lang="de-DE" sz="2400" dirty="0"/>
                  <a:t>Strong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kind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which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changes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−3 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(amplitude drops to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70.7%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DC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first-order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𝜔𝜏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Indicates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→ </a:t>
                </a:r>
                <a:r>
                  <a:rPr lang="de-DE" sz="2400" dirty="0" err="1"/>
                  <a:t>faster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also </a:t>
                </a:r>
                <a:r>
                  <a:rPr lang="de-DE" sz="2400" dirty="0" err="1"/>
                  <a:t>less</a:t>
                </a:r>
                <a:r>
                  <a:rPr lang="de-DE" sz="2400" dirty="0"/>
                  <a:t> robust and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7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blipFill>
                <a:blip r:embed="rId11"/>
                <a:stretch>
                  <a:fillRect l="-1724" r="-86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blipFill>
                <a:blip r:embed="rId12"/>
                <a:stretch>
                  <a:fillRect l="-4192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1128" y="4001294"/>
            <a:ext cx="475486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/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blipFill>
                <a:blip r:embed="rId13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E13B32-F2FE-9FA6-B180-F45DC17AC802}"/>
              </a:ext>
            </a:extLst>
          </p:cNvPr>
          <p:cNvSpPr txBox="1"/>
          <p:nvPr/>
        </p:nvSpPr>
        <p:spPr>
          <a:xfrm>
            <a:off x="8610600" y="501650"/>
            <a:ext cx="3219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Used</a:t>
            </a:r>
            <a:r>
              <a:rPr lang="de-DE" sz="2400" dirty="0"/>
              <a:t> in PID </a:t>
            </a:r>
            <a:r>
              <a:rPr lang="de-DE" sz="2400" dirty="0" err="1"/>
              <a:t>controllers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blipFill>
                <a:blip r:embed="rId9"/>
                <a:stretch>
                  <a:fillRect l="-452" r="-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/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blipFill>
                <a:blip r:embed="rId11"/>
                <a:stretch>
                  <a:fillRect l="-4167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24761B3C-F472-89D7-FFC8-A11A6A942A0C}"/>
              </a:ext>
            </a:extLst>
          </p:cNvPr>
          <p:cNvSpPr txBox="1"/>
          <p:nvPr/>
        </p:nvSpPr>
        <p:spPr>
          <a:xfrm>
            <a:off x="10265952" y="666952"/>
            <a:ext cx="1771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F2441A8-5B95-A486-6F90-2D73BB749229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824484" y="1313283"/>
            <a:ext cx="1327159" cy="76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1CAC9-9F9A-309B-EAAC-79C00D68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PT1 Elements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Sup>
                              <m:sSub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written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two</a:t>
                </a:r>
                <a:r>
                  <a:rPr lang="de-DE" sz="2400" dirty="0"/>
                  <a:t> PT1 </a:t>
                </a:r>
                <a:r>
                  <a:rPr lang="de-DE" sz="2400" dirty="0" err="1"/>
                  <a:t>elements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de-DE" sz="2400" b="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real PT1 elements: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(</a:t>
                </a:r>
                <a:r>
                  <a:rPr lang="de-DE" sz="2400" dirty="0" err="1"/>
                  <a:t>arithmetic-geometric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inequality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overdamped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critically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  <a:blipFill>
                <a:blip r:embed="rId2"/>
                <a:stretch>
                  <a:fillRect l="-724" t="-259" b="-20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270AFD-C1DE-8C01-FD6D-9258B218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1716C4-F3BA-0B5F-0ADC-6D6F516A806C}"/>
              </a:ext>
            </a:extLst>
          </p:cNvPr>
          <p:cNvSpPr txBox="1"/>
          <p:nvPr/>
        </p:nvSpPr>
        <p:spPr>
          <a:xfrm>
            <a:off x="7215200" y="3103299"/>
            <a:ext cx="269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individual time </a:t>
            </a:r>
            <a:r>
              <a:rPr lang="de-DE" dirty="0" err="1"/>
              <a:t>constants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2A78EBE-4B13-5090-5E97-905AD3A5472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894786" y="2753713"/>
            <a:ext cx="320414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15884A-4F63-A711-4C5F-DE8DABE340AB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833241" y="2753713"/>
            <a:ext cx="1381959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33B1815-D43B-3632-92CC-82F572DEEC53}"/>
              </a:ext>
            </a:extLst>
          </p:cNvPr>
          <p:cNvSpPr txBox="1"/>
          <p:nvPr/>
        </p:nvSpPr>
        <p:spPr>
          <a:xfrm>
            <a:off x="6174980" y="6396919"/>
            <a:ext cx="3389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fastest non-</a:t>
            </a:r>
            <a:r>
              <a:rPr lang="de-DE" dirty="0" err="1"/>
              <a:t>oscillatory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5D23FD76-3019-5A32-A011-A30FE78C0749}"/>
              </a:ext>
            </a:extLst>
          </p:cNvPr>
          <p:cNvSpPr/>
          <p:nvPr/>
        </p:nvSpPr>
        <p:spPr>
          <a:xfrm rot="16200000">
            <a:off x="7811127" y="5883851"/>
            <a:ext cx="164287" cy="861851"/>
          </a:xfrm>
          <a:prstGeom prst="leftBrace">
            <a:avLst>
              <a:gd name="adj1" fmla="val 8333"/>
              <a:gd name="adj2" fmla="val 475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936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All-Pass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Magnitude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all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), but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frequency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coefficients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Zeros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mirror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.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Important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processing</a:t>
                </a:r>
                <a:r>
                  <a:rPr lang="de-DE" sz="2400" dirty="0"/>
                  <a:t>, e.g.,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runtime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alignment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  <a:blipFill>
                <a:blip r:embed="rId2"/>
                <a:stretch>
                  <a:fillRect l="-1378" t="-2035" r="-3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  <p:pic>
        <p:nvPicPr>
          <p:cNvPr id="5" name="Grafik 4" descr="Ein Bild, das Diagramm, Reihe, Schrift, Kreis enthält.&#10;&#10;KI-generierte Inhalte können fehlerhaft sein.">
            <a:extLst>
              <a:ext uri="{FF2B5EF4-FFF2-40B4-BE49-F238E27FC236}">
                <a16:creationId xmlns:a16="http://schemas.microsoft.com/office/drawing/2014/main" id="{E13B6A26-66B4-FCD3-374E-0324D6D33F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717413"/>
            <a:ext cx="4922587" cy="2017643"/>
          </a:xfrm>
          <a:prstGeom prst="rect">
            <a:avLst/>
          </a:prstGeom>
        </p:spPr>
      </p:pic>
      <p:pic>
        <p:nvPicPr>
          <p:cNvPr id="6" name="Grafik 5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AB0D2284-D8CC-E9B2-7ACB-E0BEE700C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3569441"/>
            <a:ext cx="4928745" cy="2876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/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first-order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blipFill>
                <a:blip r:embed="rId5"/>
                <a:stretch>
                  <a:fillRect l="-1509" b="-7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/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second-order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blipFill>
                <a:blip r:embed="rId6"/>
                <a:stretch>
                  <a:fillRect l="-11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Dead time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reasons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and </a:t>
                </a:r>
                <a:r>
                  <a:rPr lang="de-DE" dirty="0" err="1"/>
                  <a:t>poor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849A6A0B-7B0A-3167-280A-07C8CCA493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0704" y="3665162"/>
            <a:ext cx="2857500" cy="14224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5BED860-0BB1-7B23-BF19-6E448A09B50F}"/>
              </a:ext>
            </a:extLst>
          </p:cNvPr>
          <p:cNvSpPr txBox="1"/>
          <p:nvPr/>
        </p:nvSpPr>
        <p:spPr>
          <a:xfrm>
            <a:off x="9260703" y="3041466"/>
            <a:ext cx="2857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(P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time):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77D9DC5-EB66-C724-A7E5-4EB656F8A374}"/>
              </a:ext>
            </a:extLst>
          </p:cNvPr>
          <p:cNvSpPr/>
          <p:nvPr/>
        </p:nvSpPr>
        <p:spPr>
          <a:xfrm>
            <a:off x="11265763" y="3665162"/>
            <a:ext cx="443884" cy="4008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</a:rPr>
              <a:t>T</a:t>
            </a:r>
            <a:r>
              <a:rPr lang="de-DE" sz="2000" baseline="-25000" dirty="0">
                <a:solidFill>
                  <a:schemeClr val="tx1"/>
                </a:solidFill>
              </a:rPr>
              <a:t>D</a:t>
            </a:r>
            <a:endParaRPr lang="de-DE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/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blipFill>
                <a:blip r:embed="rId4"/>
                <a:stretch>
                  <a:fillRect r="-2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CB4EE6-FB21-E428-AFA4-B3E042F3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259E4D-64AB-389E-6117-BBCCBA1A7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0574" y="1589102"/>
            <a:ext cx="4012645" cy="4012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D4A938-5623-70C8-BB79-671071A0E847}"/>
              </a:ext>
            </a:extLst>
          </p:cNvPr>
          <p:cNvSpPr txBox="1"/>
          <p:nvPr/>
        </p:nvSpPr>
        <p:spPr>
          <a:xfrm>
            <a:off x="8268961" y="713860"/>
            <a:ext cx="331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PT1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7" name="Grafik 6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08E294EB-6019-AEA2-F733-F1499C22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948" y="2130640"/>
            <a:ext cx="3559626" cy="29295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86264FE-B2A5-CB8B-4A25-43EAF80285CA}"/>
              </a:ext>
            </a:extLst>
          </p:cNvPr>
          <p:cNvSpPr txBox="1"/>
          <p:nvPr/>
        </p:nvSpPr>
        <p:spPr>
          <a:xfrm>
            <a:off x="4171018" y="1129359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C34F394-B9D4-A22A-7B92-7F0D95011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81" y="1544858"/>
            <a:ext cx="3497935" cy="349336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4A940BB-AE86-B489-1CC6-5D2DCC80ABEB}"/>
              </a:ext>
            </a:extLst>
          </p:cNvPr>
          <p:cNvSpPr txBox="1"/>
          <p:nvPr/>
        </p:nvSpPr>
        <p:spPr>
          <a:xfrm>
            <a:off x="611392" y="563755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Bode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/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Delay = additional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 shift </a:t>
                </a:r>
                <a:r>
                  <a:rPr lang="de-DE" sz="2200" dirty="0" err="1"/>
                  <a:t>that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grows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linearly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200" dirty="0">
                  <a:sym typeface="Wingdings" pitchFamily="2" charset="2"/>
                </a:endParaRPr>
              </a:p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Dead time </a:t>
                </a:r>
                <a:r>
                  <a:rPr lang="de-DE" sz="2200" dirty="0" err="1"/>
                  <a:t>hides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amplitude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reveals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itself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.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blipFill>
                <a:blip r:embed="rId5"/>
                <a:stretch>
                  <a:fillRect l="-1653" t="-2609" r="-2479" b="-7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4445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3B0DC-31BB-6D9E-792A-D380DBFB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System </a:t>
            </a:r>
            <a:r>
              <a:rPr lang="de-DE" sz="4000" dirty="0" err="1"/>
              <a:t>Identification</a:t>
            </a:r>
            <a:r>
              <a:rPr lang="de-DE" sz="4000" dirty="0"/>
              <a:t> </a:t>
            </a:r>
            <a:r>
              <a:rPr lang="de-DE" sz="4000" dirty="0" err="1"/>
              <a:t>with</a:t>
            </a:r>
            <a:r>
              <a:rPr lang="de-DE" sz="4000" dirty="0"/>
              <a:t>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Experiment: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Bode </a:t>
                </a:r>
                <a:r>
                  <a:rPr lang="de-DE" dirty="0" err="1">
                    <a:sym typeface="Wingdings" pitchFamily="2" charset="2"/>
                  </a:rPr>
                  <a:t>plots</a:t>
                </a:r>
                <a:endParaRPr lang="de-DE" dirty="0"/>
              </a:p>
              <a:p>
                <a:r>
                  <a:rPr lang="de-DE" dirty="0"/>
                  <a:t>Magnitude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components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Decompose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building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(</a:t>
                </a:r>
                <a:r>
                  <a:rPr lang="de-DE" dirty="0" err="1"/>
                  <a:t>integrator</a:t>
                </a:r>
                <a:r>
                  <a:rPr lang="de-DE" dirty="0"/>
                  <a:t>, PT1, </a:t>
                </a:r>
                <a:r>
                  <a:rPr lang="de-DE" dirty="0" err="1"/>
                  <a:t>gain</a:t>
                </a:r>
                <a:r>
                  <a:rPr lang="de-DE" dirty="0"/>
                  <a:t>, ...)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straight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line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segments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System </a:t>
                </a:r>
                <a:r>
                  <a:rPr lang="de-DE" dirty="0" err="1"/>
                  <a:t>identification</a:t>
                </a:r>
                <a:r>
                  <a:rPr lang="de-DE" dirty="0"/>
                  <a:t> </a:t>
                </a:r>
                <a:r>
                  <a:rPr lang="de-DE" dirty="0" err="1"/>
                  <a:t>procedure</a:t>
                </a:r>
                <a:r>
                  <a:rPr lang="de-DE" dirty="0"/>
                  <a:t> (</a:t>
                </a:r>
                <a:r>
                  <a:rPr lang="de-DE" dirty="0" err="1"/>
                  <a:t>construct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):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initial </a:t>
                </a:r>
                <a:r>
                  <a:rPr lang="de-DE" dirty="0" err="1"/>
                  <a:t>slope</a:t>
                </a:r>
                <a:r>
                  <a:rPr lang="de-DE" dirty="0"/>
                  <a:t> (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indicates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/</a:t>
                </a:r>
                <a:r>
                  <a:rPr lang="de-DE" dirty="0" err="1"/>
                  <a:t>differentiators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where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Analyze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pole,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time </a:t>
                </a:r>
                <a:r>
                  <a:rPr lang="de-DE" dirty="0" err="1"/>
                  <a:t>constants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K </a:t>
                </a:r>
                <a:r>
                  <a:rPr lang="de-DE" dirty="0" err="1"/>
                  <a:t>from</a:t>
                </a:r>
                <a:r>
                  <a:rPr lang="de-DE" dirty="0"/>
                  <a:t> absolute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level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slope</a:t>
                </a:r>
                <a:r>
                  <a:rPr lang="de-DE" dirty="0"/>
                  <a:t> = </a:t>
                </a:r>
                <a:r>
                  <a:rPr lang="de-DE" dirty="0" err="1"/>
                  <a:t>structure</a:t>
                </a:r>
                <a:r>
                  <a:rPr lang="de-DE" dirty="0"/>
                  <a:t>,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= </a:t>
                </a:r>
                <a:r>
                  <a:rPr lang="de-DE" dirty="0" err="1"/>
                  <a:t>dynamics</a:t>
                </a:r>
                <a:r>
                  <a:rPr lang="de-DE" dirty="0"/>
                  <a:t>, </a:t>
                </a:r>
                <a:r>
                  <a:rPr lang="de-DE" dirty="0" err="1"/>
                  <a:t>level</a:t>
                </a:r>
                <a:r>
                  <a:rPr lang="de-DE" dirty="0"/>
                  <a:t> = </a:t>
                </a:r>
                <a:r>
                  <a:rPr lang="de-DE" dirty="0" err="1"/>
                  <a:t>gain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844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046C4B-4832-CAE2-3B8B-739987984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95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CF6AB-6150-2496-7055-205640593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97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Check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than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zeros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de-DE" dirty="0" err="1">
                    <a:sym typeface="Wingdings" pitchFamily="2" charset="2"/>
                  </a:rPr>
                  <a:t>often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large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overall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  at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Gain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=10</m:t>
                    </m:r>
                  </m:oMath>
                </a14:m>
                <a:r>
                  <a:rPr lang="de-DE" dirty="0"/>
                  <a:t>  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always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active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comes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/>
                  <a:t>kink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≈10</m:t>
                    </m:r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 PT1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1+0.1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  <a:blipFill>
                <a:blip r:embed="rId2"/>
                <a:stretch>
                  <a:fillRect l="-5637" t="-6208" r="-20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6E2ED-F427-7057-2702-60EBE459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47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988934-2359-699F-54A9-9A1BECA3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9510"/>
            <a:ext cx="6012782" cy="4533446"/>
          </a:xfrm>
          <a:prstGeom prst="rect">
            <a:avLst/>
          </a:prstGeom>
        </p:spPr>
      </p:pic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77DDB740-819C-FAE4-78EB-35263FD7821F}"/>
              </a:ext>
            </a:extLst>
          </p:cNvPr>
          <p:cNvCxnSpPr>
            <a:cxnSpLocks/>
          </p:cNvCxnSpPr>
          <p:nvPr/>
        </p:nvCxnSpPr>
        <p:spPr>
          <a:xfrm>
            <a:off x="6936828" y="2091557"/>
            <a:ext cx="2417380" cy="1103587"/>
          </a:xfrm>
          <a:prstGeom prst="line">
            <a:avLst/>
          </a:prstGeom>
          <a:ln w="31750">
            <a:solidFill>
              <a:schemeClr val="accent5"/>
            </a:solidFill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9E10C8C-B23F-1E41-07B0-12AA994EE92D}"/>
              </a:ext>
            </a:extLst>
          </p:cNvPr>
          <p:cNvCxnSpPr>
            <a:cxnSpLocks/>
          </p:cNvCxnSpPr>
          <p:nvPr/>
        </p:nvCxnSpPr>
        <p:spPr>
          <a:xfrm>
            <a:off x="9354208" y="3195144"/>
            <a:ext cx="2396358" cy="2153346"/>
          </a:xfrm>
          <a:prstGeom prst="line">
            <a:avLst/>
          </a:prstGeom>
          <a:ln w="31750">
            <a:solidFill>
              <a:schemeClr val="accent6"/>
            </a:solidFill>
            <a:prstDash val="sysDot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/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−20 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5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blipFill>
                <a:blip r:embed="rId4"/>
                <a:stretch>
                  <a:fillRect t="-160870" r="-1471" b="-2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/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6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blipFill>
                <a:blip r:embed="rId5"/>
                <a:stretch>
                  <a:fillRect t="-160870" r="-3008" b="-2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140798D8-914C-9EFB-6759-118A69B2B311}"/>
              </a:ext>
            </a:extLst>
          </p:cNvPr>
          <p:cNvSpPr txBox="1"/>
          <p:nvPr/>
        </p:nvSpPr>
        <p:spPr>
          <a:xfrm>
            <a:off x="7536212" y="4087151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corner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35B21F36-93F1-55DA-F500-212FC42D7057}"/>
              </a:ext>
            </a:extLst>
          </p:cNvPr>
          <p:cNvCxnSpPr/>
          <p:nvPr/>
        </p:nvCxnSpPr>
        <p:spPr>
          <a:xfrm>
            <a:off x="9354208" y="3195144"/>
            <a:ext cx="0" cy="2343808"/>
          </a:xfrm>
          <a:prstGeom prst="line">
            <a:avLst/>
          </a:prstGeom>
          <a:ln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6828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48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t="-565" r="-559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791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blipFill>
                <a:blip r:embed="rId11"/>
                <a:stretch>
                  <a:fillRect l="-175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50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r="-312"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41253"/>
            <a:ext cx="10515600" cy="535709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51</a:t>
            </a:fld>
            <a:endParaRPr lang="en-GB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08F8C42-A1C7-07E0-4919-E338135B4D13}"/>
              </a:ext>
            </a:extLst>
          </p:cNvPr>
          <p:cNvGrpSpPr/>
          <p:nvPr/>
        </p:nvGrpSpPr>
        <p:grpSpPr>
          <a:xfrm>
            <a:off x="3103048" y="1924769"/>
            <a:ext cx="5985903" cy="1787065"/>
            <a:chOff x="838200" y="4102962"/>
            <a:chExt cx="5985903" cy="17870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0BC1B9AA-4DD9-DFA6-F721-DA1E12B5751A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751218D-8569-34E2-FB99-94A46711AC1D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560E0793-17C4-E965-5266-6FA085A439C2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CB608118-6686-D197-791D-4DAC81DEC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5EBEBF0D-BAAC-46B6-DAE3-12562407C9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39E4D9E-227A-1AC7-7AC8-A507CC99AC36}"/>
                </a:ext>
              </a:extLst>
            </p:cNvPr>
            <p:cNvCxnSpPr>
              <a:endCxn id="11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81C6FD8-3032-29D4-653B-3F249E05EAC0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284E165-5266-ACE4-A95E-04DC2A11DB3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t="-4348" r="-14634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ing 20">
              <a:extLst>
                <a:ext uri="{FF2B5EF4-FFF2-40B4-BE49-F238E27FC236}">
                  <a16:creationId xmlns:a16="http://schemas.microsoft.com/office/drawing/2014/main" id="{ED6AAF6D-4865-4676-E885-88A22D4EDB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0515" y="488596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2" name="Ring 21">
              <a:extLst>
                <a:ext uri="{FF2B5EF4-FFF2-40B4-BE49-F238E27FC236}">
                  <a16:creationId xmlns:a16="http://schemas.microsoft.com/office/drawing/2014/main" id="{DD0F5AB1-AAA4-41B2-A781-C4AA567351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974" y="488764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F1C7D86-ABFA-D87E-685A-270E8CA83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4216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4E812BB-17A8-1051-637A-76B4F4E7DB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119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82F282A2-53EF-B23D-F157-B841A5E86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0805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CD8878B6-D6FD-EFEA-3C5E-EB7F4FE89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0844" y="4927120"/>
              <a:ext cx="298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1AE436E-9AB7-93D2-AF39-472E44022315}"/>
                </a:ext>
              </a:extLst>
            </p:cNvPr>
            <p:cNvCxnSpPr>
              <a:endCxn id="21" idx="0"/>
            </p:cNvCxnSpPr>
            <p:nvPr/>
          </p:nvCxnSpPr>
          <p:spPr>
            <a:xfrm>
              <a:off x="3875515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A8EFEC-9C9A-B1B7-D236-B3A55C353440}"/>
                </a:ext>
              </a:extLst>
            </p:cNvPr>
            <p:cNvCxnSpPr/>
            <p:nvPr/>
          </p:nvCxnSpPr>
          <p:spPr>
            <a:xfrm>
              <a:off x="5494974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/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/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/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blipFill>
                <a:blip r:embed="rId9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C3A4-AEAB-C2F7-7972-19CE9C6E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following</a:t>
                </a:r>
                <a:r>
                  <a:rPr lang="de-DE" dirty="0"/>
                  <a:t> </a:t>
                </a:r>
                <a:r>
                  <a:rPr lang="de-DE" dirty="0" err="1"/>
                  <a:t>signals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F5872-59E3-F5B2-87C9-185F75E6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8296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,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time </a:t>
                </a:r>
                <a:r>
                  <a:rPr lang="de-DE" dirty="0" err="1"/>
                  <a:t>domain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AE4ED-2026-1556-A5CB-334590351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⃛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A0A1A7-E12E-A224-9638-3BFB0590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3898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F57831-AC60-7DC6-6BC0-800B0AA9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F99E8E-04AA-29F7-E20F-451296370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7237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67A4B-C466-6C0E-1949-2A7A6A4B7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consists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Forward </a:t>
                </a:r>
                <a:r>
                  <a:rPr lang="de-DE" dirty="0" err="1"/>
                  <a:t>path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Feedback: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200E97-F072-8204-451C-3F6F72EB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715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D947E-54E1-F072-1CB6-260DA64E4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04596B-1E5D-B9FF-655F-D20E6703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4526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FADC79-38BD-1CF5-1F0F-143B7C3B5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EC3AE5-A7A8-1AAD-7D1A-26970F27B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615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94224-0CF2-5741-DE78-3972F980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a 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bandwidth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D34016-9510-5E6B-4C08-C94E47B40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1504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3F4700-4C37-4A3B-E96A-417374997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 PID </a:t>
                </a:r>
                <a:r>
                  <a:rPr lang="de-DE" dirty="0" err="1"/>
                  <a:t>controller</a:t>
                </a:r>
                <a:r>
                  <a:rPr lang="de-DE" dirty="0"/>
                  <a:t> in parallel form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Assume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Derive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8411DA-26AE-5E24-344C-F06B5A0E7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50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3116</Words>
  <Application>Microsoft Macintosh PowerPoint</Application>
  <PresentationFormat>Breitbild</PresentationFormat>
  <Paragraphs>594</Paragraphs>
  <Slides>60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Step Response</vt:lpstr>
      <vt:lpstr>Final Value Theorem</vt:lpstr>
      <vt:lpstr>Block Diagrams</vt:lpstr>
      <vt:lpstr>Series Connection</vt:lpstr>
      <vt:lpstr>Parallel Connection</vt:lpstr>
      <vt:lpstr>Block Diagram Algebra</vt:lpstr>
      <vt:lpstr>Feedback Connection</vt:lpstr>
      <vt:lpstr>Frequency Response</vt:lpstr>
      <vt:lpstr>Bode Plots</vt:lpstr>
      <vt:lpstr>Common Magnitude Unit: Decibel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Second-Order Lag Element (PT2)</vt:lpstr>
      <vt:lpstr>PT2 as Product of Two PT1 Elements</vt:lpstr>
      <vt:lpstr>PowerPoint-Präsentation</vt:lpstr>
      <vt:lpstr>PT2 Signal Flow Diagram</vt:lpstr>
      <vt:lpstr>All-Pass Systems</vt:lpstr>
      <vt:lpstr>Systems with Dead Time</vt:lpstr>
      <vt:lpstr>PowerPoint-Präsentation</vt:lpstr>
      <vt:lpstr>System Identification with Bode Plots</vt:lpstr>
      <vt:lpstr>Example</vt:lpstr>
      <vt:lpstr>Control Loop</vt:lpstr>
      <vt:lpstr>PID Controller Transfer Function</vt:lpstr>
      <vt:lpstr>Hidden Assumptions</vt:lpstr>
      <vt:lpstr>Disturbances</vt:lpstr>
      <vt:lpstr>Exercise 1</vt:lpstr>
      <vt:lpstr>Exercise 2</vt:lpstr>
      <vt:lpstr>Exercise 3</vt:lpstr>
      <vt:lpstr>Exercise 4</vt:lpstr>
      <vt:lpstr>Exercise 5</vt:lpstr>
      <vt:lpstr>Exercise 6</vt:lpstr>
      <vt:lpstr>Exercise 7</vt:lpstr>
      <vt:lpstr>Exercise 8</vt:lpstr>
      <vt:lpstr>Exercise 9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321</cp:revision>
  <dcterms:created xsi:type="dcterms:W3CDTF">2025-01-08T09:27:30Z</dcterms:created>
  <dcterms:modified xsi:type="dcterms:W3CDTF">2026-04-15T21:52:53Z</dcterms:modified>
</cp:coreProperties>
</file>
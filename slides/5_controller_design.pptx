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65" r:id="rId3"/>
    <p:sldId id="266" r:id="rId4"/>
    <p:sldId id="267" r:id="rId5"/>
    <p:sldId id="268" r:id="rId6"/>
    <p:sldId id="278" r:id="rId7"/>
    <p:sldId id="276" r:id="rId8"/>
    <p:sldId id="269" r:id="rId9"/>
    <p:sldId id="270" r:id="rId10"/>
    <p:sldId id="279" r:id="rId11"/>
    <p:sldId id="280" r:id="rId12"/>
    <p:sldId id="271" r:id="rId13"/>
    <p:sldId id="293" r:id="rId14"/>
    <p:sldId id="272" r:id="rId15"/>
    <p:sldId id="294" r:id="rId16"/>
    <p:sldId id="273" r:id="rId17"/>
    <p:sldId id="295" r:id="rId18"/>
    <p:sldId id="274" r:id="rId19"/>
    <p:sldId id="275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251"/>
    <p:restoredTop sz="95028" autoAdjust="0"/>
  </p:normalViewPr>
  <p:slideViewPr>
    <p:cSldViewPr snapToGrid="0">
      <p:cViewPr varScale="1">
        <p:scale>
          <a:sx n="126" d="100"/>
          <a:sy n="126" d="100"/>
        </p:scale>
        <p:origin x="216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14/03/2026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14/03/2026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14/03/2026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14/03/2026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14/03/2026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14/03/2026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 err="1"/>
              <a:t>Setpoint</a:t>
            </a:r>
            <a:r>
              <a:rPr lang="de-DE" dirty="0"/>
              <a:t> vs.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Error </a:t>
                </a:r>
                <a:r>
                  <a:rPr lang="de-DE" sz="2400" dirty="0" err="1"/>
                  <a:t>correction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400" dirty="0"/>
                  <a:t> to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setpoint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computes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400" dirty="0"/>
                  <a:t>, and </a:t>
                </a:r>
                <a:r>
                  <a:rPr lang="de-DE" sz="2400" dirty="0" err="1"/>
                  <a:t>acts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reduce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Negative </a:t>
                </a:r>
                <a:r>
                  <a:rPr lang="de-DE" sz="2400" dirty="0" err="1">
                    <a:sym typeface="Wingdings" pitchFamily="2" charset="2"/>
                  </a:rPr>
                  <a:t>feedback</a:t>
                </a:r>
                <a:r>
                  <a:rPr lang="de-DE" sz="2400" dirty="0">
                    <a:sym typeface="Wingdings" pitchFamily="2" charset="2"/>
                  </a:rPr>
                  <a:t> (p</a:t>
                </a:r>
                <a:r>
                  <a:rPr lang="de-DE" sz="2400" dirty="0"/>
                  <a:t>ositive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but </a:t>
                </a:r>
                <a:r>
                  <a:rPr lang="de-DE" sz="2400" dirty="0" err="1"/>
                  <a:t>risks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instability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poorly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 plants</a:t>
                </a:r>
              </a:p>
              <a:p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attenuating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unknown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inputs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Reduced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uncertainty</a:t>
                </a:r>
                <a:endParaRPr lang="de-DE" sz="2400" dirty="0"/>
              </a:p>
              <a:p>
                <a:r>
                  <a:rPr lang="de-DE" sz="2400" dirty="0" err="1"/>
                  <a:t>Improved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accuracy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Trade-offs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unavoidable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Loop </a:t>
            </a:r>
            <a:r>
              <a:rPr lang="de-DE" dirty="0" err="1"/>
              <a:t>Gain</a:t>
            </a:r>
            <a:r>
              <a:rPr lang="de-DE" dirty="0"/>
              <a:t> and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Tools: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criterion</a:t>
                </a:r>
                <a:r>
                  <a:rPr lang="de-DE" sz="2400" dirty="0"/>
                  <a:t>, Bode </a:t>
                </a:r>
                <a:r>
                  <a:rPr lang="de-DE" sz="2400" dirty="0" err="1"/>
                  <a:t>plots</a:t>
                </a:r>
                <a:r>
                  <a:rPr lang="de-DE" sz="2400" dirty="0"/>
                  <a:t>, root </a:t>
                </a:r>
                <a:r>
                  <a:rPr lang="de-DE" sz="2400" dirty="0" err="1"/>
                  <a:t>locus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AC5237-6BE6-8EF9-4CF2-8840AE86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good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D462BA-7603-D319-52E0-A2C21EAAB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Disturbacne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conflicting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optimize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independently</a:t>
            </a:r>
            <a:r>
              <a:rPr lang="de-DE" dirty="0"/>
              <a:t>:</a:t>
            </a:r>
          </a:p>
          <a:p>
            <a:r>
              <a:rPr lang="de-DE" dirty="0"/>
              <a:t>Aggressive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fast </a:t>
            </a:r>
            <a:r>
              <a:rPr lang="de-DE" dirty="0" err="1"/>
              <a:t>tracking</a:t>
            </a:r>
            <a:r>
              <a:rPr lang="de-DE" dirty="0"/>
              <a:t> but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robust but </a:t>
            </a:r>
            <a:r>
              <a:rPr lang="de-DE" dirty="0" err="1"/>
              <a:t>slower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/>
              <a:t>Fundamental and </a:t>
            </a:r>
            <a:r>
              <a:rPr lang="de-DE" dirty="0" err="1"/>
              <a:t>tied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1B2717-D9C9-04E4-EF9E-1E5F96C4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54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741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Heuristic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 </a:t>
                </a:r>
                <a:r>
                  <a:rPr lang="de-DE" sz="2400" dirty="0" err="1"/>
                  <a:t>provide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starting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P, PI, and PID </a:t>
                </a:r>
                <a:r>
                  <a:rPr lang="de-DE" sz="2400" dirty="0" err="1"/>
                  <a:t>controllers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Step-by-step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procedure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method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Set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P-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</a:t>
                </a:r>
                <a:r>
                  <a:rPr lang="de-DE" sz="2400" dirty="0"/>
                  <a:t>: integral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, derivative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Gradually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sustained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oscillations</a:t>
                </a:r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Record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compute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formulas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200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35ED3-47DC-A12E-E092-8ADAE3F4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Tuning Rules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4652D0E-1C3C-66CB-917B-330CE9B42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83759"/>
            <a:ext cx="5181600" cy="14932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/>
              <a:t>Simple experimental </a:t>
            </a:r>
            <a:r>
              <a:rPr lang="de-DE" dirty="0" err="1"/>
              <a:t>procedure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initial PID </a:t>
            </a:r>
            <a:r>
              <a:rPr lang="de-DE" dirty="0" err="1"/>
              <a:t>tuning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23D638C-F929-816F-8867-F4B81D71D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683758"/>
            <a:ext cx="5181600" cy="167259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r>
              <a:rPr lang="de-DE" dirty="0"/>
              <a:t>Can </a:t>
            </a:r>
            <a:r>
              <a:rPr lang="de-DE" dirty="0" err="1"/>
              <a:t>produce</a:t>
            </a:r>
            <a:r>
              <a:rPr lang="de-DE" dirty="0"/>
              <a:t> large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Not ideal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afterward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4D16D6-54DC-F658-520B-EA40DEC9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0.45 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1.2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0.6 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55105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9302" r="-2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9302" r="-1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9302" r="-966" b="-474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114634" r="-200966" b="-3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214634" r="-2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214634" r="-1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314634" r="-2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314634" r="-1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314634" r="-966" b="-1975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/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blipFill>
                <a:blip r:embed="rId3"/>
                <a:stretch>
                  <a:fillRect l="-4580" t="-78125" r="-2290" b="-1140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490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(Time-</a:t>
            </a:r>
            <a:r>
              <a:rPr lang="de-DE" dirty="0" err="1"/>
              <a:t>Sum</a:t>
            </a:r>
            <a:r>
              <a:rPr lang="de-DE" dirty="0"/>
              <a:t>)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 err="1"/>
                  <a:t>Evaluate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</a:t>
                </a:r>
                <a:r>
                  <a:rPr lang="de-DE" sz="2400" dirty="0"/>
                  <a:t> different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tunings</a:t>
                </a:r>
                <a:r>
                  <a:rPr lang="de-DE" sz="2400" dirty="0"/>
                  <a:t> (e.g., PID </a:t>
                </a:r>
                <a:r>
                  <a:rPr lang="de-DE" sz="2400" dirty="0" err="1"/>
                  <a:t>settings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Idea: </a:t>
                </a:r>
                <a:r>
                  <a:rPr lang="de-DE" sz="2400" dirty="0" err="1"/>
                  <a:t>Measure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smallest</a:t>
                </a:r>
                <a:r>
                  <a:rPr lang="de-DE" sz="2400" dirty="0"/>
                  <a:t> total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generally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2B805F-4D25-CF89-BB24-0FD05062B981}"/>
              </a:ext>
            </a:extLst>
          </p:cNvPr>
          <p:cNvSpPr txBox="1"/>
          <p:nvPr/>
        </p:nvSpPr>
        <p:spPr>
          <a:xfrm>
            <a:off x="7930117" y="4029350"/>
            <a:ext cx="2275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sampling</a:t>
            </a:r>
            <a:r>
              <a:rPr lang="de-DE" sz="2200" dirty="0"/>
              <a:t> </a:t>
            </a:r>
            <a:r>
              <a:rPr lang="de-DE" sz="2200" dirty="0" err="1"/>
              <a:t>interval</a:t>
            </a:r>
            <a:endParaRPr lang="de-DE" sz="2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389B3-8E9D-9C2D-6DA3-72CCF0253FD9}"/>
              </a:ext>
            </a:extLst>
          </p:cNvPr>
          <p:cNvSpPr txBox="1"/>
          <p:nvPr/>
        </p:nvSpPr>
        <p:spPr>
          <a:xfrm>
            <a:off x="5557773" y="4295594"/>
            <a:ext cx="16966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 err="1"/>
              <a:t>error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991F0A8-A7A1-2C53-F07F-C19A57DA8B0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457440" y="4013200"/>
            <a:ext cx="472677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1F7C321-D5BB-F766-9704-929ECBBD11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406082" y="4064000"/>
            <a:ext cx="0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D70AB15-7FF0-BCA6-96F2-4071AED8B17A}"/>
              </a:ext>
            </a:extLst>
          </p:cNvPr>
          <p:cNvSpPr txBox="1"/>
          <p:nvPr/>
        </p:nvSpPr>
        <p:spPr>
          <a:xfrm>
            <a:off x="1566232" y="4029350"/>
            <a:ext cx="2529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0851A8A-9AE2-2913-9911-C40F3E0B05E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96068" y="4013200"/>
            <a:ext cx="613397" cy="33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/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smaller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better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  <a:p>
                <a:r>
                  <a:rPr lang="de-DE" sz="2400" dirty="0"/>
                  <a:t>larger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larger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longer</a:t>
                </a:r>
                <a:r>
                  <a:rPr lang="de-DE" sz="2400" dirty="0"/>
                  <a:t>-lasting </a:t>
                </a:r>
                <a:r>
                  <a:rPr lang="de-DE" sz="2400" dirty="0" err="1"/>
                  <a:t>deviations</a:t>
                </a:r>
                <a:endParaRPr lang="de-DE" sz="240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blipFill>
                <a:blip r:embed="rId3"/>
                <a:stretch>
                  <a:fillRect l="-1452" t="-5970" r="-145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0064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1D303-60CB-1EB0-720A-6B61311B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/>
                  <a:t>Apply a </a:t>
                </a:r>
                <a:r>
                  <a:rPr lang="de-DE" sz="2600" dirty="0" err="1"/>
                  <a:t>test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often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Measure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Calculate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:	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</a:t>
                </a:r>
                <a:r>
                  <a:rPr lang="de-DE" sz="2600" dirty="0"/>
                  <a:t> time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Limitations</a:t>
                </a:r>
                <a:endParaRPr lang="de-DE" sz="2600" dirty="0"/>
              </a:p>
              <a:p>
                <a:r>
                  <a:rPr lang="de-DE" sz="2600" dirty="0" err="1"/>
                  <a:t>Does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distinguish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fast </a:t>
                </a:r>
                <a:r>
                  <a:rPr lang="de-DE" sz="2600" dirty="0" err="1"/>
                  <a:t>oscillations</a:t>
                </a:r>
                <a:r>
                  <a:rPr lang="de-DE" sz="2600" dirty="0"/>
                  <a:t> and slow </a:t>
                </a:r>
                <a:r>
                  <a:rPr lang="de-DE" sz="2600" dirty="0" err="1"/>
                  <a:t>drift</a:t>
                </a:r>
                <a:endParaRPr lang="de-DE" sz="2600" dirty="0"/>
              </a:p>
              <a:p>
                <a:r>
                  <a:rPr lang="de-DE" sz="2600" dirty="0" err="1"/>
                  <a:t>Requires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defined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evaluation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window</a:t>
                </a:r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283222-7F08-29EE-89CE-C725D98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0418D4-9C6C-6A85-6838-8607CBD90DE0}"/>
              </a:ext>
            </a:extLst>
          </p:cNvPr>
          <p:cNvSpPr txBox="1"/>
          <p:nvPr/>
        </p:nvSpPr>
        <p:spPr>
          <a:xfrm>
            <a:off x="7441221" y="1852930"/>
            <a:ext cx="2297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r>
              <a:rPr lang="de-DE" sz="2400" dirty="0"/>
              <a:t> </a:t>
            </a:r>
            <a:r>
              <a:rPr lang="de-DE" sz="2400" dirty="0" err="1"/>
              <a:t>signal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0BCDD8-ADE1-A91F-7730-F97885685CAE}"/>
              </a:ext>
            </a:extLst>
          </p:cNvPr>
          <p:cNvSpPr txBox="1"/>
          <p:nvPr/>
        </p:nvSpPr>
        <p:spPr>
          <a:xfrm>
            <a:off x="7818120" y="3681869"/>
            <a:ext cx="2084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3BE7460-FA2C-027B-D78F-049D01C68FE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7818120" y="2314595"/>
            <a:ext cx="772038" cy="438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36FD56C-BF2E-B2B4-F249-4138DA102A13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8590158" y="3230880"/>
            <a:ext cx="270459" cy="450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19464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075915-A5A5-515D-255C-C8B0D195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uncertainties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at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with</a:t>
            </a:r>
            <a:r>
              <a:rPr lang="de-DE" dirty="0"/>
              <a:t> optimal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Essential in real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751</Words>
  <Application>Microsoft Macintosh PowerPoint</Application>
  <PresentationFormat>Breitbild</PresentationFormat>
  <Paragraphs>177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Feedback Control Principles</vt:lpstr>
      <vt:lpstr>Loop Gain and Stability</vt:lpstr>
      <vt:lpstr>Root locus</vt:lpstr>
      <vt:lpstr>Setpoint Tracking</vt:lpstr>
      <vt:lpstr>Disturbance Rejection</vt:lpstr>
      <vt:lpstr>Trade-Off</vt:lpstr>
      <vt:lpstr>Lead and Lag Compensators</vt:lpstr>
      <vt:lpstr>PID Tuning</vt:lpstr>
      <vt:lpstr>Manual PI Tuning</vt:lpstr>
      <vt:lpstr>Ziegler–Nichols Method</vt:lpstr>
      <vt:lpstr>Ziegler–Nichols Tuning Rules</vt:lpstr>
      <vt:lpstr>T-Sum (Time-Sum) Method</vt:lpstr>
      <vt:lpstr>T-Sum Procedure</vt:lpstr>
      <vt:lpstr>Sensitivity Functions</vt:lpstr>
      <vt:lpstr>Robustness</vt:lpstr>
      <vt:lpstr>Cascade Control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80</cp:revision>
  <dcterms:created xsi:type="dcterms:W3CDTF">2025-01-08T09:27:30Z</dcterms:created>
  <dcterms:modified xsi:type="dcterms:W3CDTF">2026-03-15T12:06:29Z</dcterms:modified>
</cp:coreProperties>
</file>
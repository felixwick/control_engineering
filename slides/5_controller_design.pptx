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4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  <p:sldId id="27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/>
    <p:restoredTop sz="95028" autoAdjust="0"/>
  </p:normalViewPr>
  <p:slideViewPr>
    <p:cSldViewPr snapToGrid="0">
      <p:cViewPr varScale="1">
        <p:scale>
          <a:sx n="92" d="100"/>
          <a:sy n="92" d="100"/>
        </p:scale>
        <p:origin x="184" y="130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Controller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Controller Design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Feedback </a:t>
            </a:r>
            <a:r>
              <a:rPr lang="de-DE" dirty="0" err="1"/>
              <a:t>principles</a:t>
            </a:r>
            <a:endParaRPr lang="de-DE" dirty="0"/>
          </a:p>
          <a:p>
            <a:r>
              <a:rPr lang="de-DE" dirty="0" err="1"/>
              <a:t>Setpoint</a:t>
            </a:r>
            <a:r>
              <a:rPr lang="de-DE" dirty="0"/>
              <a:t> vs. </a:t>
            </a:r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  <a:p>
            <a:r>
              <a:rPr lang="de-DE" dirty="0"/>
              <a:t>PID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rules</a:t>
            </a:r>
            <a:endParaRPr lang="de-DE" dirty="0"/>
          </a:p>
          <a:p>
            <a:r>
              <a:rPr lang="de-DE" dirty="0" err="1"/>
              <a:t>Sensitivity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3884354-B382-326C-7194-9438A57D59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The Control Design Problem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3448B99-0146-9FDA-DCE6-91B3DD16F9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Given a plant</a:t>
            </a:r>
          </a:p>
          <a:p>
            <a:r>
              <a:rPr lang="de-DE" dirty="0"/>
              <a:t>Find a </a:t>
            </a:r>
            <a:r>
              <a:rPr lang="de-DE" dirty="0" err="1"/>
              <a:t>controller</a:t>
            </a:r>
            <a:endParaRPr lang="de-DE" dirty="0"/>
          </a:p>
          <a:p>
            <a:r>
              <a:rPr lang="de-DE" dirty="0" err="1"/>
              <a:t>Meet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and </a:t>
            </a:r>
            <a:r>
              <a:rPr lang="de-DE" dirty="0" err="1"/>
              <a:t>robustness</a:t>
            </a:r>
            <a:r>
              <a:rPr lang="de-DE" dirty="0"/>
              <a:t> </a:t>
            </a:r>
            <a:r>
              <a:rPr lang="de-DE" dirty="0" err="1"/>
              <a:t>requirements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6434F4F-A65D-574A-7F0A-C15CE21CB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55340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6CA28D-C00B-313D-86D7-84BE23D2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Feedback Control </a:t>
            </a:r>
            <a:r>
              <a:rPr lang="de-DE" dirty="0" err="1"/>
              <a:t>Principles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441440B-2A4C-FDB4-9214-69A27D10F9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Error </a:t>
            </a:r>
            <a:r>
              <a:rPr lang="de-DE" dirty="0" err="1"/>
              <a:t>correction</a:t>
            </a:r>
            <a:endParaRPr lang="de-DE" dirty="0"/>
          </a:p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  <a:p>
            <a:r>
              <a:rPr lang="de-DE" dirty="0"/>
              <a:t>Trade-offs </a:t>
            </a:r>
            <a:r>
              <a:rPr lang="de-DE" dirty="0" err="1"/>
              <a:t>unavoidable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009B204-AD24-CD08-A21E-0BA7CB9F5C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2864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A7AA7F-0AD3-029A-CD2C-81DECBA42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Setpoint</a:t>
            </a:r>
            <a:r>
              <a:rPr lang="de-DE" dirty="0"/>
              <a:t> Tracking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D876B9F-EBF9-6B58-689C-B456374208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reference</a:t>
            </a:r>
            <a:r>
              <a:rPr lang="de-DE" dirty="0"/>
              <a:t> </a:t>
            </a:r>
            <a:r>
              <a:rPr lang="de-DE" dirty="0" err="1"/>
              <a:t>changes</a:t>
            </a:r>
            <a:endParaRPr lang="de-DE" dirty="0"/>
          </a:p>
          <a:p>
            <a:r>
              <a:rPr lang="de-DE" dirty="0"/>
              <a:t>Focus on </a:t>
            </a:r>
            <a:r>
              <a:rPr lang="de-DE" dirty="0" err="1"/>
              <a:t>speed</a:t>
            </a:r>
            <a:r>
              <a:rPr lang="de-DE" dirty="0"/>
              <a:t> and </a:t>
            </a:r>
            <a:r>
              <a:rPr lang="de-DE" dirty="0" err="1"/>
              <a:t>accuracy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5175CAB-F6C3-5C88-A058-0446BBC5C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40228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D6CDA-5613-13B6-A12F-F964112C8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Disturbance</a:t>
            </a:r>
            <a:r>
              <a:rPr lang="de-DE" dirty="0"/>
              <a:t> </a:t>
            </a:r>
            <a:r>
              <a:rPr lang="de-DE" dirty="0" err="1"/>
              <a:t>Rejection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988EF8-7026-5678-C939-1A00A4DDA1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Response </a:t>
            </a:r>
            <a:r>
              <a:rPr lang="de-DE" dirty="0" err="1"/>
              <a:t>to</a:t>
            </a:r>
            <a:r>
              <a:rPr lang="de-DE" dirty="0"/>
              <a:t> external </a:t>
            </a:r>
            <a:r>
              <a:rPr lang="de-DE" dirty="0" err="1"/>
              <a:t>disturbances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conflicting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tracking</a:t>
            </a:r>
            <a:r>
              <a:rPr lang="de-DE" dirty="0"/>
              <a:t> </a:t>
            </a:r>
            <a:r>
              <a:rPr lang="de-DE" dirty="0" err="1"/>
              <a:t>performance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C235B7E-4A8E-FB18-44F1-A35F4584B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6405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E29E56-0FF9-E0B7-3138-7B1645C6FC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PID Tuning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61B2717-D9C9-04E4-EF9E-1E5F96C4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Choose</a:t>
            </a:r>
            <a:r>
              <a:rPr lang="de-DE" dirty="0"/>
              <a:t> </a:t>
            </a:r>
            <a:r>
              <a:rPr lang="de-DE" dirty="0" err="1"/>
              <a:t>controller</a:t>
            </a:r>
            <a:r>
              <a:rPr lang="de-DE" dirty="0"/>
              <a:t> </a:t>
            </a:r>
            <a:r>
              <a:rPr lang="de-DE" dirty="0" err="1"/>
              <a:t>parameters</a:t>
            </a:r>
            <a:endParaRPr lang="de-DE" dirty="0"/>
          </a:p>
          <a:p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vs</a:t>
            </a:r>
            <a:r>
              <a:rPr lang="de-DE" dirty="0"/>
              <a:t> model-</a:t>
            </a:r>
            <a:r>
              <a:rPr lang="de-DE" dirty="0" err="1"/>
              <a:t>based</a:t>
            </a:r>
            <a:r>
              <a:rPr lang="de-DE" dirty="0"/>
              <a:t> </a:t>
            </a:r>
            <a:r>
              <a:rPr lang="de-DE" dirty="0" err="1"/>
              <a:t>approaches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9859E6D-0626-61A0-47B8-BA89EE898E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76941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BF6517-6984-9407-6B74-9C4B4219E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Ziegler–Nichols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2DFD6F6-7882-2454-DA98-53A8C188E0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gain</a:t>
            </a:r>
            <a:r>
              <a:rPr lang="de-DE" dirty="0"/>
              <a:t> </a:t>
            </a:r>
            <a:r>
              <a:rPr lang="de-DE" dirty="0" err="1"/>
              <a:t>until</a:t>
            </a:r>
            <a:r>
              <a:rPr lang="de-DE" dirty="0"/>
              <a:t> </a:t>
            </a:r>
            <a:r>
              <a:rPr lang="de-DE" dirty="0" err="1"/>
              <a:t>oscillation</a:t>
            </a:r>
            <a:endParaRPr lang="de-DE" dirty="0"/>
          </a:p>
          <a:p>
            <a:r>
              <a:rPr lang="de-DE" dirty="0"/>
              <a:t>Use </a:t>
            </a:r>
            <a:r>
              <a:rPr lang="de-DE" dirty="0" err="1"/>
              <a:t>empirical</a:t>
            </a:r>
            <a:r>
              <a:rPr lang="de-DE" dirty="0"/>
              <a:t> </a:t>
            </a:r>
            <a:r>
              <a:rPr lang="de-DE" dirty="0" err="1"/>
              <a:t>tuning</a:t>
            </a:r>
            <a:r>
              <a:rPr lang="de-DE" dirty="0"/>
              <a:t> </a:t>
            </a:r>
            <a:r>
              <a:rPr lang="de-DE" dirty="0" err="1"/>
              <a:t>formulas</a:t>
            </a:r>
            <a:endParaRPr lang="de-DE" dirty="0"/>
          </a:p>
          <a:p>
            <a:r>
              <a:rPr lang="de-DE" dirty="0"/>
              <a:t>Fast but aggressive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F4D5E92-4A90-3146-A07C-C0441240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200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638CB1-1CE5-2C1D-4952-D96FCAE871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T-</a:t>
            </a:r>
            <a:r>
              <a:rPr lang="de-DE" dirty="0" err="1"/>
              <a:t>Sum</a:t>
            </a:r>
            <a:r>
              <a:rPr lang="de-DE" dirty="0"/>
              <a:t> Method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1D58EA8-D03B-3C93-1C0F-F98C41CE63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Based</a:t>
            </a:r>
            <a:r>
              <a:rPr lang="de-DE" dirty="0"/>
              <a:t> on </a:t>
            </a:r>
            <a:r>
              <a:rPr lang="de-DE" dirty="0" err="1"/>
              <a:t>process</a:t>
            </a:r>
            <a:r>
              <a:rPr lang="de-DE" dirty="0"/>
              <a:t> time </a:t>
            </a:r>
            <a:r>
              <a:rPr lang="de-DE" dirty="0" err="1"/>
              <a:t>constants</a:t>
            </a:r>
            <a:endParaRPr lang="de-DE" dirty="0"/>
          </a:p>
          <a:p>
            <a:r>
              <a:rPr lang="de-DE" dirty="0"/>
              <a:t>More </a:t>
            </a:r>
            <a:r>
              <a:rPr lang="de-DE" dirty="0" err="1"/>
              <a:t>conservative</a:t>
            </a:r>
            <a:r>
              <a:rPr lang="de-DE" dirty="0"/>
              <a:t> </a:t>
            </a:r>
            <a:r>
              <a:rPr lang="de-DE" dirty="0" err="1"/>
              <a:t>tuning</a:t>
            </a:r>
            <a:endParaRPr lang="de-DE" dirty="0"/>
          </a:p>
          <a:p>
            <a:r>
              <a:rPr lang="de-DE" dirty="0" err="1"/>
              <a:t>Often</a:t>
            </a:r>
            <a:r>
              <a:rPr lang="de-DE" dirty="0"/>
              <a:t> </a:t>
            </a:r>
            <a:r>
              <a:rPr lang="de-DE" dirty="0" err="1"/>
              <a:t>better</a:t>
            </a:r>
            <a:r>
              <a:rPr lang="de-DE" dirty="0"/>
              <a:t> </a:t>
            </a:r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F171FE-3A4D-6228-1060-0E5E0C5439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00649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C1DDF4-C472-55A2-F436-F041165734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F075915-A5A5-515D-255C-C8B0D195F9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Measure</a:t>
            </a:r>
            <a:r>
              <a:rPr lang="de-DE" dirty="0"/>
              <a:t> 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disturbances</a:t>
            </a:r>
            <a:r>
              <a:rPr lang="de-DE" dirty="0"/>
              <a:t> and </a:t>
            </a:r>
            <a:r>
              <a:rPr lang="de-DE" dirty="0" err="1"/>
              <a:t>uncertainties</a:t>
            </a:r>
            <a:endParaRPr lang="de-DE" dirty="0"/>
          </a:p>
          <a:p>
            <a:r>
              <a:rPr lang="de-DE" dirty="0"/>
              <a:t>Low </a:t>
            </a:r>
            <a:r>
              <a:rPr lang="de-DE" dirty="0" err="1"/>
              <a:t>sensitivity</a:t>
            </a:r>
            <a:r>
              <a:rPr lang="de-DE" dirty="0"/>
              <a:t> </a:t>
            </a:r>
            <a:r>
              <a:rPr lang="de-DE" dirty="0" err="1"/>
              <a:t>desired</a:t>
            </a:r>
            <a:r>
              <a:rPr lang="de-DE" dirty="0"/>
              <a:t> at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frequencies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37D1837-255E-6C10-A17B-BA21CBEB8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67572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07BF0F-5141-ACA9-F2A6-7743A6689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Robustness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4D88D4B-F47C-C5F8-466E-E710F50AD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Performance </a:t>
            </a:r>
            <a:r>
              <a:rPr lang="de-DE" dirty="0" err="1"/>
              <a:t>under</a:t>
            </a:r>
            <a:r>
              <a:rPr lang="de-DE" dirty="0"/>
              <a:t> </a:t>
            </a:r>
            <a:r>
              <a:rPr lang="de-DE" dirty="0" err="1"/>
              <a:t>uncertainty</a:t>
            </a:r>
            <a:endParaRPr lang="de-DE" dirty="0"/>
          </a:p>
          <a:p>
            <a:r>
              <a:rPr lang="de-DE" dirty="0"/>
              <a:t>Trade-off </a:t>
            </a:r>
            <a:r>
              <a:rPr lang="de-DE" dirty="0" err="1"/>
              <a:t>with</a:t>
            </a:r>
            <a:r>
              <a:rPr lang="de-DE" dirty="0"/>
              <a:t> optimal </a:t>
            </a:r>
            <a:r>
              <a:rPr lang="de-DE" dirty="0" err="1"/>
              <a:t>performance</a:t>
            </a:r>
            <a:endParaRPr lang="de-DE" dirty="0"/>
          </a:p>
          <a:p>
            <a:r>
              <a:rPr lang="de-DE" dirty="0"/>
              <a:t>Essential in real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46E7BA-9A8D-15EB-A0A0-71D8F00A4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92820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Macintosh PowerPoint</Application>
  <PresentationFormat>Breitbild</PresentationFormat>
  <Paragraphs>65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Controller Design</vt:lpstr>
      <vt:lpstr>Course Schedule</vt:lpstr>
      <vt:lpstr>Controller Design</vt:lpstr>
      <vt:lpstr>The Control Design Problem</vt:lpstr>
      <vt:lpstr>Feedback Control Principles</vt:lpstr>
      <vt:lpstr>Setpoint Tracking</vt:lpstr>
      <vt:lpstr>Disturbance Rejection</vt:lpstr>
      <vt:lpstr>PID Tuning</vt:lpstr>
      <vt:lpstr>Ziegler–Nichols Method</vt:lpstr>
      <vt:lpstr>T-Sum Method</vt:lpstr>
      <vt:lpstr>Sensitivity Functions</vt:lpstr>
      <vt:lpstr>Robustness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48</cp:revision>
  <dcterms:created xsi:type="dcterms:W3CDTF">2025-01-08T09:27:30Z</dcterms:created>
  <dcterms:modified xsi:type="dcterms:W3CDTF">2026-01-29T11:02:06Z</dcterms:modified>
</cp:coreProperties>
</file>
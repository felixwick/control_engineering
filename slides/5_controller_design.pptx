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65" r:id="rId3"/>
    <p:sldId id="266" r:id="rId4"/>
    <p:sldId id="267" r:id="rId5"/>
    <p:sldId id="299" r:id="rId6"/>
    <p:sldId id="268" r:id="rId7"/>
    <p:sldId id="271" r:id="rId8"/>
    <p:sldId id="278" r:id="rId9"/>
    <p:sldId id="269" r:id="rId10"/>
    <p:sldId id="270" r:id="rId11"/>
    <p:sldId id="274" r:id="rId12"/>
    <p:sldId id="296" r:id="rId13"/>
    <p:sldId id="279" r:id="rId14"/>
    <p:sldId id="275" r:id="rId15"/>
    <p:sldId id="298" r:id="rId16"/>
    <p:sldId id="300" r:id="rId17"/>
    <p:sldId id="306" r:id="rId18"/>
    <p:sldId id="280" r:id="rId19"/>
    <p:sldId id="276" r:id="rId20"/>
    <p:sldId id="301" r:id="rId21"/>
    <p:sldId id="302" r:id="rId22"/>
    <p:sldId id="303" r:id="rId23"/>
    <p:sldId id="277" r:id="rId24"/>
    <p:sldId id="305" r:id="rId25"/>
    <p:sldId id="293" r:id="rId26"/>
    <p:sldId id="272" r:id="rId27"/>
    <p:sldId id="294" r:id="rId28"/>
    <p:sldId id="273" r:id="rId29"/>
    <p:sldId id="295" r:id="rId30"/>
    <p:sldId id="323" r:id="rId31"/>
    <p:sldId id="325" r:id="rId32"/>
    <p:sldId id="327" r:id="rId33"/>
    <p:sldId id="326" r:id="rId34"/>
    <p:sldId id="32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29"/>
    <p:restoredTop sz="95028" autoAdjust="0"/>
  </p:normalViewPr>
  <p:slideViewPr>
    <p:cSldViewPr snapToGrid="0">
      <p:cViewPr varScale="1">
        <p:scale>
          <a:sx n="125" d="100"/>
          <a:sy n="125" d="100"/>
        </p:scale>
        <p:origin x="160" y="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Loop </a:t>
            </a:r>
            <a:r>
              <a:rPr lang="de-DE" dirty="0" err="1"/>
              <a:t>shaping</a:t>
            </a:r>
            <a:endParaRPr lang="de-DE" dirty="0"/>
          </a:p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Ziegler–Nichols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performance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27739-7E72-9FA2-5057-A43A70B4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of</a:t>
            </a:r>
            <a:r>
              <a:rPr lang="de-DE" dirty="0"/>
              <a:t> Controller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D6983-69BE-5B16-4DF7-74A10458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Stabilization</a:t>
            </a:r>
            <a:r>
              <a:rPr lang="de-DE" dirty="0"/>
              <a:t>: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plants</a:t>
            </a:r>
          </a:p>
          <a:p>
            <a:r>
              <a:rPr lang="de-DE" dirty="0"/>
              <a:t>Reference </a:t>
            </a:r>
            <a:r>
              <a:rPr lang="de-DE" dirty="0" err="1"/>
              <a:t>tracking</a:t>
            </a:r>
            <a:r>
              <a:rPr lang="de-DE" dirty="0"/>
              <a:t>: </a:t>
            </a:r>
            <a:r>
              <a:rPr lang="de-DE" dirty="0" err="1"/>
              <a:t>accurate</a:t>
            </a:r>
            <a:r>
              <a:rPr lang="de-DE" dirty="0"/>
              <a:t> and fast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: </a:t>
            </a:r>
            <a:r>
              <a:rPr lang="de-DE" dirty="0" err="1"/>
              <a:t>attenuate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: </a:t>
            </a:r>
            <a:r>
              <a:rPr lang="de-DE" dirty="0" err="1"/>
              <a:t>tolerate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uncertainties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</a:t>
            </a:r>
            <a:r>
              <a:rPr lang="de-DE" dirty="0" err="1"/>
              <a:t>acceptable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08058E-6BFB-C080-325F-8502480B3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8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Error </a:t>
                </a:r>
                <a:r>
                  <a:rPr lang="de-DE" sz="2600" dirty="0" err="1"/>
                  <a:t>correction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computes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setpoint</a:t>
                </a:r>
                <a:r>
                  <a:rPr lang="de-DE" sz="2600" dirty="0"/>
                  <a:t>)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Negative </a:t>
                </a:r>
                <a:r>
                  <a:rPr lang="de-DE" sz="2600" dirty="0" err="1">
                    <a:sym typeface="Wingdings" pitchFamily="2" charset="2"/>
                  </a:rPr>
                  <a:t>feedback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(p</a:t>
                </a:r>
                <a:r>
                  <a:rPr lang="de-DE" sz="2600" dirty="0"/>
                  <a:t>ositive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increase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gain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but </a:t>
                </a:r>
                <a:r>
                  <a:rPr lang="de-DE" sz="2600" dirty="0" err="1"/>
                  <a:t>risks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Goal: </a:t>
                </a:r>
                <a:r>
                  <a:rPr lang="de-DE" sz="2400" dirty="0" err="1"/>
                  <a:t>determing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objectives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acceptable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rise</a:t>
                </a:r>
                <a:r>
                  <a:rPr lang="de-DE" sz="2400" dirty="0"/>
                  <a:t> time, limited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sufficient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Tuning </a:t>
                </a:r>
                <a:r>
                  <a:rPr lang="de-DE" sz="2400" dirty="0" err="1"/>
                  <a:t>approaches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model-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design (</a:t>
                </a:r>
                <a:r>
                  <a:rPr lang="de-DE" sz="2400" dirty="0" err="1"/>
                  <a:t>analytical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/>
              <a:t>Model-</a:t>
            </a:r>
            <a:r>
              <a:rPr lang="de-DE" sz="4300" dirty="0" err="1"/>
              <a:t>Based</a:t>
            </a:r>
            <a:r>
              <a:rPr lang="de-DE" sz="4300" dirty="0"/>
              <a:t> Control Design: Shape Loop </a:t>
            </a:r>
            <a:r>
              <a:rPr lang="de-DE" sz="4300" dirty="0" err="1"/>
              <a:t>Gain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design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settling</a:t>
                </a:r>
                <a:r>
                  <a:rPr lang="de-DE" sz="2400" dirty="0"/>
                  <a:t> time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9E5E39F-CB33-356C-B48A-BA33D0E920DA}"/>
              </a:ext>
            </a:extLst>
          </p:cNvPr>
          <p:cNvSpPr txBox="1"/>
          <p:nvPr/>
        </p:nvSpPr>
        <p:spPr>
          <a:xfrm>
            <a:off x="9015525" y="2540000"/>
            <a:ext cx="2045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known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1DFF41A-EFCF-9144-E5EC-6978D16EEE94}"/>
              </a:ext>
            </a:extLst>
          </p:cNvPr>
          <p:cNvCxnSpPr/>
          <p:nvPr/>
        </p:nvCxnSpPr>
        <p:spPr>
          <a:xfrm flipH="1" flipV="1">
            <a:off x="8483600" y="2174240"/>
            <a:ext cx="497840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90EC0DD-85C4-B538-FA64-C2B212509A43}"/>
              </a:ext>
            </a:extLst>
          </p:cNvPr>
          <p:cNvGrpSpPr/>
          <p:nvPr/>
        </p:nvGrpSpPr>
        <p:grpSpPr>
          <a:xfrm>
            <a:off x="5617647" y="3134593"/>
            <a:ext cx="5985905" cy="1092444"/>
            <a:chOff x="6096000" y="665713"/>
            <a:chExt cx="5985905" cy="1092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/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6D4BDC87-B898-F891-25CD-28D21B411E65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093526" y="965792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1CD4829C-A820-652C-FB27-6E0C3DF1E2B2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911" y="1010178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/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545" r="-17500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4660056D-AEFB-59A2-497E-40B6FD9985B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137909" y="1054563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8F6DD79A-D40B-80BB-8A2B-DCFDF39CD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87019" y="967348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9D8D50DB-A1BF-3B0E-402E-CA77D5E7D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32019" y="1758157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1AFDA25-DA1D-1DD2-C75D-88F58BBFD556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132019" y="1057347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45D59F2-9760-609C-07DD-A27189EAB1B5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177019" y="10123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955F69E-23D3-93B7-71C2-57A12381B58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248031" y="1010178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/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/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/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8CC5D31-9522-D856-A4A5-BAF1E4CF1BA7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87922" y="1011001"/>
              <a:ext cx="700361" cy="35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EC0F9F1-0015-5965-47BF-E4318C1E3155}"/>
                </a:ext>
              </a:extLst>
            </p:cNvPr>
            <p:cNvCxnSpPr/>
            <p:nvPr/>
          </p:nvCxnSpPr>
          <p:spPr>
            <a:xfrm>
              <a:off x="10408352" y="1012592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1086" t="-33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7A95552D-904F-B389-CE84-D1BBBB8B8484}"/>
              </a:ext>
            </a:extLst>
          </p:cNvPr>
          <p:cNvGrpSpPr/>
          <p:nvPr/>
        </p:nvGrpSpPr>
        <p:grpSpPr>
          <a:xfrm>
            <a:off x="6175617" y="891442"/>
            <a:ext cx="5985905" cy="1572130"/>
            <a:chOff x="6175617" y="891442"/>
            <a:chExt cx="5985905" cy="15721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/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8239D229-46C4-E663-D4A6-B90A3FF87E0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173143" y="1671207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4966CDF-EB33-C9F6-371C-6F9B4973ED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17528" y="1715593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/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348" r="-17500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A4710D30-8E1F-D7E3-0844-260260CDCE60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217526" y="1759978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EFAABA1A-8ED7-AD20-EB00-8F5752D05E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6636" y="1672763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ABBA0D3F-8CC1-B4F0-EB9C-1EDC5DE137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636" y="2463572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711C6C9E-71ED-1B9A-4305-A6F9C116C955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211636" y="1762762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5CB80201-5559-1048-D8DC-B18C2F0D5B21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256636" y="17177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D7C5CE0-50C1-F7F3-2631-2E278D1C9181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327648" y="17155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/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2195" t="-4545" r="-14634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/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/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ing 18">
              <a:extLst>
                <a:ext uri="{FF2B5EF4-FFF2-40B4-BE49-F238E27FC236}">
                  <a16:creationId xmlns:a16="http://schemas.microsoft.com/office/drawing/2014/main" id="{AF8FA97F-FAA6-F0CE-0060-EFC41EA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7933" y="1674439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BD94C35-66FD-B2D2-3741-E7CE98056C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634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814D1B0B-3568-DDC9-5E6F-9A1CFA3C9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67539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BFB843DB-3EA2-1E8F-7B7D-451F919CE5E1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212935" y="1178929"/>
              <a:ext cx="0" cy="4955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/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blipFill>
                  <a:blip r:embed="rId8"/>
                  <a:stretch>
                    <a:fillRect l="-25000" t="-4348" r="-95833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84D9AA4C-84AA-D550-A080-3EA3B5B1AFC1}"/>
                </a:ext>
              </a:extLst>
            </p:cNvPr>
            <p:cNvCxnSpPr/>
            <p:nvPr/>
          </p:nvCxnSpPr>
          <p:spPr>
            <a:xfrm>
              <a:off x="10487969" y="1718007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Measure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uncertainties</a:t>
                </a:r>
                <a:r>
                  <a:rPr lang="de-DE" sz="2600" dirty="0"/>
                  <a:t> on 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system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r>
                  <a:rPr lang="de-DE" sz="2600" dirty="0" err="1"/>
                  <a:t>Complementary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propagate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loop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03DF5-497F-9685-4780-2C2A9C3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added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sensor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Noise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interpreted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Negative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subtraction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Large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(high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/>
                  <a:t> required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noise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sensitivity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D3A9EC-01FB-096C-BF0A-391050827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/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Verbindungsstelle 25">
            <a:extLst>
              <a:ext uri="{FF2B5EF4-FFF2-40B4-BE49-F238E27FC236}">
                <a16:creationId xmlns:a16="http://schemas.microsoft.com/office/drawing/2014/main" id="{DC476DC1-6D8C-3E0E-4504-B152AD6F3215}"/>
              </a:ext>
            </a:extLst>
          </p:cNvPr>
          <p:cNvSpPr>
            <a:spLocks noChangeAspect="1"/>
          </p:cNvSpPr>
          <p:nvPr/>
        </p:nvSpPr>
        <p:spPr>
          <a:xfrm flipV="1">
            <a:off x="11173143" y="1010807"/>
            <a:ext cx="88772" cy="88771"/>
          </a:xfrm>
          <a:prstGeom prst="flowChartConnector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8B8B85-DAF0-120E-E031-C3A7DEF8DC33}"/>
              </a:ext>
            </a:extLst>
          </p:cNvPr>
          <p:cNvCxnSpPr>
            <a:cxnSpLocks/>
          </p:cNvCxnSpPr>
          <p:nvPr/>
        </p:nvCxnSpPr>
        <p:spPr>
          <a:xfrm>
            <a:off x="11217528" y="1055193"/>
            <a:ext cx="828436" cy="15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/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blipFill>
                <a:blip r:embed="rId4"/>
                <a:stretch>
                  <a:fillRect l="-10000" t="-4348" r="-17500" b="-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2A565038-CF4B-7B53-8E55-9481A31BEB2A}"/>
              </a:ext>
            </a:extLst>
          </p:cNvPr>
          <p:cNvCxnSpPr>
            <a:cxnSpLocks/>
            <a:stCxn id="26" idx="0"/>
          </p:cNvCxnSpPr>
          <p:nvPr/>
        </p:nvCxnSpPr>
        <p:spPr>
          <a:xfrm flipH="1">
            <a:off x="11217526" y="1099578"/>
            <a:ext cx="3" cy="703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ng 29">
            <a:extLst>
              <a:ext uri="{FF2B5EF4-FFF2-40B4-BE49-F238E27FC236}">
                <a16:creationId xmlns:a16="http://schemas.microsoft.com/office/drawing/2014/main" id="{1911B839-EF5E-2916-3ED5-EAC2389636C9}"/>
              </a:ext>
            </a:extLst>
          </p:cNvPr>
          <p:cNvSpPr>
            <a:spLocks noChangeAspect="1"/>
          </p:cNvSpPr>
          <p:nvPr/>
        </p:nvSpPr>
        <p:spPr>
          <a:xfrm>
            <a:off x="7166636" y="101236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31" name="Gerade Verbindung 30">
            <a:extLst>
              <a:ext uri="{FF2B5EF4-FFF2-40B4-BE49-F238E27FC236}">
                <a16:creationId xmlns:a16="http://schemas.microsoft.com/office/drawing/2014/main" id="{31CC7090-8E9B-7FE4-0962-E1F996138469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7211636" y="1799043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3907DA5-A27D-A3FA-DBAB-3127943698E0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7211636" y="1102362"/>
            <a:ext cx="0" cy="7008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655202-4EEF-B152-465F-E46955F321C9}"/>
              </a:ext>
            </a:extLst>
          </p:cNvPr>
          <p:cNvCxnSpPr>
            <a:stCxn id="30" idx="6"/>
            <a:endCxn id="25" idx="1"/>
          </p:cNvCxnSpPr>
          <p:nvPr/>
        </p:nvCxnSpPr>
        <p:spPr>
          <a:xfrm>
            <a:off x="7256636" y="1057364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5CAF6B7-87B8-E9D7-35D4-7079E948EE49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327648" y="1055193"/>
            <a:ext cx="838988" cy="2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/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blipFill>
                <a:blip r:embed="rId5"/>
                <a:stretch>
                  <a:fillRect l="-12195" t="-4545" r="-14634" b="-363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/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blipFill>
                <a:blip r:embed="rId6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/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8F3D98C-767C-3A7F-8DE6-75AEA00A14FE}"/>
              </a:ext>
            </a:extLst>
          </p:cNvPr>
          <p:cNvCxnSpPr/>
          <p:nvPr/>
        </p:nvCxnSpPr>
        <p:spPr>
          <a:xfrm>
            <a:off x="10487969" y="1057607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ED32C9D-B1B0-5133-6006-21CFFA451EA6}"/>
              </a:ext>
            </a:extLst>
          </p:cNvPr>
          <p:cNvCxnSpPr/>
          <p:nvPr/>
        </p:nvCxnSpPr>
        <p:spPr>
          <a:xfrm>
            <a:off x="8873181" y="1055192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5B9B77-FBF7-7A7B-652C-F217225A1C1B}"/>
              </a:ext>
            </a:extLst>
          </p:cNvPr>
          <p:cNvCxnSpPr>
            <a:cxnSpLocks/>
          </p:cNvCxnSpPr>
          <p:nvPr/>
        </p:nvCxnSpPr>
        <p:spPr>
          <a:xfrm flipV="1">
            <a:off x="9224741" y="1833882"/>
            <a:ext cx="0" cy="462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/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ing 54">
            <a:extLst>
              <a:ext uri="{FF2B5EF4-FFF2-40B4-BE49-F238E27FC236}">
                <a16:creationId xmlns:a16="http://schemas.microsoft.com/office/drawing/2014/main" id="{DC1390B6-3D90-A7B7-E290-336C18F32D30}"/>
              </a:ext>
            </a:extLst>
          </p:cNvPr>
          <p:cNvSpPr>
            <a:spLocks noChangeAspect="1"/>
          </p:cNvSpPr>
          <p:nvPr/>
        </p:nvSpPr>
        <p:spPr>
          <a:xfrm>
            <a:off x="9178316" y="175404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62" name="Gerade Verbindung 61">
            <a:extLst>
              <a:ext uri="{FF2B5EF4-FFF2-40B4-BE49-F238E27FC236}">
                <a16:creationId xmlns:a16="http://schemas.microsoft.com/office/drawing/2014/main" id="{BD8DBFBC-C1FB-C571-AF0D-00E5BEDFD42D}"/>
              </a:ext>
            </a:extLst>
          </p:cNvPr>
          <p:cNvCxnSpPr>
            <a:cxnSpLocks/>
          </p:cNvCxnSpPr>
          <p:nvPr/>
        </p:nvCxnSpPr>
        <p:spPr>
          <a:xfrm flipH="1">
            <a:off x="9250846" y="1804125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8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near</a:t>
                </a:r>
                <a:r>
                  <a:rPr lang="de-DE" sz="2400" dirty="0"/>
                  <a:t> 1 (and vice </a:t>
                </a:r>
                <a:r>
                  <a:rPr lang="de-DE" sz="2400" dirty="0" err="1"/>
                  <a:t>versa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Improving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inevitably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design </a:t>
                </a:r>
                <a:r>
                  <a:rPr lang="de-DE" sz="2400" dirty="0" err="1"/>
                  <a:t>goal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Low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large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High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suppress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Controller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designed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r="-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/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disturbances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output</a:t>
                </a:r>
                <a:endParaRPr lang="de-DE" sz="2200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noise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propagate</a:t>
                </a:r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blipFill>
                <a:blip r:embed="rId3"/>
                <a:stretch>
                  <a:fillRect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Describes</a:t>
            </a:r>
            <a:r>
              <a:rPr lang="de-DE" sz="2200" dirty="0"/>
              <a:t> </a:t>
            </a:r>
            <a:r>
              <a:rPr lang="de-DE" sz="2200" dirty="0" err="1"/>
              <a:t>how</a:t>
            </a:r>
            <a:r>
              <a:rPr lang="de-DE" sz="2200" dirty="0"/>
              <a:t> </a:t>
            </a:r>
            <a:r>
              <a:rPr lang="de-DE" sz="2200" dirty="0" err="1"/>
              <a:t>well</a:t>
            </a:r>
            <a:r>
              <a:rPr lang="de-DE" sz="2200" dirty="0"/>
              <a:t> a </a:t>
            </a:r>
            <a:r>
              <a:rPr lang="de-DE" sz="2200" dirty="0" err="1"/>
              <a:t>closed</a:t>
            </a:r>
            <a:r>
              <a:rPr lang="de-DE" sz="2200" dirty="0"/>
              <a:t>-loop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tolerates</a:t>
            </a:r>
            <a:r>
              <a:rPr lang="de-DE" sz="2200" dirty="0"/>
              <a:t> </a:t>
            </a:r>
            <a:r>
              <a:rPr lang="de-DE" sz="2200" dirty="0" err="1"/>
              <a:t>modeling</a:t>
            </a:r>
            <a:r>
              <a:rPr lang="de-DE" sz="2200" dirty="0"/>
              <a:t> </a:t>
            </a:r>
            <a:r>
              <a:rPr lang="de-DE" sz="2200" dirty="0" err="1"/>
              <a:t>uncertainties</a:t>
            </a:r>
            <a:r>
              <a:rPr lang="de-DE" sz="2200" dirty="0"/>
              <a:t> in </a:t>
            </a:r>
            <a:r>
              <a:rPr lang="de-DE" sz="2200" dirty="0" err="1"/>
              <a:t>the</a:t>
            </a:r>
            <a:r>
              <a:rPr lang="de-DE" sz="2200" dirty="0"/>
              <a:t> plant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respect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: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stability</a:t>
            </a:r>
            <a:r>
              <a:rPr lang="de-DE" sz="2200" dirty="0"/>
              <a:t> (</a:t>
            </a:r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assessed</a:t>
            </a:r>
            <a:r>
              <a:rPr lang="de-DE" sz="2200" dirty="0"/>
              <a:t> </a:t>
            </a:r>
            <a:r>
              <a:rPr lang="de-DE" sz="2200" dirty="0" err="1"/>
              <a:t>using</a:t>
            </a:r>
            <a:r>
              <a:rPr lang="de-DE" sz="2200" dirty="0"/>
              <a:t> </a:t>
            </a:r>
            <a:r>
              <a:rPr lang="de-DE" sz="2200" dirty="0" err="1"/>
              <a:t>stability</a:t>
            </a:r>
            <a:r>
              <a:rPr lang="de-DE" sz="2200" dirty="0"/>
              <a:t> </a:t>
            </a:r>
            <a:r>
              <a:rPr lang="de-DE" sz="2200" dirty="0" err="1"/>
              <a:t>margins</a:t>
            </a:r>
            <a:r>
              <a:rPr lang="de-DE" sz="2200" dirty="0"/>
              <a:t>)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performance</a:t>
            </a:r>
            <a:r>
              <a:rPr lang="de-DE" sz="2200" dirty="0"/>
              <a:t> (</a:t>
            </a:r>
            <a:r>
              <a:rPr lang="de-DE" sz="2200" dirty="0" err="1"/>
              <a:t>maintaining</a:t>
            </a:r>
            <a:r>
              <a:rPr lang="de-DE" sz="2200" dirty="0"/>
              <a:t> </a:t>
            </a:r>
            <a:r>
              <a:rPr lang="de-DE" sz="2200" dirty="0" err="1"/>
              <a:t>acceptable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Performance-</a:t>
            </a:r>
            <a:r>
              <a:rPr lang="de-DE" sz="2200" dirty="0" err="1"/>
              <a:t>robustness</a:t>
            </a:r>
            <a:r>
              <a:rPr lang="de-DE" sz="2200" dirty="0"/>
              <a:t> trade-off:</a:t>
            </a:r>
          </a:p>
          <a:p>
            <a:r>
              <a:rPr lang="de-DE" sz="2200" dirty="0"/>
              <a:t>Aggressive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fast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 but </a:t>
            </a:r>
            <a:r>
              <a:rPr lang="de-DE" sz="2200" dirty="0" err="1"/>
              <a:t>reduced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(and </a:t>
            </a: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)</a:t>
            </a:r>
          </a:p>
          <a:p>
            <a:r>
              <a:rPr lang="de-DE" sz="2200" dirty="0" err="1"/>
              <a:t>Conservative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more</a:t>
            </a:r>
            <a:r>
              <a:rPr lang="de-DE" sz="2200" dirty="0"/>
              <a:t> robust but </a:t>
            </a:r>
            <a:r>
              <a:rPr lang="de-DE" sz="2200" dirty="0" err="1"/>
              <a:t>slower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/>
              <a:t>High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require</a:t>
            </a:r>
            <a:r>
              <a:rPr lang="de-DE" sz="2200" dirty="0"/>
              <a:t> high loop </a:t>
            </a:r>
            <a:r>
              <a:rPr lang="de-DE" sz="2200" dirty="0" err="1"/>
              <a:t>gain</a:t>
            </a:r>
            <a:r>
              <a:rPr lang="de-DE" sz="2200" dirty="0"/>
              <a:t>, </a:t>
            </a:r>
            <a:r>
              <a:rPr lang="de-DE" sz="2200" dirty="0" err="1"/>
              <a:t>which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reduce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and </a:t>
            </a:r>
            <a:r>
              <a:rPr lang="de-DE" sz="2200" dirty="0" err="1"/>
              <a:t>increase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DD4626-1390-72A2-6946-CD55277E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2E9C2-3384-2D6C-CF9D-67A577E2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design (Bode </a:t>
            </a:r>
            <a:r>
              <a:rPr lang="de-DE" dirty="0" err="1"/>
              <a:t>plots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Internal Model Control (IMC)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placement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788FDD-73F8-5BAF-AE2D-7022A3D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330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3BCF-1DD6-67BA-5C67-65D90ACCB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Bode </a:t>
                </a:r>
                <a:r>
                  <a:rPr lang="de-DE" sz="2600" dirty="0" err="1"/>
                  <a:t>plots</a:t>
                </a:r>
                <a:r>
                  <a:rPr lang="de-DE" sz="2600" dirty="0"/>
                  <a:t> (and </a:t>
                </a:r>
                <a:r>
                  <a:rPr lang="de-DE" sz="2600" dirty="0" err="1"/>
                  <a:t>sometimes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criterion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verification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tool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analyze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Design </a:t>
                </a:r>
                <a:r>
                  <a:rPr lang="de-DE" sz="2600" dirty="0" err="1"/>
                  <a:t>goal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margins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ensure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</a:t>
                </a:r>
                <a:r>
                  <a:rPr lang="de-DE" sz="2600" dirty="0" err="1"/>
                  <a:t>low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disturbance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rejection</a:t>
                </a:r>
                <a:r>
                  <a:rPr lang="de-DE" sz="2600" dirty="0"/>
                  <a:t>,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high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suppression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D4660-5222-7C99-A204-62F9B7D3E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43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F55CD-B31A-A3A9-512D-BA64E86E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Loop Shaping Workflow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Analyze plant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(</a:t>
                </a:r>
                <a:r>
                  <a:rPr lang="de-DE" dirty="0" err="1"/>
                  <a:t>bandwidth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endParaRPr lang="de-DE" dirty="0"/>
              </a:p>
              <a:p>
                <a:r>
                  <a:rPr lang="de-DE" dirty="0"/>
                  <a:t>Add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improve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r>
                  <a:rPr lang="de-DE" dirty="0"/>
                  <a:t>Add lag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endParaRPr lang="de-DE" dirty="0"/>
              </a:p>
              <a:p>
                <a:r>
                  <a:rPr lang="de-DE" dirty="0" err="1"/>
                  <a:t>Verify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r>
                  <a:rPr lang="de-DE" dirty="0"/>
                  <a:t> and time-domain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6926A6-7020-65D5-2C2D-421BE537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050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Lead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bandwidth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Lag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low-frequency</a:t>
            </a:r>
            <a:r>
              <a:rPr lang="de-DE" dirty="0"/>
              <a:t>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on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Analyze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R</a:t>
                </a:r>
                <a:r>
                  <a:rPr lang="de-DE" dirty="0"/>
                  <a:t>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shows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affects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place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r>
                  <a:rPr lang="de-DE" dirty="0"/>
                  <a:t> (</a:t>
                </a:r>
                <a:r>
                  <a:rPr lang="de-DE" dirty="0" err="1"/>
                  <a:t>settling</a:t>
                </a:r>
                <a:r>
                  <a:rPr lang="de-DE" dirty="0"/>
                  <a:t> time,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,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/>
                  <a:t>Poles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right</a:t>
                </a:r>
                <a:r>
                  <a:rPr lang="de-DE" dirty="0"/>
                  <a:t> half-plane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Poles </a:t>
                </a: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7874B9-A555-E4BA-55C0-71677528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IMC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Invert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then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get</a:t>
                </a:r>
                <a:r>
                  <a:rPr lang="de-DE" sz="2400" dirty="0"/>
                  <a:t> a robust and </a:t>
                </a:r>
                <a:r>
                  <a:rPr lang="de-DE" sz="2400" dirty="0" err="1"/>
                  <a:t>tunable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b="0" dirty="0"/>
                  <a:t>,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with</a:t>
                </a:r>
                <a:r>
                  <a:rPr lang="de-DE" sz="2400" dirty="0"/>
                  <a:t>  a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-pass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, 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cancels</a:t>
                </a:r>
                <a:r>
                  <a:rPr lang="de-DE" sz="2400" dirty="0"/>
                  <a:t> plant </a:t>
                </a:r>
                <a:r>
                  <a:rPr lang="de-DE" sz="2400" dirty="0" err="1"/>
                  <a:t>dynamics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limits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robustness</a:t>
                </a:r>
                <a:r>
                  <a:rPr lang="de-DE" sz="24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de-DE" sz="2400" dirty="0"/>
                  <a:t>: tuning </a:t>
                </a:r>
                <a:r>
                  <a:rPr lang="de-DE" sz="2400" dirty="0" err="1"/>
                  <a:t>parameter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controlling</a:t>
                </a:r>
                <a:r>
                  <a:rPr lang="de-DE" sz="2400" dirty="0"/>
                  <a:t> trade-off</a:t>
                </a:r>
                <a:br>
                  <a:rPr lang="de-DE" sz="2400" dirty="0"/>
                </a:b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behaves</a:t>
                </a:r>
                <a:r>
                  <a:rPr lang="de-DE" sz="2400" dirty="0"/>
                  <a:t> like a simple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first-order: smooth,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overshoot</a:t>
                </a:r>
                <a:endParaRPr lang="de-DE" sz="2400" dirty="0"/>
              </a:p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-order: </a:t>
                </a:r>
                <a:r>
                  <a:rPr lang="de-DE" sz="2400" dirty="0" err="1"/>
                  <a:t>faster</a:t>
                </a:r>
                <a:r>
                  <a:rPr lang="de-DE" sz="2400" dirty="0"/>
                  <a:t>, possible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1508" b="-20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B8B3D7-FE9C-6D18-4547-A784F280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B3A41B-2823-0731-704A-529AF3672B58}"/>
              </a:ext>
            </a:extLst>
          </p:cNvPr>
          <p:cNvSpPr txBox="1"/>
          <p:nvPr/>
        </p:nvSpPr>
        <p:spPr>
          <a:xfrm>
            <a:off x="5105400" y="566241"/>
            <a:ext cx="656844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shapes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endParaRPr lang="de-DE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7F6EAC6-0F4E-33E2-EF9C-83D1726BD234}"/>
                  </a:ext>
                </a:extLst>
              </p:cNvPr>
              <p:cNvSpPr txBox="1"/>
              <p:nvPr/>
            </p:nvSpPr>
            <p:spPr>
              <a:xfrm>
                <a:off x="7376160" y="6002327"/>
                <a:ext cx="39776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 err="1"/>
                  <a:t>depending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choice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7F6EAC6-0F4E-33E2-EF9C-83D1726B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6160" y="6002327"/>
                <a:ext cx="3977640" cy="461665"/>
              </a:xfrm>
              <a:prstGeom prst="rect">
                <a:avLst/>
              </a:prstGeom>
              <a:blipFill>
                <a:blip r:embed="rId3"/>
                <a:stretch>
                  <a:fillRect l="-2222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163653C3-969D-F1D0-57C6-ACA856078793}"/>
              </a:ext>
            </a:extLst>
          </p:cNvPr>
          <p:cNvSpPr/>
          <p:nvPr/>
        </p:nvSpPr>
        <p:spPr>
          <a:xfrm>
            <a:off x="6949440" y="5842000"/>
            <a:ext cx="426720" cy="78232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55ADA58-317A-EBF7-8E7F-B90B639796D9}"/>
              </a:ext>
            </a:extLst>
          </p:cNvPr>
          <p:cNvSpPr txBox="1"/>
          <p:nvPr/>
        </p:nvSpPr>
        <p:spPr>
          <a:xfrm>
            <a:off x="7457440" y="2519848"/>
            <a:ext cx="453136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PI (</a:t>
            </a:r>
            <a:r>
              <a:rPr lang="de-DE" sz="2400" dirty="0" err="1"/>
              <a:t>for</a:t>
            </a:r>
            <a:r>
              <a:rPr lang="de-DE" sz="2400" dirty="0"/>
              <a:t> first-order plant) </a:t>
            </a:r>
            <a:r>
              <a:rPr lang="de-DE" sz="2400" dirty="0" err="1"/>
              <a:t>or</a:t>
            </a:r>
            <a:r>
              <a:rPr lang="de-DE" sz="2400" dirty="0"/>
              <a:t> PID (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second</a:t>
            </a:r>
            <a:r>
              <a:rPr lang="de-DE" sz="2400" dirty="0"/>
              <a:t>-order plant) </a:t>
            </a:r>
            <a:r>
              <a:rPr lang="de-DE" sz="2400" dirty="0" err="1"/>
              <a:t>structure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9B4D10C-1B98-212C-4C85-C3BCBC26BA5D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9296400" y="2042160"/>
            <a:ext cx="426723" cy="477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944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F398-1BDF-3B08-05A5-F2FAA1B7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Select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at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choosing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directly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s-plane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Obtain</a:t>
                </a:r>
                <a:r>
                  <a:rPr lang="de-DE" dirty="0"/>
                  <a:t> plant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r>
                  <a:rPr lang="de-DE" dirty="0"/>
                  <a:t> </a:t>
                </a:r>
                <a:r>
                  <a:rPr lang="de-DE" dirty="0" err="1"/>
                  <a:t>requirements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so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match </a:t>
                </a:r>
                <a:r>
                  <a:rPr lang="de-DE" dirty="0" err="1"/>
                  <a:t>targets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accurate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-order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structures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11DD58-2D08-3F77-A623-6D10766D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00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5B61A9-10C4-004E-AAB8-D4D3EFCE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Optimization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Define</a:t>
                </a:r>
                <a:r>
                  <a:rPr lang="de-DE" dirty="0"/>
                  <a:t> a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(e.g., integral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sensitivity</a:t>
                </a:r>
                <a:r>
                  <a:rPr lang="de-DE" dirty="0"/>
                  <a:t> </a:t>
                </a:r>
                <a:r>
                  <a:rPr lang="de-DE" dirty="0" err="1"/>
                  <a:t>norms</a:t>
                </a:r>
                <a:r>
                  <a:rPr lang="de-DE" dirty="0"/>
                  <a:t>) and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paramters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</a:t>
                </a:r>
                <a:r>
                  <a:rPr lang="de-DE" dirty="0" err="1"/>
                  <a:t>mplicitly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,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r>
                  <a:rPr lang="de-DE" dirty="0"/>
                  <a:t>, </a:t>
                </a:r>
                <a:r>
                  <a:rPr lang="de-DE" dirty="0" err="1"/>
                  <a:t>noise</a:t>
                </a:r>
                <a:r>
                  <a:rPr lang="de-DE" dirty="0"/>
                  <a:t>, and </a:t>
                </a:r>
                <a:r>
                  <a:rPr lang="de-DE" dirty="0" err="1"/>
                  <a:t>robustness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Advantages: </a:t>
                </a:r>
                <a:r>
                  <a:rPr lang="de-DE" dirty="0" err="1"/>
                  <a:t>systematic</a:t>
                </a:r>
                <a:r>
                  <a:rPr lang="de-DE" dirty="0"/>
                  <a:t> and </a:t>
                </a:r>
                <a:r>
                  <a:rPr lang="de-DE" dirty="0" err="1"/>
                  <a:t>automated</a:t>
                </a:r>
                <a:r>
                  <a:rPr lang="de-DE" dirty="0"/>
                  <a:t> </a:t>
                </a:r>
                <a:r>
                  <a:rPr lang="de-DE" dirty="0" err="1"/>
                  <a:t>tuning</a:t>
                </a:r>
                <a:r>
                  <a:rPr lang="de-DE" dirty="0"/>
                  <a:t>,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inclusion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constraints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,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chosen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2C4040-B821-4C4D-28E3-75A307390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581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Concept: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arranged</a:t>
            </a:r>
            <a:r>
              <a:rPr lang="de-DE" dirty="0"/>
              <a:t> in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  <a:p>
            <a:r>
              <a:rPr lang="de-DE" dirty="0" err="1"/>
              <a:t>Inner</a:t>
            </a:r>
            <a:r>
              <a:rPr lang="de-DE" dirty="0"/>
              <a:t> loop </a:t>
            </a:r>
            <a:r>
              <a:rPr lang="de-DE" dirty="0" err="1"/>
              <a:t>controls</a:t>
            </a:r>
            <a:r>
              <a:rPr lang="de-DE" dirty="0"/>
              <a:t> a fast </a:t>
            </a:r>
            <a:r>
              <a:rPr lang="de-DE" dirty="0" err="1"/>
              <a:t>subsystem</a:t>
            </a:r>
            <a:endParaRPr lang="de-DE" dirty="0"/>
          </a:p>
          <a:p>
            <a:r>
              <a:rPr lang="de-DE" dirty="0"/>
              <a:t>Outer loop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variable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</a:t>
            </a:r>
            <a:r>
              <a:rPr lang="de-DE" dirty="0" err="1"/>
              <a:t>improved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internal </a:t>
            </a:r>
            <a:r>
              <a:rPr lang="de-DE" dirty="0" err="1"/>
              <a:t>disturbances</a:t>
            </a:r>
            <a:r>
              <a:rPr lang="de-DE" dirty="0"/>
              <a:t>,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nonlinearities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: 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+ </a:t>
            </a:r>
            <a:r>
              <a:rPr lang="de-DE" dirty="0" err="1"/>
              <a:t>torque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flow</a:t>
            </a:r>
            <a:r>
              <a:rPr lang="de-DE" dirty="0"/>
              <a:t> loop, </a:t>
            </a:r>
            <a:r>
              <a:rPr lang="de-DE" dirty="0" err="1"/>
              <a:t>robotics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DF3D3-F0A5-B605-640F-68192BFE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EFA57-2744-B2CC-EC9E-60BAA018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</a:t>
            </a:r>
            <a:r>
              <a:rPr lang="de-DE" dirty="0" err="1"/>
              <a:t>derive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do </a:t>
            </a:r>
            <a:r>
              <a:rPr lang="de-DE" dirty="0" err="1"/>
              <a:t>experiments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real plant,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4D30ED-10BC-22A6-1BE5-87FB93F6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1358450-756B-46E3-1B81-056C4FA5A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16940"/>
              </p:ext>
            </p:extLst>
          </p:nvPr>
        </p:nvGraphicFramePr>
        <p:xfrm>
          <a:off x="838200" y="4072097"/>
          <a:ext cx="9687561" cy="2194560"/>
        </p:xfrm>
        <a:graphic>
          <a:graphicData uri="http://schemas.openxmlformats.org/drawingml/2006/table">
            <a:tbl>
              <a:tblPr/>
              <a:tblGrid>
                <a:gridCol w="3229187">
                  <a:extLst>
                    <a:ext uri="{9D8B030D-6E8A-4147-A177-3AD203B41FA5}">
                      <a16:colId xmlns:a16="http://schemas.microsoft.com/office/drawing/2014/main" val="1762246267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3541604622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13848853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Aspect</a:t>
                      </a:r>
                      <a:endParaRPr lang="de-DE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Model-</a:t>
                      </a: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based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Empirical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42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Knowledge of plant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Not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52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Mathematical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Experiment +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2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Tuning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Analytical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Trial-based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625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Usually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safer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if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correct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May cause oscillations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891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Potentially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660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442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68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60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21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38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35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1808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Write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C6007-DFC2-BF7E-8A29-89421AE2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DB9E-7240-E9E6-8D30-3C3544054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+20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and pole.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on </a:t>
                </a:r>
                <a:r>
                  <a:rPr lang="de-DE" dirty="0" err="1"/>
                  <a:t>phase</a:t>
                </a:r>
                <a:r>
                  <a:rPr lang="de-DE" dirty="0"/>
                  <a:t> and </a:t>
                </a:r>
                <a:r>
                  <a:rPr lang="de-DE" dirty="0" err="1"/>
                  <a:t>stability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78E718-AC32-BBAB-0569-7FE34D12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713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B95F-0E16-2288-B6A6-7D1F1A3E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6764C2-2921-4FDE-AF32-5AF7B9C7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lag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+0.1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and </a:t>
                </a:r>
                <a:r>
                  <a:rPr lang="de-DE" dirty="0" err="1"/>
                  <a:t>main</a:t>
                </a:r>
                <a:r>
                  <a:rPr lang="de-DE" dirty="0"/>
                  <a:t> </a:t>
                </a:r>
                <a:r>
                  <a:rPr lang="de-DE" dirty="0" err="1"/>
                  <a:t>purpose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E0F816-D8B8-E216-4160-4B51EBCC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58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6C02-B76C-26EC-31D8-092A4D344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BBB9DB-2391-F45F-C305-794AB1A1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root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increases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FB523C-09A0-A5B5-CA01-2B24E43C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0266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1750E-344E-79C4-B36C-3A231D2A6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BE6AE-94A9-660B-C547-C3649310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reaches</a:t>
                </a:r>
                <a:r>
                  <a:rPr lang="de-DE" dirty="0"/>
                  <a:t> </a:t>
                </a:r>
                <a:r>
                  <a:rPr lang="de-DE" dirty="0" err="1"/>
                  <a:t>sustained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r>
                  <a:rPr lang="de-DE" dirty="0"/>
                  <a:t> at:</a:t>
                </a:r>
              </a:p>
              <a:p>
                <a:r>
                  <a:rPr lang="de-DE" dirty="0"/>
                  <a:t>Ultimate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Oscillation</a:t>
                </a:r>
                <a:r>
                  <a:rPr lang="de-DE" dirty="0"/>
                  <a:t> </a:t>
                </a:r>
                <a:r>
                  <a:rPr lang="de-DE" dirty="0" err="1"/>
                  <a:t>period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Compute</a:t>
                </a:r>
                <a:r>
                  <a:rPr lang="de-DE" dirty="0"/>
                  <a:t> PID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Ziegler–Nichols.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AFC19A-8BF5-1ADC-3D3D-0120CD697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0972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1940</Words>
  <Application>Microsoft Macintosh PowerPoint</Application>
  <PresentationFormat>Breitbild</PresentationFormat>
  <Paragraphs>382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Goals of Controller Design</vt:lpstr>
      <vt:lpstr>Feedback Control Principles</vt:lpstr>
      <vt:lpstr>PID Tuning</vt:lpstr>
      <vt:lpstr>Model-Based Control Design: Shape Loop Gain</vt:lpstr>
      <vt:lpstr>Setpoint Tracking</vt:lpstr>
      <vt:lpstr>Disturbance Rejection</vt:lpstr>
      <vt:lpstr>Sensitivity Functions</vt:lpstr>
      <vt:lpstr>Measurement Noise</vt:lpstr>
      <vt:lpstr>Trade-Off</vt:lpstr>
      <vt:lpstr>Robustness</vt:lpstr>
      <vt:lpstr>Common Model-Based Techniques</vt:lpstr>
      <vt:lpstr>Frequency Response Design</vt:lpstr>
      <vt:lpstr>Typical Loop Shaping Workflow</vt:lpstr>
      <vt:lpstr>Lead and Lag Compensators</vt:lpstr>
      <vt:lpstr>Root locus</vt:lpstr>
      <vt:lpstr>IMC Tuning</vt:lpstr>
      <vt:lpstr>Pole Placement</vt:lpstr>
      <vt:lpstr>Optimization Methods</vt:lpstr>
      <vt:lpstr>Cascade Control</vt:lpstr>
      <vt:lpstr>Empirical Approaches</vt:lpstr>
      <vt:lpstr>Manual PI Tuning</vt:lpstr>
      <vt:lpstr>Ziegler–Nichols Method</vt:lpstr>
      <vt:lpstr>Ziegler–Nichols Tuning Rules</vt:lpstr>
      <vt:lpstr>T-Sum (Time-Sum) Method</vt:lpstr>
      <vt:lpstr>T-Sum Procedure</vt:lpstr>
      <vt:lpstr>Exercise 1</vt:lpstr>
      <vt:lpstr>Exercise 2</vt:lpstr>
      <vt:lpstr>Exercise 3</vt:lpstr>
      <vt:lpstr>Exercise 4</vt:lpstr>
      <vt:lpstr>Exercise 5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153</cp:revision>
  <dcterms:created xsi:type="dcterms:W3CDTF">2025-01-08T09:27:30Z</dcterms:created>
  <dcterms:modified xsi:type="dcterms:W3CDTF">2026-05-06T21:39:09Z</dcterms:modified>
</cp:coreProperties>
</file>
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265" r:id="rId3"/>
    <p:sldId id="266" r:id="rId4"/>
    <p:sldId id="267" r:id="rId5"/>
    <p:sldId id="299" r:id="rId6"/>
    <p:sldId id="268" r:id="rId7"/>
    <p:sldId id="271" r:id="rId8"/>
    <p:sldId id="278" r:id="rId9"/>
    <p:sldId id="269" r:id="rId10"/>
    <p:sldId id="270" r:id="rId11"/>
    <p:sldId id="274" r:id="rId12"/>
    <p:sldId id="296" r:id="rId13"/>
    <p:sldId id="279" r:id="rId14"/>
    <p:sldId id="275" r:id="rId15"/>
    <p:sldId id="298" r:id="rId16"/>
    <p:sldId id="300" r:id="rId17"/>
    <p:sldId id="306" r:id="rId18"/>
    <p:sldId id="280" r:id="rId19"/>
    <p:sldId id="276" r:id="rId20"/>
    <p:sldId id="301" r:id="rId21"/>
    <p:sldId id="302" r:id="rId22"/>
    <p:sldId id="303" r:id="rId23"/>
    <p:sldId id="277" r:id="rId24"/>
    <p:sldId id="305" r:id="rId25"/>
    <p:sldId id="293" r:id="rId26"/>
    <p:sldId id="272" r:id="rId27"/>
    <p:sldId id="294" r:id="rId28"/>
    <p:sldId id="273" r:id="rId29"/>
    <p:sldId id="295" r:id="rId30"/>
    <p:sldId id="323" r:id="rId31"/>
    <p:sldId id="325" r:id="rId32"/>
    <p:sldId id="327" r:id="rId33"/>
    <p:sldId id="326" r:id="rId34"/>
    <p:sldId id="32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16"/>
    <p:restoredTop sz="95028" autoAdjust="0"/>
  </p:normalViewPr>
  <p:slideViewPr>
    <p:cSldViewPr snapToGrid="0">
      <p:cViewPr varScale="1">
        <p:scale>
          <a:sx n="125" d="100"/>
          <a:sy n="125" d="100"/>
        </p:scale>
        <p:origin x="176" y="5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Controller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Control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Systems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Laplace Domain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Controller Design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Discrete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Advanced</a:t>
            </a:r>
            <a:r>
              <a:rPr lang="de-DE" dirty="0"/>
              <a:t> Control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Controller Design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599745-405B-0FFD-67CC-A4CA1E66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Feedback </a:t>
            </a:r>
            <a:r>
              <a:rPr lang="de-DE" dirty="0" err="1"/>
              <a:t>principles</a:t>
            </a:r>
            <a:endParaRPr lang="de-DE" dirty="0"/>
          </a:p>
          <a:p>
            <a:r>
              <a:rPr lang="de-DE" dirty="0"/>
              <a:t>PID </a:t>
            </a:r>
            <a:r>
              <a:rPr lang="de-DE" dirty="0" err="1"/>
              <a:t>tuning</a:t>
            </a:r>
            <a:endParaRPr lang="de-DE" dirty="0"/>
          </a:p>
          <a:p>
            <a:r>
              <a:rPr lang="de-DE" dirty="0"/>
              <a:t>Loop </a:t>
            </a:r>
            <a:r>
              <a:rPr lang="de-DE" dirty="0" err="1"/>
              <a:t>shaping</a:t>
            </a:r>
            <a:endParaRPr lang="de-DE" dirty="0"/>
          </a:p>
          <a:p>
            <a:r>
              <a:rPr lang="de-DE" dirty="0"/>
              <a:t>Lead and Lag </a:t>
            </a:r>
            <a:r>
              <a:rPr lang="de-DE" dirty="0" err="1"/>
              <a:t>Compensators</a:t>
            </a:r>
            <a:endParaRPr lang="de-DE" dirty="0"/>
          </a:p>
          <a:p>
            <a:r>
              <a:rPr lang="de-DE" dirty="0"/>
              <a:t>Root </a:t>
            </a:r>
            <a:r>
              <a:rPr lang="de-DE" dirty="0" err="1"/>
              <a:t>Locus</a:t>
            </a:r>
            <a:endParaRPr lang="de-DE" dirty="0"/>
          </a:p>
          <a:p>
            <a:r>
              <a:rPr lang="de-DE" dirty="0"/>
              <a:t>Cascade </a:t>
            </a:r>
            <a:r>
              <a:rPr lang="de-DE" dirty="0" err="1"/>
              <a:t>control</a:t>
            </a:r>
            <a:endParaRPr lang="de-DE" dirty="0"/>
          </a:p>
          <a:p>
            <a:r>
              <a:rPr lang="de-DE" dirty="0"/>
              <a:t>Ziegler–Nichols </a:t>
            </a:r>
            <a:r>
              <a:rPr lang="de-DE" dirty="0" err="1"/>
              <a:t>method</a:t>
            </a:r>
            <a:endParaRPr lang="de-DE" dirty="0"/>
          </a:p>
          <a:p>
            <a:r>
              <a:rPr lang="de-DE" dirty="0"/>
              <a:t>T-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884354-B382-326C-7194-9438A57D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Control Design Problem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448B99-0146-9FDA-DCE6-91B3DD16F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Given a plant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Find a </a:t>
            </a:r>
            <a:r>
              <a:rPr lang="de-DE" dirty="0" err="1"/>
              <a:t>controller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Meet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, </a:t>
            </a:r>
            <a:r>
              <a:rPr lang="de-DE" dirty="0" err="1"/>
              <a:t>performance</a:t>
            </a:r>
            <a:r>
              <a:rPr lang="de-DE" dirty="0"/>
              <a:t>, and </a:t>
            </a:r>
            <a:r>
              <a:rPr lang="de-DE" dirty="0" err="1"/>
              <a:t>robustness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434F4F-A65D-574A-7F0A-C15CE21C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53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27739-7E72-9FA2-5057-A43A70B4D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 </a:t>
            </a:r>
            <a:r>
              <a:rPr lang="de-DE" dirty="0" err="1"/>
              <a:t>of</a:t>
            </a:r>
            <a:r>
              <a:rPr lang="de-DE" dirty="0"/>
              <a:t> Controller 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DD6983-69BE-5B16-4DF7-74A10458B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Stabilization</a:t>
            </a:r>
            <a:r>
              <a:rPr lang="de-DE" dirty="0"/>
              <a:t>: </a:t>
            </a:r>
            <a:r>
              <a:rPr lang="de-DE" dirty="0" err="1"/>
              <a:t>stabilize</a:t>
            </a:r>
            <a:r>
              <a:rPr lang="de-DE" dirty="0"/>
              <a:t> </a:t>
            </a:r>
            <a:r>
              <a:rPr lang="de-DE" dirty="0" err="1"/>
              <a:t>unstable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poorly</a:t>
            </a:r>
            <a:r>
              <a:rPr lang="de-DE" dirty="0"/>
              <a:t> </a:t>
            </a:r>
            <a:r>
              <a:rPr lang="de-DE" dirty="0" err="1"/>
              <a:t>damped</a:t>
            </a:r>
            <a:r>
              <a:rPr lang="de-DE" dirty="0"/>
              <a:t> plants</a:t>
            </a:r>
          </a:p>
          <a:p>
            <a:r>
              <a:rPr lang="de-DE" dirty="0"/>
              <a:t>Reference </a:t>
            </a:r>
            <a:r>
              <a:rPr lang="de-DE" dirty="0" err="1"/>
              <a:t>tracking</a:t>
            </a:r>
            <a:r>
              <a:rPr lang="de-DE" dirty="0"/>
              <a:t>: </a:t>
            </a:r>
            <a:r>
              <a:rPr lang="de-DE" dirty="0" err="1"/>
              <a:t>accurate</a:t>
            </a:r>
            <a:r>
              <a:rPr lang="de-DE" dirty="0"/>
              <a:t> and fast </a:t>
            </a:r>
            <a:r>
              <a:rPr lang="de-DE" dirty="0" err="1"/>
              <a:t>response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signals</a:t>
            </a:r>
            <a:endParaRPr lang="de-DE" dirty="0"/>
          </a:p>
          <a:p>
            <a:r>
              <a:rPr lang="de-DE" dirty="0" err="1"/>
              <a:t>Disturbance</a:t>
            </a:r>
            <a:r>
              <a:rPr lang="de-DE" dirty="0"/>
              <a:t> </a:t>
            </a:r>
            <a:r>
              <a:rPr lang="de-DE" dirty="0" err="1"/>
              <a:t>rejection</a:t>
            </a:r>
            <a:r>
              <a:rPr lang="de-DE" dirty="0"/>
              <a:t>: </a:t>
            </a:r>
            <a:r>
              <a:rPr lang="de-DE" dirty="0" err="1"/>
              <a:t>attenuate</a:t>
            </a:r>
            <a:r>
              <a:rPr lang="de-DE" dirty="0"/>
              <a:t> </a:t>
            </a:r>
            <a:r>
              <a:rPr lang="de-DE" dirty="0" err="1"/>
              <a:t>disturbances</a:t>
            </a:r>
            <a:r>
              <a:rPr lang="de-DE" dirty="0"/>
              <a:t> and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inputs</a:t>
            </a:r>
            <a:endParaRPr lang="de-DE" dirty="0"/>
          </a:p>
          <a:p>
            <a:r>
              <a:rPr lang="de-DE" dirty="0" err="1"/>
              <a:t>Robustness</a:t>
            </a:r>
            <a:r>
              <a:rPr lang="de-DE" dirty="0"/>
              <a:t>: </a:t>
            </a:r>
            <a:r>
              <a:rPr lang="de-DE" dirty="0" err="1"/>
              <a:t>tolerate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</a:t>
            </a:r>
            <a:r>
              <a:rPr lang="de-DE" dirty="0" err="1"/>
              <a:t>uncertainties</a:t>
            </a:r>
            <a:r>
              <a:rPr lang="de-DE" dirty="0"/>
              <a:t> </a:t>
            </a:r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maintaining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 and </a:t>
            </a:r>
            <a:r>
              <a:rPr lang="de-DE" dirty="0" err="1"/>
              <a:t>acceptable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08058E-6BFB-C080-325F-8502480B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486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6CA28D-C00B-313D-86D7-84BE23D2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Feedback Control </a:t>
            </a:r>
            <a:r>
              <a:rPr lang="de-DE" dirty="0" err="1"/>
              <a:t>Principles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441440B-2A4C-FDB4-9214-69A27D10F9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Error </a:t>
                </a:r>
                <a:r>
                  <a:rPr lang="de-DE" sz="2600" dirty="0" err="1"/>
                  <a:t>correction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controller</a:t>
                </a:r>
                <a:r>
                  <a:rPr lang="de-DE" sz="2600" dirty="0"/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de-DE" sz="2600" dirty="0" err="1"/>
                  <a:t>measures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output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de-DE" sz="26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de-DE" sz="2600" dirty="0" err="1"/>
                  <a:t>computes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error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reference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setpoint</a:t>
                </a:r>
                <a:r>
                  <a:rPr lang="de-DE" sz="2600" dirty="0"/>
                  <a:t>)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sz="2600" dirty="0"/>
                  <a:t>: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de-DE" sz="2600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de-DE" sz="2600" dirty="0" err="1"/>
                  <a:t>acts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reduce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it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 Negative </a:t>
                </a:r>
                <a:r>
                  <a:rPr lang="de-DE" sz="2600" dirty="0" err="1">
                    <a:sym typeface="Wingdings" pitchFamily="2" charset="2"/>
                  </a:rPr>
                  <a:t>feedback</a:t>
                </a:r>
                <a:endParaRPr lang="de-DE" sz="26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600" dirty="0">
                    <a:sym typeface="Wingdings" pitchFamily="2" charset="2"/>
                  </a:rPr>
                  <a:t>(p</a:t>
                </a:r>
                <a:r>
                  <a:rPr lang="de-DE" sz="2600" dirty="0"/>
                  <a:t>ositive </a:t>
                </a:r>
                <a:r>
                  <a:rPr lang="de-DE" sz="2600" dirty="0" err="1"/>
                  <a:t>feedback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can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increase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gain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bandwidth</a:t>
                </a:r>
                <a:r>
                  <a:rPr lang="de-DE" sz="2600" dirty="0"/>
                  <a:t> but </a:t>
                </a:r>
                <a:r>
                  <a:rPr lang="de-DE" sz="2600" dirty="0" err="1"/>
                  <a:t>risks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instability</a:t>
                </a:r>
                <a:r>
                  <a:rPr lang="de-DE" sz="2600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441440B-2A4C-FDB4-9214-69A27D10F9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09B204-AD24-CD08-A21E-0BA7CB9F5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86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E29E56-0FF9-E0B7-3138-7B1645C6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PID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61B2717-D9C9-04E4-EF9E-1E5F96C465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Goal: </a:t>
                </a:r>
                <a:r>
                  <a:rPr lang="de-DE" sz="2400" dirty="0" err="1"/>
                  <a:t>determing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controller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parameters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achieve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desired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closed</a:t>
                </a:r>
                <a:r>
                  <a:rPr lang="de-DE" sz="2400" dirty="0"/>
                  <a:t>-loop </a:t>
                </a:r>
                <a:r>
                  <a:rPr lang="de-DE" sz="2400" dirty="0" err="1"/>
                  <a:t>behavior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Typical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tuning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objectives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acceptable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rise</a:t>
                </a:r>
                <a:r>
                  <a:rPr lang="de-DE" sz="2400" dirty="0"/>
                  <a:t> time, limited </a:t>
                </a:r>
                <a:r>
                  <a:rPr lang="de-DE" sz="2400" dirty="0" err="1"/>
                  <a:t>overshoot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small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steady-state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sufficient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margin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Tuning </a:t>
                </a:r>
                <a:r>
                  <a:rPr lang="de-DE" sz="2400" dirty="0" err="1"/>
                  <a:t>approaches</a:t>
                </a:r>
                <a:r>
                  <a:rPr lang="de-DE" sz="2400" dirty="0"/>
                  <a:t>:</a:t>
                </a:r>
              </a:p>
              <a:p>
                <a:r>
                  <a:rPr lang="de-DE" sz="2400" dirty="0"/>
                  <a:t>model-</a:t>
                </a:r>
                <a:r>
                  <a:rPr lang="de-DE" sz="2400" dirty="0" err="1"/>
                  <a:t>based</a:t>
                </a:r>
                <a:r>
                  <a:rPr lang="de-DE" sz="2400" dirty="0"/>
                  <a:t> design (</a:t>
                </a:r>
                <a:r>
                  <a:rPr lang="de-DE" sz="2400" dirty="0" err="1"/>
                  <a:t>analytical</a:t>
                </a:r>
                <a:r>
                  <a:rPr lang="de-DE" sz="2400" dirty="0"/>
                  <a:t>)</a:t>
                </a:r>
              </a:p>
              <a:p>
                <a:r>
                  <a:rPr lang="de-DE" sz="2400" dirty="0" err="1"/>
                  <a:t>empirical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tuning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rules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61B2717-D9C9-04E4-EF9E-1E5F96C465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859E6D-0626-61A0-47B8-BA89EE898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69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9F9992-F4C1-C332-3DFD-7FE2160C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300" dirty="0"/>
              <a:t>Model-</a:t>
            </a:r>
            <a:r>
              <a:rPr lang="de-DE" sz="4300" dirty="0" err="1"/>
              <a:t>Based</a:t>
            </a:r>
            <a:r>
              <a:rPr lang="de-DE" sz="4300" dirty="0"/>
              <a:t> Control Design: Shape Loop </a:t>
            </a:r>
            <a:r>
              <a:rPr lang="de-DE" sz="4300" dirty="0" err="1"/>
              <a:t>Gain</a:t>
            </a:r>
            <a:endParaRPr lang="de-DE" sz="4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2B87842-FB36-845C-0596-5027C3217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For plant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and </a:t>
                </a:r>
                <a:r>
                  <a:rPr lang="de-DE" sz="2400" dirty="0" err="1"/>
                  <a:t>controller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, loop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Closed</a:t>
                </a:r>
                <a:r>
                  <a:rPr lang="de-DE" sz="2400" dirty="0"/>
                  <a:t>-loop </a:t>
                </a:r>
                <a:r>
                  <a:rPr lang="de-DE" sz="2400" dirty="0" err="1"/>
                  <a:t>transfer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function</a:t>
                </a: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Stability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depends</a:t>
                </a:r>
                <a:r>
                  <a:rPr lang="de-DE" sz="2400" dirty="0"/>
                  <a:t> on </a:t>
                </a:r>
                <a:r>
                  <a:rPr lang="de-DE" sz="2400" dirty="0" err="1"/>
                  <a:t>roots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1+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design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achieve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desired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behavior</a:t>
                </a:r>
                <a:r>
                  <a:rPr lang="de-DE" sz="2400" dirty="0"/>
                  <a:t> (e.g., </a:t>
                </a:r>
                <a:r>
                  <a:rPr lang="de-DE" sz="2400" dirty="0" err="1"/>
                  <a:t>settling</a:t>
                </a:r>
                <a:r>
                  <a:rPr lang="de-DE" sz="2400" dirty="0"/>
                  <a:t> time </a:t>
                </a:r>
                <a:r>
                  <a:rPr lang="de-DE" sz="2400" dirty="0" err="1"/>
                  <a:t>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margins</a:t>
                </a:r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Key </a:t>
                </a:r>
                <a:r>
                  <a:rPr lang="de-DE" sz="2400" dirty="0" err="1"/>
                  <a:t>ideas</a:t>
                </a:r>
                <a:r>
                  <a:rPr lang="de-DE" sz="2400" dirty="0"/>
                  <a:t>:</a:t>
                </a:r>
              </a:p>
              <a:p>
                <a:r>
                  <a:rPr lang="de-DE" sz="2400" dirty="0"/>
                  <a:t>High loop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at </a:t>
                </a:r>
                <a:r>
                  <a:rPr lang="de-DE" sz="2400" dirty="0" err="1"/>
                  <a:t>low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good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tracking</a:t>
                </a:r>
                <a:r>
                  <a:rPr lang="de-DE" sz="2400" dirty="0"/>
                  <a:t> &amp; </a:t>
                </a:r>
                <a:r>
                  <a:rPr lang="de-DE" sz="2400" dirty="0" err="1"/>
                  <a:t>disturbance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rejection</a:t>
                </a:r>
                <a:endParaRPr lang="de-DE" sz="2400" dirty="0"/>
              </a:p>
              <a:p>
                <a:r>
                  <a:rPr lang="de-DE" sz="2400" dirty="0"/>
                  <a:t>Low loop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at high 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noise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attenuation</a:t>
                </a:r>
                <a:r>
                  <a:rPr lang="de-DE" sz="2400" dirty="0"/>
                  <a:t> &amp; </a:t>
                </a:r>
                <a:r>
                  <a:rPr lang="de-DE" sz="2400" dirty="0" err="1"/>
                  <a:t>robustness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2B87842-FB36-845C-0596-5027C3217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D1A67B-3F8F-BB68-573C-78CF7281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E5E39F-CB33-356C-B48A-BA33D0E920DA}"/>
              </a:ext>
            </a:extLst>
          </p:cNvPr>
          <p:cNvSpPr txBox="1"/>
          <p:nvPr/>
        </p:nvSpPr>
        <p:spPr>
          <a:xfrm>
            <a:off x="9015525" y="2540000"/>
            <a:ext cx="2045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known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1DFF41A-EFCF-9144-E5EC-6978D16EEE94}"/>
              </a:ext>
            </a:extLst>
          </p:cNvPr>
          <p:cNvCxnSpPr/>
          <p:nvPr/>
        </p:nvCxnSpPr>
        <p:spPr>
          <a:xfrm flipH="1" flipV="1">
            <a:off x="8483600" y="2174240"/>
            <a:ext cx="497840" cy="548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13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A7AA7F-0AD3-029A-CD2C-81DECBA42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Setpoint</a:t>
            </a:r>
            <a:r>
              <a:rPr lang="de-DE" dirty="0"/>
              <a:t> Tracking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D876B9F-EBF9-6B58-689C-B456374208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Response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reference</a:t>
                </a:r>
                <a:r>
                  <a:rPr lang="de-DE" dirty="0"/>
                  <a:t> </a:t>
                </a:r>
                <a:r>
                  <a:rPr lang="de-DE" dirty="0" err="1"/>
                  <a:t>changes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Transfer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reference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output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)∙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Goals:</a:t>
                </a:r>
              </a:p>
              <a:p>
                <a:r>
                  <a:rPr lang="de-DE" dirty="0"/>
                  <a:t>Fast </a:t>
                </a:r>
                <a:r>
                  <a:rPr lang="de-DE" dirty="0" err="1"/>
                  <a:t>rise</a:t>
                </a:r>
                <a:r>
                  <a:rPr lang="de-DE" dirty="0"/>
                  <a:t> time</a:t>
                </a:r>
              </a:p>
              <a:p>
                <a:r>
                  <a:rPr lang="de-DE" dirty="0"/>
                  <a:t>Small </a:t>
                </a:r>
                <a:r>
                  <a:rPr lang="de-DE" dirty="0" err="1"/>
                  <a:t>overshoot</a:t>
                </a:r>
                <a:endParaRPr lang="de-DE" dirty="0"/>
              </a:p>
              <a:p>
                <a:r>
                  <a:rPr lang="de-DE" dirty="0"/>
                  <a:t>Low </a:t>
                </a:r>
                <a:r>
                  <a:rPr lang="de-DE" dirty="0" err="1"/>
                  <a:t>steady-state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br>
                  <a:rPr lang="de-DE" dirty="0"/>
                </a:b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High loop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:r>
                  <a:rPr lang="de-DE" dirty="0" err="1"/>
                  <a:t>improves</a:t>
                </a:r>
                <a:r>
                  <a:rPr lang="de-DE" dirty="0"/>
                  <a:t> </a:t>
                </a:r>
                <a:r>
                  <a:rPr lang="de-DE" dirty="0" err="1"/>
                  <a:t>tracking</a:t>
                </a:r>
                <a:r>
                  <a:rPr lang="de-DE" dirty="0"/>
                  <a:t> </a:t>
                </a:r>
                <a:r>
                  <a:rPr lang="de-DE" dirty="0" err="1"/>
                  <a:t>accuracy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de-DE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D876B9F-EBF9-6B58-689C-B456374208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175CAB-F6C3-5C88-A058-0446BBC5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890EC0DD-85C4-B538-FA64-C2B212509A43}"/>
              </a:ext>
            </a:extLst>
          </p:cNvPr>
          <p:cNvGrpSpPr/>
          <p:nvPr/>
        </p:nvGrpSpPr>
        <p:grpSpPr>
          <a:xfrm>
            <a:off x="5617647" y="3134593"/>
            <a:ext cx="5985905" cy="1092444"/>
            <a:chOff x="6096000" y="665713"/>
            <a:chExt cx="5985905" cy="10924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Prozess 5">
                  <a:extLst>
                    <a:ext uri="{FF2B5EF4-FFF2-40B4-BE49-F238E27FC236}">
                      <a16:creationId xmlns:a16="http://schemas.microsoft.com/office/drawing/2014/main" id="{50A34AEB-A6AB-498A-A249-35A039B1CF1C}"/>
                    </a:ext>
                  </a:extLst>
                </p:cNvPr>
                <p:cNvSpPr/>
                <p:nvPr/>
              </p:nvSpPr>
              <p:spPr>
                <a:xfrm>
                  <a:off x="7875617" y="708526"/>
                  <a:ext cx="914400" cy="612642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Prozess 5">
                  <a:extLst>
                    <a:ext uri="{FF2B5EF4-FFF2-40B4-BE49-F238E27FC236}">
                      <a16:creationId xmlns:a16="http://schemas.microsoft.com/office/drawing/2014/main" id="{50A34AEB-A6AB-498A-A249-35A039B1CF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5617" y="708526"/>
                  <a:ext cx="914400" cy="612642"/>
                </a:xfrm>
                <a:prstGeom prst="flowChartProcess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Verbindungsstelle 6">
              <a:extLst>
                <a:ext uri="{FF2B5EF4-FFF2-40B4-BE49-F238E27FC236}">
                  <a16:creationId xmlns:a16="http://schemas.microsoft.com/office/drawing/2014/main" id="{6D4BDC87-B898-F891-25CD-28D21B411E65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1093526" y="965792"/>
              <a:ext cx="88772" cy="88771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1CD4829C-A820-652C-FB27-6E0C3DF1E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137911" y="1010178"/>
              <a:ext cx="828436" cy="1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82B7D01-52D0-0C9F-52BB-F2484BE10264}"/>
                    </a:ext>
                  </a:extLst>
                </p:cNvPr>
                <p:cNvSpPr txBox="1"/>
                <p:nvPr/>
              </p:nvSpPr>
              <p:spPr>
                <a:xfrm>
                  <a:off x="11585807" y="668824"/>
                  <a:ext cx="496098" cy="2769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C82B7D01-52D0-0C9F-52BB-F2484BE102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5807" y="668824"/>
                  <a:ext cx="496098" cy="276996"/>
                </a:xfrm>
                <a:prstGeom prst="rect">
                  <a:avLst/>
                </a:prstGeom>
                <a:blipFill>
                  <a:blip r:embed="rId4"/>
                  <a:stretch>
                    <a:fillRect l="-10000" t="-4545" r="-17500" b="-3636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9">
              <a:extLst>
                <a:ext uri="{FF2B5EF4-FFF2-40B4-BE49-F238E27FC236}">
                  <a16:creationId xmlns:a16="http://schemas.microsoft.com/office/drawing/2014/main" id="{4660056D-AEFB-59A2-497E-40B6FD9985BF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>
              <a:off x="11137909" y="1054563"/>
              <a:ext cx="3" cy="7035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ing 10">
              <a:extLst>
                <a:ext uri="{FF2B5EF4-FFF2-40B4-BE49-F238E27FC236}">
                  <a16:creationId xmlns:a16="http://schemas.microsoft.com/office/drawing/2014/main" id="{8F6DD79A-D40B-80BB-8A2B-DCFDF39CD0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7019" y="967348"/>
              <a:ext cx="89999" cy="89999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12" name="Gerade Verbindung 11">
              <a:extLst>
                <a:ext uri="{FF2B5EF4-FFF2-40B4-BE49-F238E27FC236}">
                  <a16:creationId xmlns:a16="http://schemas.microsoft.com/office/drawing/2014/main" id="{9D8D50DB-A1BF-3B0E-402E-CA77D5E7D5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2019" y="1758157"/>
              <a:ext cx="400589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21AFDA25-DA1D-1DD2-C75D-88F58BBFD556}"/>
                </a:ext>
              </a:extLst>
            </p:cNvPr>
            <p:cNvCxnSpPr>
              <a:cxnSpLocks/>
              <a:endCxn id="11" idx="4"/>
            </p:cNvCxnSpPr>
            <p:nvPr/>
          </p:nvCxnSpPr>
          <p:spPr>
            <a:xfrm flipV="1">
              <a:off x="7132019" y="1057347"/>
              <a:ext cx="0" cy="7008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845D59F2-9760-609C-07DD-A27189EAB1B5}"/>
                </a:ext>
              </a:extLst>
            </p:cNvPr>
            <p:cNvCxnSpPr>
              <a:stCxn id="11" idx="6"/>
              <a:endCxn id="6" idx="1"/>
            </p:cNvCxnSpPr>
            <p:nvPr/>
          </p:nvCxnSpPr>
          <p:spPr>
            <a:xfrm>
              <a:off x="7177019" y="1012349"/>
              <a:ext cx="698596" cy="2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5955F69E-23D3-93B7-71C2-57A12381B58F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6248031" y="1010178"/>
              <a:ext cx="838988" cy="21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95A62755-B8D5-3B04-BC74-3148E84BC684}"/>
                    </a:ext>
                  </a:extLst>
                </p:cNvPr>
                <p:cNvSpPr txBox="1"/>
                <p:nvPr/>
              </p:nvSpPr>
              <p:spPr>
                <a:xfrm>
                  <a:off x="6096000" y="665713"/>
                  <a:ext cx="505203" cy="2769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95A62755-B8D5-3B04-BC74-3148E84BC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665713"/>
                  <a:ext cx="505203" cy="276996"/>
                </a:xfrm>
                <a:prstGeom prst="rect">
                  <a:avLst/>
                </a:prstGeom>
                <a:blipFill>
                  <a:blip r:embed="rId5"/>
                  <a:stretch>
                    <a:fillRect l="-10000" r="-17500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3E8904D4-DB88-0EB4-F25D-4468A0AFCF26}"/>
                    </a:ext>
                  </a:extLst>
                </p:cNvPr>
                <p:cNvSpPr txBox="1"/>
                <p:nvPr/>
              </p:nvSpPr>
              <p:spPr>
                <a:xfrm>
                  <a:off x="7173227" y="1120968"/>
                  <a:ext cx="219612" cy="2769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3E8904D4-DB88-0EB4-F25D-4468A0AFC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3227" y="1120968"/>
                  <a:ext cx="219612" cy="276996"/>
                </a:xfrm>
                <a:prstGeom prst="rect">
                  <a:avLst/>
                </a:prstGeom>
                <a:blipFill>
                  <a:blip r:embed="rId6"/>
                  <a:stretch>
                    <a:fillRect l="-11111" r="-555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Prozess 17">
                  <a:extLst>
                    <a:ext uri="{FF2B5EF4-FFF2-40B4-BE49-F238E27FC236}">
                      <a16:creationId xmlns:a16="http://schemas.microsoft.com/office/drawing/2014/main" id="{718ED1A4-EE2A-DC4E-44E4-BD78D438C351}"/>
                    </a:ext>
                  </a:extLst>
                </p:cNvPr>
                <p:cNvSpPr/>
                <p:nvPr/>
              </p:nvSpPr>
              <p:spPr>
                <a:xfrm>
                  <a:off x="9488283" y="708526"/>
                  <a:ext cx="914400" cy="611994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Prozess 17">
                  <a:extLst>
                    <a:ext uri="{FF2B5EF4-FFF2-40B4-BE49-F238E27FC236}">
                      <a16:creationId xmlns:a16="http://schemas.microsoft.com/office/drawing/2014/main" id="{718ED1A4-EE2A-DC4E-44E4-BD78D438C3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8283" y="708526"/>
                  <a:ext cx="914400" cy="611994"/>
                </a:xfrm>
                <a:prstGeom prst="flowChartProcess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58CC5D31-9522-D856-A4A5-BAF1E4CF1BA7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8787922" y="1011001"/>
              <a:ext cx="700361" cy="35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DEC0F9F1-0015-5965-47BF-E4318C1E3155}"/>
                </a:ext>
              </a:extLst>
            </p:cNvPr>
            <p:cNvCxnSpPr/>
            <p:nvPr/>
          </p:nvCxnSpPr>
          <p:spPr>
            <a:xfrm>
              <a:off x="10408352" y="1012592"/>
              <a:ext cx="698596" cy="2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402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5D6CDA-5613-13B6-A12F-F964112C8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Disturbance</a:t>
            </a:r>
            <a:r>
              <a:rPr lang="de-DE" dirty="0"/>
              <a:t> </a:t>
            </a:r>
            <a:r>
              <a:rPr lang="de-DE" dirty="0" err="1"/>
              <a:t>Rejection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A988EF8-7026-5678-C939-1A00A4DDA1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Response </a:t>
                </a:r>
                <a:r>
                  <a:rPr lang="de-DE" dirty="0" err="1"/>
                  <a:t>to</a:t>
                </a:r>
                <a:r>
                  <a:rPr lang="de-DE" dirty="0"/>
                  <a:t> external </a:t>
                </a:r>
                <a:r>
                  <a:rPr lang="de-DE" dirty="0" err="1"/>
                  <a:t>disturbances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disturbance</a:t>
                </a:r>
                <a:r>
                  <a:rPr lang="de-DE" dirty="0"/>
                  <a:t> </a:t>
                </a:r>
                <a:r>
                  <a:rPr lang="de-DE" dirty="0" err="1"/>
                  <a:t>enters</a:t>
                </a:r>
                <a:r>
                  <a:rPr lang="de-DE" dirty="0"/>
                  <a:t> at plant </a:t>
                </a:r>
                <a:r>
                  <a:rPr lang="de-DE" dirty="0" err="1"/>
                  <a:t>input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)∙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Disturbance</a:t>
                </a:r>
                <a:r>
                  <a:rPr lang="de-DE" dirty="0"/>
                  <a:t> </a:t>
                </a:r>
                <a:r>
                  <a:rPr lang="de-DE" dirty="0" err="1"/>
                  <a:t>sensitivity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High loop </a:t>
                </a:r>
                <a:r>
                  <a:rPr lang="de-DE" dirty="0" err="1"/>
                  <a:t>gain</a:t>
                </a:r>
                <a:r>
                  <a:rPr lang="de-DE" dirty="0"/>
                  <a:t> (</a:t>
                </a:r>
                <a:r>
                  <a:rPr lang="de-DE" dirty="0" err="1"/>
                  <a:t>small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) </a:t>
                </a:r>
                <a:r>
                  <a:rPr lang="de-DE" dirty="0" err="1"/>
                  <a:t>improves</a:t>
                </a:r>
                <a:r>
                  <a:rPr lang="de-DE" dirty="0"/>
                  <a:t> </a:t>
                </a:r>
                <a:r>
                  <a:rPr lang="de-DE" dirty="0" err="1"/>
                  <a:t>disturbance</a:t>
                </a:r>
                <a:r>
                  <a:rPr lang="de-DE" dirty="0"/>
                  <a:t> </a:t>
                </a:r>
                <a:r>
                  <a:rPr lang="de-DE" dirty="0" err="1"/>
                  <a:t>rejection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A988EF8-7026-5678-C939-1A00A4DDA1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1086" t="-33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235B7E-4A8E-FB18-44F1-A35F4584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7A95552D-904F-B389-CE84-D1BBBB8B8484}"/>
              </a:ext>
            </a:extLst>
          </p:cNvPr>
          <p:cNvGrpSpPr/>
          <p:nvPr/>
        </p:nvGrpSpPr>
        <p:grpSpPr>
          <a:xfrm>
            <a:off x="6175617" y="891442"/>
            <a:ext cx="5985905" cy="1572130"/>
            <a:chOff x="6175617" y="891442"/>
            <a:chExt cx="5985905" cy="15721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Prozess 5">
                  <a:extLst>
                    <a:ext uri="{FF2B5EF4-FFF2-40B4-BE49-F238E27FC236}">
                      <a16:creationId xmlns:a16="http://schemas.microsoft.com/office/drawing/2014/main" id="{0A7D9451-F0E2-41FA-0BFF-FE07F15DF267}"/>
                    </a:ext>
                  </a:extLst>
                </p:cNvPr>
                <p:cNvSpPr/>
                <p:nvPr/>
              </p:nvSpPr>
              <p:spPr>
                <a:xfrm>
                  <a:off x="7955234" y="1413941"/>
                  <a:ext cx="914400" cy="612642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Prozess 5">
                  <a:extLst>
                    <a:ext uri="{FF2B5EF4-FFF2-40B4-BE49-F238E27FC236}">
                      <a16:creationId xmlns:a16="http://schemas.microsoft.com/office/drawing/2014/main" id="{0A7D9451-F0E2-41FA-0BFF-FE07F15DF2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5234" y="1413941"/>
                  <a:ext cx="914400" cy="612642"/>
                </a:xfrm>
                <a:prstGeom prst="flowChartProcess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Verbindungsstelle 6">
              <a:extLst>
                <a:ext uri="{FF2B5EF4-FFF2-40B4-BE49-F238E27FC236}">
                  <a16:creationId xmlns:a16="http://schemas.microsoft.com/office/drawing/2014/main" id="{8239D229-46C4-E663-D4A6-B90A3FF87E0C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11173143" y="1671207"/>
              <a:ext cx="88772" cy="88771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F4966CDF-EB33-C9F6-371C-6F9B4973ED4B}"/>
                </a:ext>
              </a:extLst>
            </p:cNvPr>
            <p:cNvCxnSpPr>
              <a:cxnSpLocks/>
            </p:cNvCxnSpPr>
            <p:nvPr/>
          </p:nvCxnSpPr>
          <p:spPr>
            <a:xfrm>
              <a:off x="11217528" y="1715593"/>
              <a:ext cx="828436" cy="1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95D82C9D-3BE6-CFDE-D6BE-3FA395274A2A}"/>
                    </a:ext>
                  </a:extLst>
                </p:cNvPr>
                <p:cNvSpPr txBox="1"/>
                <p:nvPr/>
              </p:nvSpPr>
              <p:spPr>
                <a:xfrm>
                  <a:off x="11665424" y="1374239"/>
                  <a:ext cx="496098" cy="2769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95D82C9D-3BE6-CFDE-D6BE-3FA395274A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5424" y="1374239"/>
                  <a:ext cx="496098" cy="276996"/>
                </a:xfrm>
                <a:prstGeom prst="rect">
                  <a:avLst/>
                </a:prstGeom>
                <a:blipFill>
                  <a:blip r:embed="rId4"/>
                  <a:stretch>
                    <a:fillRect l="-10000" t="-4348" r="-17500" b="-3043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9">
              <a:extLst>
                <a:ext uri="{FF2B5EF4-FFF2-40B4-BE49-F238E27FC236}">
                  <a16:creationId xmlns:a16="http://schemas.microsoft.com/office/drawing/2014/main" id="{A4710D30-8E1F-D7E3-0844-260260CDCE60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>
              <a:off x="11217526" y="1759978"/>
              <a:ext cx="3" cy="7035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ing 10">
              <a:extLst>
                <a:ext uri="{FF2B5EF4-FFF2-40B4-BE49-F238E27FC236}">
                  <a16:creationId xmlns:a16="http://schemas.microsoft.com/office/drawing/2014/main" id="{EFAABA1A-8ED7-AD20-EB00-8F5752D05E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66636" y="1672763"/>
              <a:ext cx="89999" cy="89999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12" name="Gerade Verbindung 11">
              <a:extLst>
                <a:ext uri="{FF2B5EF4-FFF2-40B4-BE49-F238E27FC236}">
                  <a16:creationId xmlns:a16="http://schemas.microsoft.com/office/drawing/2014/main" id="{ABBA0D3F-8CC1-B4F0-EB9C-1EDC5DE137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1636" y="2463572"/>
              <a:ext cx="400589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711C6C9E-71ED-1B9A-4305-A6F9C116C955}"/>
                </a:ext>
              </a:extLst>
            </p:cNvPr>
            <p:cNvCxnSpPr>
              <a:cxnSpLocks/>
              <a:endCxn id="11" idx="4"/>
            </p:cNvCxnSpPr>
            <p:nvPr/>
          </p:nvCxnSpPr>
          <p:spPr>
            <a:xfrm flipV="1">
              <a:off x="7211636" y="1762762"/>
              <a:ext cx="0" cy="7008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5CB80201-5559-1048-D8DC-B18C2F0D5B21}"/>
                </a:ext>
              </a:extLst>
            </p:cNvPr>
            <p:cNvCxnSpPr>
              <a:stCxn id="11" idx="6"/>
              <a:endCxn id="6" idx="1"/>
            </p:cNvCxnSpPr>
            <p:nvPr/>
          </p:nvCxnSpPr>
          <p:spPr>
            <a:xfrm>
              <a:off x="7256636" y="1717764"/>
              <a:ext cx="698596" cy="2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1D7C5CE0-50C1-F7F3-2631-2E278D1C9181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6327648" y="1715593"/>
              <a:ext cx="838988" cy="217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E8718E17-77DF-DF11-662D-455B906DA137}"/>
                    </a:ext>
                  </a:extLst>
                </p:cNvPr>
                <p:cNvSpPr txBox="1"/>
                <p:nvPr/>
              </p:nvSpPr>
              <p:spPr>
                <a:xfrm>
                  <a:off x="6175617" y="1371128"/>
                  <a:ext cx="505203" cy="2769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E8718E17-77DF-DF11-662D-455B906DA1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5617" y="1371128"/>
                  <a:ext cx="505203" cy="276996"/>
                </a:xfrm>
                <a:prstGeom prst="rect">
                  <a:avLst/>
                </a:prstGeom>
                <a:blipFill>
                  <a:blip r:embed="rId5"/>
                  <a:stretch>
                    <a:fillRect l="-12195" t="-4545" r="-14634" b="-3636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DB3AA59-8A68-6A35-21F8-2BCBE6A2C79C}"/>
                    </a:ext>
                  </a:extLst>
                </p:cNvPr>
                <p:cNvSpPr txBox="1"/>
                <p:nvPr/>
              </p:nvSpPr>
              <p:spPr>
                <a:xfrm>
                  <a:off x="7252844" y="1826383"/>
                  <a:ext cx="219612" cy="2769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2DB3AA59-8A68-6A35-21F8-2BCBE6A2C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2844" y="1826383"/>
                  <a:ext cx="219612" cy="276996"/>
                </a:xfrm>
                <a:prstGeom prst="rect">
                  <a:avLst/>
                </a:prstGeom>
                <a:blipFill>
                  <a:blip r:embed="rId6"/>
                  <a:stretch>
                    <a:fillRect l="-11111" r="-555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Prozess 17">
                  <a:extLst>
                    <a:ext uri="{FF2B5EF4-FFF2-40B4-BE49-F238E27FC236}">
                      <a16:creationId xmlns:a16="http://schemas.microsoft.com/office/drawing/2014/main" id="{628F9D4E-17C7-16AE-E31D-95A8E003D7A6}"/>
                    </a:ext>
                  </a:extLst>
                </p:cNvPr>
                <p:cNvSpPr/>
                <p:nvPr/>
              </p:nvSpPr>
              <p:spPr>
                <a:xfrm>
                  <a:off x="9567900" y="1413941"/>
                  <a:ext cx="914400" cy="611994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Prozess 17">
                  <a:extLst>
                    <a:ext uri="{FF2B5EF4-FFF2-40B4-BE49-F238E27FC236}">
                      <a16:creationId xmlns:a16="http://schemas.microsoft.com/office/drawing/2014/main" id="{628F9D4E-17C7-16AE-E31D-95A8E003D7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7900" y="1413941"/>
                  <a:ext cx="914400" cy="611994"/>
                </a:xfrm>
                <a:prstGeom prst="flowChartProcess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ing 18">
              <a:extLst>
                <a:ext uri="{FF2B5EF4-FFF2-40B4-BE49-F238E27FC236}">
                  <a16:creationId xmlns:a16="http://schemas.microsoft.com/office/drawing/2014/main" id="{AF8FA97F-FAA6-F0CE-0060-EFC41EAC92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7933" y="1674439"/>
              <a:ext cx="89999" cy="89999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8BD94C35-66FD-B2D2-3741-E7CE98056C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634" y="1715593"/>
              <a:ext cx="298299" cy="8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814D1B0B-3568-DDC9-5E6F-9A1CFA3C90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67539" y="1715593"/>
              <a:ext cx="298299" cy="8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BFB843DB-3EA2-1E8F-7B7D-451F919CE5E1}"/>
                </a:ext>
              </a:extLst>
            </p:cNvPr>
            <p:cNvCxnSpPr>
              <a:endCxn id="19" idx="0"/>
            </p:cNvCxnSpPr>
            <p:nvPr/>
          </p:nvCxnSpPr>
          <p:spPr>
            <a:xfrm>
              <a:off x="9212935" y="1178929"/>
              <a:ext cx="0" cy="4955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B7F4F484-9B46-AFB2-EDF7-1952FCBAE48E}"/>
                    </a:ext>
                  </a:extLst>
                </p:cNvPr>
                <p:cNvSpPr txBox="1"/>
                <p:nvPr/>
              </p:nvSpPr>
              <p:spPr>
                <a:xfrm>
                  <a:off x="9076452" y="891442"/>
                  <a:ext cx="295273" cy="2769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B7F4F484-9B46-AFB2-EDF7-1952FCBAE4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6452" y="891442"/>
                  <a:ext cx="295273" cy="276996"/>
                </a:xfrm>
                <a:prstGeom prst="rect">
                  <a:avLst/>
                </a:prstGeom>
                <a:blipFill>
                  <a:blip r:embed="rId8"/>
                  <a:stretch>
                    <a:fillRect l="-25000" t="-4348" r="-95833" b="-3043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84D9AA4C-84AA-D550-A080-3EA3B5B1AFC1}"/>
                </a:ext>
              </a:extLst>
            </p:cNvPr>
            <p:cNvCxnSpPr/>
            <p:nvPr/>
          </p:nvCxnSpPr>
          <p:spPr>
            <a:xfrm>
              <a:off x="10487969" y="1718007"/>
              <a:ext cx="698596" cy="249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6405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1DDF4-C472-55A2-F436-F0411657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Sensitivity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F075915-A5A5-515D-255C-C8B0D195F9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Measure </a:t>
                </a:r>
                <a:r>
                  <a:rPr lang="de-DE" sz="2600" dirty="0" err="1"/>
                  <a:t>effect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disturbances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uncertainties</a:t>
                </a:r>
                <a:r>
                  <a:rPr lang="de-DE" sz="2600" dirty="0"/>
                  <a:t> on </a:t>
                </a:r>
                <a:r>
                  <a:rPr lang="de-DE" sz="2600" dirty="0" err="1"/>
                  <a:t>closed</a:t>
                </a:r>
                <a:r>
                  <a:rPr lang="de-DE" sz="2600" dirty="0"/>
                  <a:t>-loop </a:t>
                </a:r>
                <a:r>
                  <a:rPr lang="de-DE" sz="2600" dirty="0" err="1"/>
                  <a:t>system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r>
                  <a:rPr lang="de-DE" sz="2600" dirty="0" err="1"/>
                  <a:t>Sensitivity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function</a:t>
                </a:r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r>
                      <a:rPr lang="de-DE" sz="26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de-DE" sz="2600" dirty="0"/>
              </a:p>
              <a:p>
                <a:r>
                  <a:rPr lang="de-DE" sz="2600" dirty="0" err="1"/>
                  <a:t>Complementary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sensitivity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function</a:t>
                </a:r>
                <a:r>
                  <a:rPr lang="de-DE" sz="2600" dirty="0"/>
                  <a:t>: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describe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how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signals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propagate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through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feedback</a:t>
                </a:r>
                <a:r>
                  <a:rPr lang="de-DE" sz="2600" dirty="0"/>
                  <a:t> loop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F075915-A5A5-515D-255C-C8B0D195F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r="-6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7D1837-255E-6C10-A17B-BA21CBEB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757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03DF5-497F-9685-4780-2C2A9C3E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Measurement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C9504DD-4EF8-619E-0DEF-7E1C9B49F7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For </a:t>
                </a:r>
                <a:r>
                  <a:rPr lang="de-DE" sz="2400" dirty="0" err="1"/>
                  <a:t>measurement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noise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added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sensor</a:t>
                </a:r>
                <a:r>
                  <a:rPr lang="de-DE" sz="2400" dirty="0"/>
                  <a:t>:</a:t>
                </a:r>
                <a:endParaRPr lang="de-DE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)∙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Noise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interpreted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controller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output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Negative </a:t>
                </a:r>
                <a:r>
                  <a:rPr lang="de-DE" sz="2400" dirty="0" err="1"/>
                  <a:t>sign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comes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from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feedback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subtraction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/>
                  <a:t>Large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2400" dirty="0"/>
                  <a:t> (high loop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): </a:t>
                </a:r>
                <a:r>
                  <a:rPr lang="de-DE" sz="2400" dirty="0" err="1"/>
                  <a:t>noise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amplification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small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2400" dirty="0"/>
                  <a:t>: </a:t>
                </a:r>
                <a:r>
                  <a:rPr lang="de-DE" sz="2400" dirty="0" err="1"/>
                  <a:t>noise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attenuation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But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dirty="0"/>
                  <a:t> required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good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tracking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higher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noise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sensitivity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C9504DD-4EF8-619E-0DEF-7E1C9B49F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5D3A9EC-01FB-096C-BF0A-39105082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rozess 24">
                <a:extLst>
                  <a:ext uri="{FF2B5EF4-FFF2-40B4-BE49-F238E27FC236}">
                    <a16:creationId xmlns:a16="http://schemas.microsoft.com/office/drawing/2014/main" id="{D296845D-BD66-7E1B-7C31-B1EC630230C2}"/>
                  </a:ext>
                </a:extLst>
              </p:cNvPr>
              <p:cNvSpPr/>
              <p:nvPr/>
            </p:nvSpPr>
            <p:spPr>
              <a:xfrm>
                <a:off x="7955234" y="753541"/>
                <a:ext cx="914400" cy="612642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Prozess 24">
                <a:extLst>
                  <a:ext uri="{FF2B5EF4-FFF2-40B4-BE49-F238E27FC236}">
                    <a16:creationId xmlns:a16="http://schemas.microsoft.com/office/drawing/2014/main" id="{D296845D-BD66-7E1B-7C31-B1EC630230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34" y="753541"/>
                <a:ext cx="914400" cy="612642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Verbindungsstelle 25">
            <a:extLst>
              <a:ext uri="{FF2B5EF4-FFF2-40B4-BE49-F238E27FC236}">
                <a16:creationId xmlns:a16="http://schemas.microsoft.com/office/drawing/2014/main" id="{DC476DC1-6D8C-3E0E-4504-B152AD6F3215}"/>
              </a:ext>
            </a:extLst>
          </p:cNvPr>
          <p:cNvSpPr>
            <a:spLocks noChangeAspect="1"/>
          </p:cNvSpPr>
          <p:nvPr/>
        </p:nvSpPr>
        <p:spPr>
          <a:xfrm flipV="1">
            <a:off x="11173143" y="1010807"/>
            <a:ext cx="88772" cy="88771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58B8B85-DAF0-120E-E031-C3A7DEF8DC33}"/>
              </a:ext>
            </a:extLst>
          </p:cNvPr>
          <p:cNvCxnSpPr>
            <a:cxnSpLocks/>
          </p:cNvCxnSpPr>
          <p:nvPr/>
        </p:nvCxnSpPr>
        <p:spPr>
          <a:xfrm>
            <a:off x="11217528" y="1055193"/>
            <a:ext cx="828436" cy="15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A1795965-F425-7A5C-6BD1-40C0770CF6A7}"/>
                  </a:ext>
                </a:extLst>
              </p:cNvPr>
              <p:cNvSpPr txBox="1"/>
              <p:nvPr/>
            </p:nvSpPr>
            <p:spPr>
              <a:xfrm>
                <a:off x="11665424" y="713839"/>
                <a:ext cx="496098" cy="276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A1795965-F425-7A5C-6BD1-40C0770CF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5424" y="713839"/>
                <a:ext cx="496098" cy="276996"/>
              </a:xfrm>
              <a:prstGeom prst="rect">
                <a:avLst/>
              </a:prstGeom>
              <a:blipFill>
                <a:blip r:embed="rId4"/>
                <a:stretch>
                  <a:fillRect l="-10000" t="-4348" r="-17500" b="-304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2A565038-CF4B-7B53-8E55-9481A31BEB2A}"/>
              </a:ext>
            </a:extLst>
          </p:cNvPr>
          <p:cNvCxnSpPr>
            <a:cxnSpLocks/>
            <a:stCxn id="26" idx="0"/>
          </p:cNvCxnSpPr>
          <p:nvPr/>
        </p:nvCxnSpPr>
        <p:spPr>
          <a:xfrm flipH="1">
            <a:off x="11217526" y="1099578"/>
            <a:ext cx="3" cy="7035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ng 29">
            <a:extLst>
              <a:ext uri="{FF2B5EF4-FFF2-40B4-BE49-F238E27FC236}">
                <a16:creationId xmlns:a16="http://schemas.microsoft.com/office/drawing/2014/main" id="{1911B839-EF5E-2916-3ED5-EAC2389636C9}"/>
              </a:ext>
            </a:extLst>
          </p:cNvPr>
          <p:cNvSpPr>
            <a:spLocks noChangeAspect="1"/>
          </p:cNvSpPr>
          <p:nvPr/>
        </p:nvSpPr>
        <p:spPr>
          <a:xfrm>
            <a:off x="7166636" y="1012363"/>
            <a:ext cx="89999" cy="89999"/>
          </a:xfrm>
          <a:prstGeom prst="donu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31" name="Gerade Verbindung 30">
            <a:extLst>
              <a:ext uri="{FF2B5EF4-FFF2-40B4-BE49-F238E27FC236}">
                <a16:creationId xmlns:a16="http://schemas.microsoft.com/office/drawing/2014/main" id="{31CC7090-8E9B-7FE4-0962-E1F996138469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7211636" y="1799043"/>
            <a:ext cx="196668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63907DA5-A27D-A3FA-DBAB-3127943698E0}"/>
              </a:ext>
            </a:extLst>
          </p:cNvPr>
          <p:cNvCxnSpPr>
            <a:cxnSpLocks/>
            <a:endCxn id="30" idx="4"/>
          </p:cNvCxnSpPr>
          <p:nvPr/>
        </p:nvCxnSpPr>
        <p:spPr>
          <a:xfrm flipV="1">
            <a:off x="7211636" y="1102362"/>
            <a:ext cx="0" cy="700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ED655202-4EEF-B152-465F-E46955F321C9}"/>
              </a:ext>
            </a:extLst>
          </p:cNvPr>
          <p:cNvCxnSpPr>
            <a:stCxn id="30" idx="6"/>
            <a:endCxn id="25" idx="1"/>
          </p:cNvCxnSpPr>
          <p:nvPr/>
        </p:nvCxnSpPr>
        <p:spPr>
          <a:xfrm>
            <a:off x="7256636" y="1057364"/>
            <a:ext cx="698596" cy="2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95CAF6B7-87B8-E9D7-35D4-7079E948EE49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6327648" y="1055193"/>
            <a:ext cx="838988" cy="2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473472E1-636F-72BA-BE0E-97A57E015067}"/>
                  </a:ext>
                </a:extLst>
              </p:cNvPr>
              <p:cNvSpPr txBox="1"/>
              <p:nvPr/>
            </p:nvSpPr>
            <p:spPr>
              <a:xfrm>
                <a:off x="6175617" y="710728"/>
                <a:ext cx="505203" cy="276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473472E1-636F-72BA-BE0E-97A57E015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617" y="710728"/>
                <a:ext cx="505203" cy="276996"/>
              </a:xfrm>
              <a:prstGeom prst="rect">
                <a:avLst/>
              </a:prstGeom>
              <a:blipFill>
                <a:blip r:embed="rId5"/>
                <a:stretch>
                  <a:fillRect l="-12195" t="-4545" r="-14634" b="-363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28CF6721-E03C-7768-1CF6-FA4F60494E3E}"/>
                  </a:ext>
                </a:extLst>
              </p:cNvPr>
              <p:cNvSpPr txBox="1"/>
              <p:nvPr/>
            </p:nvSpPr>
            <p:spPr>
              <a:xfrm>
                <a:off x="7252844" y="1165983"/>
                <a:ext cx="219612" cy="276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28CF6721-E03C-7768-1CF6-FA4F6049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844" y="1165983"/>
                <a:ext cx="219612" cy="276996"/>
              </a:xfrm>
              <a:prstGeom prst="rect">
                <a:avLst/>
              </a:prstGeom>
              <a:blipFill>
                <a:blip r:embed="rId6"/>
                <a:stretch>
                  <a:fillRect l="-11111" r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Prozess 36">
                <a:extLst>
                  <a:ext uri="{FF2B5EF4-FFF2-40B4-BE49-F238E27FC236}">
                    <a16:creationId xmlns:a16="http://schemas.microsoft.com/office/drawing/2014/main" id="{27EBBD9B-819D-B201-E32E-FA96188B296D}"/>
                  </a:ext>
                </a:extLst>
              </p:cNvPr>
              <p:cNvSpPr/>
              <p:nvPr/>
            </p:nvSpPr>
            <p:spPr>
              <a:xfrm>
                <a:off x="9567900" y="753541"/>
                <a:ext cx="914400" cy="611994"/>
              </a:xfrm>
              <a:prstGeom prst="flowChartProcess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Prozess 36">
                <a:extLst>
                  <a:ext uri="{FF2B5EF4-FFF2-40B4-BE49-F238E27FC236}">
                    <a16:creationId xmlns:a16="http://schemas.microsoft.com/office/drawing/2014/main" id="{27EBBD9B-819D-B201-E32E-FA96188B2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900" y="753541"/>
                <a:ext cx="914400" cy="611994"/>
              </a:xfrm>
              <a:prstGeom prst="flowChartProcess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48F3D98C-767C-3A7F-8DE6-75AEA00A14FE}"/>
              </a:ext>
            </a:extLst>
          </p:cNvPr>
          <p:cNvCxnSpPr/>
          <p:nvPr/>
        </p:nvCxnSpPr>
        <p:spPr>
          <a:xfrm>
            <a:off x="10487969" y="1057607"/>
            <a:ext cx="698596" cy="2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EED32C9D-B1B0-5133-6006-21CFFA451EA6}"/>
              </a:ext>
            </a:extLst>
          </p:cNvPr>
          <p:cNvCxnSpPr/>
          <p:nvPr/>
        </p:nvCxnSpPr>
        <p:spPr>
          <a:xfrm>
            <a:off x="8873181" y="1055192"/>
            <a:ext cx="698596" cy="2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965B9B77-FBF7-7A7B-652C-F217225A1C1B}"/>
              </a:ext>
            </a:extLst>
          </p:cNvPr>
          <p:cNvCxnSpPr>
            <a:cxnSpLocks/>
          </p:cNvCxnSpPr>
          <p:nvPr/>
        </p:nvCxnSpPr>
        <p:spPr>
          <a:xfrm flipV="1">
            <a:off x="9224741" y="1833882"/>
            <a:ext cx="0" cy="4625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07200018-9453-91F4-276E-6273999535ED}"/>
                  </a:ext>
                </a:extLst>
              </p:cNvPr>
              <p:cNvSpPr txBox="1"/>
              <p:nvPr/>
            </p:nvSpPr>
            <p:spPr>
              <a:xfrm>
                <a:off x="8821267" y="2296410"/>
                <a:ext cx="806948" cy="276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07200018-9453-91F4-276E-627399953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267" y="2296410"/>
                <a:ext cx="806948" cy="276996"/>
              </a:xfrm>
              <a:prstGeom prst="rect">
                <a:avLst/>
              </a:prstGeom>
              <a:blipFill>
                <a:blip r:embed="rId8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ng 54">
            <a:extLst>
              <a:ext uri="{FF2B5EF4-FFF2-40B4-BE49-F238E27FC236}">
                <a16:creationId xmlns:a16="http://schemas.microsoft.com/office/drawing/2014/main" id="{DC1390B6-3D90-A7B7-E290-336C18F32D30}"/>
              </a:ext>
            </a:extLst>
          </p:cNvPr>
          <p:cNvSpPr>
            <a:spLocks noChangeAspect="1"/>
          </p:cNvSpPr>
          <p:nvPr/>
        </p:nvSpPr>
        <p:spPr>
          <a:xfrm>
            <a:off x="9178316" y="1754043"/>
            <a:ext cx="89999" cy="89999"/>
          </a:xfrm>
          <a:prstGeom prst="donut">
            <a:avLst>
              <a:gd name="adj" fmla="val 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62" name="Gerade Verbindung 61">
            <a:extLst>
              <a:ext uri="{FF2B5EF4-FFF2-40B4-BE49-F238E27FC236}">
                <a16:creationId xmlns:a16="http://schemas.microsoft.com/office/drawing/2014/main" id="{BD8DBFBC-C1FB-C571-AF0D-00E5BEDFD42D}"/>
              </a:ext>
            </a:extLst>
          </p:cNvPr>
          <p:cNvCxnSpPr>
            <a:cxnSpLocks/>
          </p:cNvCxnSpPr>
          <p:nvPr/>
        </p:nvCxnSpPr>
        <p:spPr>
          <a:xfrm flipH="1">
            <a:off x="9250846" y="1804125"/>
            <a:ext cx="196668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8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B3313-8B53-952E-7472-88BEF019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Trade-Off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5D462BA-7603-D319-52E0-A2C21EAABE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	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If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small</a:t>
                </a:r>
                <a:r>
                  <a:rPr lang="de-DE" sz="2400" dirty="0"/>
                  <a:t> at </a:t>
                </a:r>
                <a:r>
                  <a:rPr lang="de-DE" sz="2400" dirty="0" err="1"/>
                  <a:t>some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,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must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near</a:t>
                </a:r>
                <a:r>
                  <a:rPr lang="de-DE" sz="2400" dirty="0"/>
                  <a:t> 1 (and vice </a:t>
                </a:r>
                <a:r>
                  <a:rPr lang="de-DE" sz="2400" dirty="0" err="1"/>
                  <a:t>versa</a:t>
                </a:r>
                <a:r>
                  <a:rPr lang="de-DE" sz="2400" dirty="0"/>
                  <a:t>)</a:t>
                </a: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Improving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disturbance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rejection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inevitably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affects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noise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sensitivity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Typical</a:t>
                </a:r>
                <a:r>
                  <a:rPr lang="de-DE" sz="2400" dirty="0"/>
                  <a:t> design </a:t>
                </a:r>
                <a:r>
                  <a:rPr lang="de-DE" sz="2400" dirty="0" err="1"/>
                  <a:t>goal</a:t>
                </a:r>
                <a:r>
                  <a:rPr lang="de-DE" sz="2400" dirty="0"/>
                  <a:t>:</a:t>
                </a:r>
              </a:p>
              <a:p>
                <a:r>
                  <a:rPr lang="de-DE" sz="2400" dirty="0"/>
                  <a:t>Low </a:t>
                </a:r>
                <a:r>
                  <a:rPr lang="de-DE" sz="2400" dirty="0" err="1"/>
                  <a:t>frequencies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make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de-DE" sz="2400" dirty="0"/>
                  <a:t> large </a:t>
                </a:r>
                <a:r>
                  <a:rPr lang="de-DE" sz="2400" dirty="0">
                    <a:sym typeface="Wingdings" pitchFamily="2" charset="2"/>
                  </a:rPr>
                  <a:t>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small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good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tracking</a:t>
                </a:r>
                <a:r>
                  <a:rPr lang="de-DE" sz="2400" dirty="0"/>
                  <a:t> and </a:t>
                </a:r>
                <a:r>
                  <a:rPr lang="de-DE" sz="2400" dirty="0" err="1"/>
                  <a:t>disturbance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rejection</a:t>
                </a:r>
                <a:endParaRPr lang="de-DE" sz="2400" dirty="0"/>
              </a:p>
              <a:p>
                <a:r>
                  <a:rPr lang="de-DE" sz="2400" dirty="0"/>
                  <a:t>High </a:t>
                </a:r>
                <a:r>
                  <a:rPr lang="de-DE" sz="2400" dirty="0" err="1"/>
                  <a:t>frequencies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make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small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small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suppress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measurement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noise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/>
                  <a:t>Controller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designed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shape</a:t>
                </a:r>
                <a:r>
                  <a:rPr lang="de-DE" sz="2400" dirty="0"/>
                  <a:t> loop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achieve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this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5D462BA-7603-D319-52E0-A2C21EAABE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r="-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131F55-2525-457A-E453-6FE31673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6645750-740B-7872-739A-7EEB1CFD5D0A}"/>
                  </a:ext>
                </a:extLst>
              </p:cNvPr>
              <p:cNvSpPr txBox="1"/>
              <p:nvPr/>
            </p:nvSpPr>
            <p:spPr>
              <a:xfrm>
                <a:off x="6156960" y="365125"/>
                <a:ext cx="519684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de-DE" sz="220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how</a:t>
                </a:r>
                <a:r>
                  <a:rPr lang="de-DE" sz="2200" dirty="0"/>
                  <a:t> </a:t>
                </a:r>
                <a:r>
                  <a:rPr lang="de-DE" sz="2200" dirty="0" err="1"/>
                  <a:t>disturbances</a:t>
                </a:r>
                <a:r>
                  <a:rPr lang="de-DE" sz="2200" dirty="0"/>
                  <a:t> </a:t>
                </a:r>
                <a:r>
                  <a:rPr lang="de-DE" sz="2200" dirty="0" err="1"/>
                  <a:t>affect</a:t>
                </a:r>
                <a:r>
                  <a:rPr lang="de-DE" sz="2200" dirty="0"/>
                  <a:t> </a:t>
                </a:r>
                <a:r>
                  <a:rPr lang="de-DE" sz="2200" dirty="0" err="1"/>
                  <a:t>the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output</a:t>
                </a:r>
                <a:endParaRPr lang="de-DE" sz="2200" dirty="0"/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de-DE" sz="22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DE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sz="2200" dirty="0"/>
                  <a:t>: </a:t>
                </a:r>
                <a:r>
                  <a:rPr lang="de-DE" sz="2200" dirty="0" err="1"/>
                  <a:t>how</a:t>
                </a:r>
                <a:r>
                  <a:rPr lang="de-DE" sz="2200" dirty="0"/>
                  <a:t> </a:t>
                </a:r>
                <a:r>
                  <a:rPr lang="de-DE" sz="2200" dirty="0" err="1"/>
                  <a:t>reference</a:t>
                </a:r>
                <a:r>
                  <a:rPr lang="de-DE" sz="2200" dirty="0"/>
                  <a:t> and </a:t>
                </a:r>
                <a:r>
                  <a:rPr lang="de-DE" sz="2200" dirty="0" err="1"/>
                  <a:t>noise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propagate</a:t>
                </a:r>
                <a:endParaRPr lang="de-DE" sz="22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6645750-740B-7872-739A-7EEB1CFD5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960" y="365125"/>
                <a:ext cx="5196840" cy="769441"/>
              </a:xfrm>
              <a:prstGeom prst="rect">
                <a:avLst/>
              </a:prstGeom>
              <a:blipFill>
                <a:blip r:embed="rId3"/>
                <a:stretch>
                  <a:fillRect t="-4839" b="-145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222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07BF0F-5141-ACA9-F2A6-7743A668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Robustness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D88D4B-F47C-C5F8-466E-E710F50AD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200" dirty="0" err="1"/>
              <a:t>Describes</a:t>
            </a:r>
            <a:r>
              <a:rPr lang="de-DE" sz="2200" dirty="0"/>
              <a:t> </a:t>
            </a:r>
            <a:r>
              <a:rPr lang="de-DE" sz="2200" dirty="0" err="1"/>
              <a:t>how</a:t>
            </a:r>
            <a:r>
              <a:rPr lang="de-DE" sz="2200" dirty="0"/>
              <a:t> </a:t>
            </a:r>
            <a:r>
              <a:rPr lang="de-DE" sz="2200" dirty="0" err="1"/>
              <a:t>well</a:t>
            </a:r>
            <a:r>
              <a:rPr lang="de-DE" sz="2200" dirty="0"/>
              <a:t> a </a:t>
            </a:r>
            <a:r>
              <a:rPr lang="de-DE" sz="2200" dirty="0" err="1"/>
              <a:t>closed</a:t>
            </a:r>
            <a:r>
              <a:rPr lang="de-DE" sz="2200" dirty="0"/>
              <a:t>-loop </a:t>
            </a:r>
            <a:r>
              <a:rPr lang="de-DE" sz="2200" dirty="0" err="1"/>
              <a:t>system</a:t>
            </a:r>
            <a:r>
              <a:rPr lang="de-DE" sz="2200" dirty="0"/>
              <a:t> </a:t>
            </a:r>
            <a:r>
              <a:rPr lang="de-DE" sz="2200" dirty="0" err="1"/>
              <a:t>tolerates</a:t>
            </a:r>
            <a:r>
              <a:rPr lang="de-DE" sz="2200" dirty="0"/>
              <a:t> </a:t>
            </a:r>
            <a:r>
              <a:rPr lang="de-DE" sz="2200" dirty="0" err="1"/>
              <a:t>modeling</a:t>
            </a:r>
            <a:r>
              <a:rPr lang="de-DE" sz="2200" dirty="0"/>
              <a:t> </a:t>
            </a:r>
            <a:r>
              <a:rPr lang="de-DE" sz="2200" dirty="0" err="1"/>
              <a:t>uncertainties</a:t>
            </a:r>
            <a:r>
              <a:rPr lang="de-DE" sz="2200" dirty="0"/>
              <a:t> in </a:t>
            </a:r>
            <a:r>
              <a:rPr lang="de-DE" sz="2200" dirty="0" err="1"/>
              <a:t>the</a:t>
            </a:r>
            <a:r>
              <a:rPr lang="de-DE" sz="2200" dirty="0"/>
              <a:t> plant </a:t>
            </a:r>
            <a:r>
              <a:rPr lang="de-DE" sz="2200" dirty="0" err="1"/>
              <a:t>with</a:t>
            </a:r>
            <a:r>
              <a:rPr lang="de-DE" sz="2200" dirty="0"/>
              <a:t> </a:t>
            </a:r>
            <a:r>
              <a:rPr lang="de-DE" sz="2200" dirty="0" err="1"/>
              <a:t>respect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:</a:t>
            </a:r>
          </a:p>
          <a:p>
            <a:r>
              <a:rPr lang="de-DE" sz="2200" dirty="0"/>
              <a:t>robust </a:t>
            </a:r>
            <a:r>
              <a:rPr lang="de-DE" sz="2200" dirty="0" err="1"/>
              <a:t>stability</a:t>
            </a:r>
            <a:r>
              <a:rPr lang="de-DE" sz="2200" dirty="0"/>
              <a:t> (</a:t>
            </a:r>
            <a:r>
              <a:rPr lang="de-DE" sz="2200" dirty="0" err="1"/>
              <a:t>often</a:t>
            </a:r>
            <a:r>
              <a:rPr lang="de-DE" sz="2200" dirty="0"/>
              <a:t> </a:t>
            </a:r>
            <a:r>
              <a:rPr lang="de-DE" sz="2200" dirty="0" err="1"/>
              <a:t>assessed</a:t>
            </a:r>
            <a:r>
              <a:rPr lang="de-DE" sz="2200" dirty="0"/>
              <a:t> </a:t>
            </a:r>
            <a:r>
              <a:rPr lang="de-DE" sz="2200" dirty="0" err="1"/>
              <a:t>using</a:t>
            </a:r>
            <a:r>
              <a:rPr lang="de-DE" sz="2200" dirty="0"/>
              <a:t> </a:t>
            </a:r>
            <a:r>
              <a:rPr lang="de-DE" sz="2200" dirty="0" err="1"/>
              <a:t>stability</a:t>
            </a:r>
            <a:r>
              <a:rPr lang="de-DE" sz="2200" dirty="0"/>
              <a:t> </a:t>
            </a:r>
            <a:r>
              <a:rPr lang="de-DE" sz="2200" dirty="0" err="1"/>
              <a:t>margins</a:t>
            </a:r>
            <a:r>
              <a:rPr lang="de-DE" sz="2200" dirty="0"/>
              <a:t>)</a:t>
            </a:r>
          </a:p>
          <a:p>
            <a:r>
              <a:rPr lang="de-DE" sz="2200" dirty="0"/>
              <a:t>robust </a:t>
            </a:r>
            <a:r>
              <a:rPr lang="de-DE" sz="2200" dirty="0" err="1"/>
              <a:t>performance</a:t>
            </a:r>
            <a:r>
              <a:rPr lang="de-DE" sz="2200" dirty="0"/>
              <a:t> (</a:t>
            </a:r>
            <a:r>
              <a:rPr lang="de-DE" sz="2200" dirty="0" err="1"/>
              <a:t>maintaining</a:t>
            </a:r>
            <a:r>
              <a:rPr lang="de-DE" sz="2200" dirty="0"/>
              <a:t> </a:t>
            </a:r>
            <a:r>
              <a:rPr lang="de-DE" sz="2200" dirty="0" err="1"/>
              <a:t>acceptable</a:t>
            </a:r>
            <a:r>
              <a:rPr lang="de-DE" sz="2200" dirty="0"/>
              <a:t> </a:t>
            </a:r>
            <a:r>
              <a:rPr lang="de-DE" sz="2200" dirty="0" err="1"/>
              <a:t>tracking</a:t>
            </a:r>
            <a:r>
              <a:rPr lang="de-DE" sz="2200" dirty="0"/>
              <a:t> and </a:t>
            </a:r>
            <a:r>
              <a:rPr lang="de-DE" sz="2200" dirty="0" err="1"/>
              <a:t>disturbance</a:t>
            </a:r>
            <a:r>
              <a:rPr lang="de-DE" sz="2200" dirty="0"/>
              <a:t> </a:t>
            </a:r>
            <a:r>
              <a:rPr lang="de-DE" sz="2200" dirty="0" err="1"/>
              <a:t>rejection</a:t>
            </a:r>
            <a:r>
              <a:rPr lang="de-DE" sz="2200" dirty="0"/>
              <a:t>)</a:t>
            </a:r>
          </a:p>
          <a:p>
            <a:pPr marL="0" indent="0">
              <a:buNone/>
            </a:pPr>
            <a:endParaRPr lang="de-DE" sz="2200" dirty="0"/>
          </a:p>
          <a:p>
            <a:pPr marL="0" indent="0">
              <a:buNone/>
            </a:pPr>
            <a:r>
              <a:rPr lang="de-DE" sz="2200" dirty="0"/>
              <a:t>Performance-</a:t>
            </a:r>
            <a:r>
              <a:rPr lang="de-DE" sz="2200" dirty="0" err="1"/>
              <a:t>robustness</a:t>
            </a:r>
            <a:r>
              <a:rPr lang="de-DE" sz="2200" dirty="0"/>
              <a:t> trade-off:</a:t>
            </a:r>
          </a:p>
          <a:p>
            <a:r>
              <a:rPr lang="de-DE" sz="2200" dirty="0"/>
              <a:t>Aggressive </a:t>
            </a:r>
            <a:r>
              <a:rPr lang="de-DE" sz="2200" dirty="0" err="1"/>
              <a:t>control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</a:t>
            </a:r>
            <a:r>
              <a:rPr lang="de-DE" sz="2200" dirty="0"/>
              <a:t> fast </a:t>
            </a:r>
            <a:r>
              <a:rPr lang="de-DE" sz="2200" dirty="0" err="1"/>
              <a:t>tracking</a:t>
            </a:r>
            <a:r>
              <a:rPr lang="de-DE" sz="2200" dirty="0"/>
              <a:t> (and </a:t>
            </a:r>
            <a:r>
              <a:rPr lang="de-DE" sz="2200" dirty="0" err="1"/>
              <a:t>disturbance</a:t>
            </a:r>
            <a:r>
              <a:rPr lang="de-DE" sz="2200" dirty="0"/>
              <a:t> </a:t>
            </a:r>
            <a:r>
              <a:rPr lang="de-DE" sz="2200" dirty="0" err="1"/>
              <a:t>rejection</a:t>
            </a:r>
            <a:r>
              <a:rPr lang="de-DE" sz="2200" dirty="0"/>
              <a:t>) but </a:t>
            </a:r>
            <a:r>
              <a:rPr lang="de-DE" sz="2200" dirty="0" err="1"/>
              <a:t>reduced</a:t>
            </a:r>
            <a:r>
              <a:rPr lang="de-DE" sz="2200" dirty="0"/>
              <a:t> </a:t>
            </a:r>
            <a:r>
              <a:rPr lang="de-DE" sz="2200" dirty="0" err="1"/>
              <a:t>robustness</a:t>
            </a:r>
            <a:r>
              <a:rPr lang="de-DE" sz="2200" dirty="0"/>
              <a:t> (and </a:t>
            </a:r>
            <a:r>
              <a:rPr lang="de-DE" sz="2200" dirty="0" err="1"/>
              <a:t>higher</a:t>
            </a:r>
            <a:r>
              <a:rPr lang="de-DE" sz="2200" dirty="0"/>
              <a:t> </a:t>
            </a:r>
            <a:r>
              <a:rPr lang="de-DE" sz="2200" dirty="0" err="1"/>
              <a:t>noise</a:t>
            </a:r>
            <a:r>
              <a:rPr lang="de-DE" sz="2200" dirty="0"/>
              <a:t> </a:t>
            </a:r>
            <a:r>
              <a:rPr lang="de-DE" sz="2200" dirty="0" err="1"/>
              <a:t>sensitivity</a:t>
            </a:r>
            <a:r>
              <a:rPr lang="de-DE" sz="2200" dirty="0"/>
              <a:t>)</a:t>
            </a:r>
          </a:p>
          <a:p>
            <a:r>
              <a:rPr lang="de-DE" sz="2200" dirty="0" err="1"/>
              <a:t>Conservative</a:t>
            </a:r>
            <a:r>
              <a:rPr lang="de-DE" sz="2200" dirty="0"/>
              <a:t> </a:t>
            </a:r>
            <a:r>
              <a:rPr lang="de-DE" sz="2200" dirty="0" err="1"/>
              <a:t>control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more</a:t>
            </a:r>
            <a:r>
              <a:rPr lang="de-DE" sz="2200" dirty="0"/>
              <a:t> robust but </a:t>
            </a:r>
            <a:r>
              <a:rPr lang="de-DE" sz="2200" dirty="0" err="1"/>
              <a:t>slower</a:t>
            </a:r>
            <a:r>
              <a:rPr lang="de-DE" sz="2200" dirty="0"/>
              <a:t> </a:t>
            </a:r>
            <a:r>
              <a:rPr lang="de-DE" sz="2200" dirty="0" err="1"/>
              <a:t>tracking</a:t>
            </a:r>
            <a:r>
              <a:rPr lang="de-DE" sz="2200" dirty="0"/>
              <a:t> (and </a:t>
            </a:r>
            <a:r>
              <a:rPr lang="de-DE" sz="2200" dirty="0" err="1"/>
              <a:t>disturbance</a:t>
            </a:r>
            <a:r>
              <a:rPr lang="de-DE" sz="2200" dirty="0"/>
              <a:t> </a:t>
            </a:r>
            <a:r>
              <a:rPr lang="de-DE" sz="2200" dirty="0" err="1"/>
              <a:t>rejection</a:t>
            </a:r>
            <a:r>
              <a:rPr lang="de-DE" sz="2200" dirty="0"/>
              <a:t>)</a:t>
            </a:r>
          </a:p>
          <a:p>
            <a:pPr marL="0" indent="0">
              <a:buNone/>
            </a:pP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/>
              <a:t>High </a:t>
            </a:r>
            <a:r>
              <a:rPr lang="de-DE" sz="2200" dirty="0" err="1"/>
              <a:t>tracking</a:t>
            </a:r>
            <a:r>
              <a:rPr lang="de-DE" sz="2200" dirty="0"/>
              <a:t> and </a:t>
            </a:r>
            <a:r>
              <a:rPr lang="de-DE" sz="2200" dirty="0" err="1"/>
              <a:t>disturbance</a:t>
            </a:r>
            <a:r>
              <a:rPr lang="de-DE" sz="2200" dirty="0"/>
              <a:t> </a:t>
            </a:r>
            <a:r>
              <a:rPr lang="de-DE" sz="2200" dirty="0" err="1"/>
              <a:t>rejection</a:t>
            </a:r>
            <a:r>
              <a:rPr lang="de-DE" sz="2200" dirty="0"/>
              <a:t> </a:t>
            </a:r>
            <a:r>
              <a:rPr lang="de-DE" sz="2200" dirty="0" err="1"/>
              <a:t>typically</a:t>
            </a:r>
            <a:r>
              <a:rPr lang="de-DE" sz="2200" dirty="0"/>
              <a:t> </a:t>
            </a:r>
            <a:r>
              <a:rPr lang="de-DE" sz="2200" dirty="0" err="1"/>
              <a:t>require</a:t>
            </a:r>
            <a:r>
              <a:rPr lang="de-DE" sz="2200" dirty="0"/>
              <a:t> high loop </a:t>
            </a:r>
            <a:r>
              <a:rPr lang="de-DE" sz="2200" dirty="0" err="1"/>
              <a:t>gain</a:t>
            </a:r>
            <a:r>
              <a:rPr lang="de-DE" sz="2200" dirty="0"/>
              <a:t>, </a:t>
            </a:r>
            <a:r>
              <a:rPr lang="de-DE" sz="2200" dirty="0" err="1"/>
              <a:t>which</a:t>
            </a:r>
            <a:r>
              <a:rPr lang="de-DE" sz="2200" dirty="0"/>
              <a:t> </a:t>
            </a:r>
            <a:r>
              <a:rPr lang="de-DE" sz="2200" dirty="0" err="1"/>
              <a:t>can</a:t>
            </a:r>
            <a:r>
              <a:rPr lang="de-DE" sz="2200" dirty="0"/>
              <a:t> </a:t>
            </a:r>
            <a:r>
              <a:rPr lang="de-DE" sz="2200" dirty="0" err="1"/>
              <a:t>reduce</a:t>
            </a:r>
            <a:r>
              <a:rPr lang="de-DE" sz="2200" dirty="0"/>
              <a:t> </a:t>
            </a:r>
            <a:r>
              <a:rPr lang="de-DE" sz="2200" dirty="0" err="1"/>
              <a:t>robustness</a:t>
            </a:r>
            <a:r>
              <a:rPr lang="de-DE" sz="2200" dirty="0"/>
              <a:t> and </a:t>
            </a:r>
            <a:r>
              <a:rPr lang="de-DE" sz="2200" dirty="0" err="1"/>
              <a:t>increase</a:t>
            </a:r>
            <a:r>
              <a:rPr lang="de-DE" sz="2200" dirty="0"/>
              <a:t> </a:t>
            </a:r>
            <a:r>
              <a:rPr lang="de-DE" sz="2200" dirty="0" err="1"/>
              <a:t>noise</a:t>
            </a:r>
            <a:r>
              <a:rPr lang="de-DE" sz="2200" dirty="0"/>
              <a:t> </a:t>
            </a:r>
            <a:r>
              <a:rPr lang="de-DE" sz="2200" dirty="0" err="1"/>
              <a:t>sensitivity</a:t>
            </a:r>
            <a:r>
              <a:rPr lang="de-DE" sz="2200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46E7BA-9A8D-15EB-A0A0-71D8F00A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282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DD4626-1390-72A2-6946-CD55277E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 Model-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Techniques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62E9C2-3384-2D6C-CF9D-67A577E2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 design (Bode </a:t>
            </a:r>
            <a:r>
              <a:rPr lang="de-DE" dirty="0" err="1"/>
              <a:t>plots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Root </a:t>
            </a:r>
            <a:r>
              <a:rPr lang="de-DE" dirty="0" err="1"/>
              <a:t>locus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Internal Model Control (IMC) </a:t>
            </a:r>
            <a:r>
              <a:rPr lang="de-DE" dirty="0" err="1"/>
              <a:t>tuning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Pole </a:t>
            </a:r>
            <a:r>
              <a:rPr lang="de-DE" dirty="0" err="1"/>
              <a:t>placement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methods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788FDD-73F8-5BAF-AE2D-7022A3DA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330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E3BCF-1DD6-67BA-5C67-65D90ACC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Frequency</a:t>
            </a:r>
            <a:r>
              <a:rPr lang="de-DE" dirty="0"/>
              <a:t> Response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E787A3F-FB38-4F7B-491B-89BF9CB958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/>
                  <a:t>Bode </a:t>
                </a:r>
                <a:r>
                  <a:rPr lang="de-DE" sz="2600" dirty="0" err="1"/>
                  <a:t>plots</a:t>
                </a:r>
                <a:r>
                  <a:rPr lang="de-DE" sz="2600" dirty="0"/>
                  <a:t> (and </a:t>
                </a:r>
                <a:r>
                  <a:rPr lang="de-DE" sz="2600" dirty="0" err="1"/>
                  <a:t>sometimes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Nyquist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criterion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as</a:t>
                </a:r>
                <a:r>
                  <a:rPr lang="de-DE" sz="2600" dirty="0"/>
                  <a:t> </a:t>
                </a:r>
                <a:r>
                  <a:rPr lang="de-DE" sz="2400" dirty="0" err="1"/>
                  <a:t>stability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verification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tool</a:t>
                </a:r>
                <a:r>
                  <a:rPr lang="de-DE" sz="2600" dirty="0"/>
                  <a:t>):</a:t>
                </a:r>
              </a:p>
              <a:p>
                <a:pPr marL="0" indent="0">
                  <a:buNone/>
                </a:pPr>
                <a:r>
                  <a:rPr lang="de-DE" sz="2600" dirty="0" err="1"/>
                  <a:t>analyze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loop </a:t>
                </a:r>
                <a:r>
                  <a:rPr lang="de-DE" sz="2600" dirty="0" err="1"/>
                  <a:t>transfer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6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b="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6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600" dirty="0"/>
                  <a:t> in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frequency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domain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Design </a:t>
                </a:r>
                <a:r>
                  <a:rPr lang="de-DE" sz="2600" dirty="0" err="1"/>
                  <a:t>goal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 err="1"/>
                  <a:t>shape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DE" sz="2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2600" dirty="0"/>
                  <a:t> and </a:t>
                </a:r>
                <a14:m>
                  <m:oMath xmlns:m="http://schemas.openxmlformats.org/officeDocument/2006/math">
                    <m:r>
                      <a:rPr lang="de-DE" sz="2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de-DE" sz="26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2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meet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stability</a:t>
                </a:r>
                <a:r>
                  <a:rPr lang="de-DE" sz="2600" dirty="0"/>
                  <a:t> and </a:t>
                </a:r>
                <a:r>
                  <a:rPr lang="de-DE" sz="2600" dirty="0" err="1"/>
                  <a:t>robustness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margins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Example</a:t>
                </a:r>
                <a:r>
                  <a:rPr lang="de-DE" sz="2600" dirty="0"/>
                  <a:t>:</a:t>
                </a:r>
              </a:p>
              <a:p>
                <a:pPr marL="0" indent="0">
                  <a:buNone/>
                </a:pPr>
                <a:r>
                  <a:rPr lang="de-DE" sz="2600" dirty="0" err="1"/>
                  <a:t>ensure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de-DE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de-DE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600" dirty="0"/>
                  <a:t> at </a:t>
                </a:r>
                <a:r>
                  <a:rPr lang="de-DE" sz="2600" dirty="0" err="1"/>
                  <a:t>low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frequencies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tracking</a:t>
                </a:r>
                <a:r>
                  <a:rPr lang="de-DE" sz="2600" dirty="0"/>
                  <a:t>/</a:t>
                </a:r>
                <a:r>
                  <a:rPr lang="de-DE" sz="2600" dirty="0" err="1"/>
                  <a:t>disturbance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rejection</a:t>
                </a:r>
                <a:r>
                  <a:rPr lang="de-DE" sz="2600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DE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DE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de-DE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de-DE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600" dirty="0"/>
                  <a:t> at high </a:t>
                </a:r>
                <a:r>
                  <a:rPr lang="de-DE" sz="2600" dirty="0" err="1"/>
                  <a:t>frequencies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noise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suppression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E787A3F-FB38-4F7B-491B-89BF9CB958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r="-14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AD4660-5222-7C99-A204-62F9B7D3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7430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F55CD-B31A-A3A9-512D-BA64E86E1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Typical</a:t>
            </a:r>
            <a:r>
              <a:rPr lang="de-DE" dirty="0"/>
              <a:t> Loop Shaping Workflow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14AE74-D0FB-9E3A-A44D-F505D1E094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dirty="0"/>
                  <a:t>Analyze plant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de-DE" dirty="0"/>
              </a:p>
              <a:p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:r>
                  <a:rPr lang="de-DE" dirty="0" err="1"/>
                  <a:t>desired</a:t>
                </a:r>
                <a:r>
                  <a:rPr lang="de-DE" dirty="0"/>
                  <a:t> </a:t>
                </a:r>
                <a:r>
                  <a:rPr lang="de-DE" dirty="0" err="1"/>
                  <a:t>crossover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 (</a:t>
                </a:r>
                <a:r>
                  <a:rPr lang="de-DE" dirty="0" err="1"/>
                  <a:t>bandwidth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Adjust</a:t>
                </a:r>
                <a:r>
                  <a:rPr lang="de-DE" dirty="0"/>
                  <a:t> </a:t>
                </a:r>
                <a:r>
                  <a:rPr lang="de-DE" dirty="0" err="1"/>
                  <a:t>controller</a:t>
                </a:r>
                <a:r>
                  <a:rPr lang="de-DE" dirty="0"/>
                  <a:t>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set</a:t>
                </a:r>
                <a:r>
                  <a:rPr lang="de-DE" dirty="0"/>
                  <a:t> </a:t>
                </a:r>
                <a:r>
                  <a:rPr lang="de-DE" dirty="0" err="1"/>
                  <a:t>crossover</a:t>
                </a:r>
                <a:endParaRPr lang="de-DE" dirty="0"/>
              </a:p>
              <a:p>
                <a:r>
                  <a:rPr lang="de-DE" dirty="0"/>
                  <a:t>Add </a:t>
                </a:r>
                <a:r>
                  <a:rPr lang="de-DE" dirty="0" err="1"/>
                  <a:t>phase</a:t>
                </a:r>
                <a:r>
                  <a:rPr lang="de-DE" dirty="0"/>
                  <a:t> </a:t>
                </a:r>
                <a:r>
                  <a:rPr lang="de-DE" dirty="0" err="1"/>
                  <a:t>lead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improve</a:t>
                </a:r>
                <a:r>
                  <a:rPr lang="de-DE" dirty="0"/>
                  <a:t> </a:t>
                </a:r>
                <a:r>
                  <a:rPr lang="de-DE" dirty="0" err="1"/>
                  <a:t>stability</a:t>
                </a:r>
                <a:r>
                  <a:rPr lang="de-DE" dirty="0"/>
                  <a:t> </a:t>
                </a:r>
                <a:r>
                  <a:rPr lang="de-DE" dirty="0" err="1"/>
                  <a:t>margins</a:t>
                </a:r>
                <a:endParaRPr lang="de-DE" dirty="0"/>
              </a:p>
              <a:p>
                <a:r>
                  <a:rPr lang="de-DE" dirty="0"/>
                  <a:t>Add lag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improved</a:t>
                </a:r>
                <a:r>
                  <a:rPr lang="de-DE" dirty="0"/>
                  <a:t> </a:t>
                </a:r>
                <a:r>
                  <a:rPr lang="de-DE" dirty="0" err="1"/>
                  <a:t>low-frequency</a:t>
                </a:r>
                <a:r>
                  <a:rPr lang="de-DE" dirty="0"/>
                  <a:t> </a:t>
                </a:r>
                <a:r>
                  <a:rPr lang="de-DE" dirty="0" err="1"/>
                  <a:t>tracking</a:t>
                </a:r>
                <a:endParaRPr lang="de-DE" dirty="0"/>
              </a:p>
              <a:p>
                <a:r>
                  <a:rPr lang="de-DE" dirty="0" err="1"/>
                  <a:t>Verify</a:t>
                </a:r>
                <a:r>
                  <a:rPr lang="de-DE" dirty="0"/>
                  <a:t> </a:t>
                </a:r>
                <a:r>
                  <a:rPr lang="de-DE" dirty="0" err="1"/>
                  <a:t>margins</a:t>
                </a:r>
                <a:r>
                  <a:rPr lang="de-DE" dirty="0"/>
                  <a:t> and time-domain </a:t>
                </a:r>
                <a:r>
                  <a:rPr lang="de-DE" dirty="0" err="1"/>
                  <a:t>response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14AE74-D0FB-9E3A-A44D-F505D1E094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6926A6-7020-65D5-2C2D-421BE537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050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0956D-3FB9-52EE-5450-89C1721C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Lead and Lag </a:t>
            </a:r>
            <a:r>
              <a:rPr lang="de-DE" dirty="0" err="1"/>
              <a:t>Compensators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B5CEF-6738-31F5-8445-82413D174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Lead </a:t>
            </a:r>
            <a:r>
              <a:rPr lang="de-DE" dirty="0" err="1"/>
              <a:t>compensator</a:t>
            </a:r>
            <a:r>
              <a:rPr lang="de-DE" dirty="0"/>
              <a:t>:</a:t>
            </a:r>
          </a:p>
          <a:p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 </a:t>
            </a:r>
            <a:r>
              <a:rPr lang="de-DE" dirty="0" err="1"/>
              <a:t>margin</a:t>
            </a:r>
            <a:endParaRPr lang="de-DE" dirty="0"/>
          </a:p>
          <a:p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 and transient </a:t>
            </a:r>
            <a:r>
              <a:rPr lang="de-DE" dirty="0" err="1"/>
              <a:t>response</a:t>
            </a:r>
            <a:endParaRPr lang="de-DE" dirty="0"/>
          </a:p>
          <a:p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bandwidth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Lag </a:t>
            </a:r>
            <a:r>
              <a:rPr lang="de-DE" dirty="0" err="1"/>
              <a:t>compensator</a:t>
            </a:r>
            <a:r>
              <a:rPr lang="de-DE" dirty="0"/>
              <a:t>:</a:t>
            </a:r>
          </a:p>
          <a:p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low-frequency</a:t>
            </a:r>
            <a:r>
              <a:rPr lang="de-DE" dirty="0"/>
              <a:t> </a:t>
            </a:r>
            <a:r>
              <a:rPr lang="de-DE" dirty="0" err="1"/>
              <a:t>gain</a:t>
            </a:r>
            <a:endParaRPr lang="de-DE" dirty="0"/>
          </a:p>
          <a:p>
            <a:r>
              <a:rPr lang="de-DE" dirty="0" err="1"/>
              <a:t>improves</a:t>
            </a:r>
            <a:r>
              <a:rPr lang="de-DE" dirty="0"/>
              <a:t> </a:t>
            </a:r>
            <a:r>
              <a:rPr lang="de-DE" dirty="0" err="1"/>
              <a:t>steady-state</a:t>
            </a:r>
            <a:r>
              <a:rPr lang="de-DE" dirty="0"/>
              <a:t> </a:t>
            </a:r>
            <a:r>
              <a:rPr lang="de-DE" dirty="0" err="1"/>
              <a:t>tracking</a:t>
            </a:r>
            <a:r>
              <a:rPr lang="de-DE" dirty="0"/>
              <a:t> </a:t>
            </a:r>
            <a:r>
              <a:rPr lang="de-DE" dirty="0" err="1"/>
              <a:t>accuracy</a:t>
            </a:r>
            <a:endParaRPr lang="de-DE" dirty="0"/>
          </a:p>
          <a:p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little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on </a:t>
            </a:r>
            <a:r>
              <a:rPr lang="de-DE" dirty="0" err="1"/>
              <a:t>phase</a:t>
            </a:r>
            <a:r>
              <a:rPr lang="de-DE" dirty="0"/>
              <a:t> </a:t>
            </a:r>
            <a:r>
              <a:rPr lang="de-DE" dirty="0" err="1"/>
              <a:t>margin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4882E8-C0B3-0134-85FB-6885B493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513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A8D9A9-2948-F823-898A-818D2787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Root </a:t>
            </a:r>
            <a:r>
              <a:rPr lang="de-DE" dirty="0" err="1"/>
              <a:t>locus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2AC5237-6BE6-8EF9-4CF2-8840AE86E9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Analyze </a:t>
                </a:r>
                <a:r>
                  <a:rPr lang="de-DE" dirty="0" err="1"/>
                  <a:t>poles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a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controller</a:t>
                </a:r>
                <a:r>
                  <a:rPr lang="de-DE" dirty="0"/>
                  <a:t>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R</a:t>
                </a:r>
                <a:r>
                  <a:rPr lang="de-DE" dirty="0"/>
                  <a:t>oot </a:t>
                </a:r>
                <a:r>
                  <a:rPr lang="de-DE" dirty="0" err="1"/>
                  <a:t>locus</a:t>
                </a:r>
                <a:r>
                  <a:rPr lang="de-DE" dirty="0"/>
                  <a:t> </a:t>
                </a:r>
                <a:r>
                  <a:rPr lang="de-DE" dirty="0" err="1"/>
                  <a:t>shows</a:t>
                </a:r>
                <a:r>
                  <a:rPr lang="de-DE" dirty="0"/>
                  <a:t> </a:t>
                </a:r>
                <a:r>
                  <a:rPr lang="de-DE" dirty="0" err="1"/>
                  <a:t>how</a:t>
                </a:r>
                <a:r>
                  <a:rPr lang="de-DE" dirty="0"/>
                  <a:t> loop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affects</a:t>
                </a:r>
                <a:r>
                  <a:rPr lang="de-DE" dirty="0"/>
                  <a:t> pole </a:t>
                </a:r>
                <a:r>
                  <a:rPr lang="de-DE" dirty="0" err="1"/>
                  <a:t>locations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C</a:t>
                </a:r>
                <a:r>
                  <a:rPr lang="de-DE" dirty="0" err="1"/>
                  <a:t>hoose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dirty="0"/>
                  <a:t> (</a:t>
                </a:r>
                <a:r>
                  <a:rPr lang="de-DE" dirty="0" err="1"/>
                  <a:t>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)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place</a:t>
                </a:r>
                <a:r>
                  <a:rPr lang="de-DE" dirty="0"/>
                  <a:t> </a:t>
                </a:r>
                <a:r>
                  <a:rPr lang="de-DE" dirty="0" err="1"/>
                  <a:t>poles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desired</a:t>
                </a:r>
                <a:r>
                  <a:rPr lang="de-DE" dirty="0"/>
                  <a:t> transient </a:t>
                </a:r>
                <a:r>
                  <a:rPr lang="de-DE" dirty="0" err="1"/>
                  <a:t>behavior</a:t>
                </a:r>
                <a:r>
                  <a:rPr lang="de-DE" dirty="0"/>
                  <a:t> (</a:t>
                </a:r>
                <a:r>
                  <a:rPr lang="de-DE" dirty="0" err="1"/>
                  <a:t>settling</a:t>
                </a:r>
                <a:r>
                  <a:rPr lang="de-DE" dirty="0"/>
                  <a:t> time, </a:t>
                </a:r>
                <a:r>
                  <a:rPr lang="de-DE" dirty="0" err="1"/>
                  <a:t>damping</a:t>
                </a:r>
                <a:r>
                  <a:rPr lang="de-DE" dirty="0"/>
                  <a:t> </a:t>
                </a:r>
                <a:r>
                  <a:rPr lang="de-DE" dirty="0" err="1"/>
                  <a:t>ratio</a:t>
                </a:r>
                <a:r>
                  <a:rPr lang="de-DE" dirty="0"/>
                  <a:t>, </a:t>
                </a:r>
                <a:r>
                  <a:rPr lang="de-DE" dirty="0" err="1"/>
                  <a:t>stability</a:t>
                </a:r>
                <a:r>
                  <a:rPr lang="de-DE" dirty="0"/>
                  <a:t> </a:t>
                </a:r>
                <a:r>
                  <a:rPr lang="de-DE" dirty="0" err="1"/>
                  <a:t>margin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/>
                  <a:t>(</a:t>
                </a:r>
                <a:r>
                  <a:rPr lang="de-DE" dirty="0" err="1"/>
                  <a:t>equivalent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shaping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low-frequency</a:t>
                </a:r>
                <a:r>
                  <a:rPr lang="de-DE" dirty="0"/>
                  <a:t> loop </a:t>
                </a:r>
                <a:r>
                  <a:rPr lang="de-DE" dirty="0" err="1"/>
                  <a:t>gain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Interpretation:</a:t>
                </a:r>
              </a:p>
              <a:p>
                <a:r>
                  <a:rPr lang="de-DE" dirty="0"/>
                  <a:t>Poles </a:t>
                </a:r>
                <a:r>
                  <a:rPr lang="de-DE" dirty="0" err="1"/>
                  <a:t>moving</a:t>
                </a:r>
                <a:r>
                  <a:rPr lang="de-DE" dirty="0"/>
                  <a:t> </a:t>
                </a:r>
                <a:r>
                  <a:rPr lang="de-DE" dirty="0" err="1"/>
                  <a:t>toward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right</a:t>
                </a:r>
                <a:r>
                  <a:rPr lang="de-DE" dirty="0"/>
                  <a:t> half-plane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instability</a:t>
                </a:r>
                <a:endParaRPr lang="de-DE" dirty="0"/>
              </a:p>
              <a:p>
                <a:r>
                  <a:rPr lang="de-DE" dirty="0"/>
                  <a:t>Poles </a:t>
                </a:r>
                <a:r>
                  <a:rPr lang="de-DE" dirty="0" err="1"/>
                  <a:t>further</a:t>
                </a:r>
                <a:r>
                  <a:rPr lang="de-DE" dirty="0"/>
                  <a:t> </a:t>
                </a:r>
                <a:r>
                  <a:rPr lang="de-DE" dirty="0" err="1"/>
                  <a:t>left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faster</a:t>
                </a:r>
                <a:r>
                  <a:rPr lang="de-DE" dirty="0"/>
                  <a:t> </a:t>
                </a:r>
                <a:r>
                  <a:rPr lang="de-DE" dirty="0" err="1"/>
                  <a:t>dynamics</a:t>
                </a:r>
                <a:endParaRPr lang="de-DE" dirty="0"/>
              </a:p>
              <a:p>
                <a:r>
                  <a:rPr lang="de-DE" dirty="0" err="1"/>
                  <a:t>Complex</a:t>
                </a:r>
                <a:r>
                  <a:rPr lang="de-DE" dirty="0"/>
                  <a:t> </a:t>
                </a:r>
                <a:r>
                  <a:rPr lang="de-DE" dirty="0" err="1"/>
                  <a:t>poles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small</a:t>
                </a:r>
                <a:r>
                  <a:rPr lang="de-DE" dirty="0"/>
                  <a:t> </a:t>
                </a:r>
                <a:r>
                  <a:rPr lang="de-DE" dirty="0" err="1"/>
                  <a:t>damping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oscillations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2AC5237-6BE6-8EF9-4CF2-8840AE86E9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E59EA8-C286-2451-D41E-CD3CEA13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749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7874B9-A555-E4BA-55C0-71677528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IMC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922CB98-5200-2FB8-E31C-9B515916A3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de-DE" sz="2900" dirty="0"/>
                  <a:t>Design </a:t>
                </a:r>
                <a14:m>
                  <m:oMath xmlns:m="http://schemas.openxmlformats.org/officeDocument/2006/math">
                    <m:r>
                      <a:rPr lang="de-DE" sz="29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900" dirty="0"/>
                  <a:t> </a:t>
                </a:r>
                <a:r>
                  <a:rPr lang="de-DE" sz="2900" dirty="0" err="1"/>
                  <a:t>from</a:t>
                </a:r>
                <a:r>
                  <a:rPr lang="de-DE" sz="2900" dirty="0"/>
                  <a:t> a plant </a:t>
                </a:r>
                <a:r>
                  <a:rPr lang="de-DE" sz="2900" dirty="0" err="1"/>
                  <a:t>model</a:t>
                </a:r>
                <a:r>
                  <a:rPr lang="de-DE" sz="2900" dirty="0"/>
                  <a:t> so </a:t>
                </a:r>
                <a:r>
                  <a:rPr lang="de-DE" sz="2900" dirty="0" err="1"/>
                  <a:t>that</a:t>
                </a:r>
                <a:r>
                  <a:rPr lang="de-DE" sz="2900" dirty="0"/>
                  <a:t> </a:t>
                </a:r>
                <a:r>
                  <a:rPr lang="de-DE" sz="2900" dirty="0" err="1"/>
                  <a:t>closed</a:t>
                </a:r>
                <a:r>
                  <a:rPr lang="de-DE" sz="2900" dirty="0"/>
                  <a:t>-loop </a:t>
                </a:r>
                <a:r>
                  <a:rPr lang="de-DE" sz="2900" dirty="0" err="1"/>
                  <a:t>response</a:t>
                </a:r>
                <a:r>
                  <a:rPr lang="de-DE" sz="2900" dirty="0"/>
                  <a:t> </a:t>
                </a:r>
                <a:r>
                  <a:rPr lang="de-DE" sz="2900" dirty="0" err="1"/>
                  <a:t>behaves</a:t>
                </a:r>
                <a:r>
                  <a:rPr lang="de-DE" sz="2900" dirty="0"/>
                  <a:t> like a </a:t>
                </a:r>
                <a:r>
                  <a:rPr lang="de-DE" sz="2900" dirty="0" err="1"/>
                  <a:t>desired</a:t>
                </a:r>
                <a:r>
                  <a:rPr lang="de-DE" sz="2900" dirty="0"/>
                  <a:t> first-order/</a:t>
                </a:r>
                <a:r>
                  <a:rPr lang="de-DE" sz="2900" dirty="0" err="1"/>
                  <a:t>second</a:t>
                </a:r>
                <a:r>
                  <a:rPr lang="de-DE" sz="2900" dirty="0"/>
                  <a:t>-order </a:t>
                </a:r>
                <a:r>
                  <a:rPr lang="de-DE" sz="2900" dirty="0" err="1"/>
                  <a:t>system</a:t>
                </a:r>
                <a:endParaRPr lang="de-DE" sz="2900" dirty="0"/>
              </a:p>
              <a:p>
                <a:pPr marL="0" indent="0">
                  <a:buNone/>
                </a:pPr>
                <a:r>
                  <a:rPr lang="de-DE" sz="2900" dirty="0"/>
                  <a:t>Explicit loop </a:t>
                </a:r>
                <a:r>
                  <a:rPr lang="de-DE" sz="2900" dirty="0" err="1"/>
                  <a:t>shaping</a:t>
                </a:r>
                <a:r>
                  <a:rPr lang="de-DE" sz="2900" dirty="0"/>
                  <a:t>: </a:t>
                </a:r>
                <a:r>
                  <a:rPr lang="de-DE" sz="2900" dirty="0" err="1"/>
                  <a:t>set</a:t>
                </a:r>
                <a:r>
                  <a:rPr lang="de-DE" sz="2900" dirty="0"/>
                  <a:t> </a:t>
                </a:r>
                <a:r>
                  <a:rPr lang="de-DE" sz="2900" dirty="0" err="1"/>
                  <a:t>effective</a:t>
                </a:r>
                <a:r>
                  <a:rPr lang="de-DE" sz="2900" dirty="0"/>
                  <a:t> </a:t>
                </a:r>
                <a14:m>
                  <m:oMath xmlns:m="http://schemas.openxmlformats.org/officeDocument/2006/math">
                    <m:r>
                      <a:rPr lang="de-DE" sz="29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9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9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900" dirty="0"/>
                  <a:t> </a:t>
                </a:r>
                <a:r>
                  <a:rPr lang="de-DE" sz="2900" dirty="0" err="1"/>
                  <a:t>to</a:t>
                </a:r>
                <a:r>
                  <a:rPr lang="de-DE" sz="2900" dirty="0"/>
                  <a:t> </a:t>
                </a:r>
                <a:r>
                  <a:rPr lang="de-DE" sz="2900" dirty="0" err="1"/>
                  <a:t>achieve</a:t>
                </a:r>
                <a:r>
                  <a:rPr lang="de-DE" sz="2900" dirty="0"/>
                  <a:t> </a:t>
                </a:r>
                <a:r>
                  <a:rPr lang="de-DE" sz="2900" dirty="0" err="1"/>
                  <a:t>target</a:t>
                </a:r>
                <a:r>
                  <a:rPr lang="de-DE" sz="2900" dirty="0"/>
                  <a:t> </a:t>
                </a:r>
                <a:r>
                  <a:rPr lang="de-DE" sz="2900" dirty="0" err="1"/>
                  <a:t>bandwidth</a:t>
                </a:r>
                <a:r>
                  <a:rPr lang="de-DE" sz="2900" dirty="0"/>
                  <a:t> and </a:t>
                </a:r>
                <a:r>
                  <a:rPr lang="de-DE" sz="2900" dirty="0" err="1"/>
                  <a:t>robustness</a:t>
                </a:r>
                <a:endParaRPr lang="de-DE" sz="2900" dirty="0"/>
              </a:p>
              <a:p>
                <a:pPr marL="0" indent="0">
                  <a:buNone/>
                </a:pPr>
                <a:endParaRPr lang="de-DE" sz="2900" dirty="0"/>
              </a:p>
              <a:p>
                <a:pPr marL="0" indent="0">
                  <a:buNone/>
                </a:pPr>
                <a:r>
                  <a:rPr lang="de-DE" sz="2900" dirty="0"/>
                  <a:t>Advantages:</a:t>
                </a:r>
              </a:p>
              <a:p>
                <a:r>
                  <a:rPr lang="de-DE" sz="2900" dirty="0" err="1"/>
                  <a:t>systematic</a:t>
                </a:r>
                <a:r>
                  <a:rPr lang="de-DE" sz="2900" dirty="0"/>
                  <a:t> </a:t>
                </a:r>
                <a:r>
                  <a:rPr lang="de-DE" sz="2900" dirty="0" err="1"/>
                  <a:t>controller</a:t>
                </a:r>
                <a:r>
                  <a:rPr lang="de-DE" sz="2900" dirty="0"/>
                  <a:t> design </a:t>
                </a:r>
                <a:r>
                  <a:rPr lang="de-DE" sz="2900" dirty="0" err="1"/>
                  <a:t>based</a:t>
                </a:r>
                <a:r>
                  <a:rPr lang="de-DE" sz="2900" dirty="0"/>
                  <a:t> on plant </a:t>
                </a:r>
                <a:r>
                  <a:rPr lang="de-DE" sz="2900" dirty="0" err="1"/>
                  <a:t>model</a:t>
                </a:r>
                <a:endParaRPr lang="de-DE" sz="2900" dirty="0"/>
              </a:p>
              <a:p>
                <a:r>
                  <a:rPr lang="de-DE" sz="2900" dirty="0"/>
                  <a:t>explicit trade-off </a:t>
                </a:r>
                <a:r>
                  <a:rPr lang="de-DE" sz="2900" dirty="0" err="1"/>
                  <a:t>between</a:t>
                </a:r>
                <a:r>
                  <a:rPr lang="de-DE" sz="2900" dirty="0"/>
                  <a:t> </a:t>
                </a:r>
                <a:r>
                  <a:rPr lang="de-DE" sz="2900" dirty="0" err="1"/>
                  <a:t>performance</a:t>
                </a:r>
                <a:r>
                  <a:rPr lang="de-DE" sz="2900" dirty="0"/>
                  <a:t> and </a:t>
                </a:r>
                <a:r>
                  <a:rPr lang="de-DE" sz="2900" dirty="0" err="1"/>
                  <a:t>robustness</a:t>
                </a:r>
                <a:endParaRPr lang="de-DE" sz="2900" dirty="0"/>
              </a:p>
              <a:p>
                <a:r>
                  <a:rPr lang="de-DE" sz="2900" dirty="0" err="1"/>
                  <a:t>often</a:t>
                </a:r>
                <a:r>
                  <a:rPr lang="de-DE" sz="2900" dirty="0"/>
                  <a:t> </a:t>
                </a:r>
                <a:r>
                  <a:rPr lang="de-DE" sz="2900" dirty="0" err="1"/>
                  <a:t>leads</a:t>
                </a:r>
                <a:r>
                  <a:rPr lang="de-DE" sz="2900" dirty="0"/>
                  <a:t> </a:t>
                </a:r>
                <a:r>
                  <a:rPr lang="de-DE" sz="2900" dirty="0" err="1"/>
                  <a:t>to</a:t>
                </a:r>
                <a:r>
                  <a:rPr lang="de-DE" sz="2900" dirty="0"/>
                  <a:t> simple PI </a:t>
                </a:r>
                <a:r>
                  <a:rPr lang="de-DE" sz="2900" dirty="0" err="1"/>
                  <a:t>or</a:t>
                </a:r>
                <a:r>
                  <a:rPr lang="de-DE" sz="2900" dirty="0"/>
                  <a:t> PID </a:t>
                </a:r>
                <a:r>
                  <a:rPr lang="de-DE" sz="2900" dirty="0" err="1"/>
                  <a:t>structures</a:t>
                </a:r>
                <a:endParaRPr lang="de-DE" sz="2900" dirty="0"/>
              </a:p>
              <a:p>
                <a:pPr marL="0" indent="0">
                  <a:buNone/>
                </a:pPr>
                <a:endParaRPr lang="de-DE" sz="2900" dirty="0"/>
              </a:p>
              <a:p>
                <a:pPr marL="0" indent="0">
                  <a:buNone/>
                </a:pPr>
                <a:r>
                  <a:rPr lang="de-DE" sz="2900" dirty="0" err="1"/>
                  <a:t>Limitations</a:t>
                </a:r>
                <a:r>
                  <a:rPr lang="de-DE" sz="2900" dirty="0"/>
                  <a:t>:</a:t>
                </a:r>
              </a:p>
              <a:p>
                <a:r>
                  <a:rPr lang="de-DE" sz="2900" dirty="0" err="1"/>
                  <a:t>requires</a:t>
                </a:r>
                <a:r>
                  <a:rPr lang="de-DE" sz="2900" dirty="0"/>
                  <a:t> </a:t>
                </a:r>
                <a:r>
                  <a:rPr lang="de-DE" sz="2900" dirty="0" err="1"/>
                  <a:t>reasonably</a:t>
                </a:r>
                <a:r>
                  <a:rPr lang="de-DE" sz="2900" dirty="0"/>
                  <a:t> </a:t>
                </a:r>
                <a:r>
                  <a:rPr lang="de-DE" sz="2900" dirty="0" err="1"/>
                  <a:t>accurate</a:t>
                </a:r>
                <a:r>
                  <a:rPr lang="de-DE" sz="2900" dirty="0"/>
                  <a:t> plant </a:t>
                </a:r>
                <a:r>
                  <a:rPr lang="de-DE" sz="2900" dirty="0" err="1"/>
                  <a:t>model</a:t>
                </a:r>
                <a:endParaRPr lang="de-DE" sz="2900" dirty="0"/>
              </a:p>
              <a:p>
                <a:r>
                  <a:rPr lang="de-DE" sz="2900" dirty="0" err="1"/>
                  <a:t>performance</a:t>
                </a:r>
                <a:r>
                  <a:rPr lang="de-DE" sz="2900" dirty="0"/>
                  <a:t> </a:t>
                </a:r>
                <a:r>
                  <a:rPr lang="de-DE" sz="2900" dirty="0" err="1"/>
                  <a:t>degrades</a:t>
                </a:r>
                <a:r>
                  <a:rPr lang="de-DE" sz="2900" dirty="0"/>
                  <a:t> </a:t>
                </a:r>
                <a:r>
                  <a:rPr lang="de-DE" sz="2900" dirty="0" err="1"/>
                  <a:t>if</a:t>
                </a:r>
                <a:r>
                  <a:rPr lang="de-DE" sz="2900" dirty="0"/>
                  <a:t> </a:t>
                </a:r>
                <a:r>
                  <a:rPr lang="de-DE" sz="2900" dirty="0" err="1"/>
                  <a:t>model</a:t>
                </a:r>
                <a:r>
                  <a:rPr lang="de-DE" sz="2900" dirty="0"/>
                  <a:t> </a:t>
                </a:r>
                <a:r>
                  <a:rPr lang="de-DE" sz="2900" dirty="0" err="1"/>
                  <a:t>mismatch</a:t>
                </a:r>
                <a:r>
                  <a:rPr lang="de-DE" sz="2900" dirty="0"/>
                  <a:t> </a:t>
                </a:r>
                <a:r>
                  <a:rPr lang="de-DE" sz="2900" dirty="0" err="1"/>
                  <a:t>is</a:t>
                </a:r>
                <a:r>
                  <a:rPr lang="de-DE" sz="2900" dirty="0"/>
                  <a:t> large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922CB98-5200-2FB8-E31C-9B515916A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B8B3D7-FE9C-6D18-4547-A784F280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944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A6F398-1BDF-3B08-05A5-F2FAA1B7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Pole Placement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AC4A9C3-17AC-7387-6BD0-D57386930B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Select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dirty="0"/>
                  <a:t> so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poles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at </a:t>
                </a:r>
                <a:r>
                  <a:rPr lang="de-DE" dirty="0" err="1"/>
                  <a:t>desired</a:t>
                </a:r>
                <a:r>
                  <a:rPr lang="de-DE" dirty="0"/>
                  <a:t> </a:t>
                </a:r>
                <a:r>
                  <a:rPr lang="de-DE" dirty="0" err="1"/>
                  <a:t>locations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poles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roots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choosing</a:t>
                </a:r>
                <a:r>
                  <a:rPr lang="de-DE" dirty="0"/>
                  <a:t> pole </a:t>
                </a:r>
                <a:r>
                  <a:rPr lang="de-DE" dirty="0" err="1"/>
                  <a:t>locations</a:t>
                </a:r>
                <a:r>
                  <a:rPr lang="de-DE" dirty="0"/>
                  <a:t> </a:t>
                </a:r>
                <a:r>
                  <a:rPr lang="de-DE" dirty="0" err="1"/>
                  <a:t>directly</a:t>
                </a:r>
                <a:r>
                  <a:rPr lang="de-DE" dirty="0"/>
                  <a:t> </a:t>
                </a:r>
                <a:r>
                  <a:rPr lang="de-DE" dirty="0" err="1"/>
                  <a:t>shapes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in </a:t>
                </a:r>
                <a:r>
                  <a:rPr lang="de-DE" dirty="0" err="1"/>
                  <a:t>the</a:t>
                </a:r>
                <a:r>
                  <a:rPr lang="de-DE" dirty="0"/>
                  <a:t> s-plane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Typical</a:t>
                </a:r>
                <a:r>
                  <a:rPr lang="de-DE" dirty="0"/>
                  <a:t> </a:t>
                </a:r>
                <a:r>
                  <a:rPr lang="de-DE" dirty="0" err="1"/>
                  <a:t>steps</a:t>
                </a:r>
                <a:r>
                  <a:rPr lang="de-DE" dirty="0"/>
                  <a:t>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Obtain</a:t>
                </a:r>
                <a:r>
                  <a:rPr lang="de-DE" dirty="0"/>
                  <a:t> plant </a:t>
                </a:r>
                <a:r>
                  <a:rPr lang="de-DE" dirty="0" err="1"/>
                  <a:t>model</a:t>
                </a: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Determine</a:t>
                </a:r>
                <a:r>
                  <a:rPr lang="de-DE" dirty="0"/>
                  <a:t> </a:t>
                </a:r>
                <a:r>
                  <a:rPr lang="de-DE" dirty="0" err="1"/>
                  <a:t>desired</a:t>
                </a:r>
                <a:r>
                  <a:rPr lang="de-DE" dirty="0"/>
                  <a:t> pole </a:t>
                </a:r>
                <a:r>
                  <a:rPr lang="de-DE" dirty="0" err="1"/>
                  <a:t>locations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performance</a:t>
                </a:r>
                <a:r>
                  <a:rPr lang="de-DE" dirty="0"/>
                  <a:t> </a:t>
                </a:r>
                <a:r>
                  <a:rPr lang="de-DE" dirty="0" err="1"/>
                  <a:t>requirements</a:t>
                </a:r>
                <a:endParaRPr lang="de-DE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dirty="0" err="1"/>
                  <a:t>Compute</a:t>
                </a:r>
                <a:r>
                  <a:rPr lang="de-DE" dirty="0"/>
                  <a:t> </a:t>
                </a:r>
                <a:r>
                  <a:rPr lang="de-DE" dirty="0" err="1"/>
                  <a:t>controller</a:t>
                </a:r>
                <a:r>
                  <a:rPr lang="de-DE" dirty="0"/>
                  <a:t> </a:t>
                </a:r>
                <a:r>
                  <a:rPr lang="de-DE" dirty="0" err="1"/>
                  <a:t>parameters</a:t>
                </a:r>
                <a:r>
                  <a:rPr lang="de-DE" dirty="0"/>
                  <a:t> so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poles</a:t>
                </a:r>
                <a:r>
                  <a:rPr lang="de-DE" dirty="0"/>
                  <a:t> match </a:t>
                </a:r>
                <a:r>
                  <a:rPr lang="de-DE" dirty="0" err="1"/>
                  <a:t>targets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Advantage: </a:t>
                </a:r>
                <a:r>
                  <a:rPr lang="de-DE" dirty="0" err="1"/>
                  <a:t>direct</a:t>
                </a:r>
                <a:r>
                  <a:rPr lang="de-DE" dirty="0"/>
                  <a:t> </a:t>
                </a:r>
                <a:r>
                  <a:rPr lang="de-DE" dirty="0" err="1"/>
                  <a:t>control</a:t>
                </a:r>
                <a:r>
                  <a:rPr lang="de-DE" dirty="0"/>
                  <a:t> </a:t>
                </a:r>
                <a:r>
                  <a:rPr lang="de-DE" dirty="0" err="1"/>
                  <a:t>over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dynamics</a:t>
                </a:r>
                <a:endParaRPr lang="de-DE" dirty="0"/>
              </a:p>
              <a:p>
                <a:r>
                  <a:rPr lang="de-DE" dirty="0" err="1"/>
                  <a:t>Limitations</a:t>
                </a:r>
                <a:r>
                  <a:rPr lang="de-DE" dirty="0"/>
                  <a:t>: </a:t>
                </a:r>
                <a:r>
                  <a:rPr lang="de-DE" dirty="0" err="1"/>
                  <a:t>requires</a:t>
                </a:r>
                <a:r>
                  <a:rPr lang="de-DE" dirty="0"/>
                  <a:t> </a:t>
                </a:r>
                <a:r>
                  <a:rPr lang="de-DE" dirty="0" err="1"/>
                  <a:t>accurate</a:t>
                </a:r>
                <a:r>
                  <a:rPr lang="de-DE" dirty="0"/>
                  <a:t> </a:t>
                </a:r>
                <a:r>
                  <a:rPr lang="de-DE" dirty="0" err="1"/>
                  <a:t>model</a:t>
                </a:r>
                <a:r>
                  <a:rPr lang="de-DE" dirty="0"/>
                  <a:t> and </a:t>
                </a:r>
                <a:r>
                  <a:rPr lang="de-DE" dirty="0" err="1"/>
                  <a:t>may</a:t>
                </a:r>
                <a:r>
                  <a:rPr lang="de-DE" dirty="0"/>
                  <a:t> </a:t>
                </a:r>
                <a:r>
                  <a:rPr lang="de-DE" dirty="0" err="1"/>
                  <a:t>require</a:t>
                </a:r>
                <a:r>
                  <a:rPr lang="de-DE" dirty="0"/>
                  <a:t> </a:t>
                </a:r>
                <a:r>
                  <a:rPr lang="de-DE" dirty="0" err="1"/>
                  <a:t>higher</a:t>
                </a:r>
                <a:r>
                  <a:rPr lang="de-DE" dirty="0"/>
                  <a:t>-order </a:t>
                </a:r>
                <a:r>
                  <a:rPr lang="de-DE" dirty="0" err="1"/>
                  <a:t>controller</a:t>
                </a:r>
                <a:r>
                  <a:rPr lang="de-DE" dirty="0"/>
                  <a:t> </a:t>
                </a:r>
                <a:r>
                  <a:rPr lang="de-DE" dirty="0" err="1"/>
                  <a:t>structures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AC4A9C3-17AC-7387-6BD0-D57386930B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11DD58-2D08-3F77-A623-6D10766D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002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5B61A9-10C4-004E-AAB8-D4D3EFCE3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Optimization</a:t>
            </a:r>
            <a:r>
              <a:rPr lang="de-DE" dirty="0"/>
              <a:t>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25B1BFB-C345-4C10-3FE3-385B457EA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Define</a:t>
                </a:r>
                <a:r>
                  <a:rPr lang="de-DE" dirty="0"/>
                  <a:t> a </a:t>
                </a:r>
                <a:r>
                  <a:rPr lang="de-DE" dirty="0" err="1"/>
                  <a:t>cost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(e.g., integral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squared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r>
                  <a:rPr lang="de-DE" dirty="0"/>
                  <a:t>, </a:t>
                </a:r>
                <a:r>
                  <a:rPr lang="de-DE" dirty="0" err="1"/>
                  <a:t>sensitivity</a:t>
                </a:r>
                <a:r>
                  <a:rPr lang="de-DE" dirty="0"/>
                  <a:t> </a:t>
                </a:r>
                <a:r>
                  <a:rPr lang="de-DE" dirty="0" err="1"/>
                  <a:t>norms</a:t>
                </a:r>
                <a:r>
                  <a:rPr lang="de-DE" dirty="0"/>
                  <a:t>) and </a:t>
                </a:r>
                <a:r>
                  <a:rPr lang="de-DE" dirty="0" err="1"/>
                  <a:t>adjust</a:t>
                </a:r>
                <a:r>
                  <a:rPr lang="de-DE" dirty="0"/>
                  <a:t> </a:t>
                </a:r>
                <a:r>
                  <a:rPr lang="de-DE" dirty="0" err="1"/>
                  <a:t>paramters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minimize</a:t>
                </a:r>
                <a:r>
                  <a:rPr lang="de-DE" dirty="0"/>
                  <a:t> </a:t>
                </a:r>
                <a:r>
                  <a:rPr lang="de-DE" dirty="0" err="1"/>
                  <a:t>it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I</a:t>
                </a:r>
                <a:r>
                  <a:rPr lang="de-DE" dirty="0" err="1"/>
                  <a:t>mplicitly</a:t>
                </a:r>
                <a:r>
                  <a:rPr lang="de-DE" dirty="0"/>
                  <a:t> </a:t>
                </a:r>
                <a:r>
                  <a:rPr lang="de-DE" dirty="0" err="1"/>
                  <a:t>shapes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balance</a:t>
                </a:r>
                <a:r>
                  <a:rPr lang="de-DE" dirty="0"/>
                  <a:t> </a:t>
                </a:r>
                <a:r>
                  <a:rPr lang="de-DE" dirty="0" err="1"/>
                  <a:t>tracking</a:t>
                </a:r>
                <a:r>
                  <a:rPr lang="de-DE" dirty="0"/>
                  <a:t>, </a:t>
                </a:r>
                <a:r>
                  <a:rPr lang="de-DE" dirty="0" err="1"/>
                  <a:t>disturbance</a:t>
                </a:r>
                <a:r>
                  <a:rPr lang="de-DE" dirty="0"/>
                  <a:t> </a:t>
                </a:r>
                <a:r>
                  <a:rPr lang="de-DE" dirty="0" err="1"/>
                  <a:t>rejection</a:t>
                </a:r>
                <a:r>
                  <a:rPr lang="de-DE" dirty="0"/>
                  <a:t>, </a:t>
                </a:r>
                <a:r>
                  <a:rPr lang="de-DE" dirty="0" err="1"/>
                  <a:t>noise</a:t>
                </a:r>
                <a:r>
                  <a:rPr lang="de-DE" dirty="0"/>
                  <a:t>, and </a:t>
                </a:r>
                <a:r>
                  <a:rPr lang="de-DE" dirty="0" err="1"/>
                  <a:t>robustness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Advantages: </a:t>
                </a:r>
                <a:r>
                  <a:rPr lang="de-DE" dirty="0" err="1"/>
                  <a:t>systematic</a:t>
                </a:r>
                <a:r>
                  <a:rPr lang="de-DE" dirty="0"/>
                  <a:t> and </a:t>
                </a:r>
                <a:r>
                  <a:rPr lang="de-DE" dirty="0" err="1"/>
                  <a:t>automated</a:t>
                </a:r>
                <a:r>
                  <a:rPr lang="de-DE" dirty="0"/>
                  <a:t> </a:t>
                </a:r>
                <a:r>
                  <a:rPr lang="de-DE" dirty="0" err="1"/>
                  <a:t>tuning</a:t>
                </a:r>
                <a:r>
                  <a:rPr lang="de-DE" dirty="0"/>
                  <a:t>, </a:t>
                </a:r>
                <a:r>
                  <a:rPr lang="de-DE" dirty="0" err="1"/>
                  <a:t>allows</a:t>
                </a:r>
                <a:r>
                  <a:rPr lang="de-DE" dirty="0"/>
                  <a:t> </a:t>
                </a:r>
                <a:r>
                  <a:rPr lang="de-DE" dirty="0" err="1"/>
                  <a:t>inclusion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constraints</a:t>
                </a:r>
                <a:endParaRPr lang="de-DE" dirty="0"/>
              </a:p>
              <a:p>
                <a:r>
                  <a:rPr lang="de-DE" dirty="0" err="1"/>
                  <a:t>Limitations</a:t>
                </a:r>
                <a:r>
                  <a:rPr lang="de-DE" dirty="0"/>
                  <a:t>: </a:t>
                </a:r>
                <a:r>
                  <a:rPr lang="de-DE" dirty="0" err="1"/>
                  <a:t>requires</a:t>
                </a:r>
                <a:r>
                  <a:rPr lang="de-DE" dirty="0"/>
                  <a:t> </a:t>
                </a:r>
                <a:r>
                  <a:rPr lang="de-DE" dirty="0" err="1"/>
                  <a:t>numerical</a:t>
                </a:r>
                <a:r>
                  <a:rPr lang="de-DE" dirty="0"/>
                  <a:t> </a:t>
                </a:r>
                <a:r>
                  <a:rPr lang="de-DE" dirty="0" err="1"/>
                  <a:t>optimization</a:t>
                </a:r>
                <a:r>
                  <a:rPr lang="de-DE" dirty="0"/>
                  <a:t>, </a:t>
                </a:r>
                <a:r>
                  <a:rPr lang="de-DE" dirty="0" err="1"/>
                  <a:t>results</a:t>
                </a:r>
                <a:r>
                  <a:rPr lang="de-DE" dirty="0"/>
                  <a:t> </a:t>
                </a:r>
                <a:r>
                  <a:rPr lang="de-DE" dirty="0" err="1"/>
                  <a:t>depend</a:t>
                </a:r>
                <a:r>
                  <a:rPr lang="de-DE" dirty="0"/>
                  <a:t> on </a:t>
                </a:r>
                <a:r>
                  <a:rPr lang="de-DE" dirty="0" err="1"/>
                  <a:t>chosen</a:t>
                </a:r>
                <a:r>
                  <a:rPr lang="de-DE" dirty="0"/>
                  <a:t> </a:t>
                </a:r>
                <a:r>
                  <a:rPr lang="de-DE" dirty="0" err="1"/>
                  <a:t>cost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25B1BFB-C345-4C10-3FE3-385B457EA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r="-14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42C4040-B821-4C4D-28E3-75A307390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581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26C0AA-D9C3-34B4-74D2-760A494A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Cascade Control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3AC845-AEF8-1D08-A3FD-8EE28F4C9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Concept:</a:t>
            </a:r>
          </a:p>
          <a:p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controllers</a:t>
            </a:r>
            <a:r>
              <a:rPr lang="de-DE" dirty="0"/>
              <a:t> </a:t>
            </a:r>
            <a:r>
              <a:rPr lang="de-DE" dirty="0" err="1"/>
              <a:t>arranged</a:t>
            </a:r>
            <a:r>
              <a:rPr lang="de-DE" dirty="0"/>
              <a:t> in </a:t>
            </a:r>
            <a:r>
              <a:rPr lang="de-DE" dirty="0" err="1"/>
              <a:t>nested</a:t>
            </a:r>
            <a:r>
              <a:rPr lang="de-DE" dirty="0"/>
              <a:t> </a:t>
            </a:r>
            <a:r>
              <a:rPr lang="de-DE" dirty="0" err="1"/>
              <a:t>loops</a:t>
            </a:r>
            <a:endParaRPr lang="de-DE" dirty="0"/>
          </a:p>
          <a:p>
            <a:r>
              <a:rPr lang="de-DE" dirty="0" err="1"/>
              <a:t>Inner</a:t>
            </a:r>
            <a:r>
              <a:rPr lang="de-DE" dirty="0"/>
              <a:t> loop </a:t>
            </a:r>
            <a:r>
              <a:rPr lang="de-DE" dirty="0" err="1"/>
              <a:t>controls</a:t>
            </a:r>
            <a:r>
              <a:rPr lang="de-DE" dirty="0"/>
              <a:t> a fast </a:t>
            </a:r>
            <a:r>
              <a:rPr lang="de-DE" dirty="0" err="1"/>
              <a:t>subsystem</a:t>
            </a:r>
            <a:endParaRPr lang="de-DE" dirty="0"/>
          </a:p>
          <a:p>
            <a:r>
              <a:rPr lang="de-DE" dirty="0"/>
              <a:t>Outer loop </a:t>
            </a:r>
            <a:r>
              <a:rPr lang="de-DE" dirty="0" err="1"/>
              <a:t>controls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 variable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Advantages: </a:t>
            </a:r>
            <a:r>
              <a:rPr lang="de-DE" dirty="0" err="1"/>
              <a:t>improved</a:t>
            </a:r>
            <a:r>
              <a:rPr lang="de-DE" dirty="0"/>
              <a:t> </a:t>
            </a:r>
            <a:r>
              <a:rPr lang="de-DE" dirty="0" err="1"/>
              <a:t>disturbance</a:t>
            </a:r>
            <a:r>
              <a:rPr lang="de-DE" dirty="0"/>
              <a:t> </a:t>
            </a:r>
            <a:r>
              <a:rPr lang="de-DE" dirty="0" err="1"/>
              <a:t>rejection</a:t>
            </a:r>
            <a:r>
              <a:rPr lang="de-DE" dirty="0"/>
              <a:t>, </a:t>
            </a:r>
            <a:r>
              <a:rPr lang="de-DE" dirty="0" err="1"/>
              <a:t>faster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internal </a:t>
            </a:r>
            <a:r>
              <a:rPr lang="de-DE" dirty="0" err="1"/>
              <a:t>disturbances</a:t>
            </a:r>
            <a:r>
              <a:rPr lang="de-DE" dirty="0"/>
              <a:t>, </a:t>
            </a:r>
            <a:r>
              <a:rPr lang="de-DE" dirty="0" err="1"/>
              <a:t>reduced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actuator</a:t>
            </a:r>
            <a:r>
              <a:rPr lang="de-DE" dirty="0"/>
              <a:t> </a:t>
            </a:r>
            <a:r>
              <a:rPr lang="de-DE" dirty="0" err="1"/>
              <a:t>nonlinearities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Typical</a:t>
            </a:r>
            <a:r>
              <a:rPr lang="de-DE" dirty="0"/>
              <a:t> </a:t>
            </a:r>
            <a:r>
              <a:rPr lang="de-DE" dirty="0" err="1"/>
              <a:t>applications</a:t>
            </a:r>
            <a:r>
              <a:rPr lang="de-DE" dirty="0"/>
              <a:t>: 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speed</a:t>
            </a:r>
            <a:r>
              <a:rPr lang="de-DE" dirty="0"/>
              <a:t> + </a:t>
            </a:r>
            <a:r>
              <a:rPr lang="de-DE" dirty="0" err="1"/>
              <a:t>torque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, </a:t>
            </a:r>
            <a:r>
              <a:rPr lang="de-DE" dirty="0" err="1"/>
              <a:t>temperature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loop, </a:t>
            </a:r>
            <a:r>
              <a:rPr lang="de-DE" dirty="0" err="1"/>
              <a:t>robotics</a:t>
            </a:r>
            <a:r>
              <a:rPr lang="de-DE" dirty="0"/>
              <a:t> and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control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89E192-E06F-6B6D-EA9D-F53924D4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8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DF3D3-F0A5-B605-640F-68192BFE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Empirical</a:t>
            </a:r>
            <a:r>
              <a:rPr lang="de-DE" dirty="0"/>
              <a:t> </a:t>
            </a:r>
            <a:r>
              <a:rPr lang="de-DE" dirty="0" err="1"/>
              <a:t>Approaches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1EFA57-2744-B2CC-EC9E-60BAA018F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: </a:t>
            </a:r>
            <a:r>
              <a:rPr lang="de-DE" dirty="0" err="1"/>
              <a:t>derive</a:t>
            </a:r>
            <a:r>
              <a:rPr lang="de-DE" dirty="0"/>
              <a:t> a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design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compute</a:t>
            </a:r>
            <a:r>
              <a:rPr lang="de-DE" dirty="0"/>
              <a:t> </a:t>
            </a:r>
            <a:r>
              <a:rPr lang="de-DE" dirty="0" err="1"/>
              <a:t>parameters</a:t>
            </a:r>
            <a:endParaRPr lang="de-DE" dirty="0"/>
          </a:p>
          <a:p>
            <a:r>
              <a:rPr lang="de-DE" dirty="0" err="1"/>
              <a:t>Empirical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: do </a:t>
            </a:r>
            <a:r>
              <a:rPr lang="de-DE" dirty="0" err="1"/>
              <a:t>experiments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real plant,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measured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compute</a:t>
            </a:r>
            <a:r>
              <a:rPr lang="de-DE" dirty="0"/>
              <a:t> </a:t>
            </a:r>
            <a:r>
              <a:rPr lang="de-DE" dirty="0" err="1"/>
              <a:t>parameters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4D30ED-10BC-22A6-1BE5-87FB93F6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24</a:t>
            </a:fld>
            <a:endParaRPr lang="en-GB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1358450-756B-46E3-1B81-056C4FA5A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916940"/>
              </p:ext>
            </p:extLst>
          </p:nvPr>
        </p:nvGraphicFramePr>
        <p:xfrm>
          <a:off x="838200" y="4072097"/>
          <a:ext cx="9687561" cy="2194560"/>
        </p:xfrm>
        <a:graphic>
          <a:graphicData uri="http://schemas.openxmlformats.org/drawingml/2006/table">
            <a:tbl>
              <a:tblPr/>
              <a:tblGrid>
                <a:gridCol w="3229187">
                  <a:extLst>
                    <a:ext uri="{9D8B030D-6E8A-4147-A177-3AD203B41FA5}">
                      <a16:colId xmlns:a16="http://schemas.microsoft.com/office/drawing/2014/main" val="1762246267"/>
                    </a:ext>
                  </a:extLst>
                </a:gridCol>
                <a:gridCol w="3229187">
                  <a:extLst>
                    <a:ext uri="{9D8B030D-6E8A-4147-A177-3AD203B41FA5}">
                      <a16:colId xmlns:a16="http://schemas.microsoft.com/office/drawing/2014/main" val="3541604622"/>
                    </a:ext>
                  </a:extLst>
                </a:gridCol>
                <a:gridCol w="3229187">
                  <a:extLst>
                    <a:ext uri="{9D8B030D-6E8A-4147-A177-3AD203B41FA5}">
                      <a16:colId xmlns:a16="http://schemas.microsoft.com/office/drawing/2014/main" val="1384885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Aspect</a:t>
                      </a:r>
                      <a:endParaRPr lang="de-DE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Model-</a:t>
                      </a:r>
                      <a:r>
                        <a:rPr lang="de-DE" b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based</a:t>
                      </a:r>
                      <a:endParaRPr lang="de-DE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Empirical</a:t>
                      </a:r>
                      <a:endParaRPr lang="de-DE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426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Knowledge of plant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Required</a:t>
                      </a:r>
                      <a:endParaRPr lang="de-DE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Not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52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Mathematical</a:t>
                      </a:r>
                      <a:r>
                        <a:rPr lang="de-D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Experiment +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62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Tuning 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Analytical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Trial-based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625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Safety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Usually</a:t>
                      </a:r>
                      <a:r>
                        <a:rPr lang="de-D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safer</a:t>
                      </a:r>
                      <a:r>
                        <a:rPr lang="de-D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if</a:t>
                      </a:r>
                      <a:r>
                        <a:rPr lang="de-D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model</a:t>
                      </a:r>
                      <a:r>
                        <a:rPr lang="de-D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correct</a:t>
                      </a:r>
                      <a:endParaRPr lang="de-DE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May cause oscillations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891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Potentially</a:t>
                      </a:r>
                      <a:r>
                        <a:rPr lang="de-D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e-D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higher</a:t>
                      </a:r>
                      <a:endParaRPr lang="de-DE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660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442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3551CD1-19A8-BE1B-57EE-0F4A21C3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Manual PI Tuning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31000492-FD46-6E0B-2937-3A8A79556A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Heuristic:</a:t>
                </a:r>
              </a:p>
              <a:p>
                <a:r>
                  <a:rPr lang="de-DE" dirty="0" err="1"/>
                  <a:t>Decide</a:t>
                </a:r>
                <a:r>
                  <a:rPr lang="de-DE" dirty="0"/>
                  <a:t> </a:t>
                </a:r>
                <a:r>
                  <a:rPr lang="de-DE" dirty="0" err="1"/>
                  <a:t>what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 </a:t>
                </a:r>
                <a:r>
                  <a:rPr lang="de-DE" dirty="0" err="1"/>
                  <a:t>you</a:t>
                </a:r>
                <a:r>
                  <a:rPr lang="de-DE" dirty="0"/>
                  <a:t> </a:t>
                </a:r>
                <a:r>
                  <a:rPr lang="de-DE" dirty="0" err="1"/>
                  <a:t>want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given</a:t>
                </a:r>
                <a:r>
                  <a:rPr lang="de-DE" dirty="0"/>
                  <a:t> </a:t>
                </a:r>
                <a:r>
                  <a:rPr lang="de-DE" dirty="0" err="1"/>
                  <a:t>error</a:t>
                </a:r>
                <a:endParaRPr lang="de-DE" dirty="0"/>
              </a:p>
              <a:p>
                <a:r>
                  <a:rPr lang="de-DE" dirty="0" err="1"/>
                  <a:t>Compute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corresponding</a:t>
                </a:r>
                <a:r>
                  <a:rPr lang="de-DE" dirty="0"/>
                  <a:t> proportional </a:t>
                </a:r>
                <a:r>
                  <a:rPr lang="de-DE" dirty="0" err="1"/>
                  <a:t>gain</a:t>
                </a:r>
                <a:endParaRPr lang="de-DE" dirty="0"/>
              </a:p>
              <a:p>
                <a:r>
                  <a:rPr lang="de-DE" dirty="0" err="1"/>
                  <a:t>Choose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integral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a </a:t>
                </a:r>
                <a:r>
                  <a:rPr lang="de-DE" dirty="0" err="1"/>
                  <a:t>fraction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de-DE" dirty="0"/>
                  <a:t> (e.g.,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 Engine Torque </a:t>
                </a:r>
                <a:r>
                  <a:rPr lang="de-DE" dirty="0" err="1"/>
                  <a:t>of</a:t>
                </a:r>
                <a:r>
                  <a:rPr lang="de-DE" dirty="0"/>
                  <a:t> a Car Engine</a:t>
                </a:r>
              </a:p>
              <a:p>
                <a:r>
                  <a:rPr lang="de-DE" dirty="0"/>
                  <a:t>Cruise </a:t>
                </a:r>
                <a:r>
                  <a:rPr lang="de-DE" dirty="0" err="1"/>
                  <a:t>control</a:t>
                </a:r>
                <a:r>
                  <a:rPr lang="de-DE" dirty="0"/>
                  <a:t> </a:t>
                </a:r>
                <a:r>
                  <a:rPr lang="de-DE" dirty="0" err="1"/>
                  <a:t>deviation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3</m:t>
                    </m:r>
                    <m:f>
                      <m:fPr>
                        <m:type m:val="li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den>
                    </m:f>
                  </m:oMath>
                </a14:m>
                <a:endParaRPr lang="de-DE" dirty="0"/>
              </a:p>
              <a:p>
                <a:r>
                  <a:rPr lang="de-DE" dirty="0" err="1"/>
                  <a:t>Desired</a:t>
                </a:r>
                <a:r>
                  <a:rPr lang="de-DE" dirty="0"/>
                  <a:t> </a:t>
                </a:r>
                <a:r>
                  <a:rPr lang="de-DE" dirty="0" err="1"/>
                  <a:t>torque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Nm</m:t>
                    </m:r>
                  </m:oMath>
                </a14:m>
                <a:endParaRPr lang="de-DE" dirty="0"/>
              </a:p>
              <a:p>
                <a:pPr>
                  <a:buFont typeface="Wingdings" pitchFamily="2" charset="2"/>
                  <a:buChar char="à"/>
                </a:pP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=7</m:t>
                    </m:r>
                    <m:f>
                      <m:fPr>
                        <m:type m:val="li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Nm</m:t>
                        </m:r>
                      </m:num>
                      <m:den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de-DE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de-DE" dirty="0"/>
              </a:p>
              <a:p>
                <a:pPr>
                  <a:buFont typeface="Wingdings" pitchFamily="2" charset="2"/>
                  <a:buChar char="à"/>
                </a:pPr>
                <a:r>
                  <a:rPr lang="de-DE" dirty="0"/>
                  <a:t> Integral </a:t>
                </a:r>
                <a:r>
                  <a:rPr lang="de-DE" dirty="0" err="1"/>
                  <a:t>gain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rule</a:t>
                </a:r>
                <a:r>
                  <a:rPr lang="de-DE" dirty="0"/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4" name="Inhaltsplatzhalter 3">
                <a:extLst>
                  <a:ext uri="{FF2B5EF4-FFF2-40B4-BE49-F238E27FC236}">
                    <a16:creationId xmlns:a16="http://schemas.microsoft.com/office/drawing/2014/main" id="{31000492-FD46-6E0B-2937-3A8A79556A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488" b="-154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B3F6194-F261-C7AC-665C-CE2363FF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60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BF6517-6984-9407-6B74-9C4B4219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Ziegler–Nichols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2DFD6F6-7882-2454-DA98-53A8C188E0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Heuristic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 </a:t>
                </a:r>
                <a:r>
                  <a:rPr lang="de-DE" sz="2400" dirty="0" err="1"/>
                  <a:t>provide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practical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starting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values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P, PI, and PID </a:t>
                </a:r>
                <a:r>
                  <a:rPr lang="de-DE" sz="2400" dirty="0" err="1"/>
                  <a:t>controllers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Step-by-step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procedure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closed</a:t>
                </a:r>
                <a:r>
                  <a:rPr lang="de-DE" sz="2400" dirty="0"/>
                  <a:t>-loop </a:t>
                </a:r>
                <a:r>
                  <a:rPr lang="de-DE" sz="2400" dirty="0" err="1"/>
                  <a:t>method</a:t>
                </a:r>
                <a:r>
                  <a:rPr lang="de-DE" sz="2400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/>
                  <a:t>Set </a:t>
                </a:r>
                <a:r>
                  <a:rPr lang="de-DE" sz="2400" dirty="0" err="1"/>
                  <a:t>controller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P-</a:t>
                </a:r>
                <a:r>
                  <a:rPr lang="de-DE" sz="2400" dirty="0" err="1"/>
                  <a:t>only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mode</a:t>
                </a:r>
                <a:r>
                  <a:rPr lang="de-DE" sz="2400" dirty="0"/>
                  <a:t>: integral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, derivative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 err="1"/>
                  <a:t>Gradually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increase</a:t>
                </a:r>
                <a:r>
                  <a:rPr lang="de-DE" sz="2400" dirty="0"/>
                  <a:t> proportional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/>
                  <a:t>Find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point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where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output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shows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continuous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sustained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oscillations</a:t>
                </a:r>
                <a:endParaRPr lang="de-DE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 err="1"/>
                  <a:t>Record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ultimate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de-DE" sz="2400" dirty="0"/>
                  <a:t> (</a:t>
                </a:r>
                <a:r>
                  <a:rPr lang="de-DE" sz="2400" dirty="0" err="1"/>
                  <a:t>gain</a:t>
                </a:r>
                <a:r>
                  <a:rPr lang="de-DE" sz="2400" dirty="0"/>
                  <a:t> at </a:t>
                </a:r>
                <a:r>
                  <a:rPr lang="de-DE" sz="2400" dirty="0" err="1"/>
                  <a:t>oscillation</a:t>
                </a:r>
                <a:r>
                  <a:rPr lang="de-DE" sz="2400" dirty="0"/>
                  <a:t>) and </a:t>
                </a:r>
                <a:r>
                  <a:rPr lang="de-DE" sz="2400" dirty="0" err="1"/>
                  <a:t>ultimate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period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de-DE" sz="2400" dirty="0"/>
                  <a:t> (</a:t>
                </a:r>
                <a:r>
                  <a:rPr lang="de-DE" sz="2400" dirty="0" err="1"/>
                  <a:t>oscillation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period</a:t>
                </a:r>
                <a:r>
                  <a:rPr lang="de-DE" sz="2400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400" dirty="0"/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de-DE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compute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tuning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parameters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empirical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tuning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formulas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2DFD6F6-7882-2454-DA98-53A8C188E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4D5E92-4A90-3146-A07C-C0441240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215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35ED3-47DC-A12E-E092-8ADAE3F4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Ziegler–Nichols Tuning Rules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4652D0E-1C3C-66CB-917B-330CE9B42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683759"/>
            <a:ext cx="5181600" cy="14932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Advantages:</a:t>
            </a:r>
          </a:p>
          <a:p>
            <a:r>
              <a:rPr lang="de-DE" dirty="0"/>
              <a:t>Simple experimental </a:t>
            </a:r>
            <a:r>
              <a:rPr lang="de-DE" dirty="0" err="1"/>
              <a:t>procedure</a:t>
            </a:r>
            <a:endParaRPr lang="de-DE" dirty="0"/>
          </a:p>
          <a:p>
            <a:r>
              <a:rPr lang="de-DE" dirty="0" err="1"/>
              <a:t>Widely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initial PID </a:t>
            </a:r>
            <a:r>
              <a:rPr lang="de-DE" dirty="0" err="1"/>
              <a:t>tuning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23D638C-F929-816F-8867-F4B81D71D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683758"/>
            <a:ext cx="5181600" cy="16725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 err="1"/>
              <a:t>Limitations</a:t>
            </a:r>
            <a:r>
              <a:rPr lang="de-DE" dirty="0"/>
              <a:t>:</a:t>
            </a:r>
          </a:p>
          <a:p>
            <a:r>
              <a:rPr lang="de-DE" dirty="0"/>
              <a:t>Can </a:t>
            </a:r>
            <a:r>
              <a:rPr lang="de-DE" dirty="0" err="1"/>
              <a:t>produce</a:t>
            </a:r>
            <a:r>
              <a:rPr lang="de-DE" dirty="0"/>
              <a:t> large </a:t>
            </a:r>
            <a:r>
              <a:rPr lang="de-DE" dirty="0" err="1"/>
              <a:t>overshoot</a:t>
            </a:r>
            <a:endParaRPr lang="de-DE" dirty="0"/>
          </a:p>
          <a:p>
            <a:r>
              <a:rPr lang="de-DE" dirty="0"/>
              <a:t>Not ideal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highly</a:t>
            </a:r>
            <a:r>
              <a:rPr lang="de-DE" dirty="0"/>
              <a:t> </a:t>
            </a:r>
            <a:r>
              <a:rPr lang="de-DE" dirty="0" err="1"/>
              <a:t>nonlinear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unstable</a:t>
            </a:r>
            <a:r>
              <a:rPr lang="de-DE" dirty="0"/>
              <a:t> </a:t>
            </a:r>
            <a:r>
              <a:rPr lang="de-DE" dirty="0" err="1"/>
              <a:t>systems</a:t>
            </a:r>
            <a:endParaRPr lang="de-DE" dirty="0"/>
          </a:p>
          <a:p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requires</a:t>
            </a:r>
            <a:r>
              <a:rPr lang="de-DE" dirty="0"/>
              <a:t> </a:t>
            </a:r>
            <a:r>
              <a:rPr lang="de-DE" dirty="0" err="1"/>
              <a:t>finetuning</a:t>
            </a:r>
            <a:r>
              <a:rPr lang="de-DE" dirty="0"/>
              <a:t> </a:t>
            </a:r>
            <a:r>
              <a:rPr lang="de-DE" dirty="0" err="1"/>
              <a:t>afterward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4D16D6-54DC-F658-520B-EA40DEC9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CAA86835-02BD-1191-0E8E-FFAF0EBF24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1917985"/>
              <a:ext cx="10515600" cy="2105533"/>
            </p:xfrm>
            <a:graphic>
              <a:graphicData uri="http://schemas.openxmlformats.org/drawingml/2006/table">
                <a:tbl>
                  <a:tblPr/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68899635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7533888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62133523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9329756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b="0" dirty="0"/>
                            <a:t>Controller Type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828241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800" b="0" i="0" smtClean="0">
                                    <a:latin typeface="Cambria Math" panose="02040503050406030204" pitchFamily="18" charset="0"/>
                                  </a:rPr>
                                  <m:t>0.5 </m:t>
                                </m:r>
                                <m:sSub>
                                  <m:sSubPr>
                                    <m:ctrlP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–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–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670601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PI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800" b="0" i="0" smtClean="0">
                                    <a:latin typeface="Cambria Math" panose="02040503050406030204" pitchFamily="18" charset="0"/>
                                  </a:rPr>
                                  <m:t>0.45 </m:t>
                                </m:r>
                                <m:sSub>
                                  <m:sSubPr>
                                    <m:ctrlP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e-DE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8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de-DE" sz="2800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1.2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–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26358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PID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800" b="0" i="0" smtClean="0">
                                    <a:latin typeface="Cambria Math" panose="02040503050406030204" pitchFamily="18" charset="0"/>
                                  </a:rPr>
                                  <m:t>0.6 </m:t>
                                </m:r>
                                <m:sSub>
                                  <m:sSubPr>
                                    <m:ctrlP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de-DE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e-DE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8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de-DE" sz="2800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e-DE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8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de-DE" sz="2800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de-DE" sz="2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28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328652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CAA86835-02BD-1191-0E8E-FFAF0EBF24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256763"/>
                  </p:ext>
                </p:extLst>
              </p:nvPr>
            </p:nvGraphicFramePr>
            <p:xfrm>
              <a:off x="838200" y="1917985"/>
              <a:ext cx="10515600" cy="2105533"/>
            </p:xfrm>
            <a:graphic>
              <a:graphicData uri="http://schemas.openxmlformats.org/drawingml/2006/table">
                <a:tbl>
                  <a:tblPr/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068899635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7533888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621335237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493297568"/>
                        </a:ext>
                      </a:extLst>
                    </a:gridCol>
                  </a:tblGrid>
                  <a:tr h="55105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b="0" dirty="0"/>
                            <a:t>Controller Type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83" t="-9302" r="-200966" b="-474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83" t="-9302" r="-100966" b="-474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83" t="-9302" r="-966" b="-474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828241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83" t="-114634" r="-200966" b="-397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–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–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2670601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PI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83" t="-214634" r="-200966" b="-297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83" t="-214634" r="-100966" b="-297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–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3263583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de-DE" sz="2800" dirty="0"/>
                            <a:t>PID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83" t="-314634" r="-200966" b="-197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83" t="-314634" r="-100966" b="-197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83" t="-314634" r="-966" b="-1975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28652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CCEFD7E-8DB6-E03E-4C0E-0644D0A4DACB}"/>
                  </a:ext>
                </a:extLst>
              </p:cNvPr>
              <p:cNvSpPr txBox="1"/>
              <p:nvPr/>
            </p:nvSpPr>
            <p:spPr>
              <a:xfrm>
                <a:off x="9705785" y="365124"/>
                <a:ext cx="1648015" cy="795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e-DE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DE" sz="2400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CCEFD7E-8DB6-E03E-4C0E-0644D0A4D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5785" y="365124"/>
                <a:ext cx="1648015" cy="795731"/>
              </a:xfrm>
              <a:prstGeom prst="rect">
                <a:avLst/>
              </a:prstGeom>
              <a:blipFill>
                <a:blip r:embed="rId3"/>
                <a:stretch>
                  <a:fillRect l="-4580" t="-78125" r="-2290" b="-1140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388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638CB1-1CE5-2C1D-4952-D96FCAE8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T-</a:t>
            </a:r>
            <a:r>
              <a:rPr lang="de-DE" dirty="0" err="1"/>
              <a:t>Sum</a:t>
            </a:r>
            <a:r>
              <a:rPr lang="de-DE" dirty="0"/>
              <a:t> (Time-</a:t>
            </a:r>
            <a:r>
              <a:rPr lang="de-DE" dirty="0" err="1"/>
              <a:t>Sum</a:t>
            </a:r>
            <a:r>
              <a:rPr lang="de-DE" dirty="0"/>
              <a:t>)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1D58EA8-D03B-3C93-1C0F-F98C41CE63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e-DE" sz="2400" dirty="0" err="1"/>
                  <a:t>Evaluate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control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system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performance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based</a:t>
                </a:r>
                <a:r>
                  <a:rPr lang="de-DE" sz="2400" dirty="0"/>
                  <a:t> on </a:t>
                </a:r>
                <a:r>
                  <a:rPr lang="de-DE" sz="2400" dirty="0" err="1"/>
                  <a:t>accumulated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time</a:t>
                </a:r>
              </a:p>
              <a:p>
                <a:r>
                  <a:rPr lang="de-DE" sz="2400" dirty="0" err="1"/>
                  <a:t>Often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used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compare</a:t>
                </a:r>
                <a:r>
                  <a:rPr lang="de-DE" sz="2400" dirty="0"/>
                  <a:t> different </a:t>
                </a:r>
                <a:r>
                  <a:rPr lang="de-DE" sz="2400" dirty="0" err="1"/>
                  <a:t>controller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tunings</a:t>
                </a:r>
                <a:r>
                  <a:rPr lang="de-DE" sz="2400" dirty="0"/>
                  <a:t> (e.g., PID </a:t>
                </a:r>
                <a:r>
                  <a:rPr lang="de-DE" sz="2400" dirty="0" err="1"/>
                  <a:t>settings</a:t>
                </a:r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Key Idea: </a:t>
                </a:r>
                <a:r>
                  <a:rPr lang="de-DE" sz="2400" dirty="0" err="1"/>
                  <a:t>Measure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how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much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control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accumulates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over</a:t>
                </a:r>
                <a:r>
                  <a:rPr lang="de-DE" sz="2400" dirty="0"/>
                  <a:t> time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2400">
                              <a:latin typeface="Cambria Math" panose="02040503050406030204" pitchFamily="18" charset="0"/>
                            </a:rPr>
                            <m:t>sum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controller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with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smallest</a:t>
                </a:r>
                <a:r>
                  <a:rPr lang="de-DE" sz="2400" dirty="0"/>
                  <a:t> total </a:t>
                </a:r>
                <a:r>
                  <a:rPr lang="de-DE" sz="2400" dirty="0" err="1"/>
                  <a:t>accumulated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error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generally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performs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best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1D58EA8-D03B-3C93-1C0F-F98C41CE6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F171FE-3A4D-6228-1060-0E5E0C54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28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2B805F-4D25-CF89-BB24-0FD05062B981}"/>
              </a:ext>
            </a:extLst>
          </p:cNvPr>
          <p:cNvSpPr txBox="1"/>
          <p:nvPr/>
        </p:nvSpPr>
        <p:spPr>
          <a:xfrm>
            <a:off x="7930117" y="4029350"/>
            <a:ext cx="22753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sampling</a:t>
            </a:r>
            <a:r>
              <a:rPr lang="de-DE" sz="2200" dirty="0"/>
              <a:t> </a:t>
            </a:r>
            <a:r>
              <a:rPr lang="de-DE" sz="2200" dirty="0" err="1"/>
              <a:t>interval</a:t>
            </a:r>
            <a:endParaRPr lang="de-DE" sz="2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EB389B3-8E9D-9C2D-6DA3-72CCF0253FD9}"/>
              </a:ext>
            </a:extLst>
          </p:cNvPr>
          <p:cNvSpPr txBox="1"/>
          <p:nvPr/>
        </p:nvSpPr>
        <p:spPr>
          <a:xfrm>
            <a:off x="5557773" y="4295594"/>
            <a:ext cx="16966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 err="1"/>
              <a:t>control</a:t>
            </a:r>
            <a:r>
              <a:rPr lang="de-DE" sz="2200" dirty="0"/>
              <a:t> </a:t>
            </a:r>
            <a:r>
              <a:rPr lang="de-DE" sz="2200" dirty="0" err="1"/>
              <a:t>error</a:t>
            </a:r>
            <a:endParaRPr lang="de-DE" sz="22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991F0A8-A7A1-2C53-F07F-C19A57DA8B01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7457440" y="4013200"/>
            <a:ext cx="472677" cy="231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1F7C321-D5BB-F766-9704-929ECBBD11A8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406082" y="4064000"/>
            <a:ext cx="0" cy="231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D70AB15-7FF0-BCA6-96F2-4071AED8B17A}"/>
              </a:ext>
            </a:extLst>
          </p:cNvPr>
          <p:cNvSpPr txBox="1"/>
          <p:nvPr/>
        </p:nvSpPr>
        <p:spPr>
          <a:xfrm>
            <a:off x="1566232" y="4029350"/>
            <a:ext cx="2529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accumulated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evaluation</a:t>
            </a:r>
            <a:r>
              <a:rPr lang="de-DE" dirty="0"/>
              <a:t> </a:t>
            </a:r>
            <a:r>
              <a:rPr lang="de-DE" dirty="0" err="1"/>
              <a:t>period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0851A8A-9AE2-2913-9911-C40F3E0B05EA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096068" y="4013200"/>
            <a:ext cx="613397" cy="339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CD5C81C-F129-47FD-25F2-66F07975978B}"/>
                  </a:ext>
                </a:extLst>
              </p:cNvPr>
              <p:cNvSpPr txBox="1"/>
              <p:nvPr/>
            </p:nvSpPr>
            <p:spPr>
              <a:xfrm>
                <a:off x="3048000" y="5569484"/>
                <a:ext cx="6096000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de-DE" sz="2400" dirty="0" err="1"/>
                  <a:t>smaller</a:t>
                </a:r>
                <a:r>
                  <a:rPr lang="de-DE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sum</m:t>
                        </m:r>
                      </m:sub>
                    </m:sSub>
                  </m:oMath>
                </a14:m>
                <a:r>
                  <a:rPr lang="de-DE" sz="2400" dirty="0"/>
                  <a:t>: </a:t>
                </a:r>
                <a:r>
                  <a:rPr lang="de-DE" sz="2400" dirty="0" err="1"/>
                  <a:t>better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control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performance</a:t>
                </a:r>
                <a:endParaRPr lang="de-DE" sz="2400" dirty="0"/>
              </a:p>
              <a:p>
                <a:r>
                  <a:rPr lang="de-DE" sz="2400" dirty="0"/>
                  <a:t>larger</a:t>
                </a:r>
                <a:r>
                  <a:rPr lang="de-DE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2400">
                            <a:latin typeface="Cambria Math" panose="02040503050406030204" pitchFamily="18" charset="0"/>
                          </a:rPr>
                          <m:t>sum</m:t>
                        </m:r>
                      </m:sub>
                    </m:sSub>
                  </m:oMath>
                </a14:m>
                <a:r>
                  <a:rPr lang="de-DE" sz="2400" dirty="0"/>
                  <a:t>: larger </a:t>
                </a:r>
                <a:r>
                  <a:rPr lang="de-DE" sz="2400" dirty="0" err="1"/>
                  <a:t>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longer</a:t>
                </a:r>
                <a:r>
                  <a:rPr lang="de-DE" sz="2400" dirty="0"/>
                  <a:t>-lasting </a:t>
                </a:r>
                <a:r>
                  <a:rPr lang="de-DE" sz="2400" dirty="0" err="1"/>
                  <a:t>deviations</a:t>
                </a:r>
                <a:endParaRPr lang="de-DE" sz="240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CD5C81C-F129-47FD-25F2-66F079759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569484"/>
                <a:ext cx="6096000" cy="830997"/>
              </a:xfrm>
              <a:prstGeom prst="rect">
                <a:avLst/>
              </a:prstGeom>
              <a:blipFill>
                <a:blip r:embed="rId3"/>
                <a:stretch>
                  <a:fillRect l="-1452" t="-5970" r="-1452" b="-164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358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81D303-60CB-1EB0-720A-6B61311B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Procedure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ECE7EE-5665-B2A1-8E8D-1C38701BD9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de-DE" sz="2600" dirty="0"/>
                  <a:t>Apply a </a:t>
                </a:r>
                <a:r>
                  <a:rPr lang="de-DE" sz="2600" dirty="0" err="1"/>
                  <a:t>test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input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often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step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input</a:t>
                </a:r>
                <a:r>
                  <a:rPr lang="de-DE" sz="2600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600" dirty="0" err="1"/>
                  <a:t>Measure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system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output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response</a:t>
                </a:r>
                <a:endParaRPr lang="de-DE" sz="26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600" dirty="0" err="1"/>
                  <a:t>Calculate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error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signal</a:t>
                </a:r>
                <a:r>
                  <a:rPr lang="de-DE" sz="2600" dirty="0"/>
                  <a:t>:		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6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de-DE" sz="2600" dirty="0" err="1"/>
                  <a:t>Sum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error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over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observation</a:t>
                </a:r>
                <a:r>
                  <a:rPr lang="de-DE" sz="2600" dirty="0"/>
                  <a:t> time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Limitations</a:t>
                </a:r>
                <a:endParaRPr lang="de-DE" sz="2600" dirty="0"/>
              </a:p>
              <a:p>
                <a:r>
                  <a:rPr lang="de-DE" sz="2600" dirty="0" err="1"/>
                  <a:t>Does</a:t>
                </a:r>
                <a:r>
                  <a:rPr lang="de-DE" sz="2600" dirty="0"/>
                  <a:t> not </a:t>
                </a:r>
                <a:r>
                  <a:rPr lang="de-DE" sz="2600" dirty="0" err="1"/>
                  <a:t>distinguish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between</a:t>
                </a:r>
                <a:r>
                  <a:rPr lang="de-DE" sz="2600" dirty="0"/>
                  <a:t> fast </a:t>
                </a:r>
                <a:r>
                  <a:rPr lang="de-DE" sz="2600" dirty="0" err="1"/>
                  <a:t>oscillations</a:t>
                </a:r>
                <a:r>
                  <a:rPr lang="de-DE" sz="2600" dirty="0"/>
                  <a:t> and slow </a:t>
                </a:r>
                <a:r>
                  <a:rPr lang="de-DE" sz="2600" dirty="0" err="1"/>
                  <a:t>drift</a:t>
                </a:r>
                <a:endParaRPr lang="de-DE" sz="2600" dirty="0"/>
              </a:p>
              <a:p>
                <a:r>
                  <a:rPr lang="de-DE" sz="2600" dirty="0" err="1"/>
                  <a:t>Requires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defined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evaluation</a:t>
                </a:r>
                <a:r>
                  <a:rPr lang="de-DE" sz="2600" dirty="0"/>
                  <a:t> time </a:t>
                </a:r>
                <a:r>
                  <a:rPr lang="de-DE" sz="2600" dirty="0" err="1"/>
                  <a:t>window</a:t>
                </a:r>
                <a:endParaRPr lang="de-DE" sz="2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CECE7EE-5665-B2A1-8E8D-1C38701BD9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283222-7F08-29EE-89CE-C725D989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29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10418D4-9C6C-6A85-6838-8607CBD90DE0}"/>
              </a:ext>
            </a:extLst>
          </p:cNvPr>
          <p:cNvSpPr txBox="1"/>
          <p:nvPr/>
        </p:nvSpPr>
        <p:spPr>
          <a:xfrm>
            <a:off x="7441221" y="1852930"/>
            <a:ext cx="2297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reference</a:t>
            </a:r>
            <a:r>
              <a:rPr lang="de-DE" sz="2400" dirty="0"/>
              <a:t> </a:t>
            </a:r>
            <a:r>
              <a:rPr lang="de-DE" sz="2400" dirty="0" err="1"/>
              <a:t>signal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30BCDD8-ADE1-A91F-7730-F97885685CAE}"/>
              </a:ext>
            </a:extLst>
          </p:cNvPr>
          <p:cNvSpPr txBox="1"/>
          <p:nvPr/>
        </p:nvSpPr>
        <p:spPr>
          <a:xfrm>
            <a:off x="7818120" y="3681869"/>
            <a:ext cx="2084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system</a:t>
            </a:r>
            <a:r>
              <a:rPr lang="de-DE" sz="2400" dirty="0"/>
              <a:t> </a:t>
            </a:r>
            <a:r>
              <a:rPr lang="de-DE" sz="2400" dirty="0" err="1"/>
              <a:t>output</a:t>
            </a:r>
            <a:endParaRPr lang="de-DE" sz="2400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3BE7460-FA2C-027B-D78F-049D01C68FEB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7818120" y="2314595"/>
            <a:ext cx="772038" cy="438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736FD56C-BF2E-B2B4-F249-4138DA102A13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8590158" y="3230880"/>
            <a:ext cx="270459" cy="450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180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91FBE-99C9-8927-00D6-37A02814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Exercise</a:t>
            </a:r>
            <a:r>
              <a:rPr lang="de-DE" dirty="0"/>
              <a:t>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8216210-F69F-3C6C-AC3B-7B8F37B23D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Consider a </a:t>
                </a:r>
                <a:r>
                  <a:rPr lang="de-DE" dirty="0" err="1"/>
                  <a:t>unity</a:t>
                </a:r>
                <a:r>
                  <a:rPr lang="de-DE" dirty="0"/>
                  <a:t> </a:t>
                </a:r>
                <a:r>
                  <a:rPr lang="de-DE" dirty="0" err="1"/>
                  <a:t>feedback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open-loop </a:t>
                </a:r>
                <a:r>
                  <a:rPr lang="de-DE" dirty="0" err="1"/>
                  <a:t>transfer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Write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transfer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.</a:t>
                </a:r>
              </a:p>
              <a:p>
                <a:r>
                  <a:rPr lang="de-DE" dirty="0" err="1"/>
                  <a:t>Determine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steady-state</a:t>
                </a:r>
                <a:r>
                  <a:rPr lang="de-DE" dirty="0"/>
                  <a:t> </a:t>
                </a:r>
                <a:r>
                  <a:rPr lang="de-DE" dirty="0" err="1"/>
                  <a:t>gain</a:t>
                </a:r>
                <a:r>
                  <a:rPr lang="de-DE" dirty="0"/>
                  <a:t>.</a:t>
                </a:r>
              </a:p>
              <a:p>
                <a:r>
                  <a:rPr lang="de-DE" dirty="0" err="1"/>
                  <a:t>Explain</a:t>
                </a:r>
                <a:r>
                  <a:rPr lang="de-DE" dirty="0"/>
                  <a:t>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feedback</a:t>
                </a:r>
                <a:r>
                  <a:rPr lang="de-DE" dirty="0"/>
                  <a:t> </a:t>
                </a:r>
                <a:r>
                  <a:rPr lang="de-DE" dirty="0" err="1"/>
                  <a:t>changes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behavior</a:t>
                </a:r>
                <a:r>
                  <a:rPr lang="de-DE" dirty="0"/>
                  <a:t>.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8216210-F69F-3C6C-AC3B-7B8F37B23D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  <a:blipFill>
                <a:blip r:embed="rId2"/>
                <a:stretch>
                  <a:fillRect l="-1133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BE623A-89FC-8C25-F95D-A8CA62EA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928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C6007-DFC2-BF7E-8A29-89421AE2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32DB9E-7240-E9E6-8D30-3C354405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Exercise</a:t>
            </a:r>
            <a:r>
              <a:rPr lang="de-DE" dirty="0"/>
              <a:t>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F41C9FC-B415-C9EE-CCA7-E4BB802E0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Given </a:t>
                </a:r>
                <a:r>
                  <a:rPr lang="de-DE" dirty="0" err="1"/>
                  <a:t>is</a:t>
                </a:r>
                <a:r>
                  <a:rPr lang="de-DE" dirty="0"/>
                  <a:t> a </a:t>
                </a:r>
                <a:r>
                  <a:rPr lang="de-DE" dirty="0" err="1"/>
                  <a:t>lead</a:t>
                </a:r>
                <a:r>
                  <a:rPr lang="de-DE" dirty="0"/>
                  <a:t> </a:t>
                </a:r>
                <a:r>
                  <a:rPr lang="de-DE" dirty="0" err="1"/>
                  <a:t>compensator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+5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+20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Identify</a:t>
                </a:r>
                <a:r>
                  <a:rPr lang="de-DE" dirty="0"/>
                  <a:t> </a:t>
                </a:r>
                <a:r>
                  <a:rPr lang="de-DE" dirty="0" err="1"/>
                  <a:t>zero</a:t>
                </a:r>
                <a:r>
                  <a:rPr lang="de-DE" dirty="0"/>
                  <a:t> and pole.</a:t>
                </a:r>
              </a:p>
              <a:p>
                <a:r>
                  <a:rPr lang="de-DE" dirty="0" err="1"/>
                  <a:t>Explain</a:t>
                </a:r>
                <a:r>
                  <a:rPr lang="de-DE" dirty="0"/>
                  <a:t>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effect</a:t>
                </a:r>
                <a:r>
                  <a:rPr lang="de-DE" dirty="0"/>
                  <a:t> on </a:t>
                </a:r>
                <a:r>
                  <a:rPr lang="de-DE" dirty="0" err="1"/>
                  <a:t>phase</a:t>
                </a:r>
                <a:r>
                  <a:rPr lang="de-DE" dirty="0"/>
                  <a:t> and </a:t>
                </a:r>
                <a:r>
                  <a:rPr lang="de-DE" dirty="0" err="1"/>
                  <a:t>stability</a:t>
                </a:r>
                <a:r>
                  <a:rPr lang="de-DE" dirty="0"/>
                  <a:t>.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F41C9FC-B415-C9EE-CCA7-E4BB802E0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  <a:blipFill>
                <a:blip r:embed="rId2"/>
                <a:stretch>
                  <a:fillRect l="-1133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78E718-AC32-BBAB-0569-7FE34D12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713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B95F-0E16-2288-B6A6-7D1F1A3E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764C2-2921-4FDE-AF32-5AF7B9C7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Exercise</a:t>
            </a:r>
            <a:r>
              <a:rPr lang="de-DE" dirty="0"/>
              <a:t>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F9FB25F-4475-A1E5-F1A4-9131C65ADD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Given </a:t>
                </a:r>
                <a:r>
                  <a:rPr lang="de-DE" dirty="0" err="1"/>
                  <a:t>is</a:t>
                </a:r>
                <a:r>
                  <a:rPr lang="de-DE" dirty="0"/>
                  <a:t> a lag </a:t>
                </a:r>
                <a:r>
                  <a:rPr lang="de-DE" dirty="0" err="1"/>
                  <a:t>compensator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+0.1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Explain</a:t>
                </a:r>
                <a:r>
                  <a:rPr lang="de-DE" dirty="0"/>
                  <a:t> </a:t>
                </a:r>
                <a:r>
                  <a:rPr lang="de-DE" dirty="0" err="1"/>
                  <a:t>its</a:t>
                </a:r>
                <a:r>
                  <a:rPr lang="de-DE" dirty="0"/>
                  <a:t> </a:t>
                </a:r>
                <a:r>
                  <a:rPr lang="de-DE" dirty="0" err="1"/>
                  <a:t>effect</a:t>
                </a:r>
                <a:r>
                  <a:rPr lang="de-DE" dirty="0"/>
                  <a:t> and </a:t>
                </a:r>
                <a:r>
                  <a:rPr lang="de-DE" dirty="0" err="1"/>
                  <a:t>main</a:t>
                </a:r>
                <a:r>
                  <a:rPr lang="de-DE" dirty="0"/>
                  <a:t> </a:t>
                </a:r>
                <a:r>
                  <a:rPr lang="de-DE" dirty="0" err="1"/>
                  <a:t>purpose</a:t>
                </a:r>
                <a:r>
                  <a:rPr lang="de-DE" dirty="0"/>
                  <a:t>.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F9FB25F-4475-A1E5-F1A4-9131C65AD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  <a:blipFill>
                <a:blip r:embed="rId2"/>
                <a:stretch>
                  <a:fillRect l="-1133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E0F816-D8B8-E216-4160-4B51EBCC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985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F6C02-B76C-26EC-31D8-092A4D344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BBB9DB-2391-F45F-C305-794AB1A1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Exercise</a:t>
            </a:r>
            <a:r>
              <a:rPr lang="de-DE" dirty="0"/>
              <a:t>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98A360F-2DDF-7424-20A6-3D89EA49CF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Given:</a:t>
                </a: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Identify</a:t>
                </a:r>
                <a:r>
                  <a:rPr lang="de-DE" dirty="0"/>
                  <a:t> </a:t>
                </a:r>
                <a:r>
                  <a:rPr lang="de-DE" dirty="0" err="1"/>
                  <a:t>poles</a:t>
                </a:r>
                <a:r>
                  <a:rPr lang="de-DE" dirty="0"/>
                  <a:t> and </a:t>
                </a:r>
                <a:r>
                  <a:rPr lang="de-DE" dirty="0" err="1"/>
                  <a:t>zeros</a:t>
                </a:r>
                <a:r>
                  <a:rPr lang="de-DE" dirty="0"/>
                  <a:t>.</a:t>
                </a:r>
              </a:p>
              <a:p>
                <a:r>
                  <a:rPr lang="de-DE" dirty="0" err="1"/>
                  <a:t>Describe</a:t>
                </a:r>
                <a:r>
                  <a:rPr lang="de-DE" dirty="0"/>
                  <a:t> root </a:t>
                </a:r>
                <a:r>
                  <a:rPr lang="de-DE" dirty="0" err="1"/>
                  <a:t>locus</a:t>
                </a:r>
                <a:r>
                  <a:rPr lang="de-DE" dirty="0"/>
                  <a:t> </a:t>
                </a:r>
                <a:r>
                  <a:rPr lang="de-DE" dirty="0" err="1"/>
                  <a:t>behavior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increases</a:t>
                </a:r>
                <a:r>
                  <a:rPr lang="de-DE" dirty="0"/>
                  <a:t>.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98A360F-2DDF-7424-20A6-3D89EA49CF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  <a:blipFill>
                <a:blip r:embed="rId2"/>
                <a:stretch>
                  <a:fillRect l="-1133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FB523C-09A0-A5B5-CA01-2B24E43C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026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1750E-344E-79C4-B36C-3A231D2A6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BE6AE-94A9-660B-C547-C3649310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Exercise</a:t>
            </a:r>
            <a:r>
              <a:rPr lang="de-DE" dirty="0"/>
              <a:t>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7F81FBF-7147-D154-D093-A7CFAAEFC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dirty="0"/>
                  <a:t>A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reaches</a:t>
                </a:r>
                <a:r>
                  <a:rPr lang="de-DE" dirty="0"/>
                  <a:t> </a:t>
                </a:r>
                <a:r>
                  <a:rPr lang="de-DE" dirty="0" err="1"/>
                  <a:t>sustained</a:t>
                </a:r>
                <a:r>
                  <a:rPr lang="de-DE" dirty="0"/>
                  <a:t> </a:t>
                </a:r>
                <a:r>
                  <a:rPr lang="de-DE" dirty="0" err="1"/>
                  <a:t>oscillations</a:t>
                </a:r>
                <a:r>
                  <a:rPr lang="de-DE" dirty="0"/>
                  <a:t> at:</a:t>
                </a:r>
              </a:p>
              <a:p>
                <a:r>
                  <a:rPr lang="de-DE" dirty="0"/>
                  <a:t>Ultimate </a:t>
                </a:r>
                <a:r>
                  <a:rPr lang="de-DE" dirty="0" err="1"/>
                  <a:t>gain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de-DE" dirty="0"/>
              </a:p>
              <a:p>
                <a:r>
                  <a:rPr lang="de-DE" dirty="0" err="1"/>
                  <a:t>Oscillation</a:t>
                </a:r>
                <a:r>
                  <a:rPr lang="de-DE" dirty="0"/>
                  <a:t> </a:t>
                </a:r>
                <a:r>
                  <a:rPr lang="de-DE" dirty="0" err="1"/>
                  <a:t>period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Compute</a:t>
                </a:r>
                <a:r>
                  <a:rPr lang="de-DE" dirty="0"/>
                  <a:t> PID </a:t>
                </a:r>
                <a:r>
                  <a:rPr lang="de-DE" dirty="0" err="1"/>
                  <a:t>parameters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Ziegler–Nichols.</a:t>
                </a:r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7F81FBF-7147-D154-D093-A7CFAAEFC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209774" cy="4351338"/>
              </a:xfrm>
              <a:blipFill>
                <a:blip r:embed="rId2"/>
                <a:stretch>
                  <a:fillRect l="-1133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AFC19A-8BF5-1ADC-3D3D-0120CD697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97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1914</Words>
  <Application>Microsoft Macintosh PowerPoint</Application>
  <PresentationFormat>Breitbild</PresentationFormat>
  <Paragraphs>380</Paragraphs>
  <Slides>34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Wingdings</vt:lpstr>
      <vt:lpstr>Office Theme</vt:lpstr>
      <vt:lpstr>Controller Design</vt:lpstr>
      <vt:lpstr>Course Schedule</vt:lpstr>
      <vt:lpstr>Controller Design</vt:lpstr>
      <vt:lpstr>The Control Design Problem</vt:lpstr>
      <vt:lpstr>Goals of Controller Design</vt:lpstr>
      <vt:lpstr>Feedback Control Principles</vt:lpstr>
      <vt:lpstr>PID Tuning</vt:lpstr>
      <vt:lpstr>Model-Based Control Design: Shape Loop Gain</vt:lpstr>
      <vt:lpstr>Setpoint Tracking</vt:lpstr>
      <vt:lpstr>Disturbance Rejection</vt:lpstr>
      <vt:lpstr>Sensitivity Functions</vt:lpstr>
      <vt:lpstr>Measurement Noise</vt:lpstr>
      <vt:lpstr>Trade-Off</vt:lpstr>
      <vt:lpstr>Robustness</vt:lpstr>
      <vt:lpstr>Common Model-Based Techniques</vt:lpstr>
      <vt:lpstr>Frequency Response Design</vt:lpstr>
      <vt:lpstr>Typical Loop Shaping Workflow</vt:lpstr>
      <vt:lpstr>Lead and Lag Compensators</vt:lpstr>
      <vt:lpstr>Root locus</vt:lpstr>
      <vt:lpstr>IMC Tuning</vt:lpstr>
      <vt:lpstr>Pole Placement</vt:lpstr>
      <vt:lpstr>Optimization Methods</vt:lpstr>
      <vt:lpstr>Cascade Control</vt:lpstr>
      <vt:lpstr>Empirical Approaches</vt:lpstr>
      <vt:lpstr>Manual PI Tuning</vt:lpstr>
      <vt:lpstr>Ziegler–Nichols Method</vt:lpstr>
      <vt:lpstr>Ziegler–Nichols Tuning Rules</vt:lpstr>
      <vt:lpstr>T-Sum (Time-Sum) Method</vt:lpstr>
      <vt:lpstr>T-Sum Procedure</vt:lpstr>
      <vt:lpstr>Exercise 1</vt:lpstr>
      <vt:lpstr>Exercise 2</vt:lpstr>
      <vt:lpstr>Exercise 3</vt:lpstr>
      <vt:lpstr>Exercise 4</vt:lpstr>
      <vt:lpstr>Exercise 5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148</cp:revision>
  <dcterms:created xsi:type="dcterms:W3CDTF">2025-01-08T09:27:30Z</dcterms:created>
  <dcterms:modified xsi:type="dcterms:W3CDTF">2026-04-29T17:38:54Z</dcterms:modified>
</cp:coreProperties>
</file>
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266" r:id="rId4"/>
    <p:sldId id="282" r:id="rId5"/>
    <p:sldId id="268" r:id="rId6"/>
    <p:sldId id="267" r:id="rId7"/>
    <p:sldId id="283" r:id="rId8"/>
    <p:sldId id="287" r:id="rId9"/>
    <p:sldId id="290" r:id="rId10"/>
    <p:sldId id="291" r:id="rId11"/>
    <p:sldId id="272" r:id="rId12"/>
    <p:sldId id="269" r:id="rId13"/>
    <p:sldId id="286" r:id="rId14"/>
    <p:sldId id="288" r:id="rId15"/>
    <p:sldId id="270" r:id="rId16"/>
    <p:sldId id="271" r:id="rId17"/>
    <p:sldId id="285" r:id="rId18"/>
    <p:sldId id="276" r:id="rId19"/>
    <p:sldId id="289" r:id="rId20"/>
    <p:sldId id="29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84"/>
    <p:restoredTop sz="95028" autoAdjust="0"/>
  </p:normalViewPr>
  <p:slideViewPr>
    <p:cSldViewPr snapToGrid="0">
      <p:cViewPr varScale="1">
        <p:scale>
          <a:sx n="142" d="100"/>
          <a:sy n="142" d="100"/>
        </p:scale>
        <p:origin x="17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3/33/PID_Compensation_Animated.gif" TargetMode="External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Control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Systems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Laplace Domain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Controller Design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Discrete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Advanced</a:t>
            </a:r>
            <a:r>
              <a:rPr lang="de-DE" dirty="0"/>
              <a:t> Control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599745-405B-0FFD-67CC-A4CA1E66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Control </a:t>
            </a:r>
            <a:r>
              <a:rPr lang="de-DE" dirty="0" err="1"/>
              <a:t>objectives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On-off </a:t>
            </a:r>
            <a:r>
              <a:rPr lang="de-DE" dirty="0" err="1"/>
              <a:t>controllers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PID </a:t>
            </a:r>
            <a:r>
              <a:rPr lang="de-DE" dirty="0" err="1"/>
              <a:t>controllers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Working </a:t>
            </a:r>
            <a:r>
              <a:rPr lang="de-DE" dirty="0" err="1"/>
              <a:t>point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Proportional band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F8B7209A-181B-0095-DF45-6FE349E76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903" y="151195"/>
            <a:ext cx="3789607" cy="284220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BFBA6B1-F917-A121-E6CD-13D0D6BB9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263" y="3601056"/>
            <a:ext cx="3805710" cy="28873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7DC4EF-509C-7CF3-A7B9-B9C84008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4FF09F3-8CA3-C966-40CD-597262CCAC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12170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Models (differential </a:t>
                </a:r>
                <a:r>
                  <a:rPr lang="de-DE" sz="2400" dirty="0" err="1"/>
                  <a:t>equations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dynamic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systems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allow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calculate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effect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inputs</a:t>
                </a:r>
                <a:r>
                  <a:rPr lang="de-DE" sz="2400" dirty="0"/>
                  <a:t> on </a:t>
                </a:r>
                <a:r>
                  <a:rPr lang="de-DE" sz="2400" dirty="0" err="1"/>
                  <a:t>outputs</a:t>
                </a: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Idea </a:t>
                </a:r>
                <a:r>
                  <a:rPr lang="de-DE" sz="2400" dirty="0" err="1">
                    <a:sym typeface="Wingdings" pitchFamily="2" charset="2"/>
                  </a:rPr>
                  <a:t>of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control</a:t>
                </a:r>
                <a:r>
                  <a:rPr lang="de-DE" sz="2400" dirty="0">
                    <a:sym typeface="Wingdings" pitchFamily="2" charset="2"/>
                  </a:rPr>
                  <a:t>: </a:t>
                </a:r>
                <a:r>
                  <a:rPr lang="de-DE" sz="2400" dirty="0" err="1">
                    <a:sym typeface="Wingdings" pitchFamily="2" charset="2"/>
                  </a:rPr>
                  <a:t>m</a:t>
                </a:r>
                <a:r>
                  <a:rPr lang="de-DE" sz="2400" dirty="0" err="1"/>
                  <a:t>odify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input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order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obtain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desired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output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Example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adjust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step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input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reach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desired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steady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state</a:t>
                </a:r>
                <a:r>
                  <a:rPr lang="de-DE" sz="2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(∞)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r>
                  <a:rPr lang="de-DE" sz="2400" dirty="0"/>
                  <a:t>Problems: </a:t>
                </a:r>
                <a:r>
                  <a:rPr lang="de-DE" sz="2400" dirty="0" err="1"/>
                  <a:t>response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may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too</a:t>
                </a:r>
                <a:r>
                  <a:rPr lang="de-DE" sz="2400" dirty="0"/>
                  <a:t> slow, </a:t>
                </a:r>
                <a:r>
                  <a:rPr lang="de-DE" sz="2400" dirty="0" err="1"/>
                  <a:t>disturbances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degrade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performance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4FF09F3-8CA3-C966-40CD-597262CCAC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121704" cy="4351338"/>
              </a:xfrm>
              <a:blipFill>
                <a:blip r:embed="rId4"/>
                <a:stretch>
                  <a:fillRect l="-142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CD5689-342F-5AD8-19BC-8BA08422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A434B01-503E-BD37-D8FA-79687F797EC2}"/>
              </a:ext>
            </a:extLst>
          </p:cNvPr>
          <p:cNvSpPr txBox="1"/>
          <p:nvPr/>
        </p:nvSpPr>
        <p:spPr>
          <a:xfrm>
            <a:off x="5640309" y="297406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FFD4167-071D-BF2B-8D1F-58FDC720DB33}"/>
              </a:ext>
            </a:extLst>
          </p:cNvPr>
          <p:cNvSpPr txBox="1"/>
          <p:nvPr/>
        </p:nvSpPr>
        <p:spPr>
          <a:xfrm>
            <a:off x="9991253" y="1078776"/>
            <a:ext cx="1310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PT1 </a:t>
            </a:r>
            <a:r>
              <a:rPr lang="de-DE" dirty="0" err="1"/>
              <a:t>system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F285684-4910-B4B8-7E1D-C72E567317A1}"/>
              </a:ext>
            </a:extLst>
          </p:cNvPr>
          <p:cNvSpPr txBox="1"/>
          <p:nvPr/>
        </p:nvSpPr>
        <p:spPr>
          <a:xfrm>
            <a:off x="10010286" y="5105675"/>
            <a:ext cx="1310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PT2 </a:t>
            </a:r>
            <a:r>
              <a:rPr lang="de-DE" dirty="0" err="1"/>
              <a:t>system</a:t>
            </a:r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0159FD4-0BE6-7B61-4EA4-13135A140089}"/>
              </a:ext>
            </a:extLst>
          </p:cNvPr>
          <p:cNvSpPr txBox="1"/>
          <p:nvPr/>
        </p:nvSpPr>
        <p:spPr>
          <a:xfrm>
            <a:off x="9148255" y="3112562"/>
            <a:ext cx="1724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622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EF9A5-1485-3DAA-8322-154CBC074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 </a:t>
            </a:r>
            <a:r>
              <a:rPr lang="de-DE" dirty="0" err="1"/>
              <a:t>Objectives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43CBB5-F3B0-0159-EB30-E109362D9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76672" cy="4351338"/>
          </a:xfrm>
        </p:spPr>
        <p:txBody>
          <a:bodyPr>
            <a:normAutofit fontScale="92500" lnSpcReduction="10000"/>
          </a:bodyPr>
          <a:lstStyle/>
          <a:p>
            <a:r>
              <a:rPr lang="de-DE" dirty="0" err="1"/>
              <a:t>Stability</a:t>
            </a:r>
            <a:r>
              <a:rPr lang="de-DE" dirty="0">
                <a:sym typeface="Wingdings" pitchFamily="2" charset="2"/>
              </a:rPr>
              <a:t> (</a:t>
            </a:r>
            <a:r>
              <a:rPr lang="de-DE" dirty="0" err="1"/>
              <a:t>bounded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>
                <a:sym typeface="Wingdings" pitchFamily="2" charset="2"/>
              </a:rPr>
              <a:t>)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Fast </a:t>
            </a:r>
            <a:r>
              <a:rPr lang="de-DE" dirty="0" err="1"/>
              <a:t>response</a:t>
            </a:r>
            <a:r>
              <a:rPr lang="de-DE" dirty="0"/>
              <a:t>: </a:t>
            </a:r>
            <a:r>
              <a:rPr lang="de-DE" dirty="0" err="1"/>
              <a:t>rise</a:t>
            </a:r>
            <a:r>
              <a:rPr lang="de-DE" dirty="0"/>
              <a:t> and </a:t>
            </a:r>
            <a:r>
              <a:rPr lang="de-DE" dirty="0" err="1"/>
              <a:t>settling</a:t>
            </a:r>
            <a:r>
              <a:rPr lang="de-DE" dirty="0"/>
              <a:t> time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Low </a:t>
            </a:r>
            <a:r>
              <a:rPr lang="de-DE" dirty="0" err="1"/>
              <a:t>overshoot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Small </a:t>
            </a:r>
            <a:r>
              <a:rPr lang="de-DE" dirty="0" err="1"/>
              <a:t>steady-state</a:t>
            </a:r>
            <a:r>
              <a:rPr lang="de-DE" dirty="0"/>
              <a:t> </a:t>
            </a:r>
            <a:r>
              <a:rPr lang="de-DE" dirty="0" err="1"/>
              <a:t>error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Robustness</a:t>
            </a:r>
            <a:r>
              <a:rPr lang="de-DE" dirty="0"/>
              <a:t> (</a:t>
            </a:r>
            <a:r>
              <a:rPr lang="de-DE" dirty="0" err="1"/>
              <a:t>insensitivity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and </a:t>
            </a:r>
            <a:r>
              <a:rPr lang="de-DE" dirty="0" err="1"/>
              <a:t>disturbances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58A0C1-553D-32D6-FF6F-28C2DF74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  <p:pic>
        <p:nvPicPr>
          <p:cNvPr id="6" name="Grafik 5" descr="Ein Bild, das Diagramm, Reihe, parallel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8817D4D8-D4AC-B5FB-B316-D1B487CC7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873" y="188833"/>
            <a:ext cx="4104661" cy="3273584"/>
          </a:xfrm>
          <a:prstGeom prst="rect">
            <a:avLst/>
          </a:prstGeom>
        </p:spPr>
      </p:pic>
      <p:pic>
        <p:nvPicPr>
          <p:cNvPr id="8" name="Grafik 7" descr="Ein Bild, das Diagramm, Entwurf, Reihe, Zeichnung enthält.&#10;&#10;KI-generierte Inhalte können fehlerhaft sein.">
            <a:extLst>
              <a:ext uri="{FF2B5EF4-FFF2-40B4-BE49-F238E27FC236}">
                <a16:creationId xmlns:a16="http://schemas.microsoft.com/office/drawing/2014/main" id="{BB0F7AB4-9953-B7DF-75B6-EE9C396F6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873" y="3759562"/>
            <a:ext cx="4104661" cy="308433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C265FB6-ACF0-8D82-6AEC-B981C6107A7F}"/>
              </a:ext>
            </a:extLst>
          </p:cNvPr>
          <p:cNvSpPr txBox="1"/>
          <p:nvPr/>
        </p:nvSpPr>
        <p:spPr>
          <a:xfrm>
            <a:off x="8185536" y="4978564"/>
            <a:ext cx="2105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overshoot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6787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23F54F-3729-3D0D-1F48-430A6D9E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 Loop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9C90E4-2142-1ED9-9BE2-999CC2EFA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325563"/>
          </a:xfrm>
        </p:spPr>
        <p:txBody>
          <a:bodyPr>
            <a:normAutofit fontScale="92500"/>
          </a:bodyPr>
          <a:lstStyle/>
          <a:p>
            <a:r>
              <a:rPr lang="de-DE" dirty="0"/>
              <a:t>Feedback: </a:t>
            </a: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, </a:t>
            </a:r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desired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(e.g., </a:t>
            </a:r>
            <a:r>
              <a:rPr lang="de-DE" dirty="0" err="1"/>
              <a:t>steady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), and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resulting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controller</a:t>
            </a:r>
            <a:endParaRPr lang="de-DE" dirty="0"/>
          </a:p>
          <a:p>
            <a:r>
              <a:rPr lang="de-DE" dirty="0"/>
              <a:t>Goal: </a:t>
            </a: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error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F17444-670B-8FFE-12D9-5A350CF7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19306B5E-C8A9-C750-E128-3119FA7B1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85988"/>
            <a:ext cx="10742861" cy="30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76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002DB-1554-E656-E3CC-1996B813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07049A-A085-B7F5-BD93-C99817A9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Controller?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947DE6-7563-DCFE-4E67-CC06887E3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000" dirty="0"/>
              <a:t>System </a:t>
            </a:r>
            <a:r>
              <a:rPr lang="de-DE" sz="2000" dirty="0" err="1"/>
              <a:t>itself</a:t>
            </a:r>
            <a:r>
              <a:rPr lang="de-DE" sz="2000" dirty="0"/>
              <a:t> (</a:t>
            </a:r>
            <a:r>
              <a:rPr lang="de-DE" sz="2000" dirty="0" err="1"/>
              <a:t>subsystem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total </a:t>
            </a:r>
            <a:r>
              <a:rPr lang="de-DE" sz="2000" dirty="0" err="1"/>
              <a:t>control</a:t>
            </a:r>
            <a:r>
              <a:rPr lang="de-DE" sz="2000" dirty="0"/>
              <a:t> </a:t>
            </a:r>
            <a:r>
              <a:rPr lang="de-DE" sz="2000" dirty="0" err="1"/>
              <a:t>system</a:t>
            </a:r>
            <a:r>
              <a:rPr lang="de-DE" sz="2000" dirty="0"/>
              <a:t>), </a:t>
            </a:r>
            <a:r>
              <a:rPr lang="de-DE" sz="2000" dirty="0" err="1"/>
              <a:t>implemented</a:t>
            </a:r>
            <a:r>
              <a:rPr lang="de-DE" sz="2000" dirty="0"/>
              <a:t> in </a:t>
            </a:r>
            <a:r>
              <a:rPr lang="de-DE" sz="2000" dirty="0" err="1"/>
              <a:t>hardware</a:t>
            </a:r>
            <a:r>
              <a:rPr lang="de-DE" sz="2000" dirty="0"/>
              <a:t> </a:t>
            </a:r>
            <a:r>
              <a:rPr lang="de-DE" sz="2000" dirty="0" err="1"/>
              <a:t>or</a:t>
            </a:r>
            <a:r>
              <a:rPr lang="de-DE" sz="2000" dirty="0"/>
              <a:t> </a:t>
            </a:r>
            <a:r>
              <a:rPr lang="de-DE" sz="2000" dirty="0" err="1"/>
              <a:t>software</a:t>
            </a:r>
            <a:endParaRPr lang="de-DE" sz="2000" dirty="0"/>
          </a:p>
          <a:p>
            <a:r>
              <a:rPr lang="de-DE" sz="2000" dirty="0"/>
              <a:t>Input: </a:t>
            </a:r>
            <a:r>
              <a:rPr lang="de-DE" sz="2000" dirty="0" err="1"/>
              <a:t>measured</a:t>
            </a:r>
            <a:r>
              <a:rPr lang="de-DE" sz="2000" dirty="0"/>
              <a:t> </a:t>
            </a:r>
            <a:r>
              <a:rPr lang="de-DE" sz="2000" dirty="0" err="1"/>
              <a:t>error</a:t>
            </a:r>
            <a:endParaRPr lang="de-DE" sz="2000" dirty="0"/>
          </a:p>
          <a:p>
            <a:r>
              <a:rPr lang="de-DE" sz="2000" dirty="0"/>
              <a:t>Output: </a:t>
            </a:r>
            <a:r>
              <a:rPr lang="de-DE" sz="2000" dirty="0" err="1"/>
              <a:t>process</a:t>
            </a:r>
            <a:r>
              <a:rPr lang="de-DE" sz="2000" dirty="0"/>
              <a:t> </a:t>
            </a:r>
            <a:r>
              <a:rPr lang="de-DE" sz="2000" dirty="0" err="1"/>
              <a:t>input</a:t>
            </a:r>
            <a:r>
              <a:rPr lang="de-DE" sz="2000" dirty="0"/>
              <a:t> (</a:t>
            </a:r>
            <a:r>
              <a:rPr lang="de-DE" sz="2000" dirty="0" err="1"/>
              <a:t>low-energy</a:t>
            </a:r>
            <a:r>
              <a:rPr lang="de-DE" sz="2000" dirty="0"/>
              <a:t> </a:t>
            </a:r>
            <a:r>
              <a:rPr lang="de-DE" sz="2000" dirty="0" err="1"/>
              <a:t>control</a:t>
            </a:r>
            <a:r>
              <a:rPr lang="de-DE" sz="2000" dirty="0"/>
              <a:t> </a:t>
            </a:r>
            <a:r>
              <a:rPr lang="de-DE" sz="2000" dirty="0" err="1"/>
              <a:t>signal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into</a:t>
            </a:r>
            <a:r>
              <a:rPr lang="de-DE" sz="2000" dirty="0"/>
              <a:t> </a:t>
            </a:r>
            <a:r>
              <a:rPr lang="de-DE" sz="2000" dirty="0" err="1"/>
              <a:t>physical</a:t>
            </a:r>
            <a:r>
              <a:rPr lang="de-DE" sz="2000" dirty="0"/>
              <a:t> </a:t>
            </a:r>
            <a:r>
              <a:rPr lang="de-DE" sz="2000" dirty="0" err="1"/>
              <a:t>action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actuator</a:t>
            </a:r>
            <a:r>
              <a:rPr lang="de-DE" sz="2000" dirty="0"/>
              <a:t>)</a:t>
            </a:r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r>
              <a:rPr lang="de-DE" sz="2000" dirty="0"/>
              <a:t>Hardware </a:t>
            </a:r>
            <a:r>
              <a:rPr lang="de-DE" sz="2000" dirty="0" err="1"/>
              <a:t>controllers</a:t>
            </a:r>
            <a:endParaRPr lang="de-DE" sz="2000" dirty="0"/>
          </a:p>
          <a:p>
            <a:r>
              <a:rPr lang="de-DE" sz="2000" dirty="0"/>
              <a:t>Fast, </a:t>
            </a:r>
            <a:r>
              <a:rPr lang="de-DE" sz="2000" dirty="0" err="1"/>
              <a:t>deterministic</a:t>
            </a:r>
            <a:r>
              <a:rPr lang="de-DE" sz="2000" dirty="0"/>
              <a:t>, limited </a:t>
            </a:r>
            <a:r>
              <a:rPr lang="de-DE" sz="2000" dirty="0" err="1"/>
              <a:t>flexibility</a:t>
            </a:r>
            <a:endParaRPr lang="de-DE" sz="2000" dirty="0"/>
          </a:p>
          <a:p>
            <a:r>
              <a:rPr lang="de-DE" sz="2000" dirty="0" err="1"/>
              <a:t>Examples</a:t>
            </a:r>
            <a:r>
              <a:rPr lang="de-DE" sz="2000" dirty="0"/>
              <a:t>: </a:t>
            </a:r>
            <a:r>
              <a:rPr lang="de-DE" sz="2000" dirty="0" err="1"/>
              <a:t>mechanical</a:t>
            </a:r>
            <a:r>
              <a:rPr lang="de-DE" sz="2000" dirty="0"/>
              <a:t>, analog electronic </a:t>
            </a:r>
            <a:r>
              <a:rPr lang="de-DE" sz="2000" dirty="0" err="1"/>
              <a:t>controllers</a:t>
            </a:r>
            <a:r>
              <a:rPr lang="de-DE" sz="2000" dirty="0"/>
              <a:t> </a:t>
            </a:r>
            <a:r>
              <a:rPr lang="de-DE" sz="2000" dirty="0" err="1"/>
              <a:t>using</a:t>
            </a:r>
            <a:r>
              <a:rPr lang="de-DE" sz="2000" dirty="0"/>
              <a:t> </a:t>
            </a:r>
            <a:r>
              <a:rPr lang="de-DE" sz="2000" dirty="0" err="1"/>
              <a:t>op-amps</a:t>
            </a:r>
            <a:r>
              <a:rPr lang="de-DE" sz="2000" dirty="0"/>
              <a:t>, FPGA-</a:t>
            </a:r>
            <a:r>
              <a:rPr lang="de-DE" sz="2000" dirty="0" err="1"/>
              <a:t>based</a:t>
            </a:r>
            <a:r>
              <a:rPr lang="de-DE" sz="2000" dirty="0"/>
              <a:t> (digital)</a:t>
            </a:r>
            <a:endParaRPr lang="de-DE" sz="2000" b="1" dirty="0"/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dirty="0"/>
              <a:t>Software </a:t>
            </a:r>
            <a:r>
              <a:rPr lang="de-DE" sz="2000" dirty="0" err="1"/>
              <a:t>controllers</a:t>
            </a:r>
            <a:r>
              <a:rPr lang="de-DE" sz="2000" dirty="0"/>
              <a:t> (</a:t>
            </a:r>
            <a:r>
              <a:rPr lang="de-DE" sz="2000" dirty="0" err="1"/>
              <a:t>use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analog </a:t>
            </a:r>
            <a:r>
              <a:rPr lang="de-DE" sz="2000" dirty="0" err="1"/>
              <a:t>actuators</a:t>
            </a:r>
            <a:r>
              <a:rPr lang="de-DE" sz="2000" dirty="0"/>
              <a:t> via a digital-</a:t>
            </a:r>
            <a:r>
              <a:rPr lang="de-DE" sz="2000" dirty="0" err="1"/>
              <a:t>to</a:t>
            </a:r>
            <a:r>
              <a:rPr lang="de-DE" sz="2000" dirty="0"/>
              <a:t>-analog </a:t>
            </a:r>
            <a:r>
              <a:rPr lang="de-DE" sz="2000" dirty="0" err="1"/>
              <a:t>converter</a:t>
            </a:r>
            <a:r>
              <a:rPr lang="de-DE" sz="2000" dirty="0"/>
              <a:t>)</a:t>
            </a:r>
          </a:p>
          <a:p>
            <a:r>
              <a:rPr lang="de-DE" sz="2000" dirty="0"/>
              <a:t>Flexible, </a:t>
            </a:r>
            <a:r>
              <a:rPr lang="de-DE" sz="2000" dirty="0" err="1"/>
              <a:t>complex</a:t>
            </a:r>
            <a:r>
              <a:rPr lang="de-DE" sz="2000" dirty="0"/>
              <a:t> </a:t>
            </a:r>
            <a:r>
              <a:rPr lang="de-DE" sz="2000" dirty="0" err="1"/>
              <a:t>algorithms</a:t>
            </a:r>
            <a:r>
              <a:rPr lang="de-DE" sz="2000" dirty="0"/>
              <a:t>, </a:t>
            </a:r>
            <a:r>
              <a:rPr lang="de-DE" sz="2000" dirty="0" err="1"/>
              <a:t>sampling</a:t>
            </a:r>
            <a:r>
              <a:rPr lang="de-DE" sz="2000" dirty="0"/>
              <a:t> </a:t>
            </a:r>
            <a:r>
              <a:rPr lang="de-DE" sz="2000" dirty="0" err="1"/>
              <a:t>delays</a:t>
            </a:r>
            <a:r>
              <a:rPr lang="de-DE" sz="2000" dirty="0"/>
              <a:t> (</a:t>
            </a:r>
            <a:r>
              <a:rPr lang="de-DE" sz="2000" dirty="0" err="1"/>
              <a:t>dead</a:t>
            </a:r>
            <a:r>
              <a:rPr lang="de-DE" sz="2000" dirty="0"/>
              <a:t> time)</a:t>
            </a:r>
          </a:p>
          <a:p>
            <a:r>
              <a:rPr lang="de-DE" sz="2000" dirty="0" err="1"/>
              <a:t>Examples</a:t>
            </a:r>
            <a:r>
              <a:rPr lang="de-DE" sz="2000" dirty="0"/>
              <a:t>: Microcontroller-</a:t>
            </a:r>
            <a:r>
              <a:rPr lang="de-DE" sz="2000" dirty="0" err="1"/>
              <a:t>based</a:t>
            </a:r>
            <a:r>
              <a:rPr lang="de-DE" sz="2000" dirty="0"/>
              <a:t>, PLCs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FFBEE3-1A76-FD21-2638-E658AC57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980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17BB52A-0405-5771-619E-7B81EE1A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Temperature</a:t>
            </a:r>
            <a:r>
              <a:rPr lang="de-DE" dirty="0"/>
              <a:t> Control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DDF34D-59B9-B872-D2A1-A622723A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  <p:pic>
        <p:nvPicPr>
          <p:cNvPr id="7" name="Grafik 6" descr="Ein Bild, das Text, Uhr, Elektronik, Messinstrument enthält.&#10;&#10;KI-generierte Inhalte können fehlerhaft sein.">
            <a:extLst>
              <a:ext uri="{FF2B5EF4-FFF2-40B4-BE49-F238E27FC236}">
                <a16:creationId xmlns:a16="http://schemas.microsoft.com/office/drawing/2014/main" id="{E0AA79F4-755A-4739-8A8A-E57DA19F9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990" y="2033441"/>
            <a:ext cx="4498020" cy="309238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122A833-7989-CED1-2895-E72887CF189E}"/>
              </a:ext>
            </a:extLst>
          </p:cNvPr>
          <p:cNvSpPr txBox="1"/>
          <p:nvPr/>
        </p:nvSpPr>
        <p:spPr>
          <a:xfrm>
            <a:off x="117494" y="2796466"/>
            <a:ext cx="3365882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Sensor:</a:t>
            </a:r>
          </a:p>
          <a:p>
            <a:r>
              <a:rPr lang="de-DE" sz="2400" dirty="0" err="1"/>
              <a:t>resistance</a:t>
            </a:r>
            <a:r>
              <a:rPr lang="de-DE" sz="2400" dirty="0"/>
              <a:t> </a:t>
            </a:r>
            <a:r>
              <a:rPr lang="de-DE" sz="2400" dirty="0" err="1"/>
              <a:t>thermometer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measure</a:t>
            </a:r>
            <a:r>
              <a:rPr lang="de-DE" sz="2400" dirty="0"/>
              <a:t> </a:t>
            </a:r>
            <a:r>
              <a:rPr lang="de-DE" sz="2400" dirty="0" err="1"/>
              <a:t>temperature</a:t>
            </a:r>
            <a:r>
              <a:rPr lang="de-DE" sz="2400" dirty="0"/>
              <a:t> (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output</a:t>
            </a:r>
            <a:r>
              <a:rPr lang="de-DE" sz="2400" dirty="0"/>
              <a:t>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FC03A79-64F7-A7B3-7E26-C8F997501738}"/>
              </a:ext>
            </a:extLst>
          </p:cNvPr>
          <p:cNvSpPr txBox="1"/>
          <p:nvPr/>
        </p:nvSpPr>
        <p:spPr>
          <a:xfrm>
            <a:off x="3483376" y="5468583"/>
            <a:ext cx="559589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Controller:</a:t>
            </a:r>
          </a:p>
          <a:p>
            <a:r>
              <a:rPr lang="de-DE" sz="2400" dirty="0"/>
              <a:t>digital electronic PID </a:t>
            </a:r>
            <a:r>
              <a:rPr lang="de-DE" sz="2400" dirty="0" err="1"/>
              <a:t>switching</a:t>
            </a:r>
            <a:r>
              <a:rPr lang="de-DE" sz="2400" dirty="0"/>
              <a:t> </a:t>
            </a:r>
            <a:r>
              <a:rPr lang="de-DE" sz="2400" dirty="0" err="1"/>
              <a:t>controller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activate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relay</a:t>
            </a:r>
            <a:r>
              <a:rPr lang="de-DE" sz="2400" dirty="0"/>
              <a:t> (</a:t>
            </a:r>
            <a:r>
              <a:rPr lang="de-DE" sz="2400" dirty="0" err="1"/>
              <a:t>controller</a:t>
            </a:r>
            <a:r>
              <a:rPr lang="de-DE" sz="2400" dirty="0"/>
              <a:t> </a:t>
            </a:r>
            <a:r>
              <a:rPr lang="de-DE" sz="2400" dirty="0" err="1"/>
              <a:t>output</a:t>
            </a:r>
            <a:r>
              <a:rPr lang="de-DE" sz="2400" dirty="0"/>
              <a:t>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29D9425-8CF9-A69F-42ED-5F06FCD8B088}"/>
              </a:ext>
            </a:extLst>
          </p:cNvPr>
          <p:cNvSpPr txBox="1"/>
          <p:nvPr/>
        </p:nvSpPr>
        <p:spPr>
          <a:xfrm>
            <a:off x="8610600" y="3416333"/>
            <a:ext cx="331631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 err="1"/>
              <a:t>Actuator</a:t>
            </a:r>
            <a:r>
              <a:rPr lang="de-DE" sz="2400" dirty="0"/>
              <a:t>:</a:t>
            </a:r>
          </a:p>
          <a:p>
            <a:r>
              <a:rPr lang="de-DE" sz="2400" dirty="0"/>
              <a:t>solid-</a:t>
            </a:r>
            <a:r>
              <a:rPr lang="de-DE" sz="2400" dirty="0" err="1"/>
              <a:t>state</a:t>
            </a:r>
            <a:r>
              <a:rPr lang="de-DE" sz="2400" dirty="0"/>
              <a:t> </a:t>
            </a:r>
            <a:r>
              <a:rPr lang="de-DE" sz="2400" dirty="0" err="1"/>
              <a:t>relay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switch a </a:t>
            </a:r>
            <a:r>
              <a:rPr lang="de-DE" sz="2400" dirty="0" err="1"/>
              <a:t>heater</a:t>
            </a:r>
            <a:r>
              <a:rPr lang="de-DE" sz="2400" dirty="0"/>
              <a:t>/cooler (plant) on </a:t>
            </a:r>
            <a:r>
              <a:rPr lang="de-DE" sz="2400" dirty="0" err="1"/>
              <a:t>or</a:t>
            </a:r>
            <a:r>
              <a:rPr lang="de-DE" sz="2400" dirty="0"/>
              <a:t> off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3C1E447-3DFB-30B8-39AA-4D4F52C1742C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7750206" y="3675355"/>
            <a:ext cx="860394" cy="525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19203EB-949E-0B74-E057-7E69CA02DFE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483376" y="3581296"/>
            <a:ext cx="591474" cy="356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C963A54-65C3-D25A-4BB2-79C430CF76B8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6178858" y="3116062"/>
            <a:ext cx="102463" cy="2352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61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B89509-23BB-CEBB-59C6-DADAEB70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On-Off Controller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6AACA4-6A33-CD48-DBCD-AC64EFF6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99A82A-B3EB-E711-A0C7-D66326AFB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84705"/>
            <a:ext cx="3095536" cy="327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6B17708-CE38-8298-FABE-CFE658D9F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958" y="1979332"/>
            <a:ext cx="4080642" cy="408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78910E1-FD40-40A7-2FB0-1170114EEE1A}"/>
              </a:ext>
            </a:extLst>
          </p:cNvPr>
          <p:cNvSpPr txBox="1"/>
          <p:nvPr/>
        </p:nvSpPr>
        <p:spPr>
          <a:xfrm>
            <a:off x="9206822" y="3180400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Issue</a:t>
            </a:r>
            <a:r>
              <a:rPr lang="de-DE" dirty="0"/>
              <a:t>:</a:t>
            </a:r>
          </a:p>
          <a:p>
            <a:r>
              <a:rPr lang="de-DE" dirty="0"/>
              <a:t>High-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switching</a:t>
            </a:r>
            <a:r>
              <a:rPr lang="de-DE" dirty="0"/>
              <a:t> </a:t>
            </a:r>
            <a:r>
              <a:rPr lang="de-DE" dirty="0" err="1"/>
              <a:t>stresses</a:t>
            </a:r>
            <a:r>
              <a:rPr lang="de-DE" dirty="0"/>
              <a:t>  </a:t>
            </a:r>
            <a:r>
              <a:rPr lang="de-DE" dirty="0" err="1"/>
              <a:t>actuator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117F594-D7C4-3FFF-C867-E9A1DB97B8F0}"/>
              </a:ext>
            </a:extLst>
          </p:cNvPr>
          <p:cNvSpPr txBox="1"/>
          <p:nvPr/>
        </p:nvSpPr>
        <p:spPr>
          <a:xfrm>
            <a:off x="8739386" y="4797980"/>
            <a:ext cx="295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oscillations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</a:t>
            </a:r>
            <a:r>
              <a:rPr lang="de-DE" dirty="0" err="1"/>
              <a:t>setpoint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9B19EA0-9829-09B0-A6CE-4E26F280C26B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8105313" y="4572000"/>
            <a:ext cx="634073" cy="410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Industrial oven on-off control">
            <a:extLst>
              <a:ext uri="{FF2B5EF4-FFF2-40B4-BE49-F238E27FC236}">
                <a16:creationId xmlns:a16="http://schemas.microsoft.com/office/drawing/2014/main" id="{A5C62DEC-B9E6-1ADD-7AC6-923E8C04B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822" y="662782"/>
            <a:ext cx="2396293" cy="226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CBEFAB6-9667-48B2-7537-A6EC0CD11AAE}"/>
              </a:ext>
            </a:extLst>
          </p:cNvPr>
          <p:cNvSpPr txBox="1"/>
          <p:nvPr/>
        </p:nvSpPr>
        <p:spPr>
          <a:xfrm>
            <a:off x="9206822" y="262779"/>
            <a:ext cx="2541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industial</a:t>
            </a:r>
            <a:r>
              <a:rPr lang="de-DE" dirty="0"/>
              <a:t> </a:t>
            </a:r>
            <a:r>
              <a:rPr lang="de-DE" dirty="0" err="1"/>
              <a:t>oven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A2ED03E-7385-D39F-7BB1-9D821223C5D7}"/>
              </a:ext>
            </a:extLst>
          </p:cNvPr>
          <p:cNvSpPr txBox="1"/>
          <p:nvPr/>
        </p:nvSpPr>
        <p:spPr>
          <a:xfrm>
            <a:off x="3341266" y="6171681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dead</a:t>
            </a:r>
            <a:r>
              <a:rPr lang="de-DE" dirty="0"/>
              <a:t> time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D08B6AF-D45B-48AE-D6C4-9770F268CC4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526206" y="5726097"/>
            <a:ext cx="445289" cy="630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B7D4477D-27A1-A9A9-CC7B-70DFDF839D93}"/>
              </a:ext>
            </a:extLst>
          </p:cNvPr>
          <p:cNvSpPr txBox="1"/>
          <p:nvPr/>
        </p:nvSpPr>
        <p:spPr>
          <a:xfrm>
            <a:off x="6203708" y="6171681"/>
            <a:ext cx="201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first-order </a:t>
            </a:r>
            <a:r>
              <a:rPr lang="de-DE" dirty="0" err="1"/>
              <a:t>process</a:t>
            </a:r>
            <a:endParaRPr lang="de-DE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77C8E23-DE25-31DB-8260-7F261FEBAC25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5679926" y="4735772"/>
            <a:ext cx="523782" cy="1620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F980363E-D966-CD09-220E-FFBCE5A3D70A}"/>
              </a:ext>
            </a:extLst>
          </p:cNvPr>
          <p:cNvSpPr txBox="1"/>
          <p:nvPr/>
        </p:nvSpPr>
        <p:spPr>
          <a:xfrm>
            <a:off x="5816358" y="843240"/>
            <a:ext cx="240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aka bang-bang </a:t>
            </a:r>
            <a:r>
              <a:rPr lang="de-DE" dirty="0" err="1"/>
              <a:t>control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4509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A7BF4-A55B-8108-B656-92275751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6D8A4D6C-9BD6-807C-5381-4E9E15D01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958" y="1979332"/>
            <a:ext cx="4239203" cy="408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5A7DBD4-9DCE-18B7-5EA9-D278D3A27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2384705"/>
            <a:ext cx="3135485" cy="327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DAD1B3D-A60D-DA2A-5795-6243E3A2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On-Off Controller </a:t>
            </a:r>
            <a:r>
              <a:rPr lang="de-DE" dirty="0" err="1"/>
              <a:t>with</a:t>
            </a:r>
            <a:r>
              <a:rPr lang="de-DE" dirty="0"/>
              <a:t> Hysteresis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E67C62A-E3EB-F9AF-CEBF-DCCF7B6E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8F8E608-BC93-E388-913A-0F0C1F862296}"/>
              </a:ext>
            </a:extLst>
          </p:cNvPr>
          <p:cNvSpPr txBox="1"/>
          <p:nvPr/>
        </p:nvSpPr>
        <p:spPr>
          <a:xfrm>
            <a:off x="9206822" y="2967335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switching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expense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accuracy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10BAB3F-E645-F568-FF98-CFDE1D95377D}"/>
              </a:ext>
            </a:extLst>
          </p:cNvPr>
          <p:cNvSpPr txBox="1"/>
          <p:nvPr/>
        </p:nvSpPr>
        <p:spPr>
          <a:xfrm>
            <a:off x="1224008" y="6115388"/>
            <a:ext cx="9743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On-off </a:t>
            </a:r>
            <a:r>
              <a:rPr lang="de-DE" dirty="0" err="1"/>
              <a:t>controllers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simple and </a:t>
            </a:r>
            <a:r>
              <a:rPr lang="de-DE" dirty="0" err="1"/>
              <a:t>low-cost</a:t>
            </a:r>
            <a:r>
              <a:rPr lang="de-DE" dirty="0"/>
              <a:t>, but </a:t>
            </a:r>
            <a:r>
              <a:rPr lang="de-DE" dirty="0" err="1"/>
              <a:t>have</a:t>
            </a:r>
            <a:r>
              <a:rPr lang="de-DE" dirty="0"/>
              <a:t> limited </a:t>
            </a:r>
            <a:r>
              <a:rPr lang="de-DE" dirty="0" err="1"/>
              <a:t>precision</a:t>
            </a:r>
            <a:r>
              <a:rPr lang="de-DE" dirty="0"/>
              <a:t>.</a:t>
            </a:r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C</a:t>
            </a:r>
            <a:r>
              <a:rPr lang="de-DE" dirty="0" err="1"/>
              <a:t>ontinous</a:t>
            </a:r>
            <a:r>
              <a:rPr lang="de-DE" dirty="0"/>
              <a:t> </a:t>
            </a:r>
            <a:r>
              <a:rPr lang="de-DE" dirty="0" err="1"/>
              <a:t>controllers</a:t>
            </a:r>
            <a:r>
              <a:rPr lang="de-DE" dirty="0"/>
              <a:t> (e.g., PID)</a:t>
            </a:r>
          </a:p>
        </p:txBody>
      </p:sp>
    </p:spTree>
    <p:extLst>
      <p:ext uri="{BB962C8B-B14F-4D97-AF65-F5344CB8AC3E}">
        <p14:creationId xmlns:p14="http://schemas.microsoft.com/office/powerpoint/2010/main" val="266140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03D0A-5C22-DF53-4CC1-C4886C94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PID Controllers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BB54D3-00B3-CCC2-7A2D-10E53ED8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9705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Most </a:t>
            </a:r>
            <a:r>
              <a:rPr lang="de-DE" dirty="0" err="1"/>
              <a:t>widely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industrial</a:t>
            </a:r>
            <a:r>
              <a:rPr lang="de-DE" dirty="0"/>
              <a:t> </a:t>
            </a:r>
            <a:r>
              <a:rPr lang="de-DE" dirty="0" err="1"/>
              <a:t>controller</a:t>
            </a:r>
            <a:endParaRPr lang="de-DE" dirty="0"/>
          </a:p>
          <a:p>
            <a:pPr lvl="1"/>
            <a:r>
              <a:rPr lang="de-DE" dirty="0"/>
              <a:t>P</a:t>
            </a:r>
          </a:p>
          <a:p>
            <a:pPr lvl="1"/>
            <a:r>
              <a:rPr lang="de-DE" dirty="0"/>
              <a:t>PI: P + I</a:t>
            </a:r>
          </a:p>
          <a:p>
            <a:pPr lvl="1"/>
            <a:r>
              <a:rPr lang="de-DE" dirty="0"/>
              <a:t>PD: P + D</a:t>
            </a:r>
          </a:p>
          <a:p>
            <a:pPr lvl="1"/>
            <a:r>
              <a:rPr lang="de-DE" dirty="0"/>
              <a:t>PID: P + I + 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E53BB8-9583-3CA6-BA40-677E542D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C0798CB-DBAD-4593-F490-F4A1AF6CD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068" y="3414453"/>
            <a:ext cx="9299864" cy="330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 descr="Ein Bild, das Maschine, Metall, Autoteile, Kamera enthält.&#10;&#10;KI-generierte Inhalte können fehlerhaft sein.">
            <a:extLst>
              <a:ext uri="{FF2B5EF4-FFF2-40B4-BE49-F238E27FC236}">
                <a16:creationId xmlns:a16="http://schemas.microsoft.com/office/drawing/2014/main" id="{53A15BB0-20BA-D123-7DD6-E4E2FC7C4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873" y="683116"/>
            <a:ext cx="2660690" cy="274588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89A0727-123B-5087-F3E0-6ECD23FAF04A}"/>
              </a:ext>
            </a:extLst>
          </p:cNvPr>
          <p:cNvSpPr txBox="1"/>
          <p:nvPr/>
        </p:nvSpPr>
        <p:spPr>
          <a:xfrm>
            <a:off x="8791304" y="178848"/>
            <a:ext cx="2632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pneumatic</a:t>
            </a:r>
            <a:r>
              <a:rPr lang="de-DE" dirty="0"/>
              <a:t> PID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0B7CD36-1B7F-085A-EEE0-5656C3199453}"/>
              </a:ext>
            </a:extLst>
          </p:cNvPr>
          <p:cNvSpPr txBox="1"/>
          <p:nvPr/>
        </p:nvSpPr>
        <p:spPr>
          <a:xfrm>
            <a:off x="5298142" y="2633186"/>
            <a:ext cx="242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Parallel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in </a:t>
            </a:r>
            <a:r>
              <a:rPr lang="de-DE" dirty="0" err="1"/>
              <a:t>practice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803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43404-24F2-9A05-A838-DA664C42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Proportional Control (P)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6BACF97-F93A-1C13-3B25-2B3FA1DBF6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40658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Control </a:t>
                </a:r>
                <a:r>
                  <a:rPr lang="de-DE" sz="2400" dirty="0" err="1"/>
                  <a:t>input</a:t>
                </a:r>
                <a:r>
                  <a:rPr lang="de-DE" sz="2400" dirty="0"/>
                  <a:t> proportional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s</a:t>
                </a:r>
                <a:r>
                  <a:rPr lang="de-DE" sz="2400" dirty="0" err="1">
                    <a:sym typeface="Wingdings" pitchFamily="2" charset="2"/>
                  </a:rPr>
                  <a:t>tatic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system</a:t>
                </a:r>
                <a:r>
                  <a:rPr lang="de-DE" sz="2400" dirty="0"/>
                  <a:t>):</a:t>
                </a:r>
              </a:p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 err="1"/>
                  <a:t>Increases</a:t>
                </a:r>
                <a:r>
                  <a:rPr lang="de-DE" sz="2400" dirty="0"/>
                  <a:t> loop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faster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response</a:t>
                </a:r>
                <a:endParaRPr lang="de-DE" sz="2400" dirty="0">
                  <a:sym typeface="Wingdings" pitchFamily="2" charset="2"/>
                </a:endParaRPr>
              </a:p>
              <a:p>
                <a:r>
                  <a:rPr lang="de-DE" sz="2400" dirty="0" err="1"/>
                  <a:t>Reduces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damping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more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oscillation</a:t>
                </a:r>
                <a:endParaRPr lang="de-DE" sz="2400" dirty="0"/>
              </a:p>
              <a:p>
                <a:r>
                  <a:rPr lang="de-DE" sz="2400" dirty="0"/>
                  <a:t>Steady-</a:t>
                </a:r>
                <a:r>
                  <a:rPr lang="de-DE" sz="2400" dirty="0" err="1"/>
                  <a:t>state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many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systems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⟹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settles</a:t>
                </a:r>
                <a:r>
                  <a:rPr lang="de-DE" sz="2400" dirty="0"/>
                  <a:t> at </a:t>
                </a:r>
                <a:r>
                  <a:rPr lang="de-DE" sz="2400" dirty="0" err="1"/>
                  <a:t>some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, just </a:t>
                </a:r>
                <a:r>
                  <a:rPr lang="de-DE" sz="2400" dirty="0" err="1"/>
                  <a:t>big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enough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produce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balancing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dynamics</a:t>
                </a:r>
                <a:r>
                  <a:rPr lang="de-DE" sz="2400" dirty="0"/>
                  <a:t> (e.g., </a:t>
                </a:r>
                <a:r>
                  <a:rPr lang="de-DE" sz="2400" dirty="0" err="1"/>
                  <a:t>holding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mass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up</a:t>
                </a:r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6BACF97-F93A-1C13-3B25-2B3FA1DBF6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40658" cy="4351338"/>
              </a:xfrm>
              <a:blipFill>
                <a:blip r:embed="rId2"/>
                <a:stretch>
                  <a:fillRect l="-1425" t="-1453" b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1ACAD8-8E38-4758-E235-26598925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  <p:pic>
        <p:nvPicPr>
          <p:cNvPr id="7" name="Grafik 6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A591DAF-5270-3777-A952-5AE7B1162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019" y="2303201"/>
            <a:ext cx="6169981" cy="339618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0019603-2FA0-4378-BFE3-018D69ACC0BA}"/>
              </a:ext>
            </a:extLst>
          </p:cNvPr>
          <p:cNvSpPr txBox="1"/>
          <p:nvPr/>
        </p:nvSpPr>
        <p:spPr>
          <a:xfrm>
            <a:off x="7830104" y="4376692"/>
            <a:ext cx="229043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controller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04EEB3A-95AE-A4FA-67B3-DEB07CACC454}"/>
              </a:ext>
            </a:extLst>
          </p:cNvPr>
          <p:cNvSpPr txBox="1"/>
          <p:nvPr/>
        </p:nvSpPr>
        <p:spPr>
          <a:xfrm>
            <a:off x="7691761" y="2481308"/>
            <a:ext cx="229043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dirty="0" err="1"/>
              <a:t>with</a:t>
            </a:r>
            <a:r>
              <a:rPr lang="de-DE" dirty="0"/>
              <a:t> P </a:t>
            </a:r>
            <a:r>
              <a:rPr lang="de-DE" dirty="0" err="1"/>
              <a:t>controller</a:t>
            </a:r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2A4C06A-8003-AC43-81C3-CFEE556CBE66}"/>
              </a:ext>
            </a:extLst>
          </p:cNvPr>
          <p:cNvSpPr txBox="1"/>
          <p:nvPr/>
        </p:nvSpPr>
        <p:spPr>
          <a:xfrm>
            <a:off x="7242603" y="1349839"/>
            <a:ext cx="117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overshoot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B53C6BE-1647-2FB9-C5DD-1461424BEE03}"/>
              </a:ext>
            </a:extLst>
          </p:cNvPr>
          <p:cNvCxnSpPr>
            <a:stCxn id="10" idx="2"/>
          </p:cNvCxnSpPr>
          <p:nvPr/>
        </p:nvCxnSpPr>
        <p:spPr>
          <a:xfrm flipH="1">
            <a:off x="7332955" y="1719171"/>
            <a:ext cx="497149" cy="946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577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2CD3A05-134A-3368-BF67-819FECCE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Proportional </a:t>
            </a:r>
            <a:r>
              <a:rPr lang="de-DE" dirty="0" err="1"/>
              <a:t>Gain</a:t>
            </a:r>
            <a:r>
              <a:rPr lang="de-DE" dirty="0"/>
              <a:t> Parameter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F6C3C8-489E-8AEB-CD30-BC8A5F8A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  <p:pic>
        <p:nvPicPr>
          <p:cNvPr id="7" name="Grafik 6" descr="Ein Bild, das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0A3A4F21-2BC9-08B4-179E-4224AE978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2591"/>
            <a:ext cx="6006052" cy="465028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2D1EC0A-0E21-02EF-C269-FA02B26F9BE7}"/>
              </a:ext>
            </a:extLst>
          </p:cNvPr>
          <p:cNvSpPr txBox="1"/>
          <p:nvPr/>
        </p:nvSpPr>
        <p:spPr>
          <a:xfrm>
            <a:off x="7162799" y="2936626"/>
            <a:ext cx="471543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/>
              <a:t>With simple proportional </a:t>
            </a:r>
            <a:r>
              <a:rPr lang="de-DE" sz="2200" dirty="0" err="1"/>
              <a:t>control</a:t>
            </a:r>
            <a:r>
              <a:rPr lang="de-DE" sz="2200" dirty="0"/>
              <a:t>, </a:t>
            </a:r>
            <a:r>
              <a:rPr lang="de-DE" sz="2200" dirty="0" err="1"/>
              <a:t>oscillations</a:t>
            </a:r>
            <a:r>
              <a:rPr lang="de-DE" sz="2200" dirty="0"/>
              <a:t> </a:t>
            </a:r>
            <a:r>
              <a:rPr lang="de-DE" sz="2200" dirty="0" err="1"/>
              <a:t>only</a:t>
            </a:r>
            <a:r>
              <a:rPr lang="de-DE" sz="2200" dirty="0"/>
              <a:t> </a:t>
            </a:r>
            <a:r>
              <a:rPr lang="de-DE" sz="2200" dirty="0" err="1"/>
              <a:t>occur</a:t>
            </a:r>
            <a:r>
              <a:rPr lang="de-DE" sz="2200" dirty="0"/>
              <a:t> in </a:t>
            </a:r>
            <a:r>
              <a:rPr lang="de-DE" sz="2200" dirty="0" err="1"/>
              <a:t>second</a:t>
            </a:r>
            <a:r>
              <a:rPr lang="de-DE" sz="2200" dirty="0"/>
              <a:t>-order </a:t>
            </a:r>
            <a:r>
              <a:rPr lang="de-DE" sz="2200" dirty="0" err="1"/>
              <a:t>systems</a:t>
            </a:r>
            <a:r>
              <a:rPr lang="de-DE" sz="2200" dirty="0"/>
              <a:t> (</a:t>
            </a:r>
            <a:r>
              <a:rPr lang="de-DE" sz="2200" dirty="0" err="1"/>
              <a:t>or</a:t>
            </a:r>
            <a:r>
              <a:rPr lang="de-DE" sz="2200" dirty="0"/>
              <a:t> </a:t>
            </a:r>
            <a:r>
              <a:rPr lang="de-DE" sz="2200" dirty="0" err="1"/>
              <a:t>higher</a:t>
            </a:r>
            <a:r>
              <a:rPr lang="de-DE" sz="2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Destabilization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a first-order </a:t>
            </a:r>
            <a:r>
              <a:rPr lang="de-DE" sz="2200" dirty="0" err="1"/>
              <a:t>system</a:t>
            </a:r>
            <a:r>
              <a:rPr lang="de-DE" sz="2200" dirty="0"/>
              <a:t> </a:t>
            </a:r>
            <a:r>
              <a:rPr lang="de-DE" sz="2200" dirty="0" err="1"/>
              <a:t>with</a:t>
            </a:r>
            <a:r>
              <a:rPr lang="de-DE" sz="2200" dirty="0"/>
              <a:t> proportional </a:t>
            </a:r>
            <a:r>
              <a:rPr lang="de-DE" sz="2200" dirty="0" err="1"/>
              <a:t>feedback</a:t>
            </a:r>
            <a:r>
              <a:rPr lang="de-DE" sz="2200" dirty="0"/>
              <a:t> </a:t>
            </a:r>
            <a:r>
              <a:rPr lang="de-DE" sz="2200" dirty="0" err="1"/>
              <a:t>can</a:t>
            </a:r>
            <a:r>
              <a:rPr lang="de-DE" sz="2200" dirty="0"/>
              <a:t> </a:t>
            </a:r>
            <a:r>
              <a:rPr lang="de-DE" sz="2200" dirty="0" err="1"/>
              <a:t>only</a:t>
            </a:r>
            <a:r>
              <a:rPr lang="de-DE" sz="2200" dirty="0"/>
              <a:t> </a:t>
            </a:r>
            <a:r>
              <a:rPr lang="de-DE" sz="2200" dirty="0" err="1"/>
              <a:t>occur</a:t>
            </a:r>
            <a:r>
              <a:rPr lang="de-DE" sz="2200" dirty="0"/>
              <a:t> </a:t>
            </a:r>
            <a:r>
              <a:rPr lang="de-DE" sz="2200" dirty="0" err="1"/>
              <a:t>with</a:t>
            </a:r>
            <a:r>
              <a:rPr lang="de-DE" sz="2200" dirty="0"/>
              <a:t> positive </a:t>
            </a:r>
            <a:r>
              <a:rPr lang="de-DE" sz="2200" dirty="0" err="1"/>
              <a:t>feedback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2073828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32095A-D520-68CA-23FC-80746D9E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Historical: </a:t>
            </a:r>
            <a:r>
              <a:rPr lang="de-DE" dirty="0" err="1"/>
              <a:t>Centrifugal</a:t>
            </a:r>
            <a:r>
              <a:rPr lang="de-DE" dirty="0"/>
              <a:t> Governor in a </a:t>
            </a:r>
            <a:r>
              <a:rPr lang="de-DE" dirty="0" err="1"/>
              <a:t>Windmill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4E9D09B-6D3F-5524-1888-484F2D270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EBF1A4E-371D-353A-018D-ABD1D94192F4}"/>
              </a:ext>
            </a:extLst>
          </p:cNvPr>
          <p:cNvSpPr txBox="1"/>
          <p:nvPr/>
        </p:nvSpPr>
        <p:spPr>
          <a:xfrm>
            <a:off x="70701" y="1764032"/>
            <a:ext cx="60252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Working </a:t>
            </a:r>
            <a:r>
              <a:rPr lang="de-DE" sz="2000" dirty="0" err="1"/>
              <a:t>principle</a:t>
            </a:r>
            <a:r>
              <a:rPr lang="de-DE" sz="2000" dirty="0"/>
              <a:t>:</a:t>
            </a:r>
          </a:p>
          <a:p>
            <a:r>
              <a:rPr lang="de-DE" sz="2000" dirty="0"/>
              <a:t>wind </a:t>
            </a:r>
            <a:r>
              <a:rPr lang="de-DE" sz="2000" dirty="0" err="1"/>
              <a:t>turns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blades</a:t>
            </a:r>
          </a:p>
          <a:p>
            <a:r>
              <a:rPr lang="de-DE" sz="2000" dirty="0">
                <a:sym typeface="Wingdings" pitchFamily="2" charset="2"/>
              </a:rPr>
              <a:t> b</a:t>
            </a:r>
            <a:r>
              <a:rPr lang="de-DE" sz="2000" dirty="0"/>
              <a:t>lades turn a </a:t>
            </a:r>
            <a:r>
              <a:rPr lang="de-DE" sz="2000" dirty="0" err="1"/>
              <a:t>shaft</a:t>
            </a:r>
            <a:r>
              <a:rPr lang="de-DE" sz="2000" dirty="0"/>
              <a:t> (plant)</a:t>
            </a:r>
          </a:p>
          <a:p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/>
              <a:t>shaft</a:t>
            </a:r>
            <a:r>
              <a:rPr lang="de-DE" sz="2000" dirty="0"/>
              <a:t> </a:t>
            </a:r>
            <a:r>
              <a:rPr lang="de-DE" sz="2000" dirty="0" err="1"/>
              <a:t>spins</a:t>
            </a:r>
            <a:r>
              <a:rPr lang="de-DE" sz="2000" dirty="0"/>
              <a:t> a pair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weighted</a:t>
            </a:r>
            <a:r>
              <a:rPr lang="de-DE" sz="2000" dirty="0"/>
              <a:t> </a:t>
            </a:r>
            <a:r>
              <a:rPr lang="de-DE" sz="2000" dirty="0" err="1"/>
              <a:t>arms</a:t>
            </a:r>
            <a:r>
              <a:rPr lang="de-DE" sz="2000" dirty="0"/>
              <a:t> (</a:t>
            </a:r>
            <a:r>
              <a:rPr lang="de-DE" sz="2000" dirty="0" err="1"/>
              <a:t>controller</a:t>
            </a:r>
            <a:r>
              <a:rPr lang="de-DE" sz="2000" dirty="0"/>
              <a:t>)</a:t>
            </a:r>
          </a:p>
          <a:p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arms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mechanically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twist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the</a:t>
            </a:r>
            <a:r>
              <a:rPr lang="de-DE" sz="2000" dirty="0">
                <a:sym typeface="Wingdings" pitchFamily="2" charset="2"/>
              </a:rPr>
              <a:t> blades (</a:t>
            </a:r>
            <a:r>
              <a:rPr lang="de-DE" sz="2000" dirty="0" err="1">
                <a:sym typeface="Wingdings" pitchFamily="2" charset="2"/>
              </a:rPr>
              <a:t>actuator</a:t>
            </a:r>
            <a:r>
              <a:rPr lang="de-DE" sz="2000" dirty="0">
                <a:sym typeface="Wingdings" pitchFamily="2" charset="2"/>
              </a:rPr>
              <a:t>)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 err="1"/>
              <a:t>Automatic</a:t>
            </a:r>
            <a:r>
              <a:rPr lang="de-DE" sz="2000" dirty="0"/>
              <a:t> </a:t>
            </a:r>
            <a:r>
              <a:rPr lang="de-DE" sz="2000" dirty="0" err="1"/>
              <a:t>regulation</a:t>
            </a:r>
            <a:r>
              <a:rPr lang="de-DE" sz="2000" dirty="0"/>
              <a:t>:</a:t>
            </a:r>
          </a:p>
          <a:p>
            <a:r>
              <a:rPr lang="de-DE" sz="2000" dirty="0" err="1"/>
              <a:t>faster</a:t>
            </a:r>
            <a:r>
              <a:rPr lang="de-DE" sz="2000" dirty="0"/>
              <a:t> </a:t>
            </a:r>
            <a:r>
              <a:rPr lang="de-DE" sz="2000" dirty="0" err="1"/>
              <a:t>rotation</a:t>
            </a:r>
            <a:r>
              <a:rPr lang="de-DE" sz="2000" dirty="0"/>
              <a:t> (</a:t>
            </a:r>
            <a:r>
              <a:rPr lang="de-DE" sz="2000" dirty="0" err="1"/>
              <a:t>controlled</a:t>
            </a:r>
            <a:r>
              <a:rPr lang="de-DE" sz="2000" dirty="0"/>
              <a:t> variable: angular </a:t>
            </a:r>
            <a:r>
              <a:rPr lang="de-DE" sz="2000" dirty="0" err="1"/>
              <a:t>speed</a:t>
            </a:r>
            <a:r>
              <a:rPr lang="de-DE" sz="2000" dirty="0"/>
              <a:t>)</a:t>
            </a:r>
          </a:p>
          <a:p>
            <a:r>
              <a:rPr lang="de-DE" sz="2000" dirty="0">
                <a:sym typeface="Wingdings" pitchFamily="2" charset="2"/>
              </a:rPr>
              <a:t></a:t>
            </a:r>
            <a:r>
              <a:rPr lang="de-DE" sz="2000" dirty="0"/>
              <a:t> </a:t>
            </a:r>
            <a:r>
              <a:rPr lang="de-DE" sz="2000" dirty="0" err="1"/>
              <a:t>centrifugal</a:t>
            </a:r>
            <a:r>
              <a:rPr lang="de-DE" sz="2000" dirty="0"/>
              <a:t> </a:t>
            </a:r>
            <a:r>
              <a:rPr lang="de-DE" sz="2000" dirty="0" err="1"/>
              <a:t>force</a:t>
            </a:r>
            <a:r>
              <a:rPr lang="de-DE" sz="2000" dirty="0"/>
              <a:t> </a:t>
            </a:r>
            <a:r>
              <a:rPr lang="de-DE" sz="2000" dirty="0" err="1"/>
              <a:t>pushes</a:t>
            </a:r>
            <a:r>
              <a:rPr lang="de-DE" sz="2000" dirty="0"/>
              <a:t> </a:t>
            </a:r>
            <a:r>
              <a:rPr lang="de-DE" sz="2000" dirty="0" err="1"/>
              <a:t>weights</a:t>
            </a:r>
            <a:r>
              <a:rPr lang="de-DE" sz="2000" dirty="0"/>
              <a:t> </a:t>
            </a:r>
            <a:r>
              <a:rPr lang="de-DE" sz="2000" dirty="0" err="1"/>
              <a:t>outward</a:t>
            </a:r>
            <a:r>
              <a:rPr lang="de-DE" sz="2000" dirty="0"/>
              <a:t> (</a:t>
            </a:r>
            <a:r>
              <a:rPr lang="de-DE" sz="2000" dirty="0" err="1"/>
              <a:t>error</a:t>
            </a:r>
            <a:r>
              <a:rPr lang="de-DE" sz="2000" dirty="0"/>
              <a:t>: </a:t>
            </a:r>
            <a:r>
              <a:rPr lang="de-DE" sz="2000" dirty="0" err="1"/>
              <a:t>deviation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</a:t>
            </a:r>
            <a:r>
              <a:rPr lang="de-DE" sz="2000" dirty="0" err="1"/>
              <a:t>position</a:t>
            </a:r>
            <a:r>
              <a:rPr lang="de-DE" sz="2000" dirty="0"/>
              <a:t> at </a:t>
            </a:r>
            <a:r>
              <a:rPr lang="de-DE" sz="2000" dirty="0" err="1"/>
              <a:t>reference</a:t>
            </a:r>
            <a:r>
              <a:rPr lang="de-DE" sz="2000" dirty="0"/>
              <a:t> angular </a:t>
            </a:r>
            <a:r>
              <a:rPr lang="de-DE" sz="2000" dirty="0" err="1"/>
              <a:t>speed</a:t>
            </a:r>
            <a:r>
              <a:rPr lang="de-DE" sz="2000" dirty="0"/>
              <a:t>)</a:t>
            </a:r>
          </a:p>
          <a:p>
            <a:r>
              <a:rPr lang="de-DE" sz="2000" dirty="0">
                <a:sym typeface="Wingdings" pitchFamily="2" charset="2"/>
              </a:rPr>
              <a:t></a:t>
            </a:r>
            <a:r>
              <a:rPr lang="de-DE" sz="2000" dirty="0"/>
              <a:t> blades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twisted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catch </a:t>
            </a:r>
            <a:r>
              <a:rPr lang="de-DE" sz="2000" dirty="0" err="1"/>
              <a:t>less</a:t>
            </a:r>
            <a:r>
              <a:rPr lang="de-DE" sz="2000" dirty="0"/>
              <a:t> wind (proportional </a:t>
            </a:r>
            <a:r>
              <a:rPr lang="de-DE" sz="2000" dirty="0" err="1"/>
              <a:t>control</a:t>
            </a:r>
            <a:r>
              <a:rPr lang="de-DE" sz="2000" dirty="0"/>
              <a:t>) </a:t>
            </a:r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slower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rotation</a:t>
            </a:r>
            <a:r>
              <a:rPr lang="de-DE" sz="2000" dirty="0">
                <a:sym typeface="Wingdings" pitchFamily="2" charset="2"/>
              </a:rPr>
              <a:t> </a:t>
            </a:r>
          </a:p>
          <a:p>
            <a:endParaRPr lang="de-DE" sz="2000" dirty="0"/>
          </a:p>
          <a:p>
            <a:r>
              <a:rPr lang="de-DE" sz="2000" dirty="0"/>
              <a:t>Steady-</a:t>
            </a:r>
            <a:r>
              <a:rPr lang="de-DE" sz="2000" dirty="0" err="1"/>
              <a:t>state</a:t>
            </a:r>
            <a:r>
              <a:rPr lang="de-DE" sz="2000" dirty="0"/>
              <a:t> </a:t>
            </a:r>
            <a:r>
              <a:rPr lang="de-DE" sz="2000" dirty="0" err="1"/>
              <a:t>error</a:t>
            </a:r>
            <a:r>
              <a:rPr lang="de-DE" sz="2000" dirty="0"/>
              <a:t>: </a:t>
            </a:r>
            <a:r>
              <a:rPr lang="de-DE" sz="2000" dirty="0" err="1"/>
              <a:t>need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twisted</a:t>
            </a:r>
            <a:r>
              <a:rPr lang="de-DE" sz="2000" dirty="0"/>
              <a:t> blades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balance</a:t>
            </a:r>
            <a:r>
              <a:rPr lang="de-DE" sz="2000" dirty="0"/>
              <a:t> </a:t>
            </a:r>
            <a:r>
              <a:rPr lang="de-DE" sz="2000" dirty="0" err="1"/>
              <a:t>torque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wind and </a:t>
            </a:r>
            <a:r>
              <a:rPr lang="de-DE" sz="2000" dirty="0" err="1"/>
              <a:t>load</a:t>
            </a:r>
            <a:r>
              <a:rPr lang="de-DE" sz="2000" dirty="0"/>
              <a:t> </a:t>
            </a:r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speed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offset</a:t>
            </a:r>
            <a:endParaRPr lang="de-DE" sz="2000" dirty="0"/>
          </a:p>
        </p:txBody>
      </p:sp>
      <p:pic>
        <p:nvPicPr>
          <p:cNvPr id="5" name="Grafik 4" descr="Ein Bild, das Holz, Balken, Im Haus, Wand enthält.&#10;&#10;KI-generierte Inhalte können fehlerhaft sein.">
            <a:extLst>
              <a:ext uri="{FF2B5EF4-FFF2-40B4-BE49-F238E27FC236}">
                <a16:creationId xmlns:a16="http://schemas.microsoft.com/office/drawing/2014/main" id="{189FA9BD-1AFA-40E3-A6CF-1DED89FCD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4032"/>
            <a:ext cx="6025299" cy="451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5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ECE9B039-04A8-E829-EB2A-53F07F7FA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27464"/>
            <a:ext cx="6049988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0FB9667-CF16-50CB-8E69-4DB8CD710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Integral Control (I)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B6263E-20A7-2E59-29DE-D5259EBA0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5307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/>
              <a:t>Integrator </a:t>
            </a:r>
            <a:r>
              <a:rPr lang="de-DE" dirty="0" err="1"/>
              <a:t>accumulating</a:t>
            </a:r>
            <a:r>
              <a:rPr lang="de-DE" dirty="0"/>
              <a:t> </a:t>
            </a:r>
            <a:r>
              <a:rPr lang="de-DE" dirty="0" err="1"/>
              <a:t>past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(</a:t>
            </a:r>
            <a:r>
              <a:rPr lang="de-DE" dirty="0" err="1"/>
              <a:t>dynamic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Eliminates</a:t>
            </a:r>
            <a:r>
              <a:rPr lang="de-DE" dirty="0"/>
              <a:t> </a:t>
            </a:r>
            <a:r>
              <a:rPr lang="de-DE" dirty="0" err="1"/>
              <a:t>steady-state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inputs</a:t>
            </a:r>
            <a:endParaRPr lang="de-DE" dirty="0"/>
          </a:p>
          <a:p>
            <a:r>
              <a:rPr lang="de-DE" dirty="0" err="1"/>
              <a:t>Slower</a:t>
            </a:r>
            <a:r>
              <a:rPr lang="de-DE" dirty="0"/>
              <a:t> </a:t>
            </a:r>
            <a:r>
              <a:rPr lang="de-DE" dirty="0" err="1"/>
              <a:t>response</a:t>
            </a:r>
            <a:endParaRPr lang="de-DE" dirty="0"/>
          </a:p>
          <a:p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damping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oscillation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Order </a:t>
            </a:r>
            <a:r>
              <a:rPr lang="de-DE" dirty="0" err="1"/>
              <a:t>of</a:t>
            </a:r>
            <a:r>
              <a:rPr lang="de-DE" dirty="0"/>
              <a:t> total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increases</a:t>
            </a:r>
            <a:r>
              <a:rPr lang="de-DE" dirty="0"/>
              <a:t> (</a:t>
            </a:r>
            <a:r>
              <a:rPr lang="de-DE" dirty="0" err="1"/>
              <a:t>adds</a:t>
            </a:r>
            <a:r>
              <a:rPr lang="de-DE" dirty="0"/>
              <a:t> </a:t>
            </a:r>
            <a:r>
              <a:rPr lang="de-DE" dirty="0" err="1"/>
              <a:t>memory</a:t>
            </a:r>
            <a:r>
              <a:rPr lang="de-DE" dirty="0"/>
              <a:t>)</a:t>
            </a:r>
          </a:p>
          <a:p>
            <a:r>
              <a:rPr lang="de-DE" dirty="0"/>
              <a:t>First-order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second</a:t>
            </a:r>
            <a:r>
              <a:rPr lang="de-DE" dirty="0"/>
              <a:t>-order</a:t>
            </a:r>
          </a:p>
          <a:p>
            <a:r>
              <a:rPr lang="de-DE" dirty="0"/>
              <a:t>Second-order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third</a:t>
            </a:r>
            <a:r>
              <a:rPr lang="de-DE" dirty="0"/>
              <a:t>-order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2678D71-FB80-1D70-380A-3D6FA0B2831E}"/>
              </a:ext>
            </a:extLst>
          </p:cNvPr>
          <p:cNvSpPr/>
          <p:nvPr/>
        </p:nvSpPr>
        <p:spPr>
          <a:xfrm>
            <a:off x="6096000" y="6125592"/>
            <a:ext cx="6049988" cy="1859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7D893B-FC10-112C-E56C-02067DFC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493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0390A8-DE49-7EF9-3DE8-8DB638E9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Derivative Control (D)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6DB09B-8983-50DC-76E3-164BD1118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/>
              <a:t>Derivative </a:t>
            </a:r>
            <a:r>
              <a:rPr lang="de-DE" sz="2400" dirty="0" err="1"/>
              <a:t>predicting</a:t>
            </a:r>
            <a:r>
              <a:rPr lang="de-DE" sz="2400" dirty="0"/>
              <a:t> </a:t>
            </a:r>
            <a:r>
              <a:rPr lang="de-DE" sz="2400" dirty="0" err="1"/>
              <a:t>future</a:t>
            </a:r>
            <a:r>
              <a:rPr lang="de-DE" sz="2400" dirty="0"/>
              <a:t> </a:t>
            </a:r>
            <a:r>
              <a:rPr lang="de-DE" sz="2400" dirty="0" err="1"/>
              <a:t>error</a:t>
            </a:r>
            <a:r>
              <a:rPr lang="de-DE" sz="2400" dirty="0"/>
              <a:t> </a:t>
            </a:r>
            <a:r>
              <a:rPr lang="de-DE" sz="2400" dirty="0" err="1"/>
              <a:t>based</a:t>
            </a:r>
            <a:r>
              <a:rPr lang="de-DE" sz="2400" dirty="0"/>
              <a:t> on </a:t>
            </a:r>
            <a:r>
              <a:rPr lang="de-DE" sz="2400" dirty="0" err="1"/>
              <a:t>the</a:t>
            </a:r>
            <a:r>
              <a:rPr lang="de-DE" sz="2400" dirty="0"/>
              <a:t> rate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change</a:t>
            </a:r>
            <a:r>
              <a:rPr lang="de-DE" sz="2400" dirty="0"/>
              <a:t> (</a:t>
            </a:r>
            <a:r>
              <a:rPr lang="de-DE" sz="2400" dirty="0" err="1"/>
              <a:t>dynamic</a:t>
            </a:r>
            <a:r>
              <a:rPr lang="de-DE" sz="2400" dirty="0"/>
              <a:t>)</a:t>
            </a:r>
          </a:p>
          <a:p>
            <a:r>
              <a:rPr lang="de-DE" sz="2400" dirty="0" err="1"/>
              <a:t>Predictive</a:t>
            </a:r>
            <a:r>
              <a:rPr lang="de-DE" sz="2400" dirty="0"/>
              <a:t> </a:t>
            </a:r>
            <a:r>
              <a:rPr lang="de-DE" sz="2400" dirty="0" err="1"/>
              <a:t>action</a:t>
            </a:r>
            <a:endParaRPr lang="de-DE" sz="2400" dirty="0"/>
          </a:p>
          <a:p>
            <a:r>
              <a:rPr lang="de-DE" sz="2400" dirty="0" err="1"/>
              <a:t>Increases</a:t>
            </a:r>
            <a:r>
              <a:rPr lang="de-DE" sz="2400" dirty="0"/>
              <a:t> </a:t>
            </a:r>
            <a:r>
              <a:rPr lang="de-DE" sz="2400" dirty="0" err="1"/>
              <a:t>effective</a:t>
            </a:r>
            <a:r>
              <a:rPr lang="de-DE" sz="2400" dirty="0"/>
              <a:t> </a:t>
            </a:r>
            <a:r>
              <a:rPr lang="de-DE" sz="2400" dirty="0" err="1"/>
              <a:t>damping</a:t>
            </a:r>
            <a:r>
              <a:rPr lang="de-DE" sz="2400" dirty="0"/>
              <a:t> (</a:t>
            </a:r>
            <a:r>
              <a:rPr lang="de-DE" sz="2400" dirty="0" err="1"/>
              <a:t>keeps</a:t>
            </a:r>
            <a:r>
              <a:rPr lang="de-DE" sz="2400" dirty="0"/>
              <a:t> 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near</a:t>
            </a:r>
            <a:r>
              <a:rPr lang="de-DE" sz="2400" dirty="0"/>
              <a:t> </a:t>
            </a:r>
            <a:r>
              <a:rPr lang="de-DE" sz="2400" dirty="0" err="1"/>
              <a:t>critical</a:t>
            </a:r>
            <a:r>
              <a:rPr lang="de-DE" sz="2400" dirty="0"/>
              <a:t> </a:t>
            </a:r>
            <a:r>
              <a:rPr lang="de-DE" sz="2400" dirty="0" err="1"/>
              <a:t>damping</a:t>
            </a:r>
            <a:r>
              <a:rPr lang="de-DE" sz="2400" dirty="0"/>
              <a:t>): </a:t>
            </a:r>
            <a:r>
              <a:rPr lang="de-DE" sz="2400" dirty="0" err="1"/>
              <a:t>less</a:t>
            </a:r>
            <a:r>
              <a:rPr lang="de-DE" sz="2400" dirty="0"/>
              <a:t> </a:t>
            </a:r>
            <a:r>
              <a:rPr lang="de-DE" sz="2400" dirty="0" err="1"/>
              <a:t>overshoot</a:t>
            </a:r>
            <a:r>
              <a:rPr lang="de-DE" sz="2400" dirty="0"/>
              <a:t>, </a:t>
            </a:r>
            <a:r>
              <a:rPr lang="de-DE" sz="2400" dirty="0" err="1"/>
              <a:t>fewer</a:t>
            </a:r>
            <a:r>
              <a:rPr lang="de-DE" sz="2400" dirty="0"/>
              <a:t> </a:t>
            </a:r>
            <a:r>
              <a:rPr lang="de-DE" sz="2400" dirty="0" err="1"/>
              <a:t>oscillations</a:t>
            </a:r>
            <a:r>
              <a:rPr lang="de-DE" sz="2400" dirty="0"/>
              <a:t>)</a:t>
            </a:r>
          </a:p>
          <a:p>
            <a:r>
              <a:rPr lang="de-DE" sz="2400" dirty="0"/>
              <a:t>Derivative </a:t>
            </a:r>
            <a:r>
              <a:rPr lang="de-DE" sz="2400" dirty="0" err="1"/>
              <a:t>action</a:t>
            </a:r>
            <a:r>
              <a:rPr lang="de-DE" sz="2400" dirty="0"/>
              <a:t> </a:t>
            </a:r>
            <a:r>
              <a:rPr lang="de-DE" sz="2400" dirty="0" err="1"/>
              <a:t>amplifies</a:t>
            </a:r>
            <a:r>
              <a:rPr lang="de-DE" sz="2400" dirty="0"/>
              <a:t> high-</a:t>
            </a:r>
            <a:r>
              <a:rPr lang="de-DE" sz="2400" dirty="0" err="1"/>
              <a:t>frequency</a:t>
            </a:r>
            <a:r>
              <a:rPr lang="de-DE" sz="2400" dirty="0"/>
              <a:t> </a:t>
            </a:r>
            <a:r>
              <a:rPr lang="de-DE" sz="2400" dirty="0" err="1"/>
              <a:t>noise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often</a:t>
            </a:r>
            <a:r>
              <a:rPr lang="de-DE" sz="2400" dirty="0">
                <a:sym typeface="Wingdings" pitchFamily="2" charset="2"/>
              </a:rPr>
              <a:t> </a:t>
            </a:r>
            <a:r>
              <a:rPr lang="de-DE" sz="2400" dirty="0" err="1"/>
              <a:t>paired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a </a:t>
            </a:r>
            <a:r>
              <a:rPr lang="de-DE" sz="2400" dirty="0" err="1"/>
              <a:t>low</a:t>
            </a:r>
            <a:r>
              <a:rPr lang="de-DE" sz="2400" dirty="0"/>
              <a:t>-pass </a:t>
            </a:r>
            <a:r>
              <a:rPr lang="de-DE" sz="2400" dirty="0" err="1"/>
              <a:t>filter</a:t>
            </a: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Used</a:t>
            </a:r>
            <a:r>
              <a:rPr lang="de-DE" sz="2400" dirty="0"/>
              <a:t> </a:t>
            </a:r>
            <a:r>
              <a:rPr lang="de-DE" sz="2400" dirty="0" err="1"/>
              <a:t>less</a:t>
            </a:r>
            <a:r>
              <a:rPr lang="de-DE" sz="2400" dirty="0"/>
              <a:t> </a:t>
            </a:r>
            <a:r>
              <a:rPr lang="de-DE" sz="2400" dirty="0" err="1"/>
              <a:t>often</a:t>
            </a:r>
            <a:r>
              <a:rPr lang="de-DE" sz="2400" dirty="0"/>
              <a:t> in </a:t>
            </a:r>
            <a:r>
              <a:rPr lang="de-DE" sz="2400" dirty="0" err="1"/>
              <a:t>practice</a:t>
            </a:r>
            <a:r>
              <a:rPr lang="de-DE" sz="2400" dirty="0"/>
              <a:t> due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impact</a:t>
            </a:r>
            <a:r>
              <a:rPr lang="de-DE" sz="2400" dirty="0"/>
              <a:t> on 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stability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PI</a:t>
            </a: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613244-15FD-1336-A55D-C0B2593A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  <p:pic>
        <p:nvPicPr>
          <p:cNvPr id="5" name="Grafik 4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02F42BE7-60C5-A1C1-D93E-6E0F56100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49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11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Diagramm, Reihe, Entwurf, Zeichnung enthält.&#10;&#10;KI-generierte Inhalte können fehlerhaft sein.">
            <a:extLst>
              <a:ext uri="{FF2B5EF4-FFF2-40B4-BE49-F238E27FC236}">
                <a16:creationId xmlns:a16="http://schemas.microsoft.com/office/drawing/2014/main" id="{F2F668B7-4161-45D1-BE2D-57D332BB1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009" y="0"/>
            <a:ext cx="5953991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93FA3E3-EF02-FB5C-1F73-930D1B5E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PID Controller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8ABEA1-7F40-E403-1A76-03E106A3A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9809" cy="4351338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Simple and intuitive</a:t>
            </a:r>
          </a:p>
          <a:p>
            <a:r>
              <a:rPr lang="de-DE" dirty="0"/>
              <a:t>Works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plants</a:t>
            </a:r>
          </a:p>
          <a:p>
            <a:r>
              <a:rPr lang="de-DE" dirty="0"/>
              <a:t>Easy </a:t>
            </a:r>
            <a:r>
              <a:rPr lang="de-DE" dirty="0" err="1"/>
              <a:t>to</a:t>
            </a:r>
            <a:r>
              <a:rPr lang="de-DE" dirty="0"/>
              <a:t> tune </a:t>
            </a:r>
            <a:r>
              <a:rPr lang="de-DE" dirty="0" err="1"/>
              <a:t>experimentally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~90%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industrial</a:t>
            </a:r>
            <a:r>
              <a:rPr lang="de-DE" dirty="0"/>
              <a:t> </a:t>
            </a:r>
            <a:r>
              <a:rPr lang="de-DE" dirty="0" err="1"/>
              <a:t>controllers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PID </a:t>
            </a:r>
            <a:r>
              <a:rPr lang="de-DE" dirty="0" err="1"/>
              <a:t>variants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P = </a:t>
            </a:r>
            <a:r>
              <a:rPr lang="de-DE" dirty="0" err="1"/>
              <a:t>speed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I = </a:t>
            </a:r>
            <a:r>
              <a:rPr lang="de-DE" dirty="0" err="1"/>
              <a:t>accuracy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D = </a:t>
            </a:r>
            <a:r>
              <a:rPr lang="de-DE" dirty="0" err="1"/>
              <a:t>damping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A2DDD1-A052-A8FB-92AA-1ECBD867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436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01C58-C2B6-496F-B9DD-EE4C9B0B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Time-Domain Performance Trade-Offs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FF9C35F-BF21-063A-666B-4251A1403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Faster </a:t>
                </a:r>
                <a:r>
                  <a:rPr lang="de-DE" sz="2600" dirty="0" err="1"/>
                  <a:t>response</a:t>
                </a:r>
                <a:r>
                  <a:rPr lang="de-DE" sz="2600" dirty="0"/>
                  <a:t> vs. </a:t>
                </a:r>
                <a:r>
                  <a:rPr lang="de-DE" sz="2600" dirty="0" err="1"/>
                  <a:t>stability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de-DE" sz="2600" dirty="0">
                    <a:sym typeface="Wingdings" pitchFamily="2" charset="2"/>
                  </a:rPr>
                  <a:t> 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faster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response</a:t>
                </a:r>
                <a:r>
                  <a:rPr lang="de-DE" sz="2600" dirty="0"/>
                  <a:t>, but </a:t>
                </a:r>
                <a:r>
                  <a:rPr lang="de-DE" sz="2600" dirty="0" err="1"/>
                  <a:t>more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overshoot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risk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instability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Accuracy</a:t>
                </a:r>
                <a:r>
                  <a:rPr lang="de-DE" sz="2600" dirty="0"/>
                  <a:t> vs. </a:t>
                </a:r>
                <a:r>
                  <a:rPr lang="de-DE" sz="2600" dirty="0" err="1"/>
                  <a:t>robustness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sz="2600" dirty="0"/>
                  <a:t> </a:t>
                </a: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>
                    <a:sym typeface="Wingdings" pitchFamily="2" charset="2"/>
                  </a:rPr>
                  <a:t>higher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/>
                  <a:t>accuracy</a:t>
                </a:r>
                <a:r>
                  <a:rPr lang="de-DE" sz="2600" dirty="0"/>
                  <a:t>, but </a:t>
                </a:r>
                <a:r>
                  <a:rPr lang="de-DE" sz="2600" dirty="0" err="1"/>
                  <a:t>more</a:t>
                </a:r>
                <a:r>
                  <a:rPr lang="de-DE" sz="2600" dirty="0"/>
                  <a:t> sensitive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disturbances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Damping</a:t>
                </a:r>
                <a:r>
                  <a:rPr lang="de-DE" sz="2600" dirty="0"/>
                  <a:t> vs. </a:t>
                </a:r>
                <a:r>
                  <a:rPr lang="de-DE" sz="2600" dirty="0" err="1"/>
                  <a:t>noise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sensitivity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de-DE" sz="2600" dirty="0"/>
                  <a:t> </a:t>
                </a: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less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overshoot</a:t>
                </a:r>
                <a:r>
                  <a:rPr lang="de-DE" sz="2400" dirty="0"/>
                  <a:t>, but </a:t>
                </a:r>
                <a:r>
                  <a:rPr lang="de-DE" sz="2400" dirty="0" err="1"/>
                  <a:t>amplifies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measurement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noise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FF9C35F-BF21-063A-666B-4251A1403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197166-B80F-2074-7D72-1C6F5A8C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205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9DE0F2-A046-0763-3A02-13EBB84B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  <p:pic>
        <p:nvPicPr>
          <p:cNvPr id="6" name="Grafik 5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3A5C2EB9-4D39-156C-085D-4A6A0BE4B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340" y="172005"/>
            <a:ext cx="8685320" cy="651399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7BFD6FC-B3B6-35F5-1DDF-843DB92E9B10}"/>
              </a:ext>
            </a:extLst>
          </p:cNvPr>
          <p:cNvSpPr txBox="1"/>
          <p:nvPr/>
        </p:nvSpPr>
        <p:spPr>
          <a:xfrm>
            <a:off x="157579" y="5176551"/>
            <a:ext cx="1595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hlinkClick r:id="rId3"/>
              </a:rPr>
              <a:t>Animated GIF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620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732EF6-B7CB-F3A9-0149-BD719237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Nonlinear</a:t>
            </a:r>
            <a:r>
              <a:rPr lang="de-DE" dirty="0"/>
              <a:t>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39CC90-6E5C-F043-E14A-618879259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48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Linear </a:t>
            </a:r>
            <a:r>
              <a:rPr lang="de-DE" dirty="0" err="1"/>
              <a:t>models</a:t>
            </a:r>
            <a:r>
              <a:rPr lang="de-DE" dirty="0"/>
              <a:t> (</a:t>
            </a:r>
            <a:r>
              <a:rPr lang="de-DE" dirty="0" err="1"/>
              <a:t>output</a:t>
            </a:r>
            <a:r>
              <a:rPr lang="de-DE" dirty="0"/>
              <a:t> proportional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)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easier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analyze</a:t>
            </a:r>
            <a:r>
              <a:rPr lang="de-DE" dirty="0"/>
              <a:t>.</a:t>
            </a:r>
          </a:p>
          <a:p>
            <a:pPr marL="0" indent="0">
              <a:buNone/>
            </a:pPr>
            <a:r>
              <a:rPr lang="de-DE" dirty="0" err="1"/>
              <a:t>However</a:t>
            </a:r>
            <a:r>
              <a:rPr lang="de-DE" dirty="0"/>
              <a:t>, real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nonlinear</a:t>
            </a:r>
            <a:r>
              <a:rPr lang="de-DE" b="1" dirty="0"/>
              <a:t>.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resistance</a:t>
            </a:r>
            <a:r>
              <a:rPr lang="de-DE" dirty="0"/>
              <a:t> (laminar </a:t>
            </a:r>
            <a:r>
              <a:rPr lang="de-DE" dirty="0" err="1"/>
              <a:t>vs</a:t>
            </a:r>
            <a:r>
              <a:rPr lang="de-DE" dirty="0"/>
              <a:t> turbulent)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E6C34B-EDAD-6E70-A4A9-EDCBD3A7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  <p:pic>
        <p:nvPicPr>
          <p:cNvPr id="1028" name="Picture 4" descr="Node324 – CFD SUPPORT">
            <a:extLst>
              <a:ext uri="{FF2B5EF4-FFF2-40B4-BE49-F238E27FC236}">
                <a16:creationId xmlns:a16="http://schemas.microsoft.com/office/drawing/2014/main" id="{63AA25A9-E2CD-A13B-0BC0-47B1DF868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695" y="4054839"/>
            <a:ext cx="3022087" cy="275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minar &amp; turbulent flow – TikZ.net">
            <a:extLst>
              <a:ext uri="{FF2B5EF4-FFF2-40B4-BE49-F238E27FC236}">
                <a16:creationId xmlns:a16="http://schemas.microsoft.com/office/drawing/2014/main" id="{BE33F7D9-6DFC-4A5D-89F7-C36C40D6F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288" y="4233008"/>
            <a:ext cx="3545863" cy="2411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832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EF8FC0-6E44-CCDF-9E20-7C71F9BF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Working Point and </a:t>
            </a:r>
            <a:r>
              <a:rPr lang="de-DE" dirty="0" err="1"/>
              <a:t>Linearization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9105FA-9C76-342F-5C77-0F401AEE3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54732" cy="4351338"/>
          </a:xfrm>
        </p:spPr>
        <p:txBody>
          <a:bodyPr>
            <a:normAutofit lnSpcReduction="10000"/>
          </a:bodyPr>
          <a:lstStyle/>
          <a:p>
            <a:r>
              <a:rPr lang="de-DE" dirty="0"/>
              <a:t>Controllers </a:t>
            </a:r>
            <a:r>
              <a:rPr lang="de-DE" dirty="0" err="1"/>
              <a:t>designed</a:t>
            </a:r>
            <a:r>
              <a:rPr lang="de-DE" dirty="0"/>
              <a:t> and </a:t>
            </a:r>
            <a:r>
              <a:rPr lang="de-DE" dirty="0" err="1"/>
              <a:t>tuned</a:t>
            </a:r>
            <a:r>
              <a:rPr lang="de-DE" dirty="0"/>
              <a:t> </a:t>
            </a:r>
            <a:r>
              <a:rPr lang="de-DE" b="1" dirty="0" err="1"/>
              <a:t>around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operating</a:t>
            </a:r>
            <a:r>
              <a:rPr lang="de-DE" dirty="0"/>
              <a:t>/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Linear </a:t>
            </a:r>
            <a:r>
              <a:rPr lang="de-DE" dirty="0" err="1"/>
              <a:t>approximation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nonlinear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(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near</a:t>
            </a:r>
            <a:r>
              <a:rPr lang="de-DE" dirty="0"/>
              <a:t> </a:t>
            </a:r>
            <a:r>
              <a:rPr lang="de-DE" dirty="0" err="1"/>
              <a:t>equilibrium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Valid </a:t>
            </a:r>
            <a:r>
              <a:rPr lang="de-DE" dirty="0" err="1"/>
              <a:t>locally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C04179-7F28-DA11-46A9-60CF125E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  <p:pic>
        <p:nvPicPr>
          <p:cNvPr id="6" name="Grafik 5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AA876E26-8BDB-0EAD-AC2C-1FCE9768D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787" y="2372171"/>
            <a:ext cx="6119213" cy="3984179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972141E7-325A-641D-EDEC-BDCE6A28C39C}"/>
              </a:ext>
            </a:extLst>
          </p:cNvPr>
          <p:cNvSpPr/>
          <p:nvPr/>
        </p:nvSpPr>
        <p:spPr>
          <a:xfrm>
            <a:off x="7510509" y="3977197"/>
            <a:ext cx="142037" cy="197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982468A-C5C1-A925-7541-F89CD9AA9FC8}"/>
              </a:ext>
            </a:extLst>
          </p:cNvPr>
          <p:cNvSpPr txBox="1"/>
          <p:nvPr/>
        </p:nvSpPr>
        <p:spPr>
          <a:xfrm>
            <a:off x="7430609" y="3897295"/>
            <a:ext cx="27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W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ACA032E-15AD-0CA0-87D8-06EC71F52E62}"/>
              </a:ext>
            </a:extLst>
          </p:cNvPr>
          <p:cNvSpPr/>
          <p:nvPr/>
        </p:nvSpPr>
        <p:spPr>
          <a:xfrm>
            <a:off x="9278644" y="3223025"/>
            <a:ext cx="142037" cy="197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417F924-A668-6711-ACE4-EA036A558F3B}"/>
              </a:ext>
            </a:extLst>
          </p:cNvPr>
          <p:cNvSpPr txBox="1"/>
          <p:nvPr/>
        </p:nvSpPr>
        <p:spPr>
          <a:xfrm>
            <a:off x="9198744" y="3143123"/>
            <a:ext cx="27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W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B04343D-AA45-0811-E3FA-C216569A106C}"/>
              </a:ext>
            </a:extLst>
          </p:cNvPr>
          <p:cNvSpPr txBox="1"/>
          <p:nvPr/>
        </p:nvSpPr>
        <p:spPr>
          <a:xfrm>
            <a:off x="7410563" y="1846763"/>
            <a:ext cx="192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furnace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9228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B6400-71B9-BBA2-4116-E0489CE2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Proportional Band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435EB3A-7D49-6783-24D3-317BE17EF0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Range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</a:t>
                </a:r>
                <a:r>
                  <a:rPr lang="de-DE" dirty="0" err="1"/>
                  <a:t>which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controller</a:t>
                </a:r>
                <a:r>
                  <a:rPr lang="de-DE" dirty="0"/>
                  <a:t> </a:t>
                </a:r>
                <a:r>
                  <a:rPr lang="de-DE" dirty="0" err="1"/>
                  <a:t>moves</a:t>
                </a:r>
                <a:r>
                  <a:rPr lang="de-DE" dirty="0"/>
                  <a:t>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 (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process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controlled</a:t>
                </a:r>
                <a:r>
                  <a:rPr lang="de-DE" dirty="0"/>
                  <a:t>) </a:t>
                </a:r>
                <a:r>
                  <a:rPr lang="de-DE" dirty="0" err="1"/>
                  <a:t>from</a:t>
                </a:r>
                <a:r>
                  <a:rPr lang="de-DE" dirty="0"/>
                  <a:t> 0% </a:t>
                </a:r>
                <a:r>
                  <a:rPr lang="de-DE" dirty="0" err="1"/>
                  <a:t>to</a:t>
                </a:r>
                <a:r>
                  <a:rPr lang="de-DE" dirty="0"/>
                  <a:t> 100%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Inverse </a:t>
                </a:r>
                <a:r>
                  <a:rPr lang="de-DE" dirty="0" err="1"/>
                  <a:t>of</a:t>
                </a:r>
                <a:r>
                  <a:rPr lang="de-DE" dirty="0"/>
                  <a:t> proportional </a:t>
                </a:r>
                <a:r>
                  <a:rPr lang="de-DE" dirty="0" err="1"/>
                  <a:t>gain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∙100%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Smaller</a:t>
                </a:r>
                <a:r>
                  <a:rPr lang="de-DE" dirty="0"/>
                  <a:t> band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stronger</a:t>
                </a:r>
                <a:r>
                  <a:rPr lang="de-DE" dirty="0"/>
                  <a:t> </a:t>
                </a:r>
                <a:r>
                  <a:rPr lang="de-DE" dirty="0" err="1"/>
                  <a:t>control</a:t>
                </a:r>
                <a:r>
                  <a:rPr lang="de-DE" dirty="0"/>
                  <a:t> </a:t>
                </a:r>
                <a:r>
                  <a:rPr lang="de-DE" dirty="0" err="1"/>
                  <a:t>action</a:t>
                </a:r>
                <a:r>
                  <a:rPr lang="de-DE" dirty="0"/>
                  <a:t> (</a:t>
                </a:r>
                <a:r>
                  <a:rPr lang="de-DE" dirty="0" err="1"/>
                  <a:t>from</a:t>
                </a:r>
                <a:r>
                  <a:rPr lang="de-DE" dirty="0"/>
                  <a:t> 0% </a:t>
                </a:r>
                <a:r>
                  <a:rPr lang="de-DE" dirty="0" err="1"/>
                  <a:t>to</a:t>
                </a:r>
                <a:r>
                  <a:rPr lang="de-DE" dirty="0"/>
                  <a:t> 100% </a:t>
                </a:r>
                <a:r>
                  <a:rPr lang="de-DE" dirty="0" err="1"/>
                  <a:t>over</a:t>
                </a:r>
                <a:r>
                  <a:rPr lang="de-DE" dirty="0"/>
                  <a:t> a </a:t>
                </a:r>
                <a:r>
                  <a:rPr lang="de-DE" dirty="0" err="1"/>
                  <a:t>narrower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r>
                  <a:rPr lang="de-DE" dirty="0"/>
                  <a:t> </a:t>
                </a:r>
                <a:r>
                  <a:rPr lang="de-DE" dirty="0" err="1"/>
                  <a:t>range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Common </a:t>
                </a:r>
                <a:r>
                  <a:rPr lang="de-DE" dirty="0" err="1"/>
                  <a:t>industrial</a:t>
                </a:r>
                <a:r>
                  <a:rPr lang="de-DE" dirty="0"/>
                  <a:t> </a:t>
                </a:r>
                <a:r>
                  <a:rPr lang="de-DE" dirty="0" err="1"/>
                  <a:t>specification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435EB3A-7D49-6783-24D3-317BE17EF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FC52D2-911D-C47E-BCBF-C746469C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717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Macintosh PowerPoint</Application>
  <PresentationFormat>Breitbild</PresentationFormat>
  <Paragraphs>196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Office Theme</vt:lpstr>
      <vt:lpstr>Continuous-time Controllers</vt:lpstr>
      <vt:lpstr>Course Schedule</vt:lpstr>
      <vt:lpstr>Continuous-time Controllers</vt:lpstr>
      <vt:lpstr>Control</vt:lpstr>
      <vt:lpstr>Control Objectives</vt:lpstr>
      <vt:lpstr>Control Loop</vt:lpstr>
      <vt:lpstr>What Is a Controller?</vt:lpstr>
      <vt:lpstr>Example: Temperature Control</vt:lpstr>
      <vt:lpstr>On-Off Controller</vt:lpstr>
      <vt:lpstr>On-Off Controller with Hysteresis</vt:lpstr>
      <vt:lpstr>PID Controllers</vt:lpstr>
      <vt:lpstr>Proportional Control (P)</vt:lpstr>
      <vt:lpstr>Effect of Proportional Gain Parameter</vt:lpstr>
      <vt:lpstr>Historical: Centrifugal Governor in a Windmill</vt:lpstr>
      <vt:lpstr>Integral Control (I)</vt:lpstr>
      <vt:lpstr>Derivative Control (D)</vt:lpstr>
      <vt:lpstr>PID Controller</vt:lpstr>
      <vt:lpstr>Time-Domain Performance Trade-Offs</vt:lpstr>
      <vt:lpstr>PowerPoint-Präsentation</vt:lpstr>
      <vt:lpstr>Nonlinear Systems</vt:lpstr>
      <vt:lpstr>Working Point and Linearization</vt:lpstr>
      <vt:lpstr>Proportional Band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119</cp:revision>
  <dcterms:created xsi:type="dcterms:W3CDTF">2025-01-08T09:27:30Z</dcterms:created>
  <dcterms:modified xsi:type="dcterms:W3CDTF">2026-04-14T09:10:19Z</dcterms:modified>
</cp:coreProperties>
</file>
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7"/>
  </p:notesMasterIdLst>
  <p:sldIdLst>
    <p:sldId id="256" r:id="rId2"/>
    <p:sldId id="265" r:id="rId3"/>
    <p:sldId id="266" r:id="rId4"/>
    <p:sldId id="282" r:id="rId5"/>
    <p:sldId id="268" r:id="rId6"/>
    <p:sldId id="267" r:id="rId7"/>
    <p:sldId id="283" r:id="rId8"/>
    <p:sldId id="272" r:id="rId9"/>
    <p:sldId id="269" r:id="rId10"/>
    <p:sldId id="270" r:id="rId11"/>
    <p:sldId id="271" r:id="rId12"/>
    <p:sldId id="285" r:id="rId13"/>
    <p:sldId id="276" r:id="rId14"/>
    <p:sldId id="273" r:id="rId15"/>
    <p:sldId id="274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677"/>
    <p:restoredTop sz="95028" autoAdjust="0"/>
  </p:normalViewPr>
  <p:slideViewPr>
    <p:cSldViewPr snapToGrid="0">
      <p:cViewPr varScale="1">
        <p:scale>
          <a:sx n="144" d="100"/>
          <a:sy n="144" d="100"/>
        </p:scale>
        <p:origin x="1104" y="20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03/02/2026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03/02/2026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03/02/2026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03/02/2026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03/02/2026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03/02/2026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03/02/2026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03/02/2026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03/02/2026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03/02/2026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03/02/2026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03/02/2026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Control </a:t>
            </a:r>
            <a:r>
              <a:rPr lang="de-DE" dirty="0" err="1"/>
              <a:t>objectives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PID </a:t>
            </a:r>
            <a:r>
              <a:rPr lang="de-DE" dirty="0" err="1"/>
              <a:t>controllers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Working </a:t>
            </a:r>
            <a:r>
              <a:rPr lang="de-DE" dirty="0" err="1"/>
              <a:t>point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Proportional band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fik 11">
            <a:extLst>
              <a:ext uri="{FF2B5EF4-FFF2-40B4-BE49-F238E27FC236}">
                <a16:creationId xmlns:a16="http://schemas.microsoft.com/office/drawing/2014/main" id="{F8B7209A-181B-0095-DF45-6FE349E76F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903" y="151195"/>
            <a:ext cx="3789607" cy="2842205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4BFBA6B1-F917-A121-E6CD-13D0D6BB9D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3263" y="3601056"/>
            <a:ext cx="3805710" cy="288731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BE7DC4EF-509C-7CF3-A7B9-B9C840082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Control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4FF09F3-8CA3-C966-40CD-597262CCAC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7121704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Models (differential </a:t>
                </a:r>
                <a:r>
                  <a:rPr lang="de-DE" sz="2400" dirty="0" err="1"/>
                  <a:t>equations</a:t>
                </a:r>
                <a:r>
                  <a:rPr lang="de-DE" sz="2400" dirty="0"/>
                  <a:t>)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dynamic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systems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allow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calculate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effect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inputs</a:t>
                </a:r>
                <a:r>
                  <a:rPr lang="de-DE" sz="2400" dirty="0"/>
                  <a:t> on </a:t>
                </a:r>
                <a:r>
                  <a:rPr lang="de-DE" sz="2400" dirty="0" err="1"/>
                  <a:t>outputs</a:t>
                </a: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Idea </a:t>
                </a:r>
                <a:r>
                  <a:rPr lang="de-DE" sz="2400" dirty="0" err="1">
                    <a:sym typeface="Wingdings" pitchFamily="2" charset="2"/>
                  </a:rPr>
                  <a:t>of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control</a:t>
                </a:r>
                <a:r>
                  <a:rPr lang="de-DE" sz="2400" dirty="0">
                    <a:sym typeface="Wingdings" pitchFamily="2" charset="2"/>
                  </a:rPr>
                  <a:t>: </a:t>
                </a:r>
                <a:r>
                  <a:rPr lang="de-DE" sz="2400" dirty="0" err="1">
                    <a:sym typeface="Wingdings" pitchFamily="2" charset="2"/>
                  </a:rPr>
                  <a:t>m</a:t>
                </a:r>
                <a:r>
                  <a:rPr lang="de-DE" sz="2400" dirty="0" err="1"/>
                  <a:t>odify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input</a:t>
                </a:r>
                <a:r>
                  <a:rPr lang="de-DE" sz="2400" dirty="0"/>
                  <a:t> in </a:t>
                </a:r>
                <a:r>
                  <a:rPr lang="de-DE" sz="2400" dirty="0" err="1"/>
                  <a:t>order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obtain</a:t>
                </a:r>
                <a:r>
                  <a:rPr lang="de-DE" sz="2400" dirty="0"/>
                  <a:t> a </a:t>
                </a:r>
                <a:r>
                  <a:rPr lang="de-DE" sz="2400" dirty="0" err="1"/>
                  <a:t>desired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output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Example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adjust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step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input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reach</a:t>
                </a:r>
                <a:r>
                  <a:rPr lang="de-DE" sz="2400" dirty="0"/>
                  <a:t> a </a:t>
                </a:r>
                <a:r>
                  <a:rPr lang="de-DE" sz="2400" dirty="0" err="1"/>
                  <a:t>desired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steady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state</a:t>
                </a:r>
                <a:r>
                  <a:rPr lang="de-DE" sz="2400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(∞)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den>
                    </m:f>
                  </m:oMath>
                </a14:m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r>
                  <a:rPr lang="de-DE" sz="2400" dirty="0"/>
                  <a:t>Problems: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may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too</a:t>
                </a:r>
                <a:r>
                  <a:rPr lang="de-DE" sz="2400" dirty="0"/>
                  <a:t> slow, </a:t>
                </a:r>
                <a:r>
                  <a:rPr lang="de-DE" sz="2400" dirty="0" err="1"/>
                  <a:t>disturbances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degrade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performance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4FF09F3-8CA3-C966-40CD-597262CCAC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7121704" cy="4351338"/>
              </a:xfrm>
              <a:blipFill>
                <a:blip r:embed="rId4"/>
                <a:stretch>
                  <a:fillRect l="-1426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ECD5689-342F-5AD8-19BC-8BA08422D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4A434B01-503E-BD37-D8FA-79687F797EC2}"/>
              </a:ext>
            </a:extLst>
          </p:cNvPr>
          <p:cNvSpPr txBox="1"/>
          <p:nvPr/>
        </p:nvSpPr>
        <p:spPr>
          <a:xfrm>
            <a:off x="5640309" y="2974063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de-DE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0FFD4167-071D-BF2B-8D1F-58FDC720DB33}"/>
              </a:ext>
            </a:extLst>
          </p:cNvPr>
          <p:cNvSpPr txBox="1"/>
          <p:nvPr/>
        </p:nvSpPr>
        <p:spPr>
          <a:xfrm>
            <a:off x="9991253" y="1078776"/>
            <a:ext cx="13106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PT1 </a:t>
            </a:r>
            <a:r>
              <a:rPr lang="de-DE" dirty="0" err="1"/>
              <a:t>system</a:t>
            </a:r>
            <a:endParaRPr lang="de-DE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CF285684-4910-B4B8-7E1D-C72E567317A1}"/>
              </a:ext>
            </a:extLst>
          </p:cNvPr>
          <p:cNvSpPr txBox="1"/>
          <p:nvPr/>
        </p:nvSpPr>
        <p:spPr>
          <a:xfrm>
            <a:off x="10010286" y="5105675"/>
            <a:ext cx="13106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PT2 </a:t>
            </a:r>
            <a:r>
              <a:rPr lang="de-DE" dirty="0" err="1"/>
              <a:t>system</a:t>
            </a:r>
            <a:endParaRPr lang="de-DE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90159FD4-0BE6-7B61-4EA4-13135A140089}"/>
              </a:ext>
            </a:extLst>
          </p:cNvPr>
          <p:cNvSpPr txBox="1"/>
          <p:nvPr/>
        </p:nvSpPr>
        <p:spPr>
          <a:xfrm>
            <a:off x="9148255" y="3112562"/>
            <a:ext cx="17240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562259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FEF9A5-1485-3DAA-8322-154CBC074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Control </a:t>
            </a:r>
            <a:r>
              <a:rPr lang="de-DE" dirty="0" err="1"/>
              <a:t>Objectives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E43CBB5-F3B0-0159-EB30-E109362D9F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976672" cy="4351338"/>
          </a:xfrm>
        </p:spPr>
        <p:txBody>
          <a:bodyPr>
            <a:normAutofit fontScale="92500" lnSpcReduction="10000"/>
          </a:bodyPr>
          <a:lstStyle/>
          <a:p>
            <a:r>
              <a:rPr lang="de-DE" dirty="0" err="1"/>
              <a:t>Stability</a:t>
            </a:r>
            <a:r>
              <a:rPr lang="de-DE" dirty="0">
                <a:sym typeface="Wingdings" pitchFamily="2" charset="2"/>
              </a:rPr>
              <a:t> (</a:t>
            </a:r>
            <a:r>
              <a:rPr lang="de-DE" dirty="0" err="1"/>
              <a:t>bounded</a:t>
            </a:r>
            <a:r>
              <a:rPr lang="de-DE" dirty="0"/>
              <a:t> </a:t>
            </a:r>
            <a:r>
              <a:rPr lang="de-DE" dirty="0" err="1"/>
              <a:t>output</a:t>
            </a:r>
            <a:r>
              <a:rPr lang="de-DE" dirty="0">
                <a:sym typeface="Wingdings" pitchFamily="2" charset="2"/>
              </a:rPr>
              <a:t>)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Fast </a:t>
            </a:r>
            <a:r>
              <a:rPr lang="de-DE" dirty="0" err="1"/>
              <a:t>response</a:t>
            </a:r>
            <a:r>
              <a:rPr lang="de-DE" dirty="0"/>
              <a:t>: </a:t>
            </a:r>
            <a:r>
              <a:rPr lang="de-DE" dirty="0" err="1"/>
              <a:t>rise</a:t>
            </a:r>
            <a:r>
              <a:rPr lang="de-DE" dirty="0"/>
              <a:t> and </a:t>
            </a:r>
            <a:r>
              <a:rPr lang="de-DE" dirty="0" err="1"/>
              <a:t>settling</a:t>
            </a:r>
            <a:r>
              <a:rPr lang="de-DE" dirty="0"/>
              <a:t> time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Low </a:t>
            </a:r>
            <a:r>
              <a:rPr lang="de-DE" dirty="0" err="1"/>
              <a:t>overshoot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Small </a:t>
            </a:r>
            <a:r>
              <a:rPr lang="de-DE" dirty="0" err="1"/>
              <a:t>steady-state</a:t>
            </a:r>
            <a:r>
              <a:rPr lang="de-DE" dirty="0"/>
              <a:t> </a:t>
            </a:r>
            <a:r>
              <a:rPr lang="de-DE" dirty="0" err="1"/>
              <a:t>error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Robustness</a:t>
            </a:r>
            <a:r>
              <a:rPr lang="de-DE" dirty="0"/>
              <a:t> (</a:t>
            </a:r>
            <a:r>
              <a:rPr lang="de-DE" dirty="0" err="1"/>
              <a:t>insensitivity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uncertainty</a:t>
            </a:r>
            <a:r>
              <a:rPr lang="de-DE" dirty="0"/>
              <a:t> and </a:t>
            </a:r>
            <a:r>
              <a:rPr lang="de-DE" dirty="0" err="1"/>
              <a:t>disturbances</a:t>
            </a:r>
            <a:r>
              <a:rPr lang="de-DE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758A0C1-553D-32D6-FF6F-28C2DF74A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  <p:pic>
        <p:nvPicPr>
          <p:cNvPr id="6" name="Grafik 5" descr="Ein Bild, das Diagramm, Reihe, parallel, technische Zeichnung enthält.&#10;&#10;KI-generierte Inhalte können fehlerhaft sein.">
            <a:extLst>
              <a:ext uri="{FF2B5EF4-FFF2-40B4-BE49-F238E27FC236}">
                <a16:creationId xmlns:a16="http://schemas.microsoft.com/office/drawing/2014/main" id="{8817D4D8-D4AC-B5FB-B316-D1B487CC7B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4873" y="188833"/>
            <a:ext cx="4104661" cy="3273584"/>
          </a:xfrm>
          <a:prstGeom prst="rect">
            <a:avLst/>
          </a:prstGeom>
        </p:spPr>
      </p:pic>
      <p:pic>
        <p:nvPicPr>
          <p:cNvPr id="8" name="Grafik 7" descr="Ein Bild, das Diagramm, Entwurf, Reihe, Zeichnung enthält.&#10;&#10;KI-generierte Inhalte können fehlerhaft sein.">
            <a:extLst>
              <a:ext uri="{FF2B5EF4-FFF2-40B4-BE49-F238E27FC236}">
                <a16:creationId xmlns:a16="http://schemas.microsoft.com/office/drawing/2014/main" id="{BB0F7AB4-9953-B7DF-75B6-EE9C396F6A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4873" y="3759562"/>
            <a:ext cx="4104661" cy="3084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67872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23F54F-3729-3D0D-1F48-430A6D9E47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Control Loop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09C90E4-2142-1ED9-9BE2-999CC2EFA3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1325563"/>
          </a:xfrm>
        </p:spPr>
        <p:txBody>
          <a:bodyPr>
            <a:normAutofit fontScale="92500"/>
          </a:bodyPr>
          <a:lstStyle/>
          <a:p>
            <a:r>
              <a:rPr lang="de-DE" dirty="0"/>
              <a:t>Feedback: </a:t>
            </a:r>
            <a:r>
              <a:rPr lang="de-DE" dirty="0" err="1"/>
              <a:t>measure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output</a:t>
            </a:r>
            <a:r>
              <a:rPr lang="de-DE" dirty="0"/>
              <a:t>, </a:t>
            </a:r>
            <a:r>
              <a:rPr lang="de-DE" dirty="0" err="1"/>
              <a:t>compare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desired</a:t>
            </a:r>
            <a:r>
              <a:rPr lang="de-DE" dirty="0"/>
              <a:t> </a:t>
            </a:r>
            <a:r>
              <a:rPr lang="de-DE" dirty="0" err="1"/>
              <a:t>behavior</a:t>
            </a:r>
            <a:r>
              <a:rPr lang="de-DE" dirty="0"/>
              <a:t> (e.g., </a:t>
            </a:r>
            <a:r>
              <a:rPr lang="de-DE" dirty="0" err="1"/>
              <a:t>steady</a:t>
            </a:r>
            <a:r>
              <a:rPr lang="de-DE" dirty="0"/>
              <a:t> </a:t>
            </a:r>
            <a:r>
              <a:rPr lang="de-DE" dirty="0" err="1"/>
              <a:t>state</a:t>
            </a:r>
            <a:r>
              <a:rPr lang="de-DE" dirty="0"/>
              <a:t>), and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resulting</a:t>
            </a:r>
            <a:r>
              <a:rPr lang="de-DE" dirty="0"/>
              <a:t> </a:t>
            </a:r>
            <a:r>
              <a:rPr lang="de-DE" dirty="0" err="1"/>
              <a:t>error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a </a:t>
            </a:r>
            <a:r>
              <a:rPr lang="de-DE" dirty="0" err="1"/>
              <a:t>controller</a:t>
            </a:r>
            <a:endParaRPr lang="de-DE" dirty="0"/>
          </a:p>
          <a:p>
            <a:r>
              <a:rPr lang="de-DE" dirty="0"/>
              <a:t>Goal: </a:t>
            </a:r>
            <a:r>
              <a:rPr lang="de-DE" dirty="0" err="1"/>
              <a:t>reduce</a:t>
            </a:r>
            <a:r>
              <a:rPr lang="de-DE" dirty="0"/>
              <a:t> </a:t>
            </a:r>
            <a:r>
              <a:rPr lang="de-DE" dirty="0" err="1"/>
              <a:t>error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CF17444-670B-8FFE-12D9-5A350CF7F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  <p:pic>
        <p:nvPicPr>
          <p:cNvPr id="5" name="Picture 2" descr="undefined">
            <a:extLst>
              <a:ext uri="{FF2B5EF4-FFF2-40B4-BE49-F238E27FC236}">
                <a16:creationId xmlns:a16="http://schemas.microsoft.com/office/drawing/2014/main" id="{19306B5E-C8A9-C750-E128-3119FA7B11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3385988"/>
            <a:ext cx="10742861" cy="3085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637636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002DB-1554-E656-E3CC-1996B8139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07049A-A085-B7F5-BD93-C99817A91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a Controller?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0947DE6-7563-DCFE-4E67-CC06887E3C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2000" dirty="0"/>
              <a:t>System </a:t>
            </a:r>
            <a:r>
              <a:rPr lang="de-DE" sz="2000" dirty="0" err="1"/>
              <a:t>itself</a:t>
            </a:r>
            <a:r>
              <a:rPr lang="de-DE" sz="2000" dirty="0"/>
              <a:t> (</a:t>
            </a:r>
            <a:r>
              <a:rPr lang="de-DE" sz="2000" dirty="0" err="1"/>
              <a:t>subsystem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total </a:t>
            </a:r>
            <a:r>
              <a:rPr lang="de-DE" sz="2000" dirty="0" err="1"/>
              <a:t>control</a:t>
            </a:r>
            <a:r>
              <a:rPr lang="de-DE" sz="2000" dirty="0"/>
              <a:t> </a:t>
            </a:r>
            <a:r>
              <a:rPr lang="de-DE" sz="2000" dirty="0" err="1"/>
              <a:t>system</a:t>
            </a:r>
            <a:r>
              <a:rPr lang="de-DE" sz="2000" dirty="0"/>
              <a:t>), </a:t>
            </a:r>
            <a:r>
              <a:rPr lang="de-DE" sz="2000" dirty="0" err="1"/>
              <a:t>implemented</a:t>
            </a:r>
            <a:r>
              <a:rPr lang="de-DE" sz="2000" dirty="0"/>
              <a:t> in </a:t>
            </a:r>
            <a:r>
              <a:rPr lang="de-DE" sz="2000" dirty="0" err="1"/>
              <a:t>hardware</a:t>
            </a:r>
            <a:r>
              <a:rPr lang="de-DE" sz="2000" dirty="0"/>
              <a:t> </a:t>
            </a:r>
            <a:r>
              <a:rPr lang="de-DE" sz="2000" dirty="0" err="1"/>
              <a:t>or</a:t>
            </a:r>
            <a:r>
              <a:rPr lang="de-DE" sz="2000" dirty="0"/>
              <a:t> </a:t>
            </a:r>
            <a:r>
              <a:rPr lang="de-DE" sz="2000" dirty="0" err="1"/>
              <a:t>software</a:t>
            </a:r>
            <a:endParaRPr lang="de-DE" sz="2000" dirty="0"/>
          </a:p>
          <a:p>
            <a:r>
              <a:rPr lang="de-DE" sz="2000" dirty="0"/>
              <a:t>Input: </a:t>
            </a:r>
            <a:r>
              <a:rPr lang="de-DE" sz="2000" dirty="0" err="1"/>
              <a:t>measured</a:t>
            </a:r>
            <a:r>
              <a:rPr lang="de-DE" sz="2000" dirty="0"/>
              <a:t> </a:t>
            </a:r>
            <a:r>
              <a:rPr lang="de-DE" sz="2000" dirty="0" err="1"/>
              <a:t>error</a:t>
            </a:r>
            <a:endParaRPr lang="de-DE" sz="2000" dirty="0"/>
          </a:p>
          <a:p>
            <a:r>
              <a:rPr lang="de-DE" sz="2000" dirty="0"/>
              <a:t>Output: </a:t>
            </a:r>
            <a:r>
              <a:rPr lang="de-DE" sz="2000" dirty="0" err="1"/>
              <a:t>process</a:t>
            </a:r>
            <a:r>
              <a:rPr lang="de-DE" sz="2000" dirty="0"/>
              <a:t> </a:t>
            </a:r>
            <a:r>
              <a:rPr lang="de-DE" sz="2000" dirty="0" err="1"/>
              <a:t>input</a:t>
            </a:r>
            <a:r>
              <a:rPr lang="de-DE" sz="2000" dirty="0"/>
              <a:t> (</a:t>
            </a:r>
            <a:r>
              <a:rPr lang="de-DE" sz="2000" dirty="0" err="1"/>
              <a:t>low-energy</a:t>
            </a:r>
            <a:r>
              <a:rPr lang="de-DE" sz="2000" dirty="0"/>
              <a:t> </a:t>
            </a:r>
            <a:r>
              <a:rPr lang="de-DE" sz="2000" dirty="0" err="1"/>
              <a:t>control</a:t>
            </a:r>
            <a:r>
              <a:rPr lang="de-DE" sz="2000" dirty="0"/>
              <a:t> </a:t>
            </a:r>
            <a:r>
              <a:rPr lang="de-DE" sz="2000" dirty="0" err="1"/>
              <a:t>signal</a:t>
            </a:r>
            <a:r>
              <a:rPr lang="de-DE" sz="2000" dirty="0"/>
              <a:t> </a:t>
            </a:r>
            <a:r>
              <a:rPr lang="de-DE" sz="2000" dirty="0" err="1"/>
              <a:t>converted</a:t>
            </a:r>
            <a:r>
              <a:rPr lang="de-DE" sz="2000" dirty="0"/>
              <a:t> </a:t>
            </a:r>
            <a:r>
              <a:rPr lang="de-DE" sz="2000" dirty="0" err="1"/>
              <a:t>into</a:t>
            </a:r>
            <a:r>
              <a:rPr lang="de-DE" sz="2000" dirty="0"/>
              <a:t> </a:t>
            </a:r>
            <a:r>
              <a:rPr lang="de-DE" sz="2000" dirty="0" err="1"/>
              <a:t>physical</a:t>
            </a:r>
            <a:r>
              <a:rPr lang="de-DE" sz="2000" dirty="0"/>
              <a:t> </a:t>
            </a:r>
            <a:r>
              <a:rPr lang="de-DE" sz="2000" dirty="0" err="1"/>
              <a:t>action</a:t>
            </a:r>
            <a:r>
              <a:rPr lang="de-DE" sz="2000" dirty="0"/>
              <a:t> </a:t>
            </a:r>
            <a:r>
              <a:rPr lang="de-DE" sz="2000" dirty="0" err="1"/>
              <a:t>by</a:t>
            </a:r>
            <a:r>
              <a:rPr lang="de-DE" sz="2000" dirty="0"/>
              <a:t> </a:t>
            </a:r>
            <a:r>
              <a:rPr lang="de-DE" sz="2000" dirty="0" err="1"/>
              <a:t>actuator</a:t>
            </a:r>
            <a:r>
              <a:rPr lang="de-DE" sz="2000" dirty="0"/>
              <a:t>)</a:t>
            </a:r>
          </a:p>
          <a:p>
            <a:pPr marL="0" indent="0">
              <a:buNone/>
            </a:pPr>
            <a:endParaRPr lang="de-DE" sz="2000" b="1" dirty="0"/>
          </a:p>
          <a:p>
            <a:pPr marL="0" indent="0">
              <a:buNone/>
            </a:pPr>
            <a:r>
              <a:rPr lang="de-DE" sz="2000" dirty="0"/>
              <a:t>Hardware </a:t>
            </a:r>
            <a:r>
              <a:rPr lang="de-DE" sz="2000" dirty="0" err="1"/>
              <a:t>controllers</a:t>
            </a:r>
            <a:endParaRPr lang="de-DE" sz="2000" dirty="0"/>
          </a:p>
          <a:p>
            <a:r>
              <a:rPr lang="de-DE" sz="2000" dirty="0"/>
              <a:t>Fast, </a:t>
            </a:r>
            <a:r>
              <a:rPr lang="de-DE" sz="2000" dirty="0" err="1"/>
              <a:t>deterministic</a:t>
            </a:r>
            <a:r>
              <a:rPr lang="de-DE" sz="2000" dirty="0"/>
              <a:t>, limited </a:t>
            </a:r>
            <a:r>
              <a:rPr lang="de-DE" sz="2000" dirty="0" err="1"/>
              <a:t>flexibility</a:t>
            </a:r>
            <a:endParaRPr lang="de-DE" sz="2000" dirty="0"/>
          </a:p>
          <a:p>
            <a:r>
              <a:rPr lang="de-DE" sz="2000" dirty="0" err="1"/>
              <a:t>Examples</a:t>
            </a:r>
            <a:r>
              <a:rPr lang="de-DE" sz="2000" dirty="0"/>
              <a:t>: </a:t>
            </a:r>
            <a:r>
              <a:rPr lang="de-DE" sz="2000" dirty="0" err="1"/>
              <a:t>mechanical</a:t>
            </a:r>
            <a:r>
              <a:rPr lang="de-DE" sz="2000" dirty="0"/>
              <a:t>, analog electronic </a:t>
            </a:r>
            <a:r>
              <a:rPr lang="de-DE" sz="2000" dirty="0" err="1"/>
              <a:t>controllers</a:t>
            </a:r>
            <a:r>
              <a:rPr lang="de-DE" sz="2000" dirty="0"/>
              <a:t> </a:t>
            </a:r>
            <a:r>
              <a:rPr lang="de-DE" sz="2000" dirty="0" err="1"/>
              <a:t>using</a:t>
            </a:r>
            <a:r>
              <a:rPr lang="de-DE" sz="2000" dirty="0"/>
              <a:t> </a:t>
            </a:r>
            <a:r>
              <a:rPr lang="de-DE" sz="2000" dirty="0" err="1"/>
              <a:t>op-amps</a:t>
            </a:r>
            <a:r>
              <a:rPr lang="de-DE" sz="2000" dirty="0"/>
              <a:t>, FPGA-</a:t>
            </a:r>
            <a:r>
              <a:rPr lang="de-DE" sz="2000" dirty="0" err="1"/>
              <a:t>based</a:t>
            </a:r>
            <a:r>
              <a:rPr lang="de-DE" sz="2000" dirty="0"/>
              <a:t> (digital)</a:t>
            </a:r>
            <a:endParaRPr lang="de-DE" sz="2000" b="1" dirty="0"/>
          </a:p>
          <a:p>
            <a:pPr marL="0" indent="0">
              <a:buNone/>
            </a:pPr>
            <a:endParaRPr lang="de-DE" sz="2000" dirty="0"/>
          </a:p>
          <a:p>
            <a:pPr marL="0" indent="0">
              <a:buNone/>
            </a:pPr>
            <a:r>
              <a:rPr lang="de-DE" sz="2000" dirty="0"/>
              <a:t>Software </a:t>
            </a:r>
            <a:r>
              <a:rPr lang="de-DE" sz="2000" dirty="0" err="1"/>
              <a:t>controllers</a:t>
            </a:r>
            <a:r>
              <a:rPr lang="de-DE" sz="2000" dirty="0"/>
              <a:t> (</a:t>
            </a:r>
            <a:r>
              <a:rPr lang="de-DE" sz="2000" dirty="0" err="1"/>
              <a:t>use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analog </a:t>
            </a:r>
            <a:r>
              <a:rPr lang="de-DE" sz="2000" dirty="0" err="1"/>
              <a:t>actuators</a:t>
            </a:r>
            <a:r>
              <a:rPr lang="de-DE" sz="2000" dirty="0"/>
              <a:t> via a digital-</a:t>
            </a:r>
            <a:r>
              <a:rPr lang="de-DE" sz="2000" dirty="0" err="1"/>
              <a:t>to</a:t>
            </a:r>
            <a:r>
              <a:rPr lang="de-DE" sz="2000" dirty="0"/>
              <a:t>-analog </a:t>
            </a:r>
            <a:r>
              <a:rPr lang="de-DE" sz="2000" dirty="0" err="1"/>
              <a:t>converter</a:t>
            </a:r>
            <a:r>
              <a:rPr lang="de-DE" sz="2000" dirty="0"/>
              <a:t>)</a:t>
            </a:r>
          </a:p>
          <a:p>
            <a:r>
              <a:rPr lang="de-DE" sz="2000" dirty="0"/>
              <a:t>Flexible, </a:t>
            </a:r>
            <a:r>
              <a:rPr lang="de-DE" sz="2000" dirty="0" err="1"/>
              <a:t>complex</a:t>
            </a:r>
            <a:r>
              <a:rPr lang="de-DE" sz="2000" dirty="0"/>
              <a:t> </a:t>
            </a:r>
            <a:r>
              <a:rPr lang="de-DE" sz="2000" dirty="0" err="1"/>
              <a:t>algorithms</a:t>
            </a:r>
            <a:r>
              <a:rPr lang="de-DE" sz="2000" dirty="0"/>
              <a:t>, </a:t>
            </a:r>
            <a:r>
              <a:rPr lang="de-DE" sz="2000" dirty="0" err="1"/>
              <a:t>sampling</a:t>
            </a:r>
            <a:r>
              <a:rPr lang="de-DE" sz="2000" dirty="0"/>
              <a:t> </a:t>
            </a:r>
            <a:r>
              <a:rPr lang="de-DE" sz="2000" dirty="0" err="1"/>
              <a:t>delays</a:t>
            </a:r>
            <a:r>
              <a:rPr lang="de-DE" sz="2000" dirty="0"/>
              <a:t> (</a:t>
            </a:r>
            <a:r>
              <a:rPr lang="de-DE" sz="2000" dirty="0" err="1"/>
              <a:t>dead</a:t>
            </a:r>
            <a:r>
              <a:rPr lang="de-DE" sz="2000" dirty="0"/>
              <a:t> time)</a:t>
            </a:r>
          </a:p>
          <a:p>
            <a:r>
              <a:rPr lang="de-DE" sz="2000" dirty="0" err="1"/>
              <a:t>Examples</a:t>
            </a:r>
            <a:r>
              <a:rPr lang="de-DE" sz="2000" dirty="0"/>
              <a:t>: Microcontroller-</a:t>
            </a:r>
            <a:r>
              <a:rPr lang="de-DE" sz="2000" dirty="0" err="1"/>
              <a:t>based</a:t>
            </a:r>
            <a:r>
              <a:rPr lang="de-DE" sz="2000" dirty="0"/>
              <a:t>, PLCs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FFBEE3-1A76-FD21-2638-E658AC571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09800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F03D0A-5C22-DF53-4CC1-C4886C94B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PID Controllers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5BB54D3-00B3-CCC2-7A2D-10E53ED87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197052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/>
              <a:t>Most </a:t>
            </a:r>
            <a:r>
              <a:rPr lang="de-DE" dirty="0" err="1"/>
              <a:t>widely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industrial</a:t>
            </a:r>
            <a:r>
              <a:rPr lang="de-DE" dirty="0"/>
              <a:t> </a:t>
            </a:r>
            <a:r>
              <a:rPr lang="de-DE" dirty="0" err="1"/>
              <a:t>controller</a:t>
            </a:r>
            <a:endParaRPr lang="de-DE" dirty="0"/>
          </a:p>
          <a:p>
            <a:pPr lvl="1"/>
            <a:r>
              <a:rPr lang="de-DE" dirty="0"/>
              <a:t>P</a:t>
            </a:r>
          </a:p>
          <a:p>
            <a:pPr lvl="1"/>
            <a:r>
              <a:rPr lang="de-DE" dirty="0"/>
              <a:t>PI: P + I</a:t>
            </a:r>
          </a:p>
          <a:p>
            <a:pPr lvl="1"/>
            <a:r>
              <a:rPr lang="de-DE" dirty="0"/>
              <a:t>PD: P + D</a:t>
            </a:r>
          </a:p>
          <a:p>
            <a:pPr lvl="1"/>
            <a:r>
              <a:rPr lang="de-DE" dirty="0"/>
              <a:t>PID: P + I + D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AE53BB8-9583-3CA6-BA40-677E542DD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4C0798CB-DBAD-4593-F490-F4A1AF6CD7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6068" y="3414453"/>
            <a:ext cx="9299864" cy="33070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180373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143404-24F2-9A05-A838-DA664C42F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Proportional Control (P)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6BACF97-F93A-1C13-3B25-2B3FA1DBF6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340658" cy="4351338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Control </a:t>
                </a:r>
                <a:r>
                  <a:rPr lang="de-DE" sz="2400" dirty="0" err="1"/>
                  <a:t>input</a:t>
                </a:r>
                <a:r>
                  <a:rPr lang="de-DE" sz="2400" dirty="0"/>
                  <a:t> proportional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error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s</a:t>
                </a:r>
                <a:r>
                  <a:rPr lang="de-DE" sz="2400" dirty="0" err="1">
                    <a:sym typeface="Wingdings" pitchFamily="2" charset="2"/>
                  </a:rPr>
                  <a:t>tatic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system</a:t>
                </a:r>
                <a:r>
                  <a:rPr lang="de-DE" sz="2400" dirty="0"/>
                  <a:t>):</a:t>
                </a:r>
              </a:p>
              <a:p>
                <a:pPr marL="0" indent="0">
                  <a:buNone/>
                </a:pP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𝑒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r>
                  <a:rPr lang="de-DE" sz="2400" dirty="0" err="1"/>
                  <a:t>Increases</a:t>
                </a:r>
                <a:r>
                  <a:rPr lang="de-DE" sz="2400" dirty="0"/>
                  <a:t> loop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faster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response</a:t>
                </a:r>
                <a:endParaRPr lang="de-DE" sz="2400" dirty="0">
                  <a:sym typeface="Wingdings" pitchFamily="2" charset="2"/>
                </a:endParaRPr>
              </a:p>
              <a:p>
                <a:r>
                  <a:rPr lang="de-DE" sz="2400" dirty="0" err="1"/>
                  <a:t>Reduces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damping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more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oscillation</a:t>
                </a:r>
                <a:endParaRPr lang="de-DE" sz="2400" dirty="0"/>
              </a:p>
              <a:p>
                <a:r>
                  <a:rPr lang="de-DE" sz="2400" dirty="0"/>
                  <a:t>Steady-</a:t>
                </a:r>
                <a:r>
                  <a:rPr lang="de-DE" sz="2400" dirty="0" err="1"/>
                  <a:t>state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error</a:t>
                </a:r>
                <a:r>
                  <a:rPr lang="de-DE" sz="2400" dirty="0"/>
                  <a:t> in </a:t>
                </a:r>
                <a:r>
                  <a:rPr lang="de-DE" sz="2400" dirty="0" err="1"/>
                  <a:t>many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systems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𝑒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 ⟹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y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settles</a:t>
                </a:r>
                <a:r>
                  <a:rPr lang="de-DE" sz="2400" dirty="0"/>
                  <a:t> at </a:t>
                </a:r>
                <a:r>
                  <a:rPr lang="de-DE" sz="2400" dirty="0" err="1"/>
                  <a:t>some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error</a:t>
                </a:r>
                <a:r>
                  <a:rPr lang="de-DE" sz="2400" dirty="0"/>
                  <a:t>, just </a:t>
                </a:r>
                <a:r>
                  <a:rPr lang="de-DE" sz="2400" dirty="0" err="1"/>
                  <a:t>big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enough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produce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balancing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dynamics</a:t>
                </a:r>
                <a:r>
                  <a:rPr lang="de-DE" sz="2400" dirty="0"/>
                  <a:t> (e.g., </a:t>
                </a:r>
                <a:r>
                  <a:rPr lang="de-DE" sz="2400" dirty="0" err="1"/>
                  <a:t>holding</a:t>
                </a:r>
                <a:r>
                  <a:rPr lang="de-DE" sz="2400" dirty="0"/>
                  <a:t> a </a:t>
                </a:r>
                <a:r>
                  <a:rPr lang="de-DE" sz="2400" dirty="0" err="1"/>
                  <a:t>mass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up</a:t>
                </a:r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6BACF97-F93A-1C13-3B25-2B3FA1DBF6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340658" cy="4351338"/>
              </a:xfrm>
              <a:blipFill>
                <a:blip r:embed="rId2"/>
                <a:stretch>
                  <a:fillRect l="-1425" t="-1453" b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71ACAD8-8E38-4758-E235-265989259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  <p:pic>
        <p:nvPicPr>
          <p:cNvPr id="7" name="Grafik 6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4A591DAF-5270-3777-A952-5AE7B11627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2019" y="2303201"/>
            <a:ext cx="6169981" cy="3396185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20019603-2FA0-4378-BFE3-018D69ACC0BA}"/>
              </a:ext>
            </a:extLst>
          </p:cNvPr>
          <p:cNvSpPr txBox="1"/>
          <p:nvPr/>
        </p:nvSpPr>
        <p:spPr>
          <a:xfrm>
            <a:off x="7830104" y="4376692"/>
            <a:ext cx="229043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de-DE" dirty="0" err="1"/>
              <a:t>without</a:t>
            </a:r>
            <a:r>
              <a:rPr lang="de-DE" dirty="0"/>
              <a:t> </a:t>
            </a:r>
            <a:r>
              <a:rPr lang="de-DE" dirty="0" err="1"/>
              <a:t>controller</a:t>
            </a:r>
            <a:endParaRPr lang="de-DE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04EEB3A-95AE-A4FA-67B3-DEB07CACC454}"/>
              </a:ext>
            </a:extLst>
          </p:cNvPr>
          <p:cNvSpPr txBox="1"/>
          <p:nvPr/>
        </p:nvSpPr>
        <p:spPr>
          <a:xfrm>
            <a:off x="7691761" y="2481308"/>
            <a:ext cx="229043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de-DE" dirty="0" err="1"/>
              <a:t>with</a:t>
            </a:r>
            <a:r>
              <a:rPr lang="de-DE" dirty="0"/>
              <a:t> P </a:t>
            </a:r>
            <a:r>
              <a:rPr lang="de-DE" dirty="0" err="1"/>
              <a:t>controller</a:t>
            </a:r>
            <a:endParaRPr lang="de-DE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2A4C06A-8003-AC43-81C3-CFEE556CBE66}"/>
              </a:ext>
            </a:extLst>
          </p:cNvPr>
          <p:cNvSpPr txBox="1"/>
          <p:nvPr/>
        </p:nvSpPr>
        <p:spPr>
          <a:xfrm>
            <a:off x="7242603" y="1349839"/>
            <a:ext cx="11750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overshoot</a:t>
            </a:r>
            <a:endParaRPr lang="de-DE" dirty="0"/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AB53C6BE-1647-2FB9-C5DD-1461424BEE03}"/>
              </a:ext>
            </a:extLst>
          </p:cNvPr>
          <p:cNvCxnSpPr>
            <a:stCxn id="10" idx="2"/>
          </p:cNvCxnSpPr>
          <p:nvPr/>
        </p:nvCxnSpPr>
        <p:spPr>
          <a:xfrm flipH="1">
            <a:off x="7332955" y="1719171"/>
            <a:ext cx="497149" cy="9468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65772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Ein Bild, das Text, Diagramm, Reihe, parallel enthält.&#10;&#10;KI-generierte Inhalte können fehlerhaft sein.">
            <a:extLst>
              <a:ext uri="{FF2B5EF4-FFF2-40B4-BE49-F238E27FC236}">
                <a16:creationId xmlns:a16="http://schemas.microsoft.com/office/drawing/2014/main" id="{ECE9B039-04A8-E829-EB2A-53F07F7FA4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127464"/>
            <a:ext cx="6049988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0FB9667-CF16-50CB-8E69-4DB8CD710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Integral Control (I)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2B6263E-20A7-2E59-29DE-D5259EBA0F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DE" dirty="0"/>
              <a:t>Integrator </a:t>
            </a:r>
            <a:r>
              <a:rPr lang="de-DE" dirty="0" err="1"/>
              <a:t>accumulating</a:t>
            </a:r>
            <a:r>
              <a:rPr lang="de-DE" dirty="0"/>
              <a:t> </a:t>
            </a:r>
            <a:r>
              <a:rPr lang="de-DE" dirty="0" err="1"/>
              <a:t>past</a:t>
            </a:r>
            <a:r>
              <a:rPr lang="de-DE" dirty="0"/>
              <a:t> </a:t>
            </a:r>
            <a:r>
              <a:rPr lang="de-DE" dirty="0" err="1"/>
              <a:t>error</a:t>
            </a:r>
            <a:endParaRPr lang="de-DE" dirty="0"/>
          </a:p>
          <a:p>
            <a:endParaRPr lang="de-DE" dirty="0"/>
          </a:p>
          <a:p>
            <a:r>
              <a:rPr lang="de-DE" dirty="0" err="1"/>
              <a:t>Eliminates</a:t>
            </a:r>
            <a:r>
              <a:rPr lang="de-DE" dirty="0"/>
              <a:t> </a:t>
            </a:r>
            <a:r>
              <a:rPr lang="de-DE" dirty="0" err="1"/>
              <a:t>steady-state</a:t>
            </a:r>
            <a:r>
              <a:rPr lang="de-DE" dirty="0"/>
              <a:t> </a:t>
            </a:r>
            <a:r>
              <a:rPr lang="de-DE" dirty="0" err="1"/>
              <a:t>error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inputs</a:t>
            </a:r>
            <a:endParaRPr lang="de-DE" dirty="0"/>
          </a:p>
          <a:p>
            <a:r>
              <a:rPr lang="de-DE" dirty="0" err="1"/>
              <a:t>Slower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  <a:p>
            <a:r>
              <a:rPr lang="de-DE" dirty="0" err="1"/>
              <a:t>Reduces</a:t>
            </a:r>
            <a:r>
              <a:rPr lang="de-DE" dirty="0"/>
              <a:t> </a:t>
            </a:r>
            <a:r>
              <a:rPr lang="de-DE" dirty="0" err="1"/>
              <a:t>damping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oscillation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Order </a:t>
            </a:r>
            <a:r>
              <a:rPr lang="de-DE" dirty="0" err="1"/>
              <a:t>of</a:t>
            </a:r>
            <a:r>
              <a:rPr lang="de-DE" dirty="0"/>
              <a:t> total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increases</a:t>
            </a:r>
            <a:endParaRPr lang="de-DE" dirty="0"/>
          </a:p>
          <a:p>
            <a:r>
              <a:rPr lang="de-DE" dirty="0"/>
              <a:t>PT1 → </a:t>
            </a:r>
            <a:r>
              <a:rPr lang="de-DE" dirty="0" err="1"/>
              <a:t>second</a:t>
            </a:r>
            <a:r>
              <a:rPr lang="de-DE" dirty="0"/>
              <a:t> </a:t>
            </a:r>
            <a:r>
              <a:rPr lang="de-DE" dirty="0" err="1"/>
              <a:t>order</a:t>
            </a:r>
            <a:endParaRPr lang="de-DE" dirty="0"/>
          </a:p>
          <a:p>
            <a:r>
              <a:rPr lang="de-DE" dirty="0"/>
              <a:t>PT2 → </a:t>
            </a:r>
            <a:r>
              <a:rPr lang="de-DE" dirty="0" err="1"/>
              <a:t>third</a:t>
            </a:r>
            <a:r>
              <a:rPr lang="de-DE" dirty="0"/>
              <a:t> </a:t>
            </a:r>
            <a:r>
              <a:rPr lang="de-DE" dirty="0" err="1"/>
              <a:t>order</a:t>
            </a:r>
            <a:endParaRPr lang="de-DE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2678D71-FB80-1D70-380A-3D6FA0B2831E}"/>
              </a:ext>
            </a:extLst>
          </p:cNvPr>
          <p:cNvSpPr/>
          <p:nvPr/>
        </p:nvSpPr>
        <p:spPr>
          <a:xfrm>
            <a:off x="6096000" y="6125592"/>
            <a:ext cx="6049988" cy="18598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97D893B-FC10-112C-E56C-02067DFC9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64930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0390A8-DE49-7EF9-3DE8-8DB638E90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Derivative Control (D)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E6DB09B-8983-50DC-76E3-164BD1118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600" dirty="0"/>
              <a:t>Derivative </a:t>
            </a:r>
            <a:r>
              <a:rPr lang="de-DE" sz="2600" dirty="0" err="1"/>
              <a:t>predicting</a:t>
            </a:r>
            <a:r>
              <a:rPr lang="de-DE" sz="2600" dirty="0"/>
              <a:t> </a:t>
            </a:r>
            <a:r>
              <a:rPr lang="de-DE" sz="2600" dirty="0" err="1"/>
              <a:t>future</a:t>
            </a:r>
            <a:r>
              <a:rPr lang="de-DE" sz="2600" dirty="0"/>
              <a:t> </a:t>
            </a:r>
            <a:r>
              <a:rPr lang="de-DE" sz="2600" dirty="0" err="1"/>
              <a:t>error</a:t>
            </a:r>
            <a:r>
              <a:rPr lang="de-DE" sz="2600" dirty="0"/>
              <a:t> </a:t>
            </a:r>
            <a:r>
              <a:rPr lang="de-DE" sz="2600" dirty="0" err="1"/>
              <a:t>based</a:t>
            </a:r>
            <a:r>
              <a:rPr lang="de-DE" sz="2600" dirty="0"/>
              <a:t> on </a:t>
            </a:r>
            <a:r>
              <a:rPr lang="de-DE" sz="2600" dirty="0" err="1"/>
              <a:t>the</a:t>
            </a:r>
            <a:r>
              <a:rPr lang="de-DE" sz="2600" dirty="0"/>
              <a:t> rate </a:t>
            </a:r>
            <a:r>
              <a:rPr lang="de-DE" sz="2600" dirty="0" err="1"/>
              <a:t>of</a:t>
            </a:r>
            <a:r>
              <a:rPr lang="de-DE" sz="2600" dirty="0"/>
              <a:t> </a:t>
            </a:r>
            <a:r>
              <a:rPr lang="de-DE" sz="2600" dirty="0" err="1"/>
              <a:t>change</a:t>
            </a: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r>
              <a:rPr lang="de-DE" sz="2600" dirty="0" err="1"/>
              <a:t>Predictive</a:t>
            </a:r>
            <a:r>
              <a:rPr lang="de-DE" sz="2600" dirty="0"/>
              <a:t> </a:t>
            </a:r>
            <a:r>
              <a:rPr lang="de-DE" sz="2600" dirty="0" err="1"/>
              <a:t>action</a:t>
            </a:r>
            <a:endParaRPr lang="de-DE" sz="2600" dirty="0"/>
          </a:p>
          <a:p>
            <a:r>
              <a:rPr lang="de-DE" sz="2600" dirty="0" err="1"/>
              <a:t>Increases</a:t>
            </a:r>
            <a:r>
              <a:rPr lang="de-DE" sz="2600" dirty="0"/>
              <a:t> </a:t>
            </a:r>
            <a:r>
              <a:rPr lang="de-DE" sz="2600" dirty="0" err="1"/>
              <a:t>effective</a:t>
            </a:r>
            <a:r>
              <a:rPr lang="de-DE" sz="2600" dirty="0"/>
              <a:t> </a:t>
            </a:r>
            <a:r>
              <a:rPr lang="de-DE" sz="2600" dirty="0" err="1"/>
              <a:t>damping</a:t>
            </a:r>
            <a:r>
              <a:rPr lang="de-DE" sz="2600" dirty="0"/>
              <a:t> (</a:t>
            </a:r>
            <a:r>
              <a:rPr lang="de-DE" sz="2600" dirty="0" err="1"/>
              <a:t>keeps</a:t>
            </a:r>
            <a:r>
              <a:rPr lang="de-DE" sz="2600" dirty="0"/>
              <a:t> </a:t>
            </a:r>
            <a:r>
              <a:rPr lang="de-DE" sz="2600" dirty="0" err="1"/>
              <a:t>system</a:t>
            </a:r>
            <a:r>
              <a:rPr lang="de-DE" sz="2600" dirty="0"/>
              <a:t> </a:t>
            </a:r>
            <a:r>
              <a:rPr lang="de-DE" sz="2600" dirty="0" err="1"/>
              <a:t>near</a:t>
            </a:r>
            <a:r>
              <a:rPr lang="de-DE" sz="2600" dirty="0"/>
              <a:t> </a:t>
            </a:r>
            <a:r>
              <a:rPr lang="de-DE" sz="2600" dirty="0" err="1"/>
              <a:t>critical</a:t>
            </a:r>
            <a:r>
              <a:rPr lang="de-DE" sz="2600" dirty="0"/>
              <a:t> </a:t>
            </a:r>
            <a:r>
              <a:rPr lang="de-DE" sz="2600" dirty="0" err="1"/>
              <a:t>damping</a:t>
            </a:r>
            <a:r>
              <a:rPr lang="de-DE" sz="2600" dirty="0"/>
              <a:t>): </a:t>
            </a:r>
            <a:r>
              <a:rPr lang="de-DE" sz="2600" dirty="0" err="1"/>
              <a:t>less</a:t>
            </a:r>
            <a:r>
              <a:rPr lang="de-DE" sz="2600" dirty="0"/>
              <a:t> </a:t>
            </a:r>
            <a:r>
              <a:rPr lang="de-DE" sz="2600" dirty="0" err="1"/>
              <a:t>overshoot</a:t>
            </a:r>
            <a:r>
              <a:rPr lang="de-DE" sz="2600" dirty="0"/>
              <a:t>, </a:t>
            </a:r>
            <a:r>
              <a:rPr lang="de-DE" sz="2600" dirty="0" err="1"/>
              <a:t>fewer</a:t>
            </a:r>
            <a:r>
              <a:rPr lang="de-DE" sz="2600" dirty="0"/>
              <a:t> </a:t>
            </a:r>
            <a:r>
              <a:rPr lang="de-DE" sz="2600" dirty="0" err="1"/>
              <a:t>oscillations</a:t>
            </a:r>
            <a:r>
              <a:rPr lang="de-DE" sz="2600" dirty="0"/>
              <a:t>)</a:t>
            </a:r>
          </a:p>
          <a:p>
            <a:r>
              <a:rPr lang="de-DE" dirty="0"/>
              <a:t>Derivative </a:t>
            </a:r>
            <a:r>
              <a:rPr lang="de-DE" dirty="0" err="1"/>
              <a:t>action</a:t>
            </a:r>
            <a:r>
              <a:rPr lang="de-DE" dirty="0"/>
              <a:t> </a:t>
            </a:r>
            <a:r>
              <a:rPr lang="de-DE" dirty="0" err="1"/>
              <a:t>amplifies</a:t>
            </a:r>
            <a:r>
              <a:rPr lang="de-DE" dirty="0"/>
              <a:t> high-</a:t>
            </a:r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noise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often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/>
              <a:t>paired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a </a:t>
            </a:r>
            <a:r>
              <a:rPr lang="de-DE" dirty="0" err="1"/>
              <a:t>low</a:t>
            </a:r>
            <a:r>
              <a:rPr lang="de-DE" dirty="0"/>
              <a:t>-pass </a:t>
            </a:r>
            <a:r>
              <a:rPr lang="de-DE" dirty="0" err="1"/>
              <a:t>filter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0613244-15FD-1336-A55D-C0B2593A6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  <p:pic>
        <p:nvPicPr>
          <p:cNvPr id="5" name="Grafik 4" descr="Ein Bild, das Text, Diagramm, Reihe, parallel enthält.&#10;&#10;KI-generierte Inhalte können fehlerhaft sein.">
            <a:extLst>
              <a:ext uri="{FF2B5EF4-FFF2-40B4-BE49-F238E27FC236}">
                <a16:creationId xmlns:a16="http://schemas.microsoft.com/office/drawing/2014/main" id="{02F42BE7-60C5-A1C1-D93E-6E0F56100D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0"/>
            <a:ext cx="604998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75110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 descr="Ein Bild, das Diagramm, Reihe, Entwurf, Zeichnung enthält.&#10;&#10;KI-generierte Inhalte können fehlerhaft sein.">
            <a:extLst>
              <a:ext uri="{FF2B5EF4-FFF2-40B4-BE49-F238E27FC236}">
                <a16:creationId xmlns:a16="http://schemas.microsoft.com/office/drawing/2014/main" id="{F2F668B7-4161-45D1-BE2D-57D332BB11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009" y="0"/>
            <a:ext cx="5953991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93FA3E3-EF02-FB5C-1F73-930D1B5E79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PID Controller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58ABEA1-7F40-E403-1A76-03E106A3AA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399809" cy="4351338"/>
          </a:xfrm>
        </p:spPr>
        <p:txBody>
          <a:bodyPr>
            <a:normAutofit/>
          </a:bodyPr>
          <a:lstStyle/>
          <a:p>
            <a:r>
              <a:rPr lang="de-DE" dirty="0"/>
              <a:t>Simple and intuitive</a:t>
            </a:r>
          </a:p>
          <a:p>
            <a:r>
              <a:rPr lang="de-DE" dirty="0"/>
              <a:t>Works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many</a:t>
            </a:r>
            <a:r>
              <a:rPr lang="de-DE" dirty="0"/>
              <a:t> plants</a:t>
            </a:r>
          </a:p>
          <a:p>
            <a:r>
              <a:rPr lang="de-DE" dirty="0"/>
              <a:t>Easy </a:t>
            </a:r>
            <a:r>
              <a:rPr lang="de-DE" dirty="0" err="1"/>
              <a:t>to</a:t>
            </a:r>
            <a:r>
              <a:rPr lang="de-DE" dirty="0"/>
              <a:t> tune </a:t>
            </a:r>
            <a:r>
              <a:rPr lang="de-DE" dirty="0" err="1"/>
              <a:t>experimentally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/>
              <a:t>~90%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industrial</a:t>
            </a:r>
            <a:r>
              <a:rPr lang="de-DE" dirty="0"/>
              <a:t> </a:t>
            </a:r>
            <a:r>
              <a:rPr lang="de-DE" dirty="0" err="1"/>
              <a:t>controllers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PID </a:t>
            </a:r>
            <a:r>
              <a:rPr lang="de-DE" dirty="0" err="1"/>
              <a:t>variants</a:t>
            </a:r>
            <a:br>
              <a:rPr lang="de-DE" dirty="0"/>
            </a:br>
            <a:endParaRPr lang="de-DE" dirty="0"/>
          </a:p>
          <a:p>
            <a:pPr marL="0" indent="0">
              <a:buNone/>
            </a:pPr>
            <a:r>
              <a:rPr lang="de-DE" dirty="0"/>
              <a:t>P = </a:t>
            </a:r>
            <a:r>
              <a:rPr lang="de-DE" dirty="0" err="1"/>
              <a:t>speed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I = </a:t>
            </a:r>
            <a:r>
              <a:rPr lang="de-DE" dirty="0" err="1"/>
              <a:t>accuracy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D = </a:t>
            </a:r>
            <a:r>
              <a:rPr lang="de-DE" dirty="0" err="1"/>
              <a:t>damping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BA2DDD1-A052-A8FB-92AA-1ECBD86763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44362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601C58-C2B6-496F-B9DD-EE4C9B0B2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Time-Domain Performance Trade-Offs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FF9C35F-BF21-063A-666B-4251A1403F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Faster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stability</a:t>
            </a:r>
            <a:endParaRPr lang="de-DE" dirty="0"/>
          </a:p>
          <a:p>
            <a:r>
              <a:rPr lang="de-DE" dirty="0" err="1"/>
              <a:t>Accuracy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robustness</a:t>
            </a:r>
            <a:endParaRPr lang="de-DE" dirty="0"/>
          </a:p>
          <a:p>
            <a:r>
              <a:rPr lang="de-DE" dirty="0"/>
              <a:t>Noise </a:t>
            </a:r>
            <a:r>
              <a:rPr lang="de-DE" dirty="0" err="1"/>
              <a:t>sensitivity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damping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F197166-B80F-2074-7D72-1C6F5A8C6F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42051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EF8FC0-6E44-CCDF-9E20-7C71F9BF8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Working Point and </a:t>
            </a:r>
            <a:r>
              <a:rPr lang="de-DE" dirty="0" err="1"/>
              <a:t>Linearization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09105FA-9C76-342F-5C77-0F401AEE34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Controllers </a:t>
            </a:r>
            <a:r>
              <a:rPr lang="de-DE" dirty="0" err="1"/>
              <a:t>designed</a:t>
            </a:r>
            <a:r>
              <a:rPr lang="de-DE" dirty="0"/>
              <a:t> </a:t>
            </a:r>
            <a:r>
              <a:rPr lang="de-DE" dirty="0" err="1"/>
              <a:t>around</a:t>
            </a:r>
            <a:r>
              <a:rPr lang="de-DE" dirty="0"/>
              <a:t> </a:t>
            </a:r>
            <a:r>
              <a:rPr lang="de-DE" dirty="0" err="1"/>
              <a:t>operating</a:t>
            </a:r>
            <a:r>
              <a:rPr lang="de-DE" dirty="0"/>
              <a:t> </a:t>
            </a:r>
            <a:r>
              <a:rPr lang="de-DE" dirty="0" err="1"/>
              <a:t>point</a:t>
            </a:r>
            <a:endParaRPr lang="de-DE" dirty="0"/>
          </a:p>
          <a:p>
            <a:r>
              <a:rPr lang="de-DE" dirty="0"/>
              <a:t>Linear </a:t>
            </a:r>
            <a:r>
              <a:rPr lang="de-DE" dirty="0" err="1"/>
              <a:t>approximation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nonlinear</a:t>
            </a:r>
            <a:r>
              <a:rPr lang="de-DE" dirty="0"/>
              <a:t>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Valid </a:t>
            </a:r>
            <a:r>
              <a:rPr lang="de-DE" dirty="0" err="1"/>
              <a:t>locally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DC04179-7F28-DA11-46A9-60CF125E7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92284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5B6400-71B9-BBA2-4116-E0489CE2B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Proportional Band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435EB3A-7D49-6783-24D3-317BE17EF0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Inverse </a:t>
            </a:r>
            <a:r>
              <a:rPr lang="de-DE" dirty="0" err="1"/>
              <a:t>of</a:t>
            </a:r>
            <a:r>
              <a:rPr lang="de-DE" dirty="0"/>
              <a:t> proportional </a:t>
            </a:r>
            <a:r>
              <a:rPr lang="de-DE" dirty="0" err="1"/>
              <a:t>gain</a:t>
            </a:r>
            <a:endParaRPr lang="de-DE" dirty="0"/>
          </a:p>
          <a:p>
            <a:r>
              <a:rPr lang="de-DE" dirty="0"/>
              <a:t>Common </a:t>
            </a:r>
            <a:r>
              <a:rPr lang="de-DE" dirty="0" err="1"/>
              <a:t>industrial</a:t>
            </a:r>
            <a:r>
              <a:rPr lang="de-DE" dirty="0"/>
              <a:t> </a:t>
            </a:r>
            <a:r>
              <a:rPr lang="de-DE" dirty="0" err="1"/>
              <a:t>specification</a:t>
            </a:r>
            <a:endParaRPr lang="de-DE" dirty="0"/>
          </a:p>
          <a:p>
            <a:r>
              <a:rPr lang="de-DE" dirty="0" err="1"/>
              <a:t>Smaller</a:t>
            </a:r>
            <a:r>
              <a:rPr lang="de-DE" dirty="0"/>
              <a:t> band → </a:t>
            </a:r>
            <a:r>
              <a:rPr lang="de-DE" dirty="0" err="1"/>
              <a:t>stronger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action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DFC52D2-911D-C47E-BCBF-C746469C1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77176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535</Words>
  <Application>Microsoft Macintosh PowerPoint</Application>
  <PresentationFormat>Breitbild</PresentationFormat>
  <Paragraphs>128</Paragraphs>
  <Slides>15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Arial</vt:lpstr>
      <vt:lpstr>Cambria Math</vt:lpstr>
      <vt:lpstr>Wingdings</vt:lpstr>
      <vt:lpstr>Office Theme</vt:lpstr>
      <vt:lpstr>Continuous-time Controllers</vt:lpstr>
      <vt:lpstr>Course Schedule</vt:lpstr>
      <vt:lpstr>Continuous-time Controllers</vt:lpstr>
      <vt:lpstr>Control</vt:lpstr>
      <vt:lpstr>Control Objectives</vt:lpstr>
      <vt:lpstr>Control Loop</vt:lpstr>
      <vt:lpstr>What Is a Controller?</vt:lpstr>
      <vt:lpstr>PID Controllers</vt:lpstr>
      <vt:lpstr>Proportional Control (P)</vt:lpstr>
      <vt:lpstr>Integral Control (I)</vt:lpstr>
      <vt:lpstr>Derivative Control (D)</vt:lpstr>
      <vt:lpstr>PID Controller</vt:lpstr>
      <vt:lpstr>Time-Domain Performance Trade-Offs</vt:lpstr>
      <vt:lpstr>Working Point and Linearization</vt:lpstr>
      <vt:lpstr>Proportional Band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87</cp:revision>
  <dcterms:created xsi:type="dcterms:W3CDTF">2025-01-08T09:27:30Z</dcterms:created>
  <dcterms:modified xsi:type="dcterms:W3CDTF">2026-02-03T22:33:37Z</dcterms:modified>
</cp:coreProperties>
</file>
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  <p:sldId id="276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141"/>
    <p:restoredTop sz="95028" autoAdjust="0"/>
  </p:normalViewPr>
  <p:slideViewPr>
    <p:cSldViewPr snapToGrid="0">
      <p:cViewPr varScale="1">
        <p:scale>
          <a:sx n="82" d="100"/>
          <a:sy n="82" d="100"/>
        </p:scale>
        <p:origin x="168" y="15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24/01/2026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24/01/2026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24/01/2026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24/01/2026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24/01/2026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24/01/2026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Systems, </a:t>
            </a:r>
            <a:r>
              <a:rPr lang="de-DE" dirty="0" err="1"/>
              <a:t>Processes</a:t>
            </a:r>
            <a:r>
              <a:rPr lang="de-DE" dirty="0"/>
              <a:t>,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controllers</a:t>
            </a:r>
            <a:endParaRPr lang="de-DE" dirty="0"/>
          </a:p>
          <a:p>
            <a:r>
              <a:rPr lang="de-DE" dirty="0"/>
              <a:t>Working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Proportional band</a:t>
            </a:r>
          </a:p>
          <a:p>
            <a:r>
              <a:rPr lang="de-DE" dirty="0"/>
              <a:t>Performance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23F54F-3729-3D0D-1F48-430A6D9E4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Controller?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09C90E4-2142-1ED9-9BE2-999CC2EFA3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Computes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measured</a:t>
            </a:r>
            <a:r>
              <a:rPr lang="de-DE" dirty="0"/>
              <a:t> </a:t>
            </a:r>
            <a:r>
              <a:rPr lang="de-DE" dirty="0" err="1"/>
              <a:t>signals</a:t>
            </a:r>
            <a:endParaRPr lang="de-DE" dirty="0"/>
          </a:p>
          <a:p>
            <a:r>
              <a:rPr lang="de-DE" dirty="0"/>
              <a:t>Main </a:t>
            </a:r>
            <a:r>
              <a:rPr lang="de-DE" dirty="0" err="1"/>
              <a:t>goal</a:t>
            </a:r>
            <a:r>
              <a:rPr lang="de-DE" dirty="0"/>
              <a:t>: </a:t>
            </a:r>
            <a:r>
              <a:rPr lang="de-DE" dirty="0" err="1"/>
              <a:t>reduce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 err="1"/>
              <a:t>Implemented</a:t>
            </a:r>
            <a:r>
              <a:rPr lang="de-DE" dirty="0"/>
              <a:t> in </a:t>
            </a:r>
            <a:r>
              <a:rPr lang="de-DE" dirty="0" err="1"/>
              <a:t>software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hardware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CF17444-670B-8FFE-12D9-5A350CF7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376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EF9A5-1485-3DAA-8322-154CBC074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Objectives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43CBB5-F3B0-0159-EB30-E109362D9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Stability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Small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58A0C1-553D-32D6-FF6F-28C2DF74A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6787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143404-24F2-9A05-A838-DA664C42F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Control (P)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BACF97-F93A-1C13-3B25-2B3FA1DBF6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 </a:t>
            </a:r>
            <a:r>
              <a:rPr lang="de-DE" dirty="0" err="1"/>
              <a:t>input</a:t>
            </a:r>
            <a:r>
              <a:rPr lang="de-DE" dirty="0"/>
              <a:t> proportional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/>
              <a:t>Simple and intuitive</a:t>
            </a:r>
          </a:p>
          <a:p>
            <a:r>
              <a:rPr lang="de-DE" dirty="0" err="1"/>
              <a:t>Cannot</a:t>
            </a:r>
            <a:r>
              <a:rPr lang="de-DE" dirty="0"/>
              <a:t> </a:t>
            </a:r>
            <a:r>
              <a:rPr lang="de-DE" dirty="0" err="1"/>
              <a:t>eliminate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in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 err="1"/>
              <a:t>Equation</a:t>
            </a:r>
            <a:r>
              <a:rPr lang="de-DE" b="1" dirty="0"/>
              <a:t>:</a:t>
            </a:r>
            <a:r>
              <a:rPr lang="de-DE" dirty="0"/>
              <a:t> </a:t>
            </a:r>
            <a:r>
              <a:rPr lang="de-DE" dirty="0" err="1"/>
              <a:t>u</a:t>
            </a:r>
            <a:r>
              <a:rPr lang="de-DE" dirty="0"/>
              <a:t>(t) = </a:t>
            </a:r>
            <a:r>
              <a:rPr lang="de-DE" dirty="0" err="1"/>
              <a:t>K_p</a:t>
            </a:r>
            <a:r>
              <a:rPr lang="de-DE" dirty="0"/>
              <a:t> </a:t>
            </a:r>
            <a:r>
              <a:rPr lang="de-DE" dirty="0" err="1"/>
              <a:t>e</a:t>
            </a:r>
            <a:r>
              <a:rPr lang="de-DE" dirty="0"/>
              <a:t>(t)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71ACAD8-8E38-4758-E235-265989259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6577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B9667-CF16-50CB-8E69-4DB8CD710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Control (I)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B6263E-20A7-2E59-29DE-D5259EBA0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Eliminates</a:t>
            </a:r>
            <a:r>
              <a:rPr lang="de-DE" dirty="0"/>
              <a:t> </a:t>
            </a:r>
            <a:r>
              <a:rPr lang="de-DE" dirty="0" err="1"/>
              <a:t>steady-state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 err="1"/>
              <a:t>Accumulates</a:t>
            </a:r>
            <a:r>
              <a:rPr lang="de-DE" dirty="0"/>
              <a:t> </a:t>
            </a:r>
            <a:r>
              <a:rPr lang="de-DE" dirty="0" err="1"/>
              <a:t>past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cause</a:t>
            </a:r>
            <a:r>
              <a:rPr lang="de-DE" dirty="0"/>
              <a:t> slow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instability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97D893B-FC10-112C-E56C-02067DFC9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493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0390A8-DE49-7EF9-3DE8-8DB638E9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Control (D)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6DB09B-8983-50DC-76E3-164BD1118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Predictive</a:t>
            </a:r>
            <a:r>
              <a:rPr lang="de-DE" dirty="0"/>
              <a:t> </a:t>
            </a:r>
            <a:r>
              <a:rPr lang="de-DE" dirty="0" err="1"/>
              <a:t>action</a:t>
            </a:r>
            <a:endParaRPr lang="de-DE" dirty="0"/>
          </a:p>
          <a:p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  <a:p>
            <a:r>
              <a:rPr lang="de-DE" dirty="0"/>
              <a:t>Sensitive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noise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0613244-15FD-1336-A55D-C0B2593A6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75110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F03D0A-5C22-DF53-4CC1-C4886C94B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PI, PD, and PID Controllers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BB54D3-00B3-CCC2-7A2D-10E53ED876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PI: P + I</a:t>
            </a:r>
          </a:p>
          <a:p>
            <a:r>
              <a:rPr lang="de-DE" dirty="0"/>
              <a:t>PD: P + D</a:t>
            </a:r>
          </a:p>
          <a:p>
            <a:r>
              <a:rPr lang="de-DE" dirty="0"/>
              <a:t>PID: P + I + D</a:t>
            </a:r>
          </a:p>
          <a:p>
            <a:r>
              <a:rPr lang="de-DE" dirty="0"/>
              <a:t>Most </a:t>
            </a:r>
            <a:r>
              <a:rPr lang="de-DE" dirty="0" err="1"/>
              <a:t>widely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controller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AE53BB8-9583-3CA6-BA40-677E542DD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8037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EF8FC0-6E44-CCDF-9E20-7C71F9BF8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Working Point and </a:t>
            </a:r>
            <a:r>
              <a:rPr lang="de-DE" dirty="0" err="1"/>
              <a:t>Linearization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9105FA-9C76-342F-5C77-0F401AEE34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Controllers </a:t>
            </a:r>
            <a:r>
              <a:rPr lang="de-DE" dirty="0" err="1"/>
              <a:t>designed</a:t>
            </a:r>
            <a:r>
              <a:rPr lang="de-DE" dirty="0"/>
              <a:t> </a:t>
            </a:r>
            <a:r>
              <a:rPr lang="de-DE" dirty="0" err="1"/>
              <a:t>around</a:t>
            </a:r>
            <a:r>
              <a:rPr lang="de-DE" dirty="0"/>
              <a:t> </a:t>
            </a:r>
            <a:r>
              <a:rPr lang="de-DE" dirty="0" err="1"/>
              <a:t>operating</a:t>
            </a:r>
            <a:r>
              <a:rPr lang="de-DE" dirty="0"/>
              <a:t> </a:t>
            </a:r>
            <a:r>
              <a:rPr lang="de-DE" dirty="0" err="1"/>
              <a:t>point</a:t>
            </a:r>
            <a:endParaRPr lang="de-DE" dirty="0"/>
          </a:p>
          <a:p>
            <a:r>
              <a:rPr lang="de-DE" dirty="0"/>
              <a:t>Linear </a:t>
            </a:r>
            <a:r>
              <a:rPr lang="de-DE" dirty="0" err="1"/>
              <a:t>approximation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nonlinear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Valid </a:t>
            </a:r>
            <a:r>
              <a:rPr lang="de-DE" dirty="0" err="1"/>
              <a:t>locally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DC04179-7F28-DA11-46A9-60CF125E7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2284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5B6400-71B9-BBA2-4116-E0489CE2B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Band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435EB3A-7D49-6783-24D3-317BE17EF0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Inverse </a:t>
            </a:r>
            <a:r>
              <a:rPr lang="de-DE" dirty="0" err="1"/>
              <a:t>of</a:t>
            </a:r>
            <a:r>
              <a:rPr lang="de-DE" dirty="0"/>
              <a:t> proportional </a:t>
            </a:r>
            <a:r>
              <a:rPr lang="de-DE" dirty="0" err="1"/>
              <a:t>gain</a:t>
            </a:r>
            <a:endParaRPr lang="de-DE" dirty="0"/>
          </a:p>
          <a:p>
            <a:r>
              <a:rPr lang="de-DE" dirty="0"/>
              <a:t>Common </a:t>
            </a:r>
            <a:r>
              <a:rPr lang="de-DE" dirty="0" err="1"/>
              <a:t>industrial</a:t>
            </a:r>
            <a:r>
              <a:rPr lang="de-DE" dirty="0"/>
              <a:t> </a:t>
            </a:r>
            <a:r>
              <a:rPr lang="de-DE" dirty="0" err="1"/>
              <a:t>specification</a:t>
            </a:r>
            <a:endParaRPr lang="de-DE" dirty="0"/>
          </a:p>
          <a:p>
            <a:r>
              <a:rPr lang="de-DE" dirty="0" err="1"/>
              <a:t>Smaller</a:t>
            </a:r>
            <a:r>
              <a:rPr lang="de-DE" dirty="0"/>
              <a:t> band → </a:t>
            </a:r>
            <a:r>
              <a:rPr lang="de-DE" dirty="0" err="1"/>
              <a:t>stronger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action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DFC52D2-911D-C47E-BCBF-C746469C1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77176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355E0D-4845-5972-CE28-2A9FF1A48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Time-Domain Performance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451445-8B83-2DEE-187E-FD99F0AB7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Rise</a:t>
            </a:r>
            <a:r>
              <a:rPr lang="de-DE" dirty="0"/>
              <a:t> time</a:t>
            </a:r>
          </a:p>
          <a:p>
            <a:r>
              <a:rPr lang="de-DE" dirty="0" err="1"/>
              <a:t>Settling</a:t>
            </a:r>
            <a:r>
              <a:rPr lang="de-DE" dirty="0"/>
              <a:t> time</a:t>
            </a:r>
          </a:p>
          <a:p>
            <a:r>
              <a:rPr lang="de-DE" dirty="0" err="1"/>
              <a:t>Overshoot</a:t>
            </a:r>
            <a:endParaRPr lang="de-DE" dirty="0"/>
          </a:p>
          <a:p>
            <a:r>
              <a:rPr lang="de-DE" dirty="0"/>
              <a:t>Steady-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error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C1F8793-E6DF-E96C-9540-DD1753BF3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70861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601C58-C2B6-496F-B9DD-EE4C9B0B2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Performance Trade-Offs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F9C35F-BF21-063A-666B-4251A1403F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stability</a:t>
            </a:r>
            <a:endParaRPr lang="de-DE" dirty="0"/>
          </a:p>
          <a:p>
            <a:r>
              <a:rPr lang="de-DE" dirty="0" err="1"/>
              <a:t>Accuracy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  <a:p>
            <a:r>
              <a:rPr lang="de-DE" dirty="0"/>
              <a:t>Noise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197166-B80F-2074-7D72-1C6F5A8C6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4205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</Words>
  <Application>Microsoft Macintosh PowerPoint</Application>
  <PresentationFormat>Breitbild</PresentationFormat>
  <Paragraphs>81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Continuous-time Controllers</vt:lpstr>
      <vt:lpstr>Course Schedule</vt:lpstr>
      <vt:lpstr>Continuous-time Controllers</vt:lpstr>
      <vt:lpstr>What Is a Controller?</vt:lpstr>
      <vt:lpstr>Control Objectives</vt:lpstr>
      <vt:lpstr>Proportional Control (P)</vt:lpstr>
      <vt:lpstr>Integral Control (I)</vt:lpstr>
      <vt:lpstr>Derivative Control (D)</vt:lpstr>
      <vt:lpstr>PI, PD, and PID Controllers</vt:lpstr>
      <vt:lpstr>Working Point and Linearization</vt:lpstr>
      <vt:lpstr>Proportional Band</vt:lpstr>
      <vt:lpstr>Time-Domain Performance Metrics</vt:lpstr>
      <vt:lpstr>Performance Trade-Offs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49</cp:revision>
  <dcterms:created xsi:type="dcterms:W3CDTF">2025-01-08T09:27:30Z</dcterms:created>
  <dcterms:modified xsi:type="dcterms:W3CDTF">2026-01-24T11:23:16Z</dcterms:modified>
</cp:coreProperties>
</file>
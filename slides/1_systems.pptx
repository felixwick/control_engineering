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2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1" r:id="rId15"/>
    <p:sldId id="313" r:id="rId16"/>
    <p:sldId id="310" r:id="rId17"/>
    <p:sldId id="281" r:id="rId18"/>
    <p:sldId id="306" r:id="rId19"/>
    <p:sldId id="307" r:id="rId20"/>
    <p:sldId id="308" r:id="rId21"/>
    <p:sldId id="275" r:id="rId22"/>
    <p:sldId id="312" r:id="rId23"/>
    <p:sldId id="314" r:id="rId24"/>
    <p:sldId id="315" r:id="rId25"/>
    <p:sldId id="282" r:id="rId26"/>
    <p:sldId id="283" r:id="rId27"/>
    <p:sldId id="271" r:id="rId28"/>
    <p:sldId id="276" r:id="rId29"/>
    <p:sldId id="280" r:id="rId30"/>
    <p:sldId id="277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5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608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8.png"/><Relationship Id="rId4" Type="http://schemas.openxmlformats.org/officeDocument/2006/relationships/image" Target="../media/image3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2074279" y="4587300"/>
            <a:ext cx="119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damping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gain</a:t>
                </a:r>
                <a:r>
                  <a:rPr lang="de-DE" dirty="0"/>
                  <a:t> =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divided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), aka DC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zero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Examples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530136" y="2601157"/>
            <a:ext cx="337351" cy="4705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9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1743308-3213-0A91-6CB7-32C43C36398F}"/>
              </a:ext>
            </a:extLst>
          </p:cNvPr>
          <p:cNvSpPr txBox="1"/>
          <p:nvPr/>
        </p:nvSpPr>
        <p:spPr>
          <a:xfrm>
            <a:off x="7306323" y="2988101"/>
            <a:ext cx="1423788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dynamic</a:t>
            </a:r>
            <a:endParaRPr lang="de-DE" sz="2600" dirty="0"/>
          </a:p>
        </p:txBody>
      </p:sp>
      <p:sp>
        <p:nvSpPr>
          <p:cNvPr id="6" name="Geschweifte Klammer rechts 5">
            <a:extLst>
              <a:ext uri="{FF2B5EF4-FFF2-40B4-BE49-F238E27FC236}">
                <a16:creationId xmlns:a16="http://schemas.microsoft.com/office/drawing/2014/main" id="{D137E3C6-24DB-72B1-3C20-10C0C8A18AA7}"/>
              </a:ext>
            </a:extLst>
          </p:cNvPr>
          <p:cNvSpPr/>
          <p:nvPr/>
        </p:nvSpPr>
        <p:spPr>
          <a:xfrm>
            <a:off x="6374167" y="1825625"/>
            <a:ext cx="816746" cy="281739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</a:t>
                </a:r>
                <a:r>
                  <a:rPr lang="de-DE" dirty="0" err="1"/>
                  <a:t>rows</a:t>
                </a:r>
                <a:r>
                  <a:rPr lang="de-DE" dirty="0"/>
                  <a:t> </a:t>
                </a:r>
                <a:r>
                  <a:rPr lang="de-DE" dirty="0" err="1"/>
                  <a:t>linearly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21" name="Grafik 20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D372E6B8-3781-4876-DBBB-52EE1840EF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13362"/>
            <a:ext cx="3069264" cy="168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7B3AFA5-F42B-1CAA-6F55-BCB974EF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r>
                  <a:rPr lang="de-DE" dirty="0"/>
                  <a:t> (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1)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Time constant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</a:t>
                </a:r>
                <a:r>
                  <a:rPr lang="de-DE" dirty="0" err="1"/>
                  <a:t>ynamic</a:t>
                </a:r>
                <a:r>
                  <a:rPr lang="de-DE" dirty="0"/>
                  <a:t> (T)</a:t>
                </a:r>
              </a:p>
              <a:p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p</a:t>
                </a:r>
                <a:r>
                  <a:rPr lang="de-DE" dirty="0"/>
                  <a:t>roportional (P)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852" t="-2907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     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step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4CDEF52-B8D1-F76F-D8CD-066C9ECAC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5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6B65EF0-B2BD-3E65-ECF5-3DC11FC16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PT1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U</a:t>
                </a:r>
                <a:r>
                  <a:rPr lang="de-DE" sz="2600" dirty="0" err="1"/>
                  <a:t>nforced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):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6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Forced</a:t>
                </a:r>
                <a:r>
                  <a:rPr lang="de-DE" sz="2600" dirty="0"/>
                  <a:t>:  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At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,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600" dirty="0"/>
                  <a:t> to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r>
                  <a:rPr lang="de-DE" sz="2600" dirty="0"/>
                  <a:t>Initial </a:t>
                </a:r>
                <a:r>
                  <a:rPr lang="de-DE" sz="2600" dirty="0" err="1"/>
                  <a:t>condition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14773E-45E0-9D74-6A62-08A6F34BD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257800" cy="4351338"/>
              </a:xfrm>
              <a:blipFill>
                <a:blip r:embed="rId2"/>
                <a:stretch>
                  <a:fillRect l="-1928" t="-2035" b="-78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E2261F-C33F-46F4-130D-8037969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C493B3A-F133-0085-F002-59B87D4DF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/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13CF4432-DA9A-203B-7D7E-5D2144F31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0" y="3192415"/>
                <a:ext cx="964944" cy="855683"/>
              </a:xfrm>
              <a:prstGeom prst="rect">
                <a:avLst/>
              </a:prstGeom>
              <a:blipFill>
                <a:blip r:embed="rId4"/>
                <a:stretch>
                  <a:fillRect l="-3896" r="-3896" b="-73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B82408D0-B64A-54D0-7FE9-96A0AA58BF36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B2F0D34-6EE1-D174-4573-06DCD25D4EB9}"/>
              </a:ext>
            </a:extLst>
          </p:cNvPr>
          <p:cNvSpPr txBox="1"/>
          <p:nvPr/>
        </p:nvSpPr>
        <p:spPr>
          <a:xfrm>
            <a:off x="1822174" y="2919137"/>
            <a:ext cx="2908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6A5A937E-2605-EEEF-EAE7-DEE8E62144BE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2991678" y="2658286"/>
            <a:ext cx="284922" cy="260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99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CDF7E-657E-71BD-DD8E-8C1DB7E79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Total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= </a:t>
                </a:r>
                <a:r>
                  <a:rPr lang="de-DE" sz="2400" dirty="0" err="1"/>
                  <a:t>forced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particular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+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homogeneous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Particular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r>
                  <a:rPr lang="de-DE" sz="2400" dirty="0"/>
                  <a:t>), </a:t>
                </a:r>
                <a:r>
                  <a:rPr lang="de-DE" sz="2400" dirty="0" err="1"/>
                  <a:t>guess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solution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)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Determine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initial </a:t>
                </a:r>
                <a:r>
                  <a:rPr lang="de-DE" sz="2400" dirty="0" err="1"/>
                  <a:t>condition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b="0" dirty="0"/>
                  <a:t>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skw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type m:val="skw"/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28FD1C1-F08D-5C06-5539-E04E99649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671313" cy="4351338"/>
              </a:xfrm>
              <a:blipFill>
                <a:blip r:embed="rId2"/>
                <a:stretch>
                  <a:fillRect l="-594" t="-2616" b="-81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6DFC6-FB07-67FD-CC0C-917D55ABE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798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883472"/>
            <a:ext cx="43951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8943553" y="4528367"/>
            <a:ext cx="31400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FCAA1B82-32F1-DCD9-AF6D-0CC43E7B3683}"/>
              </a:ext>
            </a:extLst>
          </p:cNvPr>
          <p:cNvSpPr txBox="1"/>
          <p:nvPr/>
        </p:nvSpPr>
        <p:spPr>
          <a:xfrm>
            <a:off x="1382011" y="3429000"/>
            <a:ext cx="209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6D034787-9C10-7291-77A5-4987A4D1B7B1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1273303" y="3405402"/>
            <a:ext cx="108708" cy="208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E1997420-88D3-368E-F1F0-8287902CEC0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478162" y="3397030"/>
            <a:ext cx="38180" cy="216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19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732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35278" y="2770345"/>
            <a:ext cx="31239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>
                <a:latin typeface="Helvetica Neue" panose="02000503000000020004" pitchFamily="2" charset="0"/>
              </a:rPr>
              <a:t>S</a:t>
            </a:r>
            <a:r>
              <a:rPr lang="de-DE" dirty="0">
                <a:effectLst/>
                <a:latin typeface="Helvetica Neue" panose="02000503000000020004" pitchFamily="2" charset="0"/>
              </a:rPr>
              <a:t>teady-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4BFEDDF-DBCB-1E43-1FD3-BC01194BE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175" y="2502734"/>
            <a:ext cx="523782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energy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storage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elements</a:t>
                </a:r>
                <a:r>
                  <a:rPr lang="de-DE" sz="2200" dirty="0"/>
                  <a:t> (</a:t>
                </a:r>
                <a:r>
                  <a:rPr lang="de-DE" sz="2200" dirty="0">
                    <a:sym typeface="Wingdings" pitchFamily="2" charset="2"/>
                  </a:rPr>
                  <a:t> 2</a:t>
                </a:r>
                <a:r>
                  <a:rPr lang="de-DE" sz="22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+2</m:t>
                      </m:r>
                      <m:r>
                        <a:rPr lang="el-GR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2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200" i="1">
                          <a:latin typeface="Cambria Math" panose="02040503050406030204" pitchFamily="18" charset="0"/>
                        </a:rPr>
                        <m:t>𝐾𝑢</m:t>
                      </m:r>
                    </m:oMath>
                  </m:oMathPara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Three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system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parameters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Natural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200" dirty="0"/>
              </a:p>
              <a:p>
                <a:r>
                  <a:rPr lang="de-DE" sz="2200" dirty="0" err="1"/>
                  <a:t>Damping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ratio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el-GR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endParaRPr lang="de-DE" sz="2200" dirty="0">
                  <a:ea typeface="Cambria Math" panose="02040503050406030204" pitchFamily="18" charset="0"/>
                </a:endParaRPr>
              </a:p>
              <a:p>
                <a:r>
                  <a:rPr lang="de-DE" sz="2200" dirty="0"/>
                  <a:t>Static (DC) </a:t>
                </a:r>
                <a:r>
                  <a:rPr lang="de-DE" sz="2200" dirty="0" err="1"/>
                  <a:t>gain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in PT1):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sSub>
                          <m:sSubPr>
                            <m:ctrlPr>
                              <a:rPr lang="de-DE" sz="22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2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200" b="0" i="0" smtClean="0">
                                <a:latin typeface="Cambria Math" panose="02040503050406030204" pitchFamily="18" charset="0"/>
                              </a:rPr>
                              <m:t>step</m:t>
                            </m:r>
                          </m:sub>
                        </m:sSub>
                      </m:den>
                    </m:f>
                  </m:oMath>
                </a14:m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/>
                  <a:t>Different </a:t>
                </a:r>
                <a:r>
                  <a:rPr lang="de-DE" sz="2200" dirty="0" err="1"/>
                  <a:t>cases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Underdamped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Critically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200" dirty="0"/>
                  <a:t>)</a:t>
                </a:r>
              </a:p>
              <a:p>
                <a:r>
                  <a:rPr lang="de-DE" sz="2200" dirty="0" err="1"/>
                  <a:t>Overdamped</a:t>
                </a:r>
                <a:r>
                  <a:rPr lang="de-DE" sz="2200" dirty="0"/>
                  <a:t> (</a:t>
                </a:r>
                <a14:m>
                  <m:oMath xmlns:m="http://schemas.openxmlformats.org/officeDocument/2006/math"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lang="de-DE" sz="2200" dirty="0"/>
                  <a:t>)</a:t>
                </a:r>
                <a:endParaRPr lang="de-DE" sz="2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64AE596-18C7-3B34-C44D-8A40912DE6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14133" cy="4351338"/>
              </a:xfrm>
              <a:blipFill>
                <a:blip r:embed="rId3"/>
                <a:stretch>
                  <a:fillRect l="-1310" t="-1744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F56320B-2818-6510-4502-4DB6537AD73D}"/>
              </a:ext>
            </a:extLst>
          </p:cNvPr>
          <p:cNvSpPr txBox="1"/>
          <p:nvPr/>
        </p:nvSpPr>
        <p:spPr>
          <a:xfrm>
            <a:off x="4708683" y="5530957"/>
            <a:ext cx="1826847" cy="430887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no</a:t>
            </a:r>
            <a:r>
              <a:rPr lang="de-DE" sz="2200" dirty="0"/>
              <a:t> </a:t>
            </a:r>
            <a:r>
              <a:rPr lang="de-DE" sz="2200" dirty="0" err="1"/>
              <a:t>oscillation</a:t>
            </a:r>
            <a:endParaRPr lang="de-DE" sz="2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14BA3E7-B1DE-A23D-A982-D4557F0A5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625A4EF2-83A6-7152-8219-C2E15053E92A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A65622-FAD6-EC72-FDA9-8102A842392D}"/>
              </a:ext>
            </a:extLst>
          </p:cNvPr>
          <p:cNvSpPr txBox="1"/>
          <p:nvPr/>
        </p:nvSpPr>
        <p:spPr>
          <a:xfrm>
            <a:off x="6314709" y="1479977"/>
            <a:ext cx="3258378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an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</a:t>
            </a:r>
            <a:r>
              <a:rPr lang="de-DE" sz="2600" dirty="0" err="1"/>
              <a:t>oscillations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4B891784-3A1A-3653-2FB1-A581B87A8CF2}"/>
              </a:ext>
            </a:extLst>
          </p:cNvPr>
          <p:cNvCxnSpPr>
            <a:stCxn id="13" idx="2"/>
          </p:cNvCxnSpPr>
          <p:nvPr/>
        </p:nvCxnSpPr>
        <p:spPr>
          <a:xfrm>
            <a:off x="7943898" y="1972420"/>
            <a:ext cx="742902" cy="1585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F154D3ED-D893-DC64-A985-205C26711EC2}"/>
              </a:ext>
            </a:extLst>
          </p:cNvPr>
          <p:cNvSpPr/>
          <p:nvPr/>
        </p:nvSpPr>
        <p:spPr>
          <a:xfrm>
            <a:off x="4448430" y="5375474"/>
            <a:ext cx="262718" cy="76173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EC049229-8D31-EDD9-1789-A504B2908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175" y="2502734"/>
            <a:ext cx="523782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357712D-DFBC-0822-6D6F-56495DAD4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Solution </a:t>
            </a:r>
            <a:r>
              <a:rPr lang="de-DE" dirty="0" err="1"/>
              <a:t>for</a:t>
            </a:r>
            <a:r>
              <a:rPr lang="de-DE" dirty="0"/>
              <a:t> PT2 Differential </a:t>
            </a:r>
            <a:r>
              <a:rPr lang="de-DE" dirty="0" err="1"/>
              <a:t>Equation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Unforced (</a:t>
                </a:r>
                <a:r>
                  <a:rPr lang="de-DE" dirty="0" err="1"/>
                  <a:t>natural</a:t>
                </a:r>
                <a:r>
                  <a:rPr lang="de-DE" dirty="0"/>
                  <a:t>): 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Forced</a:t>
                </a:r>
                <a:r>
                  <a:rPr lang="de-DE" dirty="0"/>
                  <a:t>: </a:t>
                </a:r>
                <a:r>
                  <a:rPr lang="de-DE" dirty="0">
                    <a:ea typeface="Cambria Math" panose="02040503050406030204" pitchFamily="18" charset="0"/>
                  </a:rPr>
                  <a:t> 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>
                        <a:latin typeface="Cambria Math" panose="02040503050406030204" pitchFamily="18" charset="0"/>
                      </a:rPr>
                      <m:t>𝐾𝑢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At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r>
                  <a:rPr lang="de-DE" dirty="0"/>
                  <a:t>Initial </a:t>
                </a:r>
                <a:r>
                  <a:rPr lang="de-DE" dirty="0" err="1"/>
                  <a:t>conditions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8F15533-66FD-0B73-809B-3CC2997EB2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15975" cy="3619422"/>
              </a:xfrm>
              <a:blipFill>
                <a:blip r:embed="rId3"/>
                <a:stretch>
                  <a:fillRect l="-1660" t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9FCFF3-389C-63F2-EDD7-3F722D483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/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step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D396D852-88F3-8822-B9E3-467297952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8693" y="4282548"/>
                <a:ext cx="1013867" cy="1132682"/>
              </a:xfrm>
              <a:prstGeom prst="rect">
                <a:avLst/>
              </a:prstGeom>
              <a:blipFill>
                <a:blip r:embed="rId4"/>
                <a:stretch>
                  <a:fillRect r="-2469" b="-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5B84143C-18DB-1FF0-B2E8-03197E28CFCE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/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l-GR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sSup>
                                                <m:sSupPr>
                                                  <m:ctrlP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el-GR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𝜁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de-DE" sz="1500" i="1"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</m:e>
                                          </m:rad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𝜁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l-GR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15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5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sSub>
                                        <m:sSubPr>
                                          <m:ctrlP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l-GR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de-DE" sz="15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&gt;1: 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d>
                        <m:dPr>
                          <m:begChr m:val="["/>
                          <m:endChr m:val="]"/>
                          <m:ctrlP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l-GR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de-DE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de-DE" sz="15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56B130A-2017-EE7C-DF35-C2C0A77E85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39" y="5325779"/>
                <a:ext cx="6689035" cy="132093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/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l-GR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sSup>
                                            <m:sSupPr>
                                              <m:ctrlP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l-GR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𝜁</m:t>
                                              </m:r>
                                            </m:e>
                                            <m:sup>
                                              <m:r>
                                                <a:rPr lang="de-DE" sz="17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e>
                                      </m:rad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func>
                            <m:func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1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p>
                                        <m:sSupPr>
                                          <m:ctrlP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𝜁</m:t>
                                          </m:r>
                                        </m:e>
                                        <m:sup>
                                          <m:r>
                                            <a:rPr lang="de-DE" sz="17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  <m:sSub>
                                    <m:sSubPr>
                                      <m:ctrlP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l-GR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de-DE" sz="17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de-DE" sz="17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de-DE" sz="17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=1: </m:t>
                      </m:r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de-DE" sz="17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sSup>
                        <m:sSupPr>
                          <m:ctrlP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1700" dirty="0"/>
              </a:p>
              <a:p>
                <a14:m>
                  <m:oMath xmlns:m="http://schemas.openxmlformats.org/officeDocument/2006/math"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&gt;1: </m:t>
                    </m:r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17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17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17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17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1700" dirty="0"/>
                  <a:t>     with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</a:rPr>
                          <m:t>1,2</m:t>
                        </m:r>
                      </m:sub>
                    </m:sSub>
                    <m:r>
                      <a:rPr lang="de-DE" sz="17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17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l-GR" sz="17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sSub>
                      <m:sSubPr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el-GR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sz="17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7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e>
                    </m:rad>
                  </m:oMath>
                </a14:m>
                <a:endParaRPr lang="de-DE" sz="17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C48DBF5-513B-5AED-8D12-588AE0A55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140" y="2242132"/>
                <a:ext cx="6689035" cy="1067600"/>
              </a:xfrm>
              <a:prstGeom prst="rect">
                <a:avLst/>
              </a:prstGeom>
              <a:blipFill>
                <a:blip r:embed="rId6"/>
                <a:stretch>
                  <a:fillRect b="-70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80568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1D082-53A4-70A9-67CF-9568D4A66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Particular </a:t>
                </a:r>
                <a:r>
                  <a:rPr lang="de-DE" dirty="0" err="1"/>
                  <a:t>response</a:t>
                </a:r>
                <a:r>
                  <a:rPr lang="de-DE" dirty="0"/>
                  <a:t>: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step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), </a:t>
                </a:r>
                <a:r>
                  <a:rPr lang="de-DE" dirty="0" err="1"/>
                  <a:t>guess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)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0+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&lt;1: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+1∙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["/>
                        <m:endChr m:val="]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+0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−0+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𝜁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de-DE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ad>
                                          <m:radPr>
                                            <m:degHide m:val="on"/>
                                            <m:ctrlP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radPr>
                                          <m:deg/>
                                          <m:e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sSup>
                                              <m:sSupPr>
                                                <m:ctrlP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el-GR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𝜁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de-DE" i="1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rad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𝜁</m:t>
                                </m:r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𝜁</m:t>
                                        </m:r>
                                      </m:e>
                                      <m:sup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rad>
                              </m:den>
                            </m:f>
                            <m:func>
                              <m:func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p>
                                          <m:sSupPr>
                                            <m:ctrlP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l-GR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𝜁</m:t>
                                            </m:r>
                                          </m:e>
                                          <m:sup>
                                            <m:r>
                                              <a:rPr lang="de-DE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sSub>
                                      <m:sSubPr>
                                        <m:ctrlP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l-G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de-DE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d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B7123AE-74DF-0736-9955-698B1BEBF6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603" t="-17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BD03F7-9AB1-7168-9F04-75DA5E97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7571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∙0</m:t>
                        </m:r>
                      </m:e>
                    </m:d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−0+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1: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Total </a:t>
                </a:r>
                <a:r>
                  <a:rPr lang="de-DE" dirty="0" err="1"/>
                  <a:t>response</a:t>
                </a:r>
                <a:r>
                  <a:rPr lang="de-DE" dirty="0"/>
                  <a:t> = </a:t>
                </a:r>
                <a:r>
                  <a:rPr lang="de-DE" dirty="0" err="1"/>
                  <a:t>forced</a:t>
                </a:r>
                <a:r>
                  <a:rPr lang="de-DE" dirty="0"/>
                  <a:t> (</a:t>
                </a:r>
                <a:r>
                  <a:rPr lang="de-DE" dirty="0" err="1"/>
                  <a:t>particular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r>
                  <a:rPr lang="de-DE" dirty="0"/>
                  <a:t> + </a:t>
                </a:r>
                <a:r>
                  <a:rPr lang="de-DE" dirty="0" err="1"/>
                  <a:t>natural</a:t>
                </a:r>
                <a:r>
                  <a:rPr lang="de-DE" dirty="0"/>
                  <a:t> (</a:t>
                </a:r>
                <a:r>
                  <a:rPr lang="de-DE" dirty="0" err="1"/>
                  <a:t>homogeneous</a:t>
                </a:r>
                <a:r>
                  <a:rPr lang="de-DE" dirty="0"/>
                  <a:t>) </a:t>
                </a:r>
                <a:r>
                  <a:rPr lang="de-DE" dirty="0" err="1"/>
                  <a:t>response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Determine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 from initial </a:t>
                </a:r>
                <a:r>
                  <a:rPr lang="de-DE" dirty="0" err="1"/>
                  <a:t>conditions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0=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num>
                      <m:den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l-G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e>
                    </m:d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d>
                      <m:dPr>
                        <m:begChr m:val="["/>
                        <m:endChr m:val="]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508E42C-11F1-8807-7112-304714BB8F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6525"/>
                <a:ext cx="10515600" cy="6584950"/>
              </a:xfr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668E90-2CF0-760C-2FCD-34CF30C7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85341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𝑘𝑚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At </a:t>
                </a:r>
                <a:r>
                  <a:rPr lang="de-DE" dirty="0" err="1"/>
                  <a:t>steady</a:t>
                </a:r>
                <a:r>
                  <a:rPr lang="de-DE" dirty="0"/>
                  <a:t> </a:t>
                </a:r>
                <a:r>
                  <a:rPr lang="de-DE" dirty="0" err="1"/>
                  <a:t>state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=0, 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𝑘𝑥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(∞)</m:t>
                    </m:r>
                  </m:oMath>
                </a14:m>
                <a:r>
                  <a:rPr lang="de-DE" b="0" i="1" dirty="0">
                    <a:latin typeface="Cambria Math" panose="02040503050406030204" pitchFamily="18" charset="0"/>
                  </a:rPr>
                  <a:t>	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(∞)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de-DE" dirty="0"/>
                  <a:t>	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BDF905-D4E7-24F3-FF16-09404FF059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4513143" cy="4351338"/>
              </a:xfrm>
              <a:blipFill>
                <a:blip r:embed="rId2"/>
                <a:stretch>
                  <a:fillRect l="-1961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/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000" dirty="0">
                    <a:ea typeface="Cambria Math" panose="02040503050406030204" pitchFamily="18" charset="0"/>
                  </a:rPr>
                  <a:t>w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ithout</a:t>
                </a:r>
                <a:r>
                  <a:rPr lang="de-DE" sz="2000" dirty="0">
                    <a:ea typeface="Cambria Math" panose="02040503050406030204" pitchFamily="18" charset="0"/>
                  </a:rPr>
                  <a:t> </a:t>
                </a:r>
                <a:r>
                  <a:rPr lang="de-DE" sz="2000" dirty="0" err="1">
                    <a:ea typeface="Cambria Math" panose="02040503050406030204" pitchFamily="18" charset="0"/>
                  </a:rPr>
                  <a:t>damping</a:t>
                </a:r>
                <a:r>
                  <a:rPr lang="de-DE" sz="2000" dirty="0">
                    <a:ea typeface="Cambria Math" panose="02040503050406030204" pitchFamily="18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0): 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l-G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de-DE" sz="2000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86A1EB3C-99B4-6C2B-E5D1-20F097E56E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34" y="5698175"/>
                <a:ext cx="5949932" cy="400110"/>
              </a:xfrm>
              <a:prstGeom prst="rect">
                <a:avLst/>
              </a:prstGeom>
              <a:blipFill>
                <a:blip r:embed="rId3"/>
                <a:stretch>
                  <a:fillRect l="-1064" t="-6061" b="-272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Grafik 14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8245FF6-F62A-7917-774D-22E16CE431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1342" y="1825625"/>
            <a:ext cx="6840658" cy="3365162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0D3C84F5-784C-AC73-0D65-41A4D64ED76E}"/>
              </a:ext>
            </a:extLst>
          </p:cNvPr>
          <p:cNvSpPr txBox="1"/>
          <p:nvPr/>
        </p:nvSpPr>
        <p:spPr>
          <a:xfrm>
            <a:off x="967842" y="6364803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CC3753B-CAB1-01FF-F023-9CC8549FB8C9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1704513" y="6098285"/>
            <a:ext cx="79899" cy="26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CF4B3D22-0CE3-B13B-4D31-635A55F59978}"/>
              </a:ext>
            </a:extLst>
          </p:cNvPr>
          <p:cNvSpPr txBox="1"/>
          <p:nvPr/>
        </p:nvSpPr>
        <p:spPr>
          <a:xfrm>
            <a:off x="4145871" y="3185040"/>
            <a:ext cx="1757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same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RLC Series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𝑅𝐶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𝐿𝐶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den>
                        </m:f>
                      </m:e>
                    </m:rad>
                  </m:oMath>
                </a14:m>
                <a:r>
                  <a:rPr lang="de-DE" dirty="0"/>
                  <a:t>,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 err="1"/>
                  <a:t>Without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undamped</a:t>
                </a:r>
                <a:endParaRPr lang="de-DE" sz="2400" dirty="0"/>
              </a:p>
              <a:p>
                <a:r>
                  <a:rPr lang="de-DE" sz="2400" dirty="0"/>
                  <a:t>An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circuit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PT2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whose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governed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exactly</a:t>
                </a:r>
                <a:r>
                  <a:rPr lang="de-DE" sz="2400" dirty="0"/>
                  <a:t> like a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–spring–</a:t>
                </a:r>
                <a:r>
                  <a:rPr lang="de-DE" sz="2400" dirty="0" err="1"/>
                  <a:t>damper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.</a:t>
                </a:r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describes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sinusoidal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forcing</a:t>
                </a:r>
                <a:r>
                  <a:rPr lang="de-DE" sz="2400" dirty="0"/>
                  <a:t>. Here </a:t>
                </a:r>
                <a:r>
                  <a:rPr lang="de-DE" sz="2400" dirty="0" err="1"/>
                  <a:t>we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focus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 and transient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6577C-FB27-48A1-08F9-6C0DDED2A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844" r="-4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041D073-0E9B-EB23-C1A8-59F7E0D72763}"/>
              </a:ext>
            </a:extLst>
          </p:cNvPr>
          <p:cNvSpPr txBox="1"/>
          <p:nvPr/>
        </p:nvSpPr>
        <p:spPr>
          <a:xfrm>
            <a:off x="8256233" y="1103345"/>
            <a:ext cx="25345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4E62E3A-FA88-086C-31CA-4F93C23B62D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99285" y="1334178"/>
            <a:ext cx="656948" cy="610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DAECF696-5BD3-6BB2-5A73-71CD57F5039A}"/>
              </a:ext>
            </a:extLst>
          </p:cNvPr>
          <p:cNvSpPr txBox="1"/>
          <p:nvPr/>
        </p:nvSpPr>
        <p:spPr>
          <a:xfrm>
            <a:off x="7112494" y="2451598"/>
            <a:ext cx="3505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r>
              <a:rPr lang="de-DE" sz="2400" dirty="0"/>
              <a:t>: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voltage</a:t>
            </a:r>
            <a:endParaRPr lang="de-DE" sz="24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38487B8-9771-9580-F617-0AE759C7A161}"/>
              </a:ext>
            </a:extLst>
          </p:cNvPr>
          <p:cNvCxnSpPr>
            <a:cxnSpLocks/>
          </p:cNvCxnSpPr>
          <p:nvPr/>
        </p:nvCxnSpPr>
        <p:spPr>
          <a:xfrm flipH="1" flipV="1">
            <a:off x="6755907" y="2272683"/>
            <a:ext cx="346229" cy="4083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F5D570C-A5DB-DD63-D9E0-F8AF60485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0" y="1433827"/>
            <a:ext cx="1967099" cy="2725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/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)→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F1755DB-4D43-E552-C661-F2B6CC928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2232026"/>
                <a:ext cx="2089033" cy="553998"/>
              </a:xfrm>
              <a:prstGeom prst="rect">
                <a:avLst/>
              </a:prstGeom>
              <a:blipFill>
                <a:blip r:embed="rId2"/>
                <a:stretch>
                  <a:fillRect l="-1205" r="-3614" b="-15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/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9E29DD8-B0F3-DCDF-B26A-20F98CA89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7011" y="3429000"/>
                <a:ext cx="3530454" cy="646331"/>
              </a:xfrm>
              <a:prstGeom prst="rect">
                <a:avLst/>
              </a:prstGeom>
              <a:blipFill>
                <a:blip r:embed="rId3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AF01E19-EED3-0E00-ACC9-B60D000D4FFF}"/>
              </a:ext>
            </a:extLst>
          </p:cNvPr>
          <p:cNvCxnSpPr>
            <a:endCxn id="7" idx="1"/>
          </p:cNvCxnSpPr>
          <p:nvPr/>
        </p:nvCxnSpPr>
        <p:spPr>
          <a:xfrm>
            <a:off x="6927574" y="3299791"/>
            <a:ext cx="1019437" cy="4523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A58A0B2-442D-7AB7-6986-15C8E352A0DA}"/>
              </a:ext>
            </a:extLst>
          </p:cNvPr>
          <p:cNvCxnSpPr>
            <a:endCxn id="5" idx="1"/>
          </p:cNvCxnSpPr>
          <p:nvPr/>
        </p:nvCxnSpPr>
        <p:spPr>
          <a:xfrm flipV="1">
            <a:off x="5138530" y="2509025"/>
            <a:ext cx="2808481" cy="43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delay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and </a:t>
                </a:r>
                <a:r>
                  <a:rPr lang="de-DE" dirty="0" err="1"/>
                  <a:t>output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Common in </a:t>
                </a:r>
                <a:r>
                  <a:rPr lang="de-DE" dirty="0" err="1"/>
                  <a:t>processes</a:t>
                </a:r>
                <a:r>
                  <a:rPr lang="de-DE" dirty="0"/>
                  <a:t> and </a:t>
                </a:r>
                <a:r>
                  <a:rPr lang="de-DE" dirty="0" err="1"/>
                  <a:t>networks</a:t>
                </a:r>
                <a:endParaRPr lang="de-DE" dirty="0"/>
              </a:p>
              <a:p>
                <a:pPr lvl="1"/>
                <a:r>
                  <a:rPr lang="de-DE" dirty="0"/>
                  <a:t>Transport </a:t>
                </a:r>
                <a:r>
                  <a:rPr lang="de-DE" dirty="0" err="1"/>
                  <a:t>phenomena</a:t>
                </a:r>
                <a:endParaRPr lang="de-DE" dirty="0"/>
              </a:p>
              <a:p>
                <a:pPr lvl="1"/>
                <a:r>
                  <a:rPr lang="de-DE" dirty="0"/>
                  <a:t>Measurement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lvl="1"/>
                <a:r>
                  <a:rPr lang="de-DE" dirty="0" err="1"/>
                  <a:t>Computation</a:t>
                </a:r>
                <a:r>
                  <a:rPr lang="de-DE" dirty="0"/>
                  <a:t> </a:t>
                </a:r>
                <a:r>
                  <a:rPr lang="de-DE" dirty="0" err="1"/>
                  <a:t>delays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Makes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difficult</a:t>
                </a:r>
                <a:endParaRPr lang="de-DE" dirty="0"/>
              </a:p>
              <a:p>
                <a:pPr lvl="1"/>
                <a:r>
                  <a:rPr lang="de-DE" dirty="0" err="1"/>
                  <a:t>Degrades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margins</a:t>
                </a:r>
                <a:endParaRPr lang="de-DE" dirty="0"/>
              </a:p>
              <a:p>
                <a:pPr lvl="1"/>
                <a:r>
                  <a:rPr lang="de-DE" dirty="0"/>
                  <a:t>Limits </a:t>
                </a:r>
                <a:r>
                  <a:rPr lang="de-DE" dirty="0" err="1"/>
                  <a:t>achievable</a:t>
                </a:r>
                <a:r>
                  <a:rPr lang="de-DE" dirty="0"/>
                  <a:t> </a:t>
                </a:r>
                <a:r>
                  <a:rPr lang="de-DE" dirty="0" err="1"/>
                  <a:t>performance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9AE5EC4-52A4-BBD7-A547-E7DA4C4B39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A4D1A9C-C7EB-9033-19BD-68A68CB7C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745" y="2425670"/>
            <a:ext cx="4674688" cy="375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2123</Words>
  <Application>Microsoft Macintosh PowerPoint</Application>
  <PresentationFormat>Breitbild</PresentationFormat>
  <Paragraphs>408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Solution for PT1 Differential Equation</vt:lpstr>
      <vt:lpstr>Derivation of Specific Example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Solution for PT2 Differential Equation</vt:lpstr>
      <vt:lpstr>Derivation of Specific Example</vt:lpstr>
      <vt:lpstr>PowerPoint-Präsentation</vt:lpstr>
      <vt:lpstr>Example: Mass-Spring-Damper</vt:lpstr>
      <vt:lpstr>Example: RLC Series Circuit</vt:lpstr>
      <vt:lpstr>Linear Time-Invariant (LTI) Systems</vt:lpstr>
      <vt:lpstr>Dead Time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225</cp:revision>
  <dcterms:created xsi:type="dcterms:W3CDTF">2025-01-08T09:27:30Z</dcterms:created>
  <dcterms:modified xsi:type="dcterms:W3CDTF">2026-02-01T13:49:57Z</dcterms:modified>
</cp:coreProperties>
</file>
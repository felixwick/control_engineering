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0" r:id="rId15"/>
    <p:sldId id="281" r:id="rId16"/>
    <p:sldId id="306" r:id="rId17"/>
    <p:sldId id="307" r:id="rId18"/>
    <p:sldId id="308" r:id="rId19"/>
    <p:sldId id="275" r:id="rId20"/>
    <p:sldId id="282" r:id="rId21"/>
    <p:sldId id="283" r:id="rId22"/>
    <p:sldId id="271" r:id="rId23"/>
    <p:sldId id="276" r:id="rId24"/>
    <p:sldId id="280" r:id="rId25"/>
    <p:sldId id="27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2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31/01/2026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31/01/2026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31/01/2026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31/01/2026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31/01/2026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31/01/2026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2074279" y="4587300"/>
            <a:ext cx="119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damping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gain</a:t>
                </a:r>
                <a:r>
                  <a:rPr lang="de-DE" dirty="0"/>
                  <a:t> =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divided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), aka DC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Examples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530136" y="2601157"/>
            <a:ext cx="337351" cy="470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21" name="Grafik 20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D372E6B8-3781-4876-DBBB-52EE1840EF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13362"/>
            <a:ext cx="3069264" cy="168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7B3AFA5-F42B-1CAA-6F55-BCB974EF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Dynamic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T): </a:t>
                </a:r>
                <a:r>
                  <a:rPr lang="de-DE" dirty="0" err="1"/>
                  <a:t>characterized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time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Proportional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P): </a:t>
                </a:r>
                <a:r>
                  <a:rPr lang="de-DE" dirty="0" err="1"/>
                  <a:t>static</a:t>
                </a:r>
                <a:r>
                  <a:rPr lang="de-DE" dirty="0"/>
                  <a:t>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</a:t>
                </a:r>
                <a:r>
                  <a:rPr lang="de-DE" dirty="0"/>
                  <a:t>mooth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type m:val="skw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389" t="-2616" b="-63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DFD434E-CEB0-6797-ED63-14555FC0C355}"/>
              </a:ext>
            </a:extLst>
          </p:cNvPr>
          <p:cNvCxnSpPr>
            <a:cxnSpLocks/>
          </p:cNvCxnSpPr>
          <p:nvPr/>
        </p:nvCxnSpPr>
        <p:spPr>
          <a:xfrm flipV="1">
            <a:off x="5637320" y="1509713"/>
            <a:ext cx="3284738" cy="2316563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BDDBCDD-1E66-8640-CBC1-4B43104A5C67}"/>
                  </a:ext>
                </a:extLst>
              </p:cNvPr>
              <p:cNvSpPr txBox="1"/>
              <p:nvPr/>
            </p:nvSpPr>
            <p:spPr>
              <a:xfrm>
                <a:off x="975434" y="6033184"/>
                <a:ext cx="420061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BDDBCDD-1E66-8640-CBC1-4B43104A5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34" y="6033184"/>
                <a:ext cx="4200617" cy="646331"/>
              </a:xfrm>
              <a:prstGeom prst="rect">
                <a:avLst/>
              </a:prstGeom>
              <a:blipFill>
                <a:blip r:embed="rId5"/>
                <a:stretch>
                  <a:fillRect l="-1205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79402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4BFEDDF-DBCB-1E43-1FD3-BC01194BE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175" y="2502734"/>
            <a:ext cx="523782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3379" y="1731480"/>
                <a:ext cx="5894066" cy="286178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sz="2200" dirty="0"/>
              </a:p>
              <a:p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): </a:t>
                </a:r>
                <a:r>
                  <a:rPr lang="de-DE" sz="2200" dirty="0" err="1">
                    <a:sym typeface="Wingdings" pitchFamily="2" charset="2"/>
                  </a:rPr>
                  <a:t>c</a:t>
                </a:r>
                <a:r>
                  <a:rPr lang="de-DE" sz="2200" dirty="0" err="1"/>
                  <a:t>an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oscillations</a:t>
                </a:r>
                <a:endParaRPr lang="de-DE" sz="2200" dirty="0"/>
              </a:p>
              <a:p>
                <a:r>
                  <a:rPr lang="de-DE" sz="2200" dirty="0" err="1"/>
                  <a:t>Characterized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natural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sz="2200" dirty="0"/>
                  <a:t> and </a:t>
                </a:r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/>
              </a:p>
              <a:p>
                <a:r>
                  <a:rPr lang="de-DE" sz="2200" dirty="0"/>
                  <a:t>Static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r>
                  <a:rPr lang="de-DE" sz="2200" dirty="0"/>
                  <a:t>General </a:t>
                </a:r>
                <a:r>
                  <a:rPr lang="de-DE" sz="2200" dirty="0" err="1"/>
                  <a:t>solutions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natural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part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unforced</a:t>
                </a:r>
                <a:r>
                  <a:rPr lang="de-DE" sz="2200" dirty="0"/>
                  <a:t>):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3379" y="1731480"/>
                <a:ext cx="5894066" cy="2861785"/>
              </a:xfrm>
              <a:blipFill>
                <a:blip r:embed="rId3"/>
                <a:stretch>
                  <a:fillRect l="-1290" t="-442" r="-860" b="-66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E3617C7-60E3-4AD5-CB4C-AF5151E922A9}"/>
                  </a:ext>
                </a:extLst>
              </p:cNvPr>
              <p:cNvSpPr txBox="1"/>
              <p:nvPr/>
            </p:nvSpPr>
            <p:spPr>
              <a:xfrm>
                <a:off x="6652333" y="1742768"/>
                <a:ext cx="5539667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000" dirty="0" err="1"/>
                  <a:t>Underdamped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000" dirty="0"/>
                  <a:t>), </a:t>
                </a:r>
                <a:r>
                  <a:rPr lang="de-DE" sz="2000" dirty="0" err="1"/>
                  <a:t>critically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damped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000" dirty="0"/>
                  <a:t>), and </a:t>
                </a:r>
                <a:r>
                  <a:rPr lang="de-DE" sz="2000" dirty="0" err="1"/>
                  <a:t>overdamped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step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response</a:t>
                </a:r>
                <a:r>
                  <a:rPr lang="de-DE" sz="2000" dirty="0"/>
                  <a:t>: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E3617C7-60E3-4AD5-CB4C-AF5151E92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333" y="1742768"/>
                <a:ext cx="5539667" cy="707886"/>
              </a:xfrm>
              <a:prstGeom prst="rect">
                <a:avLst/>
              </a:prstGeom>
              <a:blipFill>
                <a:blip r:embed="rId4"/>
                <a:stretch>
                  <a:fillRect l="-1142" t="-3571" r="-913" b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CD5A82-7984-FF84-8C0A-FBE15093C788}"/>
                  </a:ext>
                </a:extLst>
              </p:cNvPr>
              <p:cNvSpPr txBox="1"/>
              <p:nvPr/>
            </p:nvSpPr>
            <p:spPr>
              <a:xfrm>
                <a:off x="30333" y="4639059"/>
                <a:ext cx="7102136" cy="22408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6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6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6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6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6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600" dirty="0">
                  <a:ea typeface="Cambria Math" panose="02040503050406030204" pitchFamily="18" charset="0"/>
                </a:endParaRPr>
              </a:p>
              <a:p>
                <a:endParaRPr lang="de-DE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 </m:t>
                      </m:r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600" dirty="0"/>
              </a:p>
              <a:p>
                <a:endParaRPr lang="de-DE" sz="1600" dirty="0"/>
              </a:p>
              <a:p>
                <a14:m>
                  <m:oMath xmlns:m="http://schemas.openxmlformats.org/officeDocument/2006/math"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1: </m:t>
                    </m:r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de-DE" sz="1600" dirty="0">
                                <a:ea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de-DE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nor/>
                              </m:rPr>
                              <a:rPr lang="de-DE" sz="1600" dirty="0">
                                <a:ea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de-DE" sz="16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  <m:ctrlPr>
                          <a:rPr lang="el-G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600" dirty="0"/>
              </a:p>
              <a:p>
                <a:endParaRPr lang="de-DE" sz="1600" dirty="0"/>
              </a:p>
              <a:p>
                <a:r>
                  <a:rPr lang="de-DE" sz="1600" dirty="0" err="1"/>
                  <a:t>Assuming</a:t>
                </a:r>
                <a:r>
                  <a:rPr lang="de-DE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1600" dirty="0"/>
                  <a:t> and </a:t>
                </a:r>
                <a:r>
                  <a:rPr lang="de-DE" sz="1600" dirty="0" err="1"/>
                  <a:t>zero</a:t>
                </a:r>
                <a:r>
                  <a:rPr lang="de-DE" sz="1600" dirty="0"/>
                  <a:t> initial </a:t>
                </a:r>
                <a:r>
                  <a:rPr lang="de-DE" sz="1600" dirty="0" err="1"/>
                  <a:t>conditions</a:t>
                </a:r>
                <a:r>
                  <a:rPr lang="de-DE" sz="1600" dirty="0"/>
                  <a:t> </a:t>
                </a:r>
                <a14:m>
                  <m:oMath xmlns:m="http://schemas.openxmlformats.org/officeDocument/2006/math">
                    <m:r>
                      <a:rPr lang="de-DE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16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16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CD5A82-7984-FF84-8C0A-FBE15093C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3" y="4639059"/>
                <a:ext cx="7102136" cy="2240870"/>
              </a:xfrm>
              <a:prstGeom prst="rect">
                <a:avLst/>
              </a:prstGeom>
              <a:blipFill>
                <a:blip r:embed="rId5"/>
                <a:stretch>
                  <a:fillRect l="-357" b="-16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153043" y="5475437"/>
            <a:ext cx="15227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974902D-0B13-21ED-2E40-27086FB6CC48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488635" y="5660103"/>
            <a:ext cx="6644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D753C17-B5A5-B9A8-2DB6-46EBC27E8D89}"/>
              </a:ext>
            </a:extLst>
          </p:cNvPr>
          <p:cNvCxnSpPr/>
          <p:nvPr/>
        </p:nvCxnSpPr>
        <p:spPr>
          <a:xfrm flipH="1">
            <a:off x="3820839" y="5660103"/>
            <a:ext cx="332204" cy="29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1498</Words>
  <Application>Microsoft Macintosh PowerPoint</Application>
  <PresentationFormat>Breitbild</PresentationFormat>
  <Paragraphs>318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Example: Mass-Spring-Damper</vt:lpstr>
      <vt:lpstr>Example: RLC Series Circuit</vt:lpstr>
      <vt:lpstr>Linear Time-Invariant (LTI) Systems</vt:lpstr>
      <vt:lpstr>Dead Time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165</cp:revision>
  <dcterms:created xsi:type="dcterms:W3CDTF">2025-01-08T09:27:30Z</dcterms:created>
  <dcterms:modified xsi:type="dcterms:W3CDTF">2026-01-31T23:00:13Z</dcterms:modified>
</cp:coreProperties>
</file>
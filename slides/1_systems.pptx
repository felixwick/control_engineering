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319" r:id="rId11"/>
    <p:sldId id="272" r:id="rId12"/>
    <p:sldId id="273" r:id="rId13"/>
    <p:sldId id="309" r:id="rId14"/>
    <p:sldId id="274" r:id="rId15"/>
    <p:sldId id="317" r:id="rId16"/>
    <p:sldId id="311" r:id="rId17"/>
    <p:sldId id="313" r:id="rId18"/>
    <p:sldId id="310" r:id="rId19"/>
    <p:sldId id="281" r:id="rId20"/>
    <p:sldId id="306" r:id="rId21"/>
    <p:sldId id="307" r:id="rId22"/>
    <p:sldId id="308" r:id="rId23"/>
    <p:sldId id="320" r:id="rId24"/>
    <p:sldId id="321" r:id="rId25"/>
    <p:sldId id="322" r:id="rId26"/>
    <p:sldId id="323" r:id="rId27"/>
    <p:sldId id="282" r:id="rId28"/>
    <p:sldId id="318" r:id="rId29"/>
    <p:sldId id="283" r:id="rId30"/>
    <p:sldId id="271" r:id="rId31"/>
    <p:sldId id="276" r:id="rId32"/>
    <p:sldId id="316" r:id="rId33"/>
    <p:sldId id="280" r:id="rId34"/>
    <p:sldId id="277" r:id="rId35"/>
    <p:sldId id="324" r:id="rId36"/>
    <p:sldId id="325" r:id="rId37"/>
    <p:sldId id="326" r:id="rId38"/>
    <p:sldId id="327" r:id="rId39"/>
    <p:sldId id="328" r:id="rId40"/>
    <p:sldId id="32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42"/>
    <p:restoredTop sz="95028" autoAdjust="0"/>
  </p:normalViewPr>
  <p:slideViewPr>
    <p:cSldViewPr snapToGrid="0">
      <p:cViewPr varScale="1">
        <p:scale>
          <a:sx n="115" d="100"/>
          <a:sy n="115" d="100"/>
        </p:scale>
        <p:origin x="624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09/04/2026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FC4B5636-F87D-E2AF-2ABE-795C927F0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79522"/>
            <a:ext cx="3581400" cy="19606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/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(derivatives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F2FF93A-9DDE-784C-040C-59756B583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6143" y="2034862"/>
                <a:ext cx="2147896" cy="369332"/>
              </a:xfrm>
              <a:prstGeom prst="rect">
                <a:avLst/>
              </a:prstGeom>
              <a:blipFill>
                <a:blip r:embed="rId4"/>
                <a:stretch>
                  <a:fillRect l="-2353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de-DE" sz="2000" dirty="0"/>
                  <a:t>, 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1994767" y="4587300"/>
            <a:ext cx="141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dissipation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1B8DC01-C520-77E6-7426-63D418D6FED4}"/>
                  </a:ext>
                </a:extLst>
              </p:cNvPr>
              <p:cNvSpPr txBox="1"/>
              <p:nvPr/>
            </p:nvSpPr>
            <p:spPr>
              <a:xfrm>
                <a:off x="4457700" y="2552740"/>
                <a:ext cx="235321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1B8DC01-C520-77E6-7426-63D418D6F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2552740"/>
                <a:ext cx="235321" cy="369332"/>
              </a:xfrm>
              <a:prstGeom prst="rect">
                <a:avLst/>
              </a:prstGeom>
              <a:blipFill>
                <a:blip r:embed="rId5"/>
                <a:stretch>
                  <a:fillRect l="-10000" r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504ED3-385E-7B00-0162-09F64BE8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White-, Gray-, and Black-Box 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C2A8E6-7F9C-01B9-B5A6-AC86A5042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7888DE93-C4B7-39EF-D411-679A43E798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07603"/>
              </p:ext>
            </p:extLst>
          </p:nvPr>
        </p:nvGraphicFramePr>
        <p:xfrm>
          <a:off x="1843093" y="1644044"/>
          <a:ext cx="8505813" cy="4940400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2420449">
                  <a:extLst>
                    <a:ext uri="{9D8B030D-6E8A-4147-A177-3AD203B41FA5}">
                      <a16:colId xmlns:a16="http://schemas.microsoft.com/office/drawing/2014/main" val="1055275469"/>
                    </a:ext>
                  </a:extLst>
                </a:gridCol>
                <a:gridCol w="2023123">
                  <a:extLst>
                    <a:ext uri="{9D8B030D-6E8A-4147-A177-3AD203B41FA5}">
                      <a16:colId xmlns:a16="http://schemas.microsoft.com/office/drawing/2014/main" val="2433305726"/>
                    </a:ext>
                  </a:extLst>
                </a:gridCol>
                <a:gridCol w="1807123">
                  <a:extLst>
                    <a:ext uri="{9D8B030D-6E8A-4147-A177-3AD203B41FA5}">
                      <a16:colId xmlns:a16="http://schemas.microsoft.com/office/drawing/2014/main" val="3149600892"/>
                    </a:ext>
                  </a:extLst>
                </a:gridCol>
                <a:gridCol w="2255118">
                  <a:extLst>
                    <a:ext uri="{9D8B030D-6E8A-4147-A177-3AD203B41FA5}">
                      <a16:colId xmlns:a16="http://schemas.microsoft.com/office/drawing/2014/main" val="507545762"/>
                    </a:ext>
                  </a:extLst>
                </a:gridCol>
              </a:tblGrid>
              <a:tr h="8244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cap="none" spc="0" dirty="0">
                          <a:solidFill>
                            <a:schemeClr val="tx1"/>
                          </a:solidFill>
                        </a:rPr>
                        <a:t>White-Box</a:t>
                      </a: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cap="none" spc="0">
                          <a:solidFill>
                            <a:schemeClr val="tx1"/>
                          </a:solidFill>
                        </a:rPr>
                        <a:t>Gray-Box</a:t>
                      </a:r>
                      <a:endParaRPr lang="de-DE" sz="2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b="1" cap="none" spc="0" dirty="0">
                          <a:solidFill>
                            <a:schemeClr val="tx1"/>
                          </a:solidFill>
                        </a:rPr>
                        <a:t>Black-Box</a:t>
                      </a: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5818538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>
                          <a:solidFill>
                            <a:schemeClr val="tx1"/>
                          </a:solidFill>
                        </a:rPr>
                        <a:t>System Knowledge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 err="1">
                          <a:solidFill>
                            <a:schemeClr val="tx1"/>
                          </a:solidFill>
                        </a:rPr>
                        <a:t>Full</a:t>
                      </a:r>
                      <a:endParaRPr lang="de-DE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Partial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None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568887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>
                          <a:solidFill>
                            <a:schemeClr val="tx1"/>
                          </a:solidFill>
                        </a:rPr>
                        <a:t>Parameter Source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Physical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Mixed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Data Only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21085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Interpretability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4014430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Effort / Complexity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Low-Medium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966552"/>
                  </a:ext>
                </a:extLst>
              </a:tr>
              <a:tr h="823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Extrapolation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Reliable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000" cap="none" spc="0" dirty="0">
                          <a:solidFill>
                            <a:schemeClr val="tx1"/>
                          </a:solidFill>
                        </a:rPr>
                        <a:t>Poor</a:t>
                      </a:r>
                    </a:p>
                  </a:txBody>
                  <a:tcPr marL="129960" marR="99969" marT="99969" marB="9996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892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381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400" dirty="0"/>
                  <a:t>Output proportional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/>
                  <a:t>Static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divided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), aka DC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dynamics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464904" y="2601157"/>
            <a:ext cx="402583" cy="629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3938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r>
              <a:rPr lang="de-DE" sz="2400" dirty="0"/>
              <a:t> (</a:t>
            </a:r>
            <a:r>
              <a:rPr lang="de-DE" sz="2400" dirty="0" err="1"/>
              <a:t>gravity</a:t>
            </a:r>
            <a:r>
              <a:rPr lang="de-DE" sz="2400" dirty="0"/>
              <a:t>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9" name="Grafik 8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277ABE33-F6AD-D0A2-0780-C841CCA22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898" y="3608183"/>
            <a:ext cx="5251262" cy="192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9BD9ACDD-5536-F40F-D02A-E11018568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E92474A8-0D60-A379-C595-D92B302236B5}"/>
              </a:ext>
            </a:extLst>
          </p:cNvPr>
          <p:cNvCxnSpPr>
            <a:cxnSpLocks/>
          </p:cNvCxnSpPr>
          <p:nvPr/>
        </p:nvCxnSpPr>
        <p:spPr>
          <a:xfrm>
            <a:off x="6858000" y="3916017"/>
            <a:ext cx="2622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1669DC8-B72D-8135-5003-9A08C7138DAC}"/>
              </a:ext>
            </a:extLst>
          </p:cNvPr>
          <p:cNvSpPr txBox="1"/>
          <p:nvPr/>
        </p:nvSpPr>
        <p:spPr>
          <a:xfrm>
            <a:off x="8721739" y="3620256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63%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3B801FC8-1B2F-DC15-E05C-25850766135A}"/>
                  </a:ext>
                </a:extLst>
              </p:cNvPr>
              <p:cNvSpPr txBox="1"/>
              <p:nvPr/>
            </p:nvSpPr>
            <p:spPr>
              <a:xfrm>
                <a:off x="7640974" y="5391186"/>
                <a:ext cx="38553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3B801FC8-1B2F-DC15-E05C-258507661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0974" y="5391186"/>
                <a:ext cx="38553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272F4846-875F-7812-2E6C-15E025F60CB5}"/>
              </a:ext>
            </a:extLst>
          </p:cNvPr>
          <p:cNvCxnSpPr>
            <a:cxnSpLocks/>
          </p:cNvCxnSpPr>
          <p:nvPr/>
        </p:nvCxnSpPr>
        <p:spPr>
          <a:xfrm>
            <a:off x="7742583" y="3955773"/>
            <a:ext cx="0" cy="1844501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B8547-AEE4-B255-5E90-6ED98B386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Time Constant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FCC748-1ECC-6B54-2760-821AF3C96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6" name="Grafik 5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9C3298DA-8247-0E24-AF2E-29BAE8A8C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730" y="1640064"/>
            <a:ext cx="7858539" cy="50814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F883B8F-F678-2F50-86EA-A4A6581D0514}"/>
                  </a:ext>
                </a:extLst>
              </p:cNvPr>
              <p:cNvSpPr txBox="1"/>
              <p:nvPr/>
            </p:nvSpPr>
            <p:spPr>
              <a:xfrm>
                <a:off x="5464304" y="5833130"/>
                <a:ext cx="38553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F883B8F-F678-2F50-86EA-A4A6581D0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4304" y="5833130"/>
                <a:ext cx="38553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20553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192040B-8DCE-C5AA-4D7E-6E6F8EE2E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590024"/>
            <a:ext cx="5112785" cy="3834589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3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1665C22-EB67-009B-48E2-4F112F3FE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20181E0-59B5-360F-5C78-FB120AC905D1}"/>
              </a:ext>
            </a:extLst>
          </p:cNvPr>
          <p:cNvSpPr txBox="1"/>
          <p:nvPr/>
        </p:nvSpPr>
        <p:spPr>
          <a:xfrm>
            <a:off x="7943898" y="140852"/>
            <a:ext cx="408451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000" dirty="0"/>
              <a:t>Series </a:t>
            </a:r>
            <a:r>
              <a:rPr lang="de-DE" sz="2000" dirty="0" err="1"/>
              <a:t>connection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two</a:t>
            </a:r>
            <a:r>
              <a:rPr lang="de-DE" sz="2000" dirty="0"/>
              <a:t> PT1:</a:t>
            </a:r>
          </a:p>
          <a:p>
            <a:r>
              <a:rPr lang="de-DE" sz="2000" dirty="0"/>
              <a:t>Time </a:t>
            </a:r>
            <a:r>
              <a:rPr lang="de-DE" sz="2000" dirty="0" err="1"/>
              <a:t>constants</a:t>
            </a:r>
            <a:r>
              <a:rPr lang="de-DE" sz="2000" dirty="0"/>
              <a:t> </a:t>
            </a:r>
            <a:r>
              <a:rPr lang="de-DE" sz="2000" dirty="0" err="1"/>
              <a:t>determine</a:t>
            </a:r>
            <a:r>
              <a:rPr lang="de-DE" sz="2000" dirty="0"/>
              <a:t> </a:t>
            </a:r>
            <a:r>
              <a:rPr lang="de-DE" sz="2000" dirty="0" err="1"/>
              <a:t>behavior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535768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9C8FDDD-72B7-CFB2-F3D3-6580A5013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035" y="2502734"/>
            <a:ext cx="532096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4190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2049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impulse</a:t>
            </a:r>
            <a:r>
              <a:rPr lang="de-DE" dirty="0"/>
              <a:t>:</a:t>
            </a:r>
          </a:p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  <p:pic>
        <p:nvPicPr>
          <p:cNvPr id="9" name="Grafik 8" descr="Ein Bild, das Design enthält.&#10;&#10;KI-generierte Inhalte können fehlerhaft sein.">
            <a:extLst>
              <a:ext uri="{FF2B5EF4-FFF2-40B4-BE49-F238E27FC236}">
                <a16:creationId xmlns:a16="http://schemas.microsoft.com/office/drawing/2014/main" id="{64E46781-3A36-0F13-09D1-3967E245B1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6081566" y="2421128"/>
            <a:ext cx="930617" cy="262800"/>
          </a:xfrm>
          <a:prstGeom prst="rect">
            <a:avLst/>
          </a:prstGeom>
        </p:spPr>
      </p:pic>
      <p:pic>
        <p:nvPicPr>
          <p:cNvPr id="10" name="Grafik 9" descr="Ein Bild, das Design enthält.&#10;&#10;KI-generierte Inhalte können fehlerhaft sein.">
            <a:extLst>
              <a:ext uri="{FF2B5EF4-FFF2-40B4-BE49-F238E27FC236}">
                <a16:creationId xmlns:a16="http://schemas.microsoft.com/office/drawing/2014/main" id="{F0EAE811-ED39-C7C3-AFF2-C1C967C139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V="1">
            <a:off x="6081567" y="4258039"/>
            <a:ext cx="930617" cy="26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C2983263-B164-34FF-E305-281445B7B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7469" y="1232065"/>
            <a:ext cx="3282018" cy="261124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BEC4502-07A1-FC55-7616-3C68D5ED9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344" y="3817199"/>
            <a:ext cx="5460539" cy="253915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F1E493E-F9E8-B141-B5A6-D960EE7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and Impulse Response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42D4C-3133-8842-0920-06E0EE1B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8" name="Grafik 7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B015B22-9D8B-8B6F-2198-93E7327F1D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1" y="1440784"/>
            <a:ext cx="3405073" cy="2729066"/>
          </a:xfrm>
          <a:prstGeom prst="rect">
            <a:avLst/>
          </a:prstGeom>
        </p:spPr>
      </p:pic>
      <p:pic>
        <p:nvPicPr>
          <p:cNvPr id="10" name="Grafik 9" descr="Ein Bild, das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ACE53A99-5DB1-04D3-C422-BE937EEC5F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83" y="4318849"/>
            <a:ext cx="5595178" cy="2539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1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 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9F8F5-4DF8-B3DA-4C6D-AA2B467E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Responses </a:t>
            </a:r>
            <a:r>
              <a:rPr lang="de-DE" dirty="0" err="1"/>
              <a:t>of</a:t>
            </a:r>
            <a:r>
              <a:rPr lang="de-DE" dirty="0"/>
              <a:t> Higher-Order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31AC4-E923-2B53-1360-2B9FAF65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055636F-CEC6-5112-E387-095FDF619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29637"/>
            <a:ext cx="7727398" cy="490927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9E1AEC0-F52F-9949-AB14-1F7CB6916133}"/>
              </a:ext>
            </a:extLst>
          </p:cNvPr>
          <p:cNvSpPr txBox="1"/>
          <p:nvPr/>
        </p:nvSpPr>
        <p:spPr>
          <a:xfrm>
            <a:off x="8610600" y="2823189"/>
            <a:ext cx="32991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The </a:t>
            </a:r>
            <a:r>
              <a:rPr lang="de-DE" dirty="0" err="1"/>
              <a:t>higher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looks</a:t>
            </a:r>
            <a:r>
              <a:rPr lang="de-DE" dirty="0"/>
              <a:t> like a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even</a:t>
            </a:r>
            <a:r>
              <a:rPr lang="de-DE" dirty="0"/>
              <a:t> </a:t>
            </a:r>
            <a:r>
              <a:rPr lang="de-DE" dirty="0" err="1"/>
              <a:t>though</a:t>
            </a:r>
            <a:r>
              <a:rPr lang="de-DE" dirty="0"/>
              <a:t> </a:t>
            </a:r>
            <a:r>
              <a:rPr lang="de-DE" dirty="0" err="1"/>
              <a:t>there’s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38230661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9FB616-373D-660F-953E-FEFEC30EB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500C19-FFAB-D798-2B10-BFE4C715C9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following</a:t>
                </a:r>
                <a:r>
                  <a:rPr lang="de-DE" dirty="0"/>
                  <a:t> </a:t>
                </a:r>
                <a:r>
                  <a:rPr lang="de-DE" dirty="0" err="1"/>
                  <a:t>relation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=2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500C19-FFAB-D798-2B10-BFE4C715C9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826B0-B86D-5644-66C6-0F67B76DF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5787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5AF3DB-3326-7E1D-43C7-B71DD9FC7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52F7AF9-64E4-BAD1-FC90-569F88F69A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proportional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has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Write </a:t>
                </a:r>
                <a:r>
                  <a:rPr lang="de-DE" dirty="0" err="1"/>
                  <a:t>the</a:t>
                </a:r>
                <a:r>
                  <a:rPr lang="de-DE" dirty="0"/>
                  <a:t> input-output </a:t>
                </a:r>
                <a:r>
                  <a:rPr lang="de-DE" dirty="0" err="1"/>
                  <a:t>relation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52F7AF9-64E4-BAD1-FC90-569F88F69A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138EEB-4DB1-F890-3B10-93CC9AD86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0747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506D8C-1961-4593-A028-C2318AD0F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3894B84-7B2D-99DA-81F9-EB1A42B79E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a 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dirty="0"/>
                  <a:t>, and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Write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3894B84-7B2D-99DA-81F9-EB1A42B79E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380112-3663-8EDD-3A74-445103649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4836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763AAB-4FD9-5509-7E85-CDC46AC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9BF351A-C1B0-638A-3FE4-730FE39E88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=−2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+2 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a first-order </a:t>
                </a:r>
                <a:r>
                  <a:rPr lang="de-DE" dirty="0" err="1"/>
                  <a:t>system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happens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?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9BF351A-C1B0-638A-3FE4-730FE39E88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457E9A-985A-199C-B379-F43F1C709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3096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EF73B-9A95-6A8A-ACE6-0513715B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AB09D5-032A-47C9-97C9-6279A445F3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+6 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+9 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and 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.</a:t>
                </a:r>
                <a:br>
                  <a:rPr lang="de-DE" dirty="0"/>
                </a:b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whether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underdamped</a:t>
                </a:r>
                <a:r>
                  <a:rPr lang="de-DE" dirty="0"/>
                  <a:t>, </a:t>
                </a:r>
                <a:r>
                  <a:rPr lang="de-DE" dirty="0" err="1"/>
                  <a:t>critically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,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overdamped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de-DE" dirty="0"/>
                  <a:t>.</a:t>
                </a:r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qualitatively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shape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AB09D5-032A-47C9-97C9-6279A445F3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AE5DBD-3E04-D233-6FED-79B7CC98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00225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447C76-C799-B13F-C823-EB9121387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245497-9085-CD5D-C020-0BD9B54EA0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with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  <a:br>
                  <a:rPr lang="de-DE" dirty="0"/>
                </a:b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.</a:t>
                </a:r>
              </a:p>
              <a:p>
                <a:r>
                  <a:rPr lang="de-DE" dirty="0" err="1"/>
                  <a:t>Classify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Will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245497-9085-CD5D-C020-0BD9B54EA0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77ED24-242F-91CA-64CD-6915474D3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7395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2478</Words>
  <Application>Microsoft Macintosh PowerPoint</Application>
  <PresentationFormat>Breitbild</PresentationFormat>
  <Paragraphs>490</Paragraphs>
  <Slides>40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8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White-, Gray-, and Black-Box Models</vt:lpstr>
      <vt:lpstr>Proportional (P) Systems</vt:lpstr>
      <vt:lpstr>Integrating and Differentiating Behavior</vt:lpstr>
      <vt:lpstr>Example: Free Fall</vt:lpstr>
      <vt:lpstr>First-Order Systems (PT1)</vt:lpstr>
      <vt:lpstr>Gain and Time Constant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Step and Impulse Response</vt:lpstr>
      <vt:lpstr>Example: RLC Series Circuit</vt:lpstr>
      <vt:lpstr>Linear Time-Invariant (LTI) Systems</vt:lpstr>
      <vt:lpstr>Dead Time</vt:lpstr>
      <vt:lpstr>Step Responses of Higher-Order Systems</vt:lpstr>
      <vt:lpstr>Outlook: Frequency Response</vt:lpstr>
      <vt:lpstr>Summary: From Physics to Model</vt:lpstr>
      <vt:lpstr>Exercise 1</vt:lpstr>
      <vt:lpstr>Exercise 2</vt:lpstr>
      <vt:lpstr>Exercise 3</vt:lpstr>
      <vt:lpstr>Exercise 4</vt:lpstr>
      <vt:lpstr>Exercise 5</vt:lpstr>
      <vt:lpstr>Exercise 6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256</cp:revision>
  <dcterms:created xsi:type="dcterms:W3CDTF">2025-01-08T09:27:30Z</dcterms:created>
  <dcterms:modified xsi:type="dcterms:W3CDTF">2026-04-09T07:17:42Z</dcterms:modified>
</cp:coreProperties>
</file>
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265" r:id="rId3"/>
    <p:sldId id="266" r:id="rId4"/>
    <p:sldId id="267" r:id="rId5"/>
    <p:sldId id="278" r:id="rId6"/>
    <p:sldId id="279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738"/>
    <p:restoredTop sz="95028" autoAdjust="0"/>
  </p:normalViewPr>
  <p:slideViewPr>
    <p:cSldViewPr snapToGrid="0">
      <p:cViewPr varScale="1">
        <p:scale>
          <a:sx n="144" d="100"/>
          <a:sy n="144" d="100"/>
        </p:scale>
        <p:origin x="248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processes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models</a:t>
            </a:r>
            <a:endParaRPr lang="de-DE" dirty="0"/>
          </a:p>
          <a:p>
            <a:r>
              <a:rPr lang="de-DE" dirty="0"/>
              <a:t>Dynamic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Linear Time-Invariant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Proportional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First-order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Second-order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Dead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E518A-DC77-9110-1E09-9A1FB046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Processes</a:t>
            </a:r>
            <a:r>
              <a:rPr lang="de-DE" dirty="0"/>
              <a:t>, Systems,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3110E7-5232-B30B-84A9-F00952888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Process</a:t>
            </a:r>
            <a:r>
              <a:rPr lang="de-DE" sz="2600" dirty="0"/>
              <a:t>: </a:t>
            </a:r>
            <a:r>
              <a:rPr lang="de-DE" sz="2600" dirty="0" err="1"/>
              <a:t>the</a:t>
            </a:r>
            <a:r>
              <a:rPr lang="de-DE" sz="2600" dirty="0"/>
              <a:t> real-</a:t>
            </a:r>
            <a:r>
              <a:rPr lang="de-DE" sz="2600" dirty="0" err="1"/>
              <a:t>world</a:t>
            </a:r>
            <a:r>
              <a:rPr lang="de-DE" sz="2600" dirty="0"/>
              <a:t> </a:t>
            </a:r>
            <a:r>
              <a:rPr lang="de-DE" sz="2600" dirty="0" err="1"/>
              <a:t>phenomenon</a:t>
            </a:r>
            <a:r>
              <a:rPr lang="de-DE" sz="2600" dirty="0"/>
              <a:t> (</a:t>
            </a:r>
            <a:r>
              <a:rPr lang="de-DE" sz="2600" dirty="0" err="1"/>
              <a:t>physical</a:t>
            </a:r>
            <a:r>
              <a:rPr lang="de-DE" sz="2600" dirty="0"/>
              <a:t>, </a:t>
            </a:r>
            <a:r>
              <a:rPr lang="de-DE" sz="2600" dirty="0" err="1"/>
              <a:t>biological</a:t>
            </a:r>
            <a:r>
              <a:rPr lang="de-DE" sz="2600" dirty="0"/>
              <a:t>, ...), aka plant</a:t>
            </a:r>
          </a:p>
          <a:p>
            <a:pPr marL="0" indent="0">
              <a:buNone/>
            </a:pPr>
            <a:r>
              <a:rPr lang="de-DE" sz="2600" dirty="0"/>
              <a:t>System: </a:t>
            </a:r>
            <a:r>
              <a:rPr lang="de-DE" sz="2600" dirty="0" err="1"/>
              <a:t>abstraction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that</a:t>
            </a:r>
            <a:r>
              <a:rPr lang="de-DE" sz="2600" dirty="0"/>
              <a:t> </a:t>
            </a:r>
            <a:r>
              <a:rPr lang="de-DE" sz="2600" dirty="0" err="1"/>
              <a:t>process</a:t>
            </a:r>
            <a:r>
              <a:rPr lang="de-DE" sz="2600" dirty="0"/>
              <a:t> (</a:t>
            </a:r>
            <a:r>
              <a:rPr lang="de-DE" sz="2600" dirty="0" err="1"/>
              <a:t>behavior</a:t>
            </a:r>
            <a:r>
              <a:rPr lang="de-DE" sz="2600" dirty="0"/>
              <a:t>,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/>
              <a:t>Model: </a:t>
            </a:r>
            <a:r>
              <a:rPr lang="de-DE" sz="2600" dirty="0" err="1"/>
              <a:t>mathematical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A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maps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outputs</a:t>
            </a:r>
            <a:r>
              <a:rPr lang="de-DE" sz="2600" dirty="0"/>
              <a:t> (just like </a:t>
            </a:r>
            <a:r>
              <a:rPr lang="de-DE" sz="2600" dirty="0" err="1"/>
              <a:t>processes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531475-6B8E-3F3D-846A-AF489366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6180031-A75F-3AC2-3F38-AC11E63A41E7}"/>
              </a:ext>
            </a:extLst>
          </p:cNvPr>
          <p:cNvGrpSpPr/>
          <p:nvPr/>
        </p:nvGrpSpPr>
        <p:grpSpPr>
          <a:xfrm>
            <a:off x="838200" y="4511630"/>
            <a:ext cx="6229171" cy="779319"/>
            <a:chOff x="3118757" y="2475922"/>
            <a:chExt cx="6229171" cy="77931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A79A6B5-E635-45E3-1B26-A02487173C96}"/>
                </a:ext>
              </a:extLst>
            </p:cNvPr>
            <p:cNvSpPr/>
            <p:nvPr/>
          </p:nvSpPr>
          <p:spPr>
            <a:xfrm>
              <a:off x="5103668" y="2475922"/>
              <a:ext cx="1984663" cy="77931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chemeClr val="tx1"/>
                  </a:solidFill>
                </a:rPr>
                <a:t>System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445ECD13-2956-37B4-A2D4-865F188C4763}"/>
                </a:ext>
              </a:extLst>
            </p:cNvPr>
            <p:cNvSpPr txBox="1"/>
            <p:nvPr/>
          </p:nvSpPr>
          <p:spPr>
            <a:xfrm>
              <a:off x="3118757" y="2603970"/>
              <a:ext cx="992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Input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E0954CB-8FEC-D438-8DF1-F08406595F2A}"/>
                </a:ext>
              </a:extLst>
            </p:cNvPr>
            <p:cNvSpPr txBox="1"/>
            <p:nvPr/>
          </p:nvSpPr>
          <p:spPr>
            <a:xfrm>
              <a:off x="8066808" y="2603970"/>
              <a:ext cx="12811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Output</a:t>
              </a: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EAC545C-64A5-274D-2F85-1BE9EEEC911E}"/>
                </a:ext>
              </a:extLst>
            </p:cNvPr>
            <p:cNvCxnSpPr>
              <a:endCxn id="5" idx="1"/>
            </p:cNvCxnSpPr>
            <p:nvPr/>
          </p:nvCxnSpPr>
          <p:spPr>
            <a:xfrm>
              <a:off x="4125191" y="2865581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0F1911F2-5D6C-62F5-520D-54636FEB189A}"/>
                </a:ext>
              </a:extLst>
            </p:cNvPr>
            <p:cNvCxnSpPr/>
            <p:nvPr/>
          </p:nvCxnSpPr>
          <p:spPr>
            <a:xfrm>
              <a:off x="7088331" y="2865580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5" name="Grafik 14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71FFB093-9F42-8E87-5125-95311FC01F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48" y="4570700"/>
            <a:ext cx="1007922" cy="226626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1A18DA6-E292-9399-7437-B86DDA383137}"/>
              </a:ext>
            </a:extLst>
          </p:cNvPr>
          <p:cNvSpPr txBox="1"/>
          <p:nvPr/>
        </p:nvSpPr>
        <p:spPr>
          <a:xfrm>
            <a:off x="9153982" y="4570700"/>
            <a:ext cx="286488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Input: external </a:t>
            </a:r>
            <a:r>
              <a:rPr lang="de-DE" sz="2200" dirty="0" err="1"/>
              <a:t>force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/>
              <a:t>Output: </a:t>
            </a:r>
            <a:r>
              <a:rPr lang="de-DE" sz="2200" dirty="0" err="1"/>
              <a:t>displacement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177639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BBC1F88-92A4-BDC4-FF33-BC5C3DAA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B18FA1-6A05-6187-A225-0C7F9F98F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pic>
        <p:nvPicPr>
          <p:cNvPr id="6" name="Grafik 5" descr="Ein Bild, das Symbol, Kreis, Diagramm, Uhr enthält.&#10;&#10;KI-generierte Inhalte können fehlerhaft sein.">
            <a:extLst>
              <a:ext uri="{FF2B5EF4-FFF2-40B4-BE49-F238E27FC236}">
                <a16:creationId xmlns:a16="http://schemas.microsoft.com/office/drawing/2014/main" id="{0880E623-0321-9C6F-4C36-1014069D0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01192"/>
            <a:ext cx="3982885" cy="2275935"/>
          </a:xfrm>
          <a:prstGeom prst="rect">
            <a:avLst/>
          </a:prstGeom>
        </p:spPr>
      </p:pic>
      <p:pic>
        <p:nvPicPr>
          <p:cNvPr id="7" name="Grafik 6" descr="Ein Bild, das Natur, Schraubenfeder, Frühling, Metallwaren enthält.&#10;&#10;KI-generierte Inhalte können fehlerhaft sein.">
            <a:extLst>
              <a:ext uri="{FF2B5EF4-FFF2-40B4-BE49-F238E27FC236}">
                <a16:creationId xmlns:a16="http://schemas.microsoft.com/office/drawing/2014/main" id="{D23C063E-AF1A-9081-C901-094C848CB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680" y="2901192"/>
            <a:ext cx="4026120" cy="2275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/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blipFill>
                <a:blip r:embed="rId4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/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05F6B445-4D6F-969D-B06C-7546F3FF2786}"/>
              </a:ext>
            </a:extLst>
          </p:cNvPr>
          <p:cNvSpPr txBox="1"/>
          <p:nvPr/>
        </p:nvSpPr>
        <p:spPr>
          <a:xfrm>
            <a:off x="4043319" y="2327840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6AA7A4D-A095-494D-E518-B74729095780}"/>
              </a:ext>
            </a:extLst>
          </p:cNvPr>
          <p:cNvSpPr txBox="1"/>
          <p:nvPr/>
        </p:nvSpPr>
        <p:spPr>
          <a:xfrm>
            <a:off x="7983532" y="2327839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A0A9184-808B-6FFE-8313-058147AF64C1}"/>
              </a:ext>
            </a:extLst>
          </p:cNvPr>
          <p:cNvSpPr txBox="1"/>
          <p:nvPr/>
        </p:nvSpPr>
        <p:spPr>
          <a:xfrm>
            <a:off x="1518079" y="2327838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6DBBE2E-AFEA-49C1-B06A-F6A89A9A88FC}"/>
              </a:ext>
            </a:extLst>
          </p:cNvPr>
          <p:cNvSpPr txBox="1"/>
          <p:nvPr/>
        </p:nvSpPr>
        <p:spPr>
          <a:xfrm>
            <a:off x="9982200" y="2327837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5D4B663-9056-4F72-AC56-22458F3E43B7}"/>
              </a:ext>
            </a:extLst>
          </p:cNvPr>
          <p:cNvCxnSpPr>
            <a:stCxn id="14" idx="2"/>
          </p:cNvCxnSpPr>
          <p:nvPr/>
        </p:nvCxnSpPr>
        <p:spPr>
          <a:xfrm>
            <a:off x="10553831" y="2820280"/>
            <a:ext cx="474387" cy="83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84D980A-068C-3D37-4DD5-7E4DE59D5067}"/>
              </a:ext>
            </a:extLst>
          </p:cNvPr>
          <p:cNvCxnSpPr>
            <a:stCxn id="12" idx="2"/>
          </p:cNvCxnSpPr>
          <p:nvPr/>
        </p:nvCxnSpPr>
        <p:spPr>
          <a:xfrm flipH="1">
            <a:off x="7878618" y="2820282"/>
            <a:ext cx="569946" cy="985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A971D6C-9261-85F2-0E65-CB9DA5B90560}"/>
              </a:ext>
            </a:extLst>
          </p:cNvPr>
          <p:cNvCxnSpPr>
            <a:stCxn id="11" idx="2"/>
          </p:cNvCxnSpPr>
          <p:nvPr/>
        </p:nvCxnSpPr>
        <p:spPr>
          <a:xfrm>
            <a:off x="4508351" y="2820283"/>
            <a:ext cx="144568" cy="837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55DEDA-57B7-1635-3CD4-3C0C910EDDE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349913" y="2820281"/>
            <a:ext cx="739797" cy="985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E07AB7-9F49-8EF7-51A5-6A604B4ECB7B}"/>
              </a:ext>
            </a:extLst>
          </p:cNvPr>
          <p:cNvSpPr txBox="1"/>
          <p:nvPr/>
        </p:nvSpPr>
        <p:spPr>
          <a:xfrm>
            <a:off x="5028176" y="5684080"/>
            <a:ext cx="110318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model</a:t>
            </a:r>
            <a:endParaRPr lang="de-DE" sz="26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30B8D0B-72F6-B57A-81B7-1E6E9F5E7A1A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flipH="1">
            <a:off x="3023606" y="5930302"/>
            <a:ext cx="200457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6594CF1-074C-E8CD-3C7E-0CF751457D7B}"/>
              </a:ext>
            </a:extLst>
          </p:cNvPr>
          <p:cNvCxnSpPr>
            <a:stCxn id="24" idx="3"/>
            <a:endCxn id="10" idx="1"/>
          </p:cNvCxnSpPr>
          <p:nvPr/>
        </p:nvCxnSpPr>
        <p:spPr>
          <a:xfrm>
            <a:off x="6131363" y="5930302"/>
            <a:ext cx="200457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755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9B6817-D8E2-2AA6-7697-58C1469A6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Static and Dynamic Systems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CDFBEA91-6A2C-D74A-3F3D-4F9B9F0754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dirty="0"/>
              <a:t>Static </a:t>
            </a:r>
            <a:r>
              <a:rPr lang="de-DE" sz="2400" dirty="0" err="1"/>
              <a:t>system</a:t>
            </a:r>
            <a:r>
              <a:rPr lang="de-DE" sz="24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</a:t>
            </a:r>
            <a:r>
              <a:rPr lang="de-DE" sz="2400" dirty="0" err="1"/>
              <a:t>only</a:t>
            </a:r>
            <a:r>
              <a:rPr lang="de-DE" sz="2400" dirty="0"/>
              <a:t> on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current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r>
              <a:rPr lang="de-DE" sz="2400" dirty="0"/>
              <a:t>, </a:t>
            </a:r>
            <a:r>
              <a:rPr lang="de-DE" sz="2400" dirty="0" err="1"/>
              <a:t>no</a:t>
            </a:r>
            <a:r>
              <a:rPr lang="de-DE" sz="2400" dirty="0"/>
              <a:t>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Time-</a:t>
            </a:r>
            <a:r>
              <a:rPr lang="de-DE" sz="2400" dirty="0" err="1"/>
              <a:t>varying</a:t>
            </a:r>
            <a:r>
              <a:rPr lang="de-DE" sz="2400" dirty="0"/>
              <a:t> ≠ </a:t>
            </a:r>
            <a:r>
              <a:rPr lang="de-DE" sz="2400" dirty="0" err="1"/>
              <a:t>dynamic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Resistor</a:t>
            </a:r>
            <a:endParaRPr lang="de-DE" sz="2400" dirty="0"/>
          </a:p>
          <a:p>
            <a:r>
              <a:rPr lang="de-DE" sz="2400" dirty="0"/>
              <a:t>Valve</a:t>
            </a:r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FF3653-0989-4B37-A4F6-8582EF3938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Dynamic </a:t>
            </a:r>
            <a:r>
              <a:rPr lang="de-DE" sz="2600" dirty="0" err="1"/>
              <a:t>system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input</a:t>
            </a:r>
            <a:r>
              <a:rPr lang="de-DE" sz="2400" dirty="0"/>
              <a:t> and </a:t>
            </a:r>
            <a:r>
              <a:rPr lang="de-DE" sz="2400" dirty="0" err="1"/>
              <a:t>past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e</a:t>
            </a:r>
            <a:r>
              <a:rPr lang="de-DE" sz="2400" dirty="0" err="1"/>
              <a:t>volves</a:t>
            </a:r>
            <a:r>
              <a:rPr lang="de-DE" sz="2400" dirty="0"/>
              <a:t> </a:t>
            </a:r>
            <a:r>
              <a:rPr lang="de-DE" sz="2400" dirty="0" err="1"/>
              <a:t>over</a:t>
            </a:r>
            <a:r>
              <a:rPr lang="de-DE" sz="2400" dirty="0"/>
              <a:t> time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Energy </a:t>
            </a:r>
            <a:r>
              <a:rPr lang="de-DE" sz="2400" dirty="0" err="1"/>
              <a:t>storage</a:t>
            </a:r>
            <a:r>
              <a:rPr lang="de-DE" sz="2400" dirty="0"/>
              <a:t> →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Capacitor</a:t>
            </a:r>
            <a:endParaRPr lang="de-DE" sz="2400" dirty="0"/>
          </a:p>
          <a:p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028F3F-A06F-B192-9493-474FEFE31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80636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1606A2-6F1E-C0EF-03AE-7388CF78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Need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EF1E5E-946D-EAB2-3D18-108394A5E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-and-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45D2F4-D7D0-AE36-EB76-D655433A4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30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57BBD5-0976-992A-C54D-C2DDFAFB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Algebraic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static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583754-5D23-8629-F02D-3782D4A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/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/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2400" dirty="0" err="1"/>
                  <a:t>Define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separately</a:t>
                </a:r>
                <a:r>
                  <a:rPr lang="de-DE" sz="2400" dirty="0"/>
                  <a:t>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sz="2400" dirty="0"/>
              </a:p>
              <a:p>
                <a:pPr algn="ctr"/>
                <a:r>
                  <a:rPr lang="de-DE" sz="2400" dirty="0"/>
                  <a:t>…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blipFill>
                <a:blip r:embed="rId4"/>
                <a:stretch>
                  <a:fillRect l="-5263" t="-5932" r="-4511" b="-1186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0D4B5114-D8FD-0C65-92AB-8B23832DE539}"/>
              </a:ext>
            </a:extLst>
          </p:cNvPr>
          <p:cNvSpPr txBox="1"/>
          <p:nvPr/>
        </p:nvSpPr>
        <p:spPr>
          <a:xfrm>
            <a:off x="4267198" y="2826179"/>
            <a:ext cx="8723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C80E5E-4951-6CFD-13B1-4AF3B8813149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3478304" y="2691242"/>
            <a:ext cx="788894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EEBEBA3-D47F-178F-DDC4-0D17A6654F34}"/>
              </a:ext>
            </a:extLst>
          </p:cNvPr>
          <p:cNvSpPr txBox="1"/>
          <p:nvPr/>
        </p:nvSpPr>
        <p:spPr>
          <a:xfrm>
            <a:off x="455273" y="2826179"/>
            <a:ext cx="10695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1A711C0-3029-17B9-4320-E7AEF623F9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990035" y="2626659"/>
            <a:ext cx="847730" cy="199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39B8B7B-318D-3C88-F919-2AC5DFA2EE29}"/>
              </a:ext>
            </a:extLst>
          </p:cNvPr>
          <p:cNvSpPr txBox="1"/>
          <p:nvPr/>
        </p:nvSpPr>
        <p:spPr>
          <a:xfrm>
            <a:off x="2754181" y="4444663"/>
            <a:ext cx="197021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state</a:t>
            </a:r>
            <a:r>
              <a:rPr lang="de-DE" sz="2400" dirty="0"/>
              <a:t> variable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DB3ED4-916D-A36D-7EE5-90705408C92C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3478304" y="4240306"/>
            <a:ext cx="260987" cy="204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757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/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energy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storages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and spring</a:t>
                </a:r>
              </a:p>
              <a:p>
                <a:r>
                  <a:rPr lang="de-DE" sz="2000" dirty="0" err="1"/>
                  <a:t>even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choose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de-DE" sz="2000" dirty="0"/>
              </a:p>
              <a:p>
                <a:r>
                  <a:rPr lang="de-DE" sz="2000" dirty="0"/>
                  <a:t>(first-order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removed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spring)</a:t>
                </a:r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blipFill>
                <a:blip r:embed="rId2"/>
                <a:stretch>
                  <a:fillRect l="-1707" t="-3478" r="-1463" b="-69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790FEE8-8184-DD9F-1C24-7654B2B8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Differential-</a:t>
            </a:r>
            <a:r>
              <a:rPr lang="de-DE" dirty="0" err="1"/>
              <a:t>Equation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3EE465-2DFE-E432-459B-8A985DE18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Describe</a:t>
            </a:r>
            <a:r>
              <a:rPr lang="de-DE" sz="2400" dirty="0"/>
              <a:t> </a:t>
            </a:r>
            <a:r>
              <a:rPr lang="de-DE" sz="2400" dirty="0" err="1"/>
              <a:t>dynamics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derivatives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Order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equation</a:t>
            </a:r>
            <a:r>
              <a:rPr lang="de-DE" sz="2400" dirty="0"/>
              <a:t> =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endParaRPr lang="de-DE" sz="2400" dirty="0"/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r>
              <a:rPr lang="de-DE" sz="2000" dirty="0"/>
              <a:t> variables</a:t>
            </a:r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energy</a:t>
            </a:r>
            <a:r>
              <a:rPr lang="de-DE" sz="2000" dirty="0"/>
              <a:t> </a:t>
            </a:r>
            <a:r>
              <a:rPr lang="de-DE" sz="2000" dirty="0" err="1"/>
              <a:t>storage</a:t>
            </a:r>
            <a:r>
              <a:rPr lang="de-DE" sz="2000" dirty="0"/>
              <a:t> </a:t>
            </a:r>
            <a:r>
              <a:rPr lang="de-DE" sz="2000" dirty="0" err="1"/>
              <a:t>elements</a:t>
            </a:r>
            <a:endParaRPr lang="de-DE" sz="2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62B11-9C37-F0BA-412F-DEFAC07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 dirty="0"/>
          </a:p>
        </p:txBody>
      </p:sp>
      <p:pic>
        <p:nvPicPr>
          <p:cNvPr id="14" name="Grafik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257B890-6432-CC1A-D6AD-4BD0B2A7E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22923"/>
            <a:ext cx="5941291" cy="26443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/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Newton: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Model: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blipFill>
                <a:blip r:embed="rId4"/>
                <a:stretch>
                  <a:fillRect l="-2303" t="-2532" b="-6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0E24689-D178-8F94-86ED-3E45D44F9A03}"/>
              </a:ext>
            </a:extLst>
          </p:cNvPr>
          <p:cNvCxnSpPr>
            <a:cxnSpLocks/>
          </p:cNvCxnSpPr>
          <p:nvPr/>
        </p:nvCxnSpPr>
        <p:spPr>
          <a:xfrm flipV="1">
            <a:off x="8069802" y="4738357"/>
            <a:ext cx="250403" cy="6003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48531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430FE-3799-1595-6BBF-C595E3B3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Time-Invariant (LTI)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707770-EA62-1D7F-DA49-55EA5F60F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Linear: </a:t>
            </a:r>
            <a:r>
              <a:rPr lang="de-DE" dirty="0" err="1"/>
              <a:t>superposition</a:t>
            </a:r>
            <a:r>
              <a:rPr lang="de-DE" dirty="0"/>
              <a:t> </a:t>
            </a:r>
            <a:r>
              <a:rPr lang="de-DE" dirty="0" err="1"/>
              <a:t>applies</a:t>
            </a:r>
            <a:r>
              <a:rPr lang="de-DE" dirty="0"/>
              <a:t> (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additivity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Time-invariant: </a:t>
            </a:r>
            <a:r>
              <a:rPr lang="de-DE" dirty="0" err="1"/>
              <a:t>parameters</a:t>
            </a:r>
            <a:r>
              <a:rPr lang="de-DE" dirty="0"/>
              <a:t> do not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38F975-57B4-D1A4-A311-7F49874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1596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DA3A2-F561-C805-764F-7D8E46B2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(P)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Output proportional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Static </a:t>
                </a:r>
                <a:r>
                  <a:rPr lang="de-DE" dirty="0" err="1"/>
                  <a:t>gain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</a:t>
                </a:r>
                <a:r>
                  <a:rPr lang="de-DE" dirty="0" err="1"/>
                  <a:t>amplifier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59E45-F9D5-78E4-AB35-D7A48D2F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D233A60-217F-FEDE-E919-A1B9410F4E07}"/>
              </a:ext>
            </a:extLst>
          </p:cNvPr>
          <p:cNvCxnSpPr/>
          <p:nvPr/>
        </p:nvCxnSpPr>
        <p:spPr>
          <a:xfrm flipV="1">
            <a:off x="2312894" y="2716306"/>
            <a:ext cx="609600" cy="7126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93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CBF-9F85-6A17-680B-700361A6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B04744-0A78-585A-ABF6-255841A38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Integrator </a:t>
            </a:r>
            <a:r>
              <a:rPr lang="de-DE" dirty="0" err="1"/>
              <a:t>accumulates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Differentiator </a:t>
            </a:r>
            <a:r>
              <a:rPr lang="de-DE" dirty="0" err="1"/>
              <a:t>responds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rate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change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appear</a:t>
            </a:r>
            <a:r>
              <a:rPr lang="de-DE" dirty="0"/>
              <a:t> </a:t>
            </a:r>
            <a:r>
              <a:rPr lang="de-DE" dirty="0" err="1"/>
              <a:t>implicitly</a:t>
            </a:r>
            <a:r>
              <a:rPr lang="de-DE" dirty="0"/>
              <a:t> in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72E14E-7EB9-A40B-34AA-AC73D257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04118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7B3AFA5-F42B-1CAA-6F55-BCB974EFB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658286"/>
            <a:ext cx="5032899" cy="383458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745A1B-AEBE-B4CE-44F5-18B930F7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Systems (PT1)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One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element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Characterized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time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Smooth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A2CB85-35FF-7939-CCB6-F661E5A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B9C476A-5E24-7EB7-4348-D3FCC0B3AA08}"/>
              </a:ext>
            </a:extLst>
          </p:cNvPr>
          <p:cNvSpPr txBox="1"/>
          <p:nvPr/>
        </p:nvSpPr>
        <p:spPr>
          <a:xfrm>
            <a:off x="6885003" y="2196621"/>
            <a:ext cx="34511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467835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787393-544D-703C-713F-00B09CCF1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Systems (PT2)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4AE596-18C7-3B34-C44D-8A40912DE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64946" cy="4351338"/>
          </a:xfrm>
        </p:spPr>
        <p:txBody>
          <a:bodyPr/>
          <a:lstStyle/>
          <a:p>
            <a:pPr marL="0" indent="0">
              <a:buNone/>
            </a:pP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storage</a:t>
            </a:r>
            <a:r>
              <a:rPr lang="de-DE" dirty="0"/>
              <a:t> </a:t>
            </a:r>
            <a:r>
              <a:rPr lang="de-DE" dirty="0" err="1"/>
              <a:t>elements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Can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oscillations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Characterized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and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3C8AB7-4D08-3D96-5BB4-B17DE1DB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0B91D4-5F29-B7E7-E568-E5CE0BB55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3146" y="2600219"/>
            <a:ext cx="5050654" cy="3892656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E3617C7-60E3-4AD5-CB4C-AF5151E922A9}"/>
              </a:ext>
            </a:extLst>
          </p:cNvPr>
          <p:cNvSpPr txBox="1"/>
          <p:nvPr/>
        </p:nvSpPr>
        <p:spPr>
          <a:xfrm>
            <a:off x="6768854" y="1729955"/>
            <a:ext cx="458494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underdamped</a:t>
            </a:r>
            <a:r>
              <a:rPr lang="de-DE" sz="2400" dirty="0"/>
              <a:t> vs. </a:t>
            </a:r>
            <a:r>
              <a:rPr lang="de-DE" sz="2400" dirty="0" err="1"/>
              <a:t>overdamped</a:t>
            </a:r>
            <a:r>
              <a:rPr lang="de-DE" sz="2400" dirty="0"/>
              <a:t> </a:t>
            </a:r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2164833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44C1E-E015-47BF-5487-BEED8BB4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Dead Time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AE5EC4-52A4-BBD7-A547-E7DA4C4B39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Delay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and </a:t>
            </a:r>
            <a:r>
              <a:rPr lang="de-DE" dirty="0" err="1"/>
              <a:t>output</a:t>
            </a:r>
            <a:endParaRPr lang="de-DE" dirty="0"/>
          </a:p>
          <a:p>
            <a:r>
              <a:rPr lang="de-DE" dirty="0"/>
              <a:t>Common in </a:t>
            </a:r>
            <a:r>
              <a:rPr lang="de-DE" dirty="0" err="1"/>
              <a:t>processes</a:t>
            </a:r>
            <a:r>
              <a:rPr lang="de-DE" dirty="0"/>
              <a:t> and </a:t>
            </a:r>
            <a:r>
              <a:rPr lang="de-DE" dirty="0" err="1"/>
              <a:t>networks</a:t>
            </a:r>
            <a:endParaRPr lang="de-DE" dirty="0"/>
          </a:p>
          <a:p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difficult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delayed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8C4DB-992A-84DE-7144-6A990A34D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887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9529AB-26C3-8699-F6E0-44E6F99C4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Physics </a:t>
            </a:r>
            <a:r>
              <a:rPr lang="de-DE" dirty="0" err="1"/>
              <a:t>to</a:t>
            </a:r>
            <a:r>
              <a:rPr lang="de-DE" dirty="0"/>
              <a:t>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8842CF-55F2-BFAD-1DD3-9B17F043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and </a:t>
            </a:r>
            <a:r>
              <a:rPr lang="de-DE" dirty="0" err="1"/>
              <a:t>outputs</a:t>
            </a:r>
            <a:endParaRPr lang="de-DE" dirty="0"/>
          </a:p>
          <a:p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de-DE" dirty="0"/>
          </a:p>
          <a:p>
            <a:r>
              <a:rPr lang="de-DE" dirty="0" err="1"/>
              <a:t>Validate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FFC39-4C8A-4A66-CC5D-F43A3FFE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2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544</Words>
  <Application>Microsoft Macintosh PowerPoint</Application>
  <PresentationFormat>Breitbild</PresentationFormat>
  <Paragraphs>172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Cambria Math</vt:lpstr>
      <vt:lpstr>Wingdings</vt:lpstr>
      <vt:lpstr>Office Theme</vt:lpstr>
      <vt:lpstr>Systems</vt:lpstr>
      <vt:lpstr>Course Schedule</vt:lpstr>
      <vt:lpstr>Systems</vt:lpstr>
      <vt:lpstr>Processes, Systems, Models</vt:lpstr>
      <vt:lpstr>Examples from Electrical Engineering</vt:lpstr>
      <vt:lpstr>Static and Dynamic Systems</vt:lpstr>
      <vt:lpstr>Why We Need Models</vt:lpstr>
      <vt:lpstr>Mathematical Models</vt:lpstr>
      <vt:lpstr>Differential-Equation Models</vt:lpstr>
      <vt:lpstr>Linear Time-Invariant (LTI) Systems</vt:lpstr>
      <vt:lpstr>Proportional (P) Systems</vt:lpstr>
      <vt:lpstr>Integrating and Differentiating Behavior</vt:lpstr>
      <vt:lpstr>First-Order Systems (PT1)</vt:lpstr>
      <vt:lpstr>Second-Order Systems (PT2)</vt:lpstr>
      <vt:lpstr>Dead Time</vt:lpstr>
      <vt:lpstr>From Physics to Model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78</cp:revision>
  <dcterms:created xsi:type="dcterms:W3CDTF">2025-01-08T09:27:30Z</dcterms:created>
  <dcterms:modified xsi:type="dcterms:W3CDTF">2026-01-29T21:38:56Z</dcterms:modified>
</cp:coreProperties>
</file>
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sldIdLst>
    <p:sldId id="256" r:id="rId2"/>
    <p:sldId id="265" r:id="rId3"/>
    <p:sldId id="266" r:id="rId4"/>
    <p:sldId id="267" r:id="rId5"/>
    <p:sldId id="279" r:id="rId6"/>
    <p:sldId id="278" r:id="rId7"/>
    <p:sldId id="269" r:id="rId8"/>
    <p:sldId id="270" r:id="rId9"/>
    <p:sldId id="268" r:id="rId10"/>
    <p:sldId id="272" r:id="rId11"/>
    <p:sldId id="273" r:id="rId12"/>
    <p:sldId id="309" r:id="rId13"/>
    <p:sldId id="274" r:id="rId14"/>
    <p:sldId id="310" r:id="rId15"/>
    <p:sldId id="281" r:id="rId16"/>
    <p:sldId id="306" r:id="rId17"/>
    <p:sldId id="307" r:id="rId18"/>
    <p:sldId id="308" r:id="rId19"/>
    <p:sldId id="275" r:id="rId20"/>
    <p:sldId id="282" r:id="rId21"/>
    <p:sldId id="283" r:id="rId22"/>
    <p:sldId id="293" r:id="rId23"/>
    <p:sldId id="295" r:id="rId24"/>
    <p:sldId id="271" r:id="rId25"/>
    <p:sldId id="276" r:id="rId26"/>
    <p:sldId id="280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236"/>
    <p:restoredTop sz="95028" autoAdjust="0"/>
  </p:normalViewPr>
  <p:slideViewPr>
    <p:cSldViewPr snapToGrid="0">
      <p:cViewPr varScale="1">
        <p:scale>
          <a:sx n="144" d="100"/>
          <a:sy n="144" d="100"/>
        </p:scale>
        <p:origin x="1040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30/01/2026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30/01/2026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30/01/2026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30/01/2026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30/01/2026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30/01/2026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5.png"/><Relationship Id="rId4" Type="http://schemas.openxmlformats.org/officeDocument/2006/relationships/image" Target="../media/image4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7" Type="http://schemas.openxmlformats.org/officeDocument/2006/relationships/image" Target="../media/image3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39.png"/><Relationship Id="rId4" Type="http://schemas.openxmlformats.org/officeDocument/2006/relationships/image" Target="../media/image38.jpe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e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image" Target="../media/image4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5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Systems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Systems</a:t>
            </a:r>
            <a:endParaRPr lang="de-DE" dirty="0"/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Static and </a:t>
            </a:r>
            <a:r>
              <a:rPr lang="de-DE" dirty="0" err="1"/>
              <a:t>dynamic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r>
              <a:rPr lang="de-DE" dirty="0"/>
              <a:t>Models</a:t>
            </a:r>
          </a:p>
          <a:p>
            <a:r>
              <a:rPr lang="de-DE" dirty="0"/>
              <a:t>Proportional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First-order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Second-order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Linear Time-Invariant </a:t>
            </a:r>
            <a:r>
              <a:rPr lang="de-DE" dirty="0" err="1"/>
              <a:t>systems</a:t>
            </a:r>
            <a:endParaRPr lang="de-DE" dirty="0"/>
          </a:p>
          <a:p>
            <a:r>
              <a:rPr lang="de-DE" dirty="0"/>
              <a:t>Dead time</a:t>
            </a:r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26E518A-DC77-9110-1E09-9A1FB046C4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Processes</a:t>
            </a:r>
            <a:r>
              <a:rPr lang="de-DE" dirty="0"/>
              <a:t>, Systems,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3110E7-5232-B30B-84A9-F009528885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sz="2600" dirty="0" err="1"/>
              <a:t>Process</a:t>
            </a:r>
            <a:r>
              <a:rPr lang="de-DE" sz="2600" dirty="0"/>
              <a:t>: </a:t>
            </a:r>
            <a:r>
              <a:rPr lang="de-DE" sz="2600" dirty="0" err="1"/>
              <a:t>the</a:t>
            </a:r>
            <a:r>
              <a:rPr lang="de-DE" sz="2600" dirty="0"/>
              <a:t> real-</a:t>
            </a:r>
            <a:r>
              <a:rPr lang="de-DE" sz="2600" dirty="0" err="1"/>
              <a:t>world</a:t>
            </a:r>
            <a:r>
              <a:rPr lang="de-DE" sz="2600" dirty="0"/>
              <a:t> </a:t>
            </a:r>
            <a:r>
              <a:rPr lang="de-DE" sz="2600" dirty="0" err="1"/>
              <a:t>phenomenon</a:t>
            </a:r>
            <a:r>
              <a:rPr lang="de-DE" sz="2600" dirty="0"/>
              <a:t> (</a:t>
            </a:r>
            <a:r>
              <a:rPr lang="de-DE" sz="2600" dirty="0" err="1"/>
              <a:t>physical</a:t>
            </a:r>
            <a:r>
              <a:rPr lang="de-DE" sz="2600" dirty="0"/>
              <a:t>, </a:t>
            </a:r>
            <a:r>
              <a:rPr lang="de-DE" sz="2600" dirty="0" err="1"/>
              <a:t>biological</a:t>
            </a:r>
            <a:r>
              <a:rPr lang="de-DE" sz="2600" dirty="0"/>
              <a:t>, ...), aka plant</a:t>
            </a:r>
          </a:p>
          <a:p>
            <a:pPr marL="0" indent="0">
              <a:buNone/>
            </a:pPr>
            <a:r>
              <a:rPr lang="de-DE" sz="2600" dirty="0"/>
              <a:t>System: </a:t>
            </a:r>
            <a:r>
              <a:rPr lang="de-DE" sz="2600" dirty="0" err="1"/>
              <a:t>abstraction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that</a:t>
            </a:r>
            <a:r>
              <a:rPr lang="de-DE" sz="2600" dirty="0"/>
              <a:t> </a:t>
            </a:r>
            <a:r>
              <a:rPr lang="de-DE" sz="2600" dirty="0" err="1"/>
              <a:t>process</a:t>
            </a:r>
            <a:r>
              <a:rPr lang="de-DE" sz="2600" dirty="0"/>
              <a:t> (</a:t>
            </a:r>
            <a:r>
              <a:rPr lang="de-DE" sz="2600" dirty="0" err="1"/>
              <a:t>behavior</a:t>
            </a:r>
            <a:r>
              <a:rPr lang="de-DE" sz="2600" dirty="0"/>
              <a:t>, </a:t>
            </a:r>
            <a:r>
              <a:rPr lang="de-DE" sz="2600" dirty="0" err="1"/>
              <a:t>dynamics</a:t>
            </a:r>
            <a:r>
              <a:rPr lang="de-DE" sz="2600" dirty="0"/>
              <a:t>)</a:t>
            </a:r>
          </a:p>
          <a:p>
            <a:pPr marL="0" indent="0">
              <a:buNone/>
            </a:pPr>
            <a:r>
              <a:rPr lang="de-DE" sz="2600" dirty="0"/>
              <a:t>Model: </a:t>
            </a:r>
            <a:r>
              <a:rPr lang="de-DE" sz="2600" dirty="0" err="1"/>
              <a:t>mathematical</a:t>
            </a:r>
            <a:r>
              <a:rPr lang="de-DE" sz="2600" dirty="0"/>
              <a:t> </a:t>
            </a:r>
            <a:r>
              <a:rPr lang="de-DE" sz="2600" dirty="0" err="1"/>
              <a:t>representation</a:t>
            </a:r>
            <a:r>
              <a:rPr lang="de-DE" sz="2600" dirty="0"/>
              <a:t> </a:t>
            </a:r>
            <a:r>
              <a:rPr lang="de-DE" sz="2600" dirty="0" err="1"/>
              <a:t>of</a:t>
            </a:r>
            <a:r>
              <a:rPr lang="de-DE" sz="2600" dirty="0"/>
              <a:t> </a:t>
            </a:r>
            <a:r>
              <a:rPr lang="de-DE" sz="2600" dirty="0" err="1"/>
              <a:t>the</a:t>
            </a:r>
            <a:r>
              <a:rPr lang="de-DE" sz="2600" dirty="0"/>
              <a:t> </a:t>
            </a:r>
            <a:r>
              <a:rPr lang="de-DE" sz="2600" dirty="0" err="1"/>
              <a:t>system</a:t>
            </a:r>
            <a:endParaRPr lang="de-DE" sz="2600" dirty="0"/>
          </a:p>
          <a:p>
            <a:pPr marL="0" indent="0">
              <a:buNone/>
            </a:pPr>
            <a:endParaRPr lang="de-DE" sz="2600" dirty="0"/>
          </a:p>
          <a:p>
            <a:pPr marL="0" indent="0">
              <a:buNone/>
            </a:pPr>
            <a:r>
              <a:rPr lang="de-DE" sz="2600" dirty="0"/>
              <a:t>A </a:t>
            </a:r>
            <a:r>
              <a:rPr lang="de-DE" sz="2600" dirty="0" err="1"/>
              <a:t>system</a:t>
            </a:r>
            <a:r>
              <a:rPr lang="de-DE" sz="2600" dirty="0"/>
              <a:t> </a:t>
            </a:r>
            <a:r>
              <a:rPr lang="de-DE" sz="2600" dirty="0" err="1"/>
              <a:t>maps</a:t>
            </a:r>
            <a:r>
              <a:rPr lang="de-DE" sz="2600" dirty="0"/>
              <a:t> </a:t>
            </a:r>
            <a:r>
              <a:rPr lang="de-DE" sz="2600" dirty="0" err="1"/>
              <a:t>inputs</a:t>
            </a:r>
            <a:r>
              <a:rPr lang="de-DE" sz="2600" dirty="0"/>
              <a:t> </a:t>
            </a:r>
            <a:r>
              <a:rPr lang="de-DE" sz="2600" dirty="0" err="1"/>
              <a:t>to</a:t>
            </a:r>
            <a:r>
              <a:rPr lang="de-DE" sz="2600" dirty="0"/>
              <a:t> </a:t>
            </a:r>
            <a:r>
              <a:rPr lang="de-DE" sz="2600" dirty="0" err="1"/>
              <a:t>outputs</a:t>
            </a:r>
            <a:r>
              <a:rPr lang="de-DE" sz="2600" dirty="0"/>
              <a:t> (just like </a:t>
            </a:r>
            <a:r>
              <a:rPr lang="de-DE" sz="2600" dirty="0" err="1"/>
              <a:t>processes</a:t>
            </a:r>
            <a:r>
              <a:rPr lang="de-DE" sz="2600" dirty="0"/>
              <a:t>)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7531475-6B8E-3F3D-846A-AF489366F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26180031-A75F-3AC2-3F38-AC11E63A41E7}"/>
              </a:ext>
            </a:extLst>
          </p:cNvPr>
          <p:cNvGrpSpPr/>
          <p:nvPr/>
        </p:nvGrpSpPr>
        <p:grpSpPr>
          <a:xfrm>
            <a:off x="838200" y="4511630"/>
            <a:ext cx="6229171" cy="779319"/>
            <a:chOff x="3118757" y="2475922"/>
            <a:chExt cx="6229171" cy="779319"/>
          </a:xfrm>
        </p:grpSpPr>
        <p:sp>
          <p:nvSpPr>
            <p:cNvPr id="5" name="Rechteck 4">
              <a:extLst>
                <a:ext uri="{FF2B5EF4-FFF2-40B4-BE49-F238E27FC236}">
                  <a16:creationId xmlns:a16="http://schemas.microsoft.com/office/drawing/2014/main" id="{CA79A6B5-E635-45E3-1B26-A02487173C96}"/>
                </a:ext>
              </a:extLst>
            </p:cNvPr>
            <p:cNvSpPr/>
            <p:nvPr/>
          </p:nvSpPr>
          <p:spPr>
            <a:xfrm>
              <a:off x="5103668" y="2475922"/>
              <a:ext cx="1984663" cy="77931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2800" dirty="0">
                  <a:solidFill>
                    <a:schemeClr val="tx1"/>
                  </a:solidFill>
                </a:rPr>
                <a:t>System</a:t>
              </a: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445ECD13-2956-37B4-A2D4-865F188C4763}"/>
                </a:ext>
              </a:extLst>
            </p:cNvPr>
            <p:cNvSpPr txBox="1"/>
            <p:nvPr/>
          </p:nvSpPr>
          <p:spPr>
            <a:xfrm>
              <a:off x="3118757" y="2603970"/>
              <a:ext cx="99257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Input</a:t>
              </a:r>
            </a:p>
          </p:txBody>
        </p:sp>
        <p:sp>
          <p:nvSpPr>
            <p:cNvPr id="7" name="Textfeld 6">
              <a:extLst>
                <a:ext uri="{FF2B5EF4-FFF2-40B4-BE49-F238E27FC236}">
                  <a16:creationId xmlns:a16="http://schemas.microsoft.com/office/drawing/2014/main" id="{4E0954CB-8FEC-D438-8DF1-F08406595F2A}"/>
                </a:ext>
              </a:extLst>
            </p:cNvPr>
            <p:cNvSpPr txBox="1"/>
            <p:nvPr/>
          </p:nvSpPr>
          <p:spPr>
            <a:xfrm>
              <a:off x="8066808" y="2603970"/>
              <a:ext cx="128112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sz="2800" dirty="0"/>
                <a:t>Output</a:t>
              </a:r>
            </a:p>
          </p:txBody>
        </p:sp>
        <p:cxnSp>
          <p:nvCxnSpPr>
            <p:cNvPr id="8" name="Gerade Verbindung mit Pfeil 7">
              <a:extLst>
                <a:ext uri="{FF2B5EF4-FFF2-40B4-BE49-F238E27FC236}">
                  <a16:creationId xmlns:a16="http://schemas.microsoft.com/office/drawing/2014/main" id="{AEAC545C-64A5-274D-2F85-1BE9EEEC911E}"/>
                </a:ext>
              </a:extLst>
            </p:cNvPr>
            <p:cNvCxnSpPr>
              <a:endCxn id="5" idx="1"/>
            </p:cNvCxnSpPr>
            <p:nvPr/>
          </p:nvCxnSpPr>
          <p:spPr>
            <a:xfrm>
              <a:off x="4125191" y="2865581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9" name="Gerade Verbindung mit Pfeil 8">
              <a:extLst>
                <a:ext uri="{FF2B5EF4-FFF2-40B4-BE49-F238E27FC236}">
                  <a16:creationId xmlns:a16="http://schemas.microsoft.com/office/drawing/2014/main" id="{0F1911F2-5D6C-62F5-520D-54636FEB189A}"/>
                </a:ext>
              </a:extLst>
            </p:cNvPr>
            <p:cNvCxnSpPr/>
            <p:nvPr/>
          </p:nvCxnSpPr>
          <p:spPr>
            <a:xfrm>
              <a:off x="7088331" y="2865580"/>
              <a:ext cx="97847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15" name="Grafik 14" descr="Ein Bild, das Screenshot, Design enthält.&#10;&#10;KI-generierte Inhalte können fehlerhaft sein.">
            <a:extLst>
              <a:ext uri="{FF2B5EF4-FFF2-40B4-BE49-F238E27FC236}">
                <a16:creationId xmlns:a16="http://schemas.microsoft.com/office/drawing/2014/main" id="{71FFB093-9F42-8E87-5125-95311FC01F8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45848" y="4570700"/>
            <a:ext cx="1007922" cy="2266260"/>
          </a:xfrm>
          <a:prstGeom prst="rect">
            <a:avLst/>
          </a:prstGeom>
        </p:spPr>
      </p:pic>
      <p:sp>
        <p:nvSpPr>
          <p:cNvPr id="16" name="Textfeld 15">
            <a:extLst>
              <a:ext uri="{FF2B5EF4-FFF2-40B4-BE49-F238E27FC236}">
                <a16:creationId xmlns:a16="http://schemas.microsoft.com/office/drawing/2014/main" id="{51A18DA6-E292-9399-7437-B86DDA383137}"/>
              </a:ext>
            </a:extLst>
          </p:cNvPr>
          <p:cNvSpPr txBox="1"/>
          <p:nvPr/>
        </p:nvSpPr>
        <p:spPr>
          <a:xfrm>
            <a:off x="9153982" y="4570700"/>
            <a:ext cx="2813591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200" dirty="0" err="1"/>
              <a:t>input</a:t>
            </a:r>
            <a:r>
              <a:rPr lang="de-DE" sz="2200" dirty="0"/>
              <a:t>: external </a:t>
            </a:r>
            <a:r>
              <a:rPr lang="de-DE" sz="2200" dirty="0" err="1"/>
              <a:t>force</a:t>
            </a:r>
            <a:endParaRPr lang="de-DE" sz="2200" dirty="0"/>
          </a:p>
          <a:p>
            <a:endParaRPr lang="de-DE" sz="2200" dirty="0"/>
          </a:p>
          <a:p>
            <a:r>
              <a:rPr lang="de-DE" sz="2200" dirty="0" err="1"/>
              <a:t>output</a:t>
            </a:r>
            <a:r>
              <a:rPr lang="de-DE" sz="2200" dirty="0"/>
              <a:t>: </a:t>
            </a:r>
            <a:r>
              <a:rPr lang="de-DE" sz="2200" dirty="0" err="1"/>
              <a:t>displacement</a:t>
            </a:r>
            <a:endParaRPr lang="de-DE" sz="2200" dirty="0"/>
          </a:p>
        </p:txBody>
      </p:sp>
    </p:spTree>
    <p:extLst>
      <p:ext uri="{BB962C8B-B14F-4D97-AF65-F5344CB8AC3E}">
        <p14:creationId xmlns:p14="http://schemas.microsoft.com/office/powerpoint/2010/main" val="11776391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9B6817-D8E2-2AA6-7697-58C1469A6D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Static and Dynamic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de-DE" sz="2400" dirty="0"/>
                  <a:t>Static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</a:t>
                </a:r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Output </a:t>
                </a:r>
                <a:r>
                  <a:rPr lang="de-DE" sz="2400" dirty="0" err="1"/>
                  <a:t>depends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only</a:t>
                </a:r>
                <a:r>
                  <a:rPr lang="de-DE" sz="2400" dirty="0"/>
                  <a:t> on </a:t>
                </a:r>
                <a:r>
                  <a:rPr lang="de-DE" sz="2400" dirty="0" err="1"/>
                  <a:t>the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current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input</a:t>
                </a:r>
                <a:r>
                  <a:rPr lang="de-DE" sz="2400" dirty="0"/>
                  <a:t>, </a:t>
                </a:r>
                <a:r>
                  <a:rPr lang="de-DE" sz="2400" dirty="0" err="1"/>
                  <a:t>no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memory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/>
                  <a:t>Time-</a:t>
                </a:r>
                <a:r>
                  <a:rPr lang="de-DE" sz="2400" dirty="0" err="1"/>
                  <a:t>varying</a:t>
                </a:r>
                <a:r>
                  <a:rPr lang="de-DE" sz="2400" dirty="0"/>
                  <a:t> ≠ </a:t>
                </a:r>
                <a:r>
                  <a:rPr lang="de-DE" sz="2400" dirty="0" err="1"/>
                  <a:t>dynamic</a:t>
                </a:r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/>
                  <a:t>Examples</a:t>
                </a:r>
                <a:r>
                  <a:rPr lang="de-DE" sz="2400" dirty="0"/>
                  <a:t>:</a:t>
                </a:r>
              </a:p>
              <a:p>
                <a:r>
                  <a:rPr lang="de-DE" sz="2400" dirty="0" err="1"/>
                  <a:t>Resistor</a:t>
                </a:r>
                <a:r>
                  <a:rPr lang="de-DE" sz="2400" dirty="0"/>
                  <a:t> (</a:t>
                </a:r>
                <a:r>
                  <a:rPr lang="de-DE" sz="2400" dirty="0" err="1"/>
                  <a:t>model</a:t>
                </a:r>
                <a:r>
                  <a:rPr lang="de-DE" sz="2400" dirty="0"/>
                  <a:t>: 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sz="2400" dirty="0"/>
                  <a:t>)</a:t>
                </a:r>
              </a:p>
              <a:p>
                <a:r>
                  <a:rPr lang="de-DE" sz="2400" dirty="0"/>
                  <a:t>Valve</a:t>
                </a:r>
              </a:p>
              <a:p>
                <a:pPr marL="0" indent="0">
                  <a:buNone/>
                </a:pPr>
                <a:endParaRPr lang="de-DE" sz="2400" dirty="0"/>
              </a:p>
            </p:txBody>
          </p:sp>
        </mc:Choice>
        <mc:Fallback>
          <p:sp>
            <p:nvSpPr>
              <p:cNvPr id="5" name="Inhaltsplatzhalter 4">
                <a:extLst>
                  <a:ext uri="{FF2B5EF4-FFF2-40B4-BE49-F238E27FC236}">
                    <a16:creationId xmlns:a16="http://schemas.microsoft.com/office/drawing/2014/main" id="{CDFBEA91-6A2C-D74A-3F3D-4F9B9F07543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1956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CFF3653-0989-4B37-A4F6-8582EF3938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sz="2600" dirty="0"/>
              <a:t>Dynamic </a:t>
            </a:r>
            <a:r>
              <a:rPr lang="de-DE" sz="2600" dirty="0" err="1"/>
              <a:t>system</a:t>
            </a:r>
            <a:r>
              <a:rPr lang="de-DE" sz="2600" dirty="0"/>
              <a:t>: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Output </a:t>
            </a:r>
            <a:r>
              <a:rPr lang="de-DE" sz="2400" dirty="0" err="1"/>
              <a:t>depends</a:t>
            </a:r>
            <a:r>
              <a:rPr lang="de-DE" sz="2400" dirty="0"/>
              <a:t> on </a:t>
            </a:r>
            <a:r>
              <a:rPr lang="de-DE" sz="2400" dirty="0" err="1"/>
              <a:t>input</a:t>
            </a:r>
            <a:r>
              <a:rPr lang="de-DE" sz="2400" dirty="0"/>
              <a:t> and </a:t>
            </a:r>
            <a:r>
              <a:rPr lang="de-DE" sz="2400" dirty="0" err="1"/>
              <a:t>past</a:t>
            </a:r>
            <a:r>
              <a:rPr lang="de-DE" sz="2400" dirty="0"/>
              <a:t> </a:t>
            </a:r>
            <a:r>
              <a:rPr lang="de-DE" sz="2400" dirty="0" err="1"/>
              <a:t>states</a:t>
            </a:r>
            <a:r>
              <a:rPr lang="de-DE" sz="2400" dirty="0"/>
              <a:t> </a:t>
            </a:r>
            <a:r>
              <a:rPr lang="de-DE" sz="2400" dirty="0">
                <a:sym typeface="Wingdings" pitchFamily="2" charset="2"/>
              </a:rPr>
              <a:t> </a:t>
            </a:r>
            <a:r>
              <a:rPr lang="de-DE" sz="2400" dirty="0" err="1">
                <a:sym typeface="Wingdings" pitchFamily="2" charset="2"/>
              </a:rPr>
              <a:t>e</a:t>
            </a:r>
            <a:r>
              <a:rPr lang="de-DE" sz="2400" dirty="0" err="1"/>
              <a:t>volves</a:t>
            </a:r>
            <a:r>
              <a:rPr lang="de-DE" sz="2400" dirty="0"/>
              <a:t> </a:t>
            </a:r>
            <a:r>
              <a:rPr lang="de-DE" sz="2400" dirty="0" err="1"/>
              <a:t>over</a:t>
            </a:r>
            <a:r>
              <a:rPr lang="de-DE" sz="2400" dirty="0"/>
              <a:t> time</a:t>
            </a:r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Energy </a:t>
            </a:r>
            <a:r>
              <a:rPr lang="de-DE" sz="2400" dirty="0" err="1"/>
              <a:t>storage</a:t>
            </a:r>
            <a:r>
              <a:rPr lang="de-DE" sz="2400" dirty="0"/>
              <a:t> → </a:t>
            </a:r>
            <a:r>
              <a:rPr lang="de-DE" sz="2400" dirty="0" err="1"/>
              <a:t>memory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 err="1"/>
              <a:t>Examples</a:t>
            </a:r>
            <a:r>
              <a:rPr lang="de-DE" sz="2400" dirty="0"/>
              <a:t>:</a:t>
            </a:r>
          </a:p>
          <a:p>
            <a:r>
              <a:rPr lang="de-DE" sz="2400" dirty="0" err="1"/>
              <a:t>Capacitor</a:t>
            </a:r>
            <a:endParaRPr lang="de-DE" sz="2400" dirty="0"/>
          </a:p>
          <a:p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endParaRPr lang="de-DE" sz="24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2028F3F-A06F-B192-9493-474FEFE317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80636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DBBC1F88-92A4-BDC4-FF33-BC5C3DAAF0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Examples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Electrical</a:t>
            </a:r>
            <a:r>
              <a:rPr lang="de-DE" dirty="0"/>
              <a:t> Engineering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9B18FA1-6A05-6187-A225-0C7F9F98F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  <p:pic>
        <p:nvPicPr>
          <p:cNvPr id="6" name="Grafik 5" descr="Ein Bild, das Symbol, Kreis, Diagramm, Uhr enthält.&#10;&#10;KI-generierte Inhalte können fehlerhaft sein.">
            <a:extLst>
              <a:ext uri="{FF2B5EF4-FFF2-40B4-BE49-F238E27FC236}">
                <a16:creationId xmlns:a16="http://schemas.microsoft.com/office/drawing/2014/main" id="{0880E623-0321-9C6F-4C36-1014069D03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901192"/>
            <a:ext cx="3982885" cy="2275935"/>
          </a:xfrm>
          <a:prstGeom prst="rect">
            <a:avLst/>
          </a:prstGeom>
        </p:spPr>
      </p:pic>
      <p:pic>
        <p:nvPicPr>
          <p:cNvPr id="7" name="Grafik 6" descr="Ein Bild, das Natur, Schraubenfeder, Frühling, Metallwaren enthält.&#10;&#10;KI-generierte Inhalte können fehlerhaft sein.">
            <a:extLst>
              <a:ext uri="{FF2B5EF4-FFF2-40B4-BE49-F238E27FC236}">
                <a16:creationId xmlns:a16="http://schemas.microsoft.com/office/drawing/2014/main" id="{D23C063E-AF1A-9081-C901-094C848CBA1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27680" y="2901192"/>
            <a:ext cx="4026120" cy="22759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/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𝑖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4EA9700C-9ADB-C161-BFDF-D553D99BED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8079" y="5504257"/>
                <a:ext cx="1505527" cy="852093"/>
              </a:xfrm>
              <a:prstGeom prst="rect">
                <a:avLst/>
              </a:prstGeom>
              <a:blipFill>
                <a:blip r:embed="rId4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/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sz="26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num>
                        <m:den>
                          <m:r>
                            <a:rPr lang="de-DE" sz="260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6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6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6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de-DE" sz="2600" dirty="0"/>
              </a:p>
            </p:txBody>
          </p:sp>
        </mc:Choice>
        <mc:Fallback xmlns="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16BAB09D-2B5A-60A0-67CA-EE8B28CA9A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35933" y="5504256"/>
                <a:ext cx="1505527" cy="852093"/>
              </a:xfrm>
              <a:prstGeom prst="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feld 10">
            <a:extLst>
              <a:ext uri="{FF2B5EF4-FFF2-40B4-BE49-F238E27FC236}">
                <a16:creationId xmlns:a16="http://schemas.microsoft.com/office/drawing/2014/main" id="{05F6B445-4D6F-969D-B06C-7546F3FF2786}"/>
              </a:ext>
            </a:extLst>
          </p:cNvPr>
          <p:cNvSpPr txBox="1"/>
          <p:nvPr/>
        </p:nvSpPr>
        <p:spPr>
          <a:xfrm>
            <a:off x="4043319" y="2327840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D6AA7A4D-A095-494D-E518-B74729095780}"/>
              </a:ext>
            </a:extLst>
          </p:cNvPr>
          <p:cNvSpPr txBox="1"/>
          <p:nvPr/>
        </p:nvSpPr>
        <p:spPr>
          <a:xfrm>
            <a:off x="7983532" y="2327839"/>
            <a:ext cx="930063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input</a:t>
            </a:r>
            <a:endParaRPr lang="de-DE" sz="2600" dirty="0"/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DA0A9184-808B-6FFE-8313-058147AF64C1}"/>
              </a:ext>
            </a:extLst>
          </p:cNvPr>
          <p:cNvSpPr txBox="1"/>
          <p:nvPr/>
        </p:nvSpPr>
        <p:spPr>
          <a:xfrm>
            <a:off x="1518079" y="2327838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C6DBBE2E-AFEA-49C1-B06A-F6A89A9A88FC}"/>
              </a:ext>
            </a:extLst>
          </p:cNvPr>
          <p:cNvSpPr txBox="1"/>
          <p:nvPr/>
        </p:nvSpPr>
        <p:spPr>
          <a:xfrm>
            <a:off x="9982200" y="2327837"/>
            <a:ext cx="1143262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output</a:t>
            </a:r>
            <a:endParaRPr lang="de-DE" sz="2600" dirty="0"/>
          </a:p>
        </p:txBody>
      </p: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5D4B663-9056-4F72-AC56-22458F3E43B7}"/>
              </a:ext>
            </a:extLst>
          </p:cNvPr>
          <p:cNvCxnSpPr>
            <a:stCxn id="14" idx="2"/>
          </p:cNvCxnSpPr>
          <p:nvPr/>
        </p:nvCxnSpPr>
        <p:spPr>
          <a:xfrm>
            <a:off x="10553831" y="2820280"/>
            <a:ext cx="474387" cy="8373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84D980A-068C-3D37-4DD5-7E4DE59D5067}"/>
              </a:ext>
            </a:extLst>
          </p:cNvPr>
          <p:cNvCxnSpPr>
            <a:stCxn id="12" idx="2"/>
          </p:cNvCxnSpPr>
          <p:nvPr/>
        </p:nvCxnSpPr>
        <p:spPr>
          <a:xfrm flipH="1">
            <a:off x="7878618" y="2820282"/>
            <a:ext cx="569946" cy="985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A971D6C-9261-85F2-0E65-CB9DA5B90560}"/>
              </a:ext>
            </a:extLst>
          </p:cNvPr>
          <p:cNvCxnSpPr>
            <a:stCxn id="11" idx="2"/>
          </p:cNvCxnSpPr>
          <p:nvPr/>
        </p:nvCxnSpPr>
        <p:spPr>
          <a:xfrm>
            <a:off x="4508351" y="2820283"/>
            <a:ext cx="144568" cy="8373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D055DEDA-57B7-1635-3CD4-3C0C910EDDE2}"/>
              </a:ext>
            </a:extLst>
          </p:cNvPr>
          <p:cNvCxnSpPr>
            <a:cxnSpLocks/>
            <a:stCxn id="13" idx="2"/>
          </p:cNvCxnSpPr>
          <p:nvPr/>
        </p:nvCxnSpPr>
        <p:spPr>
          <a:xfrm flipH="1">
            <a:off x="1349913" y="2820281"/>
            <a:ext cx="739797" cy="98510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feld 23">
            <a:extLst>
              <a:ext uri="{FF2B5EF4-FFF2-40B4-BE49-F238E27FC236}">
                <a16:creationId xmlns:a16="http://schemas.microsoft.com/office/drawing/2014/main" id="{0EE07AB7-9F49-8EF7-51A5-6A604B4ECB7B}"/>
              </a:ext>
            </a:extLst>
          </p:cNvPr>
          <p:cNvSpPr txBox="1"/>
          <p:nvPr/>
        </p:nvSpPr>
        <p:spPr>
          <a:xfrm>
            <a:off x="5028176" y="5684080"/>
            <a:ext cx="1103187" cy="49244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600" dirty="0" err="1"/>
              <a:t>model</a:t>
            </a:r>
            <a:endParaRPr lang="de-DE" sz="2600" dirty="0"/>
          </a:p>
        </p:txBody>
      </p:sp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530B8D0B-72F6-B57A-81B7-1E6E9F5E7A1A}"/>
              </a:ext>
            </a:extLst>
          </p:cNvPr>
          <p:cNvCxnSpPr>
            <a:stCxn id="24" idx="1"/>
            <a:endCxn id="9" idx="3"/>
          </p:cNvCxnSpPr>
          <p:nvPr/>
        </p:nvCxnSpPr>
        <p:spPr>
          <a:xfrm flipH="1">
            <a:off x="3023606" y="5930302"/>
            <a:ext cx="2004570" cy="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mit Pfeil 27">
            <a:extLst>
              <a:ext uri="{FF2B5EF4-FFF2-40B4-BE49-F238E27FC236}">
                <a16:creationId xmlns:a16="http://schemas.microsoft.com/office/drawing/2014/main" id="{26594CF1-074C-E8CD-3C7E-0CF751457D7B}"/>
              </a:ext>
            </a:extLst>
          </p:cNvPr>
          <p:cNvCxnSpPr>
            <a:stCxn id="24" idx="3"/>
            <a:endCxn id="10" idx="1"/>
          </p:cNvCxnSpPr>
          <p:nvPr/>
        </p:nvCxnSpPr>
        <p:spPr>
          <a:xfrm>
            <a:off x="6131363" y="5930302"/>
            <a:ext cx="200457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287556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57BBD5-0976-992A-C54D-C2DDFAFB2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Mathematical</a:t>
            </a:r>
            <a:r>
              <a:rPr lang="de-DE" dirty="0"/>
              <a:t> Models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de-DE" dirty="0"/>
                  <a:t>Algebraic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static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Differential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Difference</a:t>
                </a:r>
                <a:r>
                  <a:rPr lang="de-DE" dirty="0"/>
                  <a:t> </a:t>
                </a:r>
                <a:r>
                  <a:rPr lang="de-DE" dirty="0" err="1"/>
                  <a:t>equations</a:t>
                </a:r>
                <a:r>
                  <a:rPr lang="de-DE" dirty="0"/>
                  <a:t> (</a:t>
                </a:r>
                <a:r>
                  <a:rPr lang="de-DE" dirty="0" err="1"/>
                  <a:t>discrete</a:t>
                </a:r>
                <a:r>
                  <a:rPr lang="de-DE" dirty="0"/>
                  <a:t>-time </a:t>
                </a:r>
                <a:r>
                  <a:rPr lang="de-DE" dirty="0" err="1"/>
                  <a:t>systems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+1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8DE79026-1D13-D336-F5DD-95F40151C1E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7583754-5D23-8629-F02D-3782D4A73C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/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30885979-B62F-33FF-777E-719FFD0993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52847" y="662827"/>
                <a:ext cx="900953" cy="619913"/>
              </a:xfrm>
              <a:prstGeom prst="rect">
                <a:avLst/>
              </a:prstGeom>
              <a:blipFill>
                <a:blip r:embed="rId3"/>
                <a:stretch>
                  <a:fillRect b="-392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/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r>
                  <a:rPr lang="de-DE" sz="2400" dirty="0" err="1"/>
                  <a:t>Define</a:t>
                </a:r>
                <a:r>
                  <a:rPr lang="de-DE" sz="2400" dirty="0"/>
                  <a:t> </a:t>
                </a:r>
                <a:r>
                  <a:rPr lang="de-DE" sz="2400" dirty="0" err="1"/>
                  <a:t>output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separately</a:t>
                </a:r>
                <a:r>
                  <a:rPr lang="de-DE" sz="2400" dirty="0"/>
                  <a:t>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de-DE" sz="24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de-DE" sz="2400" dirty="0"/>
              </a:p>
              <a:p>
                <a:pPr algn="ctr"/>
                <a:r>
                  <a:rPr lang="de-DE" sz="2400" dirty="0"/>
                  <a:t>…</a:t>
                </a:r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C69BE650-7290-773E-0375-3B8FE804FDD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600" y="3429000"/>
                <a:ext cx="3351367" cy="1477328"/>
              </a:xfrm>
              <a:prstGeom prst="rect">
                <a:avLst/>
              </a:prstGeom>
              <a:blipFill>
                <a:blip r:embed="rId4"/>
                <a:stretch>
                  <a:fillRect l="-5263" t="-5932" r="-4511" b="-1186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feld 6">
            <a:extLst>
              <a:ext uri="{FF2B5EF4-FFF2-40B4-BE49-F238E27FC236}">
                <a16:creationId xmlns:a16="http://schemas.microsoft.com/office/drawing/2014/main" id="{0D4B5114-D8FD-0C65-92AB-8B23832DE539}"/>
              </a:ext>
            </a:extLst>
          </p:cNvPr>
          <p:cNvSpPr txBox="1"/>
          <p:nvPr/>
        </p:nvSpPr>
        <p:spPr>
          <a:xfrm>
            <a:off x="4267198" y="2826179"/>
            <a:ext cx="87235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6CC80E5E-4951-6CFD-13B1-4AF3B8813149}"/>
              </a:ext>
            </a:extLst>
          </p:cNvPr>
          <p:cNvCxnSpPr>
            <a:cxnSpLocks/>
            <a:stCxn id="7" idx="1"/>
          </p:cNvCxnSpPr>
          <p:nvPr/>
        </p:nvCxnSpPr>
        <p:spPr>
          <a:xfrm flipH="1" flipV="1">
            <a:off x="3478304" y="2691242"/>
            <a:ext cx="788894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7EEBEBA3-D47F-178F-DDC4-0D17A6654F34}"/>
              </a:ext>
            </a:extLst>
          </p:cNvPr>
          <p:cNvSpPr txBox="1"/>
          <p:nvPr/>
        </p:nvSpPr>
        <p:spPr>
          <a:xfrm>
            <a:off x="455273" y="2826179"/>
            <a:ext cx="1069524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D1A711C0-3029-17B9-4320-E7AEF623F9F2}"/>
              </a:ext>
            </a:extLst>
          </p:cNvPr>
          <p:cNvCxnSpPr>
            <a:cxnSpLocks/>
            <a:stCxn id="12" idx="0"/>
          </p:cNvCxnSpPr>
          <p:nvPr/>
        </p:nvCxnSpPr>
        <p:spPr>
          <a:xfrm flipV="1">
            <a:off x="990035" y="2626659"/>
            <a:ext cx="847730" cy="19952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539B8B7B-318D-3C88-F919-2AC5DFA2EE29}"/>
              </a:ext>
            </a:extLst>
          </p:cNvPr>
          <p:cNvSpPr txBox="1"/>
          <p:nvPr/>
        </p:nvSpPr>
        <p:spPr>
          <a:xfrm>
            <a:off x="2754181" y="4444663"/>
            <a:ext cx="197021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de-DE" sz="2400" dirty="0" err="1"/>
              <a:t>state</a:t>
            </a:r>
            <a:r>
              <a:rPr lang="de-DE" sz="2400" dirty="0"/>
              <a:t> variable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91DB3ED4-916D-A36D-7EE5-90705408C92C}"/>
              </a:ext>
            </a:extLst>
          </p:cNvPr>
          <p:cNvCxnSpPr>
            <a:cxnSpLocks/>
            <a:stCxn id="16" idx="0"/>
          </p:cNvCxnSpPr>
          <p:nvPr/>
        </p:nvCxnSpPr>
        <p:spPr>
          <a:xfrm flipH="1" flipV="1">
            <a:off x="3478304" y="4240306"/>
            <a:ext cx="260987" cy="2043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17578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/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 err="1"/>
                  <a:t>second</a:t>
                </a:r>
                <a:r>
                  <a:rPr lang="de-DE" sz="2400" dirty="0"/>
                  <a:t>-order </a:t>
                </a:r>
                <a:r>
                  <a:rPr lang="de-DE" sz="2400" dirty="0" err="1"/>
                  <a:t>system</a:t>
                </a:r>
                <a:r>
                  <a:rPr lang="de-DE" sz="2400" dirty="0"/>
                  <a:t>: </a:t>
                </a:r>
                <a:r>
                  <a:rPr lang="de-DE" sz="2400" dirty="0" err="1"/>
                  <a:t>energy</a:t>
                </a:r>
                <a:r>
                  <a:rPr lang="de-DE" sz="2400" dirty="0"/>
                  <a:t> </a:t>
                </a:r>
                <a:r>
                  <a:rPr lang="de-DE" sz="2400" dirty="0" err="1"/>
                  <a:t>storages</a:t>
                </a:r>
                <a:r>
                  <a:rPr lang="de-DE" sz="2400" dirty="0"/>
                  <a:t> </a:t>
                </a:r>
                <a:r>
                  <a:rPr lang="de-DE" sz="2400" dirty="0" err="1"/>
                  <a:t>mass</a:t>
                </a:r>
                <a:r>
                  <a:rPr lang="de-DE" sz="2400" dirty="0"/>
                  <a:t> and spring</a:t>
                </a:r>
              </a:p>
              <a:p>
                <a:r>
                  <a:rPr lang="de-DE" sz="2000" dirty="0" err="1"/>
                  <a:t>even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choose</a:t>
                </a:r>
                <a:r>
                  <a:rPr lang="de-DE" sz="2000" dirty="0"/>
                  <a:t> </a:t>
                </a:r>
                <a14:m>
                  <m:oMath xmlns:m="http://schemas.openxmlformats.org/officeDocument/2006/math">
                    <m:r>
                      <a:rPr lang="de-DE" sz="20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sz="2000" i="1">
                        <a:latin typeface="Cambria Math" panose="02040503050406030204" pitchFamily="18" charset="0"/>
                      </a:rPr>
                      <m:t>=</m:t>
                    </m:r>
                    <m:acc>
                      <m:accPr>
                        <m:chr m:val="̇"/>
                        <m:ctrlPr>
                          <a:rPr lang="de-DE" sz="20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sz="20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acc>
                  </m:oMath>
                </a14:m>
                <a:endParaRPr lang="de-DE" sz="2000" dirty="0"/>
              </a:p>
              <a:p>
                <a:r>
                  <a:rPr lang="de-DE" sz="2000" dirty="0"/>
                  <a:t>(first-order </a:t>
                </a:r>
                <a:r>
                  <a:rPr lang="de-DE" sz="2000" dirty="0" err="1"/>
                  <a:t>only</a:t>
                </a:r>
                <a:r>
                  <a:rPr lang="de-DE" sz="2000" dirty="0"/>
                  <a:t> </a:t>
                </a:r>
                <a:r>
                  <a:rPr lang="de-DE" sz="2000" dirty="0" err="1"/>
                  <a:t>if</a:t>
                </a:r>
                <a:r>
                  <a:rPr lang="de-DE" sz="2000" dirty="0"/>
                  <a:t> </a:t>
                </a:r>
                <a:r>
                  <a:rPr lang="de-DE" sz="2000" dirty="0" err="1"/>
                  <a:t>we</a:t>
                </a:r>
                <a:r>
                  <a:rPr lang="de-DE" sz="2000" dirty="0"/>
                  <a:t> </a:t>
                </a:r>
                <a:r>
                  <a:rPr lang="de-DE" sz="2000" dirty="0" err="1"/>
                  <a:t>removed</a:t>
                </a:r>
                <a:r>
                  <a:rPr lang="de-DE" sz="2000" dirty="0"/>
                  <a:t> </a:t>
                </a:r>
                <a:r>
                  <a:rPr lang="de-DE" sz="2000" dirty="0" err="1"/>
                  <a:t>the</a:t>
                </a:r>
                <a:r>
                  <a:rPr lang="de-DE" sz="2000" dirty="0"/>
                  <a:t> spring)</a:t>
                </a:r>
              </a:p>
            </p:txBody>
          </p:sp>
        </mc:Choice>
        <mc:Fallback xmlns="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9D7B3B12-381B-F8DF-684C-AE270F707C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27433" y="5239576"/>
                <a:ext cx="5184559" cy="1446550"/>
              </a:xfrm>
              <a:prstGeom prst="rect">
                <a:avLst/>
              </a:prstGeom>
              <a:blipFill>
                <a:blip r:embed="rId2"/>
                <a:stretch>
                  <a:fillRect l="-1707" t="-3478" r="-1463" b="-695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el 1">
            <a:extLst>
              <a:ext uri="{FF2B5EF4-FFF2-40B4-BE49-F238E27FC236}">
                <a16:creationId xmlns:a16="http://schemas.microsoft.com/office/drawing/2014/main" id="{6790FEE8-8184-DD9F-1C24-7654B2B8C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Differential-</a:t>
            </a:r>
            <a:r>
              <a:rPr lang="de-DE" dirty="0" err="1"/>
              <a:t>Equation</a:t>
            </a:r>
            <a:r>
              <a:rPr lang="de-DE" dirty="0"/>
              <a:t>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33EE465-2DFE-E432-459B-8A985DE18E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503078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de-DE" sz="2400" dirty="0" err="1"/>
              <a:t>Describe</a:t>
            </a:r>
            <a:r>
              <a:rPr lang="de-DE" sz="2400" dirty="0"/>
              <a:t> </a:t>
            </a:r>
            <a:r>
              <a:rPr lang="de-DE" sz="2400" dirty="0" err="1"/>
              <a:t>dynamics</a:t>
            </a:r>
            <a:r>
              <a:rPr lang="de-DE" sz="2400" dirty="0"/>
              <a:t> </a:t>
            </a:r>
            <a:r>
              <a:rPr lang="de-DE" sz="2400" dirty="0" err="1"/>
              <a:t>using</a:t>
            </a:r>
            <a:r>
              <a:rPr lang="de-DE" sz="2400" dirty="0"/>
              <a:t> derivatives</a:t>
            </a:r>
          </a:p>
          <a:p>
            <a:pPr marL="0" indent="0">
              <a:buNone/>
            </a:pPr>
            <a:r>
              <a:rPr lang="de-DE" sz="2400" dirty="0" err="1"/>
              <a:t>Example</a:t>
            </a:r>
            <a:r>
              <a:rPr lang="de-DE" sz="2400" dirty="0"/>
              <a:t>: </a:t>
            </a:r>
            <a:r>
              <a:rPr lang="de-DE" sz="2400" dirty="0" err="1"/>
              <a:t>mass</a:t>
            </a:r>
            <a:r>
              <a:rPr lang="de-DE" sz="2400" dirty="0"/>
              <a:t>–spring–</a:t>
            </a:r>
            <a:r>
              <a:rPr lang="de-DE" sz="2400" dirty="0" err="1"/>
              <a:t>damper</a:t>
            </a:r>
            <a:r>
              <a:rPr lang="de-DE" sz="2400" dirty="0"/>
              <a:t> </a:t>
            </a:r>
            <a:r>
              <a:rPr lang="de-DE" sz="2400" dirty="0" err="1"/>
              <a:t>system</a:t>
            </a: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endParaRPr lang="de-DE" sz="2400" dirty="0"/>
          </a:p>
          <a:p>
            <a:pPr marL="0" indent="0">
              <a:buNone/>
            </a:pPr>
            <a:r>
              <a:rPr lang="de-DE" sz="2400" dirty="0"/>
              <a:t>Order </a:t>
            </a:r>
            <a:r>
              <a:rPr lang="de-DE" sz="2400" dirty="0" err="1"/>
              <a:t>of</a:t>
            </a:r>
            <a:r>
              <a:rPr lang="de-DE" sz="2400" dirty="0"/>
              <a:t> </a:t>
            </a:r>
            <a:r>
              <a:rPr lang="de-DE" sz="2400" dirty="0" err="1"/>
              <a:t>equation</a:t>
            </a:r>
            <a:r>
              <a:rPr lang="de-DE" sz="2400" dirty="0"/>
              <a:t> = </a:t>
            </a:r>
            <a:r>
              <a:rPr lang="de-DE" sz="2400" dirty="0" err="1"/>
              <a:t>system</a:t>
            </a:r>
            <a:r>
              <a:rPr lang="de-DE" sz="2400" dirty="0"/>
              <a:t> </a:t>
            </a:r>
            <a:r>
              <a:rPr lang="de-DE" sz="2400" dirty="0" err="1"/>
              <a:t>order</a:t>
            </a:r>
            <a:endParaRPr lang="de-DE" sz="2400" dirty="0"/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state</a:t>
            </a:r>
            <a:r>
              <a:rPr lang="de-DE" sz="2000" dirty="0"/>
              <a:t> variables</a:t>
            </a:r>
          </a:p>
          <a:p>
            <a:pPr lvl="1"/>
            <a:r>
              <a:rPr lang="de-DE" sz="2000" dirty="0"/>
              <a:t>= </a:t>
            </a:r>
            <a:r>
              <a:rPr lang="de-DE" sz="2000" dirty="0" err="1"/>
              <a:t>number</a:t>
            </a:r>
            <a:r>
              <a:rPr lang="de-DE" sz="2000" dirty="0"/>
              <a:t> </a:t>
            </a:r>
            <a:r>
              <a:rPr lang="de-DE" sz="2000" dirty="0" err="1"/>
              <a:t>of</a:t>
            </a:r>
            <a:r>
              <a:rPr lang="de-DE" sz="2000" dirty="0"/>
              <a:t> </a:t>
            </a:r>
            <a:r>
              <a:rPr lang="de-DE" sz="2000" dirty="0" err="1"/>
              <a:t>energy</a:t>
            </a:r>
            <a:r>
              <a:rPr lang="de-DE" sz="2000" dirty="0"/>
              <a:t> </a:t>
            </a:r>
            <a:r>
              <a:rPr lang="de-DE" sz="2000" dirty="0" err="1"/>
              <a:t>storage</a:t>
            </a:r>
            <a:r>
              <a:rPr lang="de-DE" sz="2000" dirty="0"/>
              <a:t> </a:t>
            </a:r>
            <a:r>
              <a:rPr lang="de-DE" sz="2000" dirty="0" err="1"/>
              <a:t>elements</a:t>
            </a:r>
            <a:endParaRPr lang="de-DE" sz="2000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6162B11-9C37-F0BA-412F-DEFAC076B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 dirty="0"/>
          </a:p>
        </p:txBody>
      </p:sp>
      <p:pic>
        <p:nvPicPr>
          <p:cNvPr id="14" name="Grafik 13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B257B890-6432-CC1A-D6AD-4BD0B2A7EED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522923"/>
            <a:ext cx="5941291" cy="26443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/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Newton: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sub>
                      </m:sSub>
                      <m:d>
                        <m:d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:r>
                  <a:rPr lang="de-DE" sz="2400" dirty="0"/>
                  <a:t>Model:</a:t>
                </a:r>
                <a:endParaRPr lang="de-DE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𝑚</m:t>
                      </m:r>
                      <m:acc>
                        <m:accPr>
                          <m:chr m:val="̈"/>
                          <m:ctrlPr>
                            <a:rPr lang="de-DE" sz="2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acc>
                        <m:accPr>
                          <m:chr m:val="̇"/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𝑘𝑥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 xmlns="">
          <p:sp>
            <p:nvSpPr>
              <p:cNvPr id="5" name="Textfeld 4">
                <a:extLst>
                  <a:ext uri="{FF2B5EF4-FFF2-40B4-BE49-F238E27FC236}">
                    <a16:creationId xmlns:a16="http://schemas.microsoft.com/office/drawing/2014/main" id="{002D29F3-CFB5-A7A0-EC47-01A7F08DF4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8390" y="2852697"/>
                <a:ext cx="3835409" cy="1984839"/>
              </a:xfrm>
              <a:prstGeom prst="rect">
                <a:avLst/>
              </a:prstGeom>
              <a:blipFill>
                <a:blip r:embed="rId4"/>
                <a:stretch>
                  <a:fillRect l="-2303" t="-2532" b="-633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80E24689-D178-8F94-86ED-3E45D44F9A03}"/>
              </a:ext>
            </a:extLst>
          </p:cNvPr>
          <p:cNvCxnSpPr>
            <a:cxnSpLocks/>
          </p:cNvCxnSpPr>
          <p:nvPr/>
        </p:nvCxnSpPr>
        <p:spPr>
          <a:xfrm flipV="1">
            <a:off x="8069802" y="4738357"/>
            <a:ext cx="250403" cy="6003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feld 5">
            <a:extLst>
              <a:ext uri="{FF2B5EF4-FFF2-40B4-BE49-F238E27FC236}">
                <a16:creationId xmlns:a16="http://schemas.microsoft.com/office/drawing/2014/main" id="{164497F8-6195-07F1-F70C-B971D6ECAFC6}"/>
              </a:ext>
            </a:extLst>
          </p:cNvPr>
          <p:cNvSpPr txBox="1"/>
          <p:nvPr/>
        </p:nvSpPr>
        <p:spPr>
          <a:xfrm>
            <a:off x="2074279" y="4587300"/>
            <a:ext cx="1195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(</a:t>
            </a:r>
            <a:r>
              <a:rPr lang="de-DE" dirty="0" err="1"/>
              <a:t>damping</a:t>
            </a:r>
            <a:r>
              <a:rPr lang="de-DE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44853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1606A2-6F1E-C0EF-03AE-7388CF781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</a:t>
            </a:r>
            <a:r>
              <a:rPr lang="de-DE" dirty="0" err="1"/>
              <a:t>We</a:t>
            </a:r>
            <a:r>
              <a:rPr lang="de-DE" dirty="0"/>
              <a:t> Need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AEF1E5E-946D-EAB2-3D18-108394A5EE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Predict</a:t>
            </a:r>
            <a:r>
              <a:rPr lang="de-DE" dirty="0"/>
              <a:t> </a:t>
            </a:r>
            <a:r>
              <a:rPr lang="de-DE" dirty="0" err="1"/>
              <a:t>system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/>
              <a:t>Design </a:t>
            </a:r>
            <a:r>
              <a:rPr lang="de-DE" dirty="0" err="1"/>
              <a:t>controllers</a:t>
            </a:r>
            <a:r>
              <a:rPr lang="de-DE" dirty="0"/>
              <a:t> </a:t>
            </a:r>
            <a:r>
              <a:rPr lang="de-DE" dirty="0" err="1"/>
              <a:t>before</a:t>
            </a:r>
            <a:r>
              <a:rPr lang="de-DE" dirty="0"/>
              <a:t> </a:t>
            </a:r>
            <a:r>
              <a:rPr lang="de-DE" dirty="0" err="1"/>
              <a:t>implementation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Understand</a:t>
            </a:r>
            <a:r>
              <a:rPr lang="de-DE" dirty="0"/>
              <a:t> </a:t>
            </a:r>
            <a:r>
              <a:rPr lang="de-DE" dirty="0" err="1"/>
              <a:t>cause</a:t>
            </a:r>
            <a:r>
              <a:rPr lang="de-DE" dirty="0"/>
              <a:t>-and-</a:t>
            </a:r>
            <a:r>
              <a:rPr lang="de-DE" dirty="0" err="1"/>
              <a:t>effect</a:t>
            </a:r>
            <a:r>
              <a:rPr lang="de-DE" dirty="0"/>
              <a:t> </a:t>
            </a:r>
            <a:r>
              <a:rPr lang="de-DE" dirty="0" err="1"/>
              <a:t>relationships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complex</a:t>
            </a:r>
            <a:r>
              <a:rPr lang="de-DE" dirty="0"/>
              <a:t> real-</a:t>
            </a:r>
            <a:r>
              <a:rPr lang="de-DE" dirty="0" err="1"/>
              <a:t>world</a:t>
            </a:r>
            <a:r>
              <a:rPr lang="de-DE" dirty="0"/>
              <a:t> </a:t>
            </a:r>
            <a:r>
              <a:rPr lang="de-DE" dirty="0" err="1"/>
              <a:t>systems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945D2F4-D7D0-AE36-EB76-D655433A49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36308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EDA3A2-F561-C805-764F-7D8E46B25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Proportional (P) Systems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de-DE" dirty="0"/>
                  <a:t>Output proportional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Static </a:t>
                </a:r>
                <a:r>
                  <a:rPr lang="de-DE" dirty="0" err="1"/>
                  <a:t>gain</a:t>
                </a:r>
                <a:r>
                  <a:rPr lang="de-DE" dirty="0"/>
                  <a:t> (</a:t>
                </a:r>
                <a:r>
                  <a:rPr lang="de-DE" dirty="0" err="1"/>
                  <a:t>gain</a:t>
                </a:r>
                <a:r>
                  <a:rPr lang="de-DE" dirty="0"/>
                  <a:t> = </a:t>
                </a:r>
                <a:r>
                  <a:rPr lang="de-DE" dirty="0" err="1"/>
                  <a:t>output</a:t>
                </a:r>
                <a:r>
                  <a:rPr lang="de-DE" dirty="0"/>
                  <a:t> </a:t>
                </a:r>
                <a:r>
                  <a:rPr lang="de-DE" dirty="0" err="1"/>
                  <a:t>divided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No</a:t>
                </a:r>
                <a:r>
                  <a:rPr lang="de-DE" dirty="0"/>
                  <a:t> </a:t>
                </a:r>
                <a:r>
                  <a:rPr lang="de-DE" dirty="0" err="1"/>
                  <a:t>dynamics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Examples</a:t>
                </a:r>
                <a:r>
                  <a:rPr lang="de-DE" dirty="0"/>
                  <a:t>:</a:t>
                </a:r>
              </a:p>
              <a:p>
                <a:pPr lvl="1"/>
                <a:r>
                  <a:rPr lang="de-DE" dirty="0"/>
                  <a:t>Amplifier</a:t>
                </a:r>
              </a:p>
              <a:p>
                <a:pPr lvl="1"/>
                <a:r>
                  <a:rPr lang="de-DE" dirty="0" err="1"/>
                  <a:t>Resistor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𝑖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E5D93057-B654-A742-35B1-8FC40DA947B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61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759E45-F9D5-78E4-AB35-D7A48D2F9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  <p:cxnSp>
        <p:nvCxnSpPr>
          <p:cNvPr id="6" name="Gerade Verbindung mit Pfeil 5">
            <a:extLst>
              <a:ext uri="{FF2B5EF4-FFF2-40B4-BE49-F238E27FC236}">
                <a16:creationId xmlns:a16="http://schemas.microsoft.com/office/drawing/2014/main" id="{DD233A60-217F-FEDE-E919-A1B9410F4E07}"/>
              </a:ext>
            </a:extLst>
          </p:cNvPr>
          <p:cNvCxnSpPr>
            <a:cxnSpLocks/>
          </p:cNvCxnSpPr>
          <p:nvPr/>
        </p:nvCxnSpPr>
        <p:spPr>
          <a:xfrm flipV="1">
            <a:off x="2312894" y="2601157"/>
            <a:ext cx="554593" cy="6147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3938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9244CBF-9F85-6A17-680B-700361A6A7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Integrating</a:t>
            </a:r>
            <a:r>
              <a:rPr lang="de-DE" dirty="0"/>
              <a:t> and </a:t>
            </a:r>
            <a:r>
              <a:rPr lang="de-DE" dirty="0" err="1"/>
              <a:t>Differentiating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r>
                  <a:rPr lang="de-DE" dirty="0"/>
                  <a:t>Integrator: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limLoc m:val="undOvr"/>
                        <m:subHide m:val="on"/>
                        <m:supHide m:val="on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/>
                      <m:sup/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d>
                          <m:dPr>
                            <m:ctrlPr>
                              <a:rPr lang="de-DE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de-DE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Accumulates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over</a:t>
                </a:r>
                <a:r>
                  <a:rPr lang="de-DE" dirty="0"/>
                  <a:t> time</a:t>
                </a:r>
              </a:p>
              <a:p>
                <a:pPr lvl="1"/>
                <a:r>
                  <a:rPr lang="de-DE" dirty="0" err="1"/>
                  <a:t>Introduces</a:t>
                </a:r>
                <a:r>
                  <a:rPr lang="de-DE" dirty="0"/>
                  <a:t> </a:t>
                </a:r>
                <a:r>
                  <a:rPr lang="de-DE" dirty="0" err="1"/>
                  <a:t>memory</a:t>
                </a:r>
                <a:r>
                  <a:rPr lang="de-DE" dirty="0"/>
                  <a:t> (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/>
                  <a:t>Differentiator: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lvl="1"/>
                <a:r>
                  <a:rPr lang="de-DE" dirty="0" err="1"/>
                  <a:t>Responds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rate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endParaRPr lang="de-DE" dirty="0"/>
              </a:p>
              <a:p>
                <a:pPr lvl="1"/>
                <a:r>
                  <a:rPr lang="de-DE" dirty="0"/>
                  <a:t>Sensitive </a:t>
                </a:r>
                <a:r>
                  <a:rPr lang="de-DE" dirty="0" err="1"/>
                  <a:t>to</a:t>
                </a:r>
                <a:r>
                  <a:rPr lang="de-DE" dirty="0"/>
                  <a:t> fast </a:t>
                </a:r>
                <a:r>
                  <a:rPr lang="de-DE" dirty="0" err="1"/>
                  <a:t>variations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r>
                  <a:rPr lang="de-DE" dirty="0" err="1"/>
                  <a:t>Physical</a:t>
                </a:r>
                <a:r>
                  <a:rPr lang="de-DE" dirty="0"/>
                  <a:t> </a:t>
                </a:r>
                <a:r>
                  <a:rPr lang="de-DE" dirty="0" err="1"/>
                  <a:t>systems</a:t>
                </a:r>
                <a:endParaRPr lang="de-DE" dirty="0"/>
              </a:p>
              <a:p>
                <a:pPr lvl="1"/>
                <a:r>
                  <a:rPr lang="de-DE" dirty="0" err="1"/>
                  <a:t>Often</a:t>
                </a:r>
                <a:r>
                  <a:rPr lang="de-DE" dirty="0"/>
                  <a:t> </a:t>
                </a:r>
                <a:r>
                  <a:rPr lang="de-DE" dirty="0" err="1"/>
                  <a:t>contain</a:t>
                </a:r>
                <a:r>
                  <a:rPr lang="de-DE" dirty="0"/>
                  <a:t> </a:t>
                </a:r>
                <a:r>
                  <a:rPr lang="de-DE" dirty="0" err="1"/>
                  <a:t>integrators</a:t>
                </a:r>
                <a:r>
                  <a:rPr lang="de-DE" dirty="0"/>
                  <a:t> and </a:t>
                </a:r>
                <a:r>
                  <a:rPr lang="de-DE" dirty="0" err="1"/>
                  <a:t>differentiators</a:t>
                </a:r>
                <a:r>
                  <a:rPr lang="de-DE" dirty="0"/>
                  <a:t> </a:t>
                </a:r>
                <a:r>
                  <a:rPr lang="de-DE" dirty="0" err="1"/>
                  <a:t>implicitly</a:t>
                </a:r>
                <a:endParaRPr lang="de-DE" dirty="0"/>
              </a:p>
              <a:p>
                <a:pPr lvl="1"/>
                <a:r>
                  <a:rPr lang="de-DE" dirty="0" err="1"/>
                  <a:t>Leading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dynamic</a:t>
                </a:r>
                <a:r>
                  <a:rPr lang="de-DE" dirty="0"/>
                  <a:t> </a:t>
                </a:r>
                <a:r>
                  <a:rPr lang="de-DE" dirty="0" err="1"/>
                  <a:t>behavior</a:t>
                </a:r>
                <a:r>
                  <a:rPr lang="de-DE" dirty="0"/>
                  <a:t> (PT1, PT2, …)</a:t>
                </a:r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72B04744-0A78-585A-ABF6-255841A38F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5" t="-2064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B72E14E-7EB9-A40B-34AA-AC73D257E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04118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03BB42B-EC6C-7CCB-6ECA-480B5E459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Free Fall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Velocity </a:t>
                </a:r>
                <a:r>
                  <a:rPr lang="de-DE" dirty="0" err="1"/>
                  <a:t>of</a:t>
                </a:r>
                <a:r>
                  <a:rPr lang="de-DE" dirty="0"/>
                  <a:t> a </a:t>
                </a:r>
                <a:r>
                  <a:rPr lang="de-DE" dirty="0" err="1"/>
                  <a:t>mass</a:t>
                </a:r>
                <a:r>
                  <a:rPr lang="de-DE" dirty="0"/>
                  <a:t> </a:t>
                </a:r>
                <a:r>
                  <a:rPr lang="de-DE" dirty="0" err="1"/>
                  <a:t>subject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force</a:t>
                </a:r>
                <a:r>
                  <a:rPr lang="de-DE" dirty="0"/>
                  <a:t>: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Freefall:	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b="0" dirty="0" err="1"/>
                  <a:t>Starting</a:t>
                </a:r>
                <a:r>
                  <a:rPr lang="de-DE" b="0" dirty="0"/>
                  <a:t>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 </a:t>
                </a:r>
                <a:r>
                  <a:rPr lang="de-DE" b="0" dirty="0" err="1"/>
                  <a:t>with</a:t>
                </a:r>
                <a:r>
                  <a:rPr lang="de-DE" b="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b="0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𝑔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𝑑𝑡</m:t>
                        </m:r>
                      </m:e>
                    </m:nary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𝑡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Real-</a:t>
                </a:r>
                <a:r>
                  <a:rPr lang="de-DE" dirty="0" err="1"/>
                  <a:t>world</a:t>
                </a:r>
                <a:r>
                  <a:rPr lang="de-DE" dirty="0"/>
                  <a:t>: </a:t>
                </a:r>
                <a:r>
                  <a:rPr lang="de-DE" dirty="0" err="1"/>
                  <a:t>damping</a:t>
                </a:r>
                <a:r>
                  <a:rPr lang="de-DE" dirty="0"/>
                  <a:t> due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 …</a:t>
                </a:r>
              </a:p>
              <a:p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B6A7DE53-1BEC-02AC-1A0F-204EC1451D8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6" t="-348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071EE6C-9109-3EF1-D775-416FD8EA55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12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CB832202-78CC-A4E4-A4A6-FC6B63F0EC65}"/>
              </a:ext>
            </a:extLst>
          </p:cNvPr>
          <p:cNvSpPr txBox="1"/>
          <p:nvPr/>
        </p:nvSpPr>
        <p:spPr>
          <a:xfrm>
            <a:off x="7376244" y="2416481"/>
            <a:ext cx="872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input</a:t>
            </a:r>
            <a:endParaRPr lang="de-DE" sz="2400" dirty="0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A1218031-CC87-7525-884B-EF9A3618BAA5}"/>
              </a:ext>
            </a:extLst>
          </p:cNvPr>
          <p:cNvSpPr txBox="1"/>
          <p:nvPr/>
        </p:nvSpPr>
        <p:spPr>
          <a:xfrm>
            <a:off x="6208136" y="2423959"/>
            <a:ext cx="106952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output</a:t>
            </a:r>
            <a:endParaRPr lang="de-DE" sz="2400" dirty="0"/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71D37711-60B5-FE72-A261-323CABB199D0}"/>
              </a:ext>
            </a:extLst>
          </p:cNvPr>
          <p:cNvCxnSpPr>
            <a:cxnSpLocks/>
            <a:stCxn id="5" idx="0"/>
          </p:cNvCxnSpPr>
          <p:nvPr/>
        </p:nvCxnSpPr>
        <p:spPr>
          <a:xfrm flipH="1" flipV="1">
            <a:off x="7688062" y="2123518"/>
            <a:ext cx="12436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66B571CD-EC9D-4DDB-C2D1-D5C09205C018}"/>
              </a:ext>
            </a:extLst>
          </p:cNvPr>
          <p:cNvCxnSpPr>
            <a:cxnSpLocks/>
            <a:stCxn id="6" idx="0"/>
          </p:cNvCxnSpPr>
          <p:nvPr/>
        </p:nvCxnSpPr>
        <p:spPr>
          <a:xfrm flipV="1">
            <a:off x="6742898" y="2130996"/>
            <a:ext cx="223970" cy="2929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feld 12">
            <a:extLst>
              <a:ext uri="{FF2B5EF4-FFF2-40B4-BE49-F238E27FC236}">
                <a16:creationId xmlns:a16="http://schemas.microsoft.com/office/drawing/2014/main" id="{368886B7-A669-EC2D-A194-FA1A3A90C70E}"/>
              </a:ext>
            </a:extLst>
          </p:cNvPr>
          <p:cNvSpPr txBox="1"/>
          <p:nvPr/>
        </p:nvSpPr>
        <p:spPr>
          <a:xfrm>
            <a:off x="3907506" y="3109400"/>
            <a:ext cx="283539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earth‘s</a:t>
            </a:r>
            <a:r>
              <a:rPr lang="de-DE" sz="2400" dirty="0"/>
              <a:t> </a:t>
            </a:r>
            <a:r>
              <a:rPr lang="de-DE" sz="2400" dirty="0" err="1"/>
              <a:t>acceleration</a:t>
            </a:r>
            <a:endParaRPr lang="de-DE" sz="2400" dirty="0"/>
          </a:p>
        </p:txBody>
      </p: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656437C4-F7EB-F4ED-02C7-82D9436820D9}"/>
              </a:ext>
            </a:extLst>
          </p:cNvPr>
          <p:cNvCxnSpPr>
            <a:cxnSpLocks/>
            <a:stCxn id="13" idx="1"/>
          </p:cNvCxnSpPr>
          <p:nvPr/>
        </p:nvCxnSpPr>
        <p:spPr>
          <a:xfrm flipH="1" flipV="1">
            <a:off x="3551067" y="2974463"/>
            <a:ext cx="356439" cy="3657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9" name="Grafik 18" descr="Ein Bild, das Screenshot, Text, Schrift, Reihe enthält.&#10;&#10;KI-generierte Inhalte können fehlerhaft sein.">
            <a:extLst>
              <a:ext uri="{FF2B5EF4-FFF2-40B4-BE49-F238E27FC236}">
                <a16:creationId xmlns:a16="http://schemas.microsoft.com/office/drawing/2014/main" id="{EEEE3C63-2F6F-6257-C249-96B303B7F6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9641" y="708092"/>
            <a:ext cx="4360175" cy="840554"/>
          </a:xfrm>
          <a:prstGeom prst="rect">
            <a:avLst/>
          </a:prstGeom>
        </p:spPr>
      </p:pic>
      <p:pic>
        <p:nvPicPr>
          <p:cNvPr id="21" name="Grafik 20" descr="Ein Bild, das Text, Schrift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D372E6B8-3781-4876-DBBB-52EE1840EF4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713362"/>
            <a:ext cx="3069264" cy="1680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02840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fik 4">
            <a:extLst>
              <a:ext uri="{FF2B5EF4-FFF2-40B4-BE49-F238E27FC236}">
                <a16:creationId xmlns:a16="http://schemas.microsoft.com/office/drawing/2014/main" id="{67B3AFA5-F42B-1CAA-6F55-BCB974EFB6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20901" y="2658286"/>
            <a:ext cx="5032899" cy="3834589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6745A1B-AEBE-B4CE-44F5-18B930F7C8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First-Order Systems (PT1)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de-DE" dirty="0"/>
                  <a:t>One </a:t>
                </a:r>
                <a:r>
                  <a:rPr lang="de-DE" dirty="0" err="1"/>
                  <a:t>energy</a:t>
                </a:r>
                <a:r>
                  <a:rPr lang="de-DE" dirty="0"/>
                  <a:t> </a:t>
                </a:r>
                <a:r>
                  <a:rPr lang="de-DE" dirty="0" err="1"/>
                  <a:t>storage</a:t>
                </a:r>
                <a:r>
                  <a:rPr lang="de-DE" dirty="0"/>
                  <a:t> </a:t>
                </a:r>
                <a:r>
                  <a:rPr lang="de-DE" dirty="0" err="1"/>
                  <a:t>element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Characterized</a:t>
                </a:r>
                <a:r>
                  <a:rPr lang="de-DE" dirty="0"/>
                  <a:t> </a:t>
                </a:r>
                <a:r>
                  <a:rPr lang="de-DE" dirty="0" err="1"/>
                  <a:t>by</a:t>
                </a:r>
                <a:r>
                  <a:rPr lang="de-DE" dirty="0"/>
                  <a:t> time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</m:oMath>
                </a14:m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𝜏</m:t>
                    </m:r>
                    <m: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)+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Static (DC) </a:t>
                </a:r>
                <a:r>
                  <a:rPr lang="de-DE" dirty="0" err="1"/>
                  <a:t>gain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(∞)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den>
                    </m:f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(</a:t>
                </a:r>
                <a:r>
                  <a:rPr lang="de-DE" dirty="0" err="1"/>
                  <a:t>output</a:t>
                </a:r>
                <a:r>
                  <a:rPr lang="de-DE" dirty="0"/>
                  <a:t>–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ratio</a:t>
                </a:r>
                <a:r>
                  <a:rPr lang="de-DE" dirty="0"/>
                  <a:t> </a:t>
                </a:r>
                <a:r>
                  <a:rPr lang="de-DE" dirty="0" err="1"/>
                  <a:t>for</a:t>
                </a:r>
                <a:r>
                  <a:rPr lang="de-DE" dirty="0"/>
                  <a:t> a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after </a:t>
                </a:r>
                <a:r>
                  <a:rPr lang="de-DE" dirty="0" err="1"/>
                  <a:t>transients</a:t>
                </a:r>
                <a:r>
                  <a:rPr lang="de-DE" dirty="0"/>
                  <a:t> </a:t>
                </a:r>
                <a:r>
                  <a:rPr lang="de-DE" dirty="0" err="1"/>
                  <a:t>have</a:t>
                </a:r>
                <a:r>
                  <a:rPr lang="de-DE" dirty="0"/>
                  <a:t> </a:t>
                </a:r>
                <a:r>
                  <a:rPr lang="de-DE" dirty="0" err="1"/>
                  <a:t>died</a:t>
                </a:r>
                <a:r>
                  <a:rPr lang="de-DE" dirty="0"/>
                  <a:t> out, i.e.,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Step</a:t>
                </a:r>
                <a:r>
                  <a:rPr lang="de-DE" dirty="0"/>
                  <a:t> </a:t>
                </a:r>
                <a:r>
                  <a:rPr lang="de-DE" dirty="0" err="1"/>
                  <a:t>from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de-DE" dirty="0"/>
                  <a:t> to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s</a:t>
                </a:r>
                <a:r>
                  <a:rPr lang="de-DE" dirty="0"/>
                  <a:t>mooth </a:t>
                </a:r>
                <a:r>
                  <a:rPr lang="de-DE" dirty="0" err="1"/>
                  <a:t>exponential</a:t>
                </a:r>
                <a:r>
                  <a:rPr lang="de-DE" dirty="0"/>
                  <a:t> </a:t>
                </a:r>
                <a:r>
                  <a:rPr lang="de-DE" dirty="0" err="1"/>
                  <a:t>response</a:t>
                </a: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type m:val="skw"/>
                                  <m:ctrlP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  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𝑡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CDD7E54A-26B6-1A1F-EFCD-3CB7658FC9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482701" cy="4351338"/>
              </a:xfrm>
              <a:blipFill>
                <a:blip r:embed="rId3"/>
                <a:stretch>
                  <a:fillRect l="-1389" t="-2035" b="-639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8A2CB85-35FF-7939-CCB6-F661E5A24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13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B9C476A-5E24-7EB7-4348-D3FCC0B3AA08}"/>
              </a:ext>
            </a:extLst>
          </p:cNvPr>
          <p:cNvSpPr txBox="1"/>
          <p:nvPr/>
        </p:nvSpPr>
        <p:spPr>
          <a:xfrm>
            <a:off x="8109011" y="2196758"/>
            <a:ext cx="219685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/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r>
                  <a:rPr lang="de-DE" dirty="0"/>
                  <a:t>A </a:t>
                </a:r>
                <a:r>
                  <a:rPr lang="de-DE" dirty="0" err="1"/>
                  <a:t>sudden</a:t>
                </a:r>
                <a:r>
                  <a:rPr lang="de-DE" dirty="0"/>
                  <a:t> </a:t>
                </a:r>
                <a:r>
                  <a:rPr lang="de-DE" dirty="0" err="1"/>
                  <a:t>change</a:t>
                </a:r>
                <a:r>
                  <a:rPr lang="de-DE" dirty="0"/>
                  <a:t> </a:t>
                </a:r>
                <a:r>
                  <a:rPr lang="de-DE" dirty="0" err="1"/>
                  <a:t>of</a:t>
                </a:r>
                <a:r>
                  <a:rPr lang="de-DE" dirty="0"/>
                  <a:t> </a:t>
                </a:r>
                <a:r>
                  <a:rPr lang="de-DE" dirty="0" err="1"/>
                  <a:t>the</a:t>
                </a:r>
                <a:r>
                  <a:rPr lang="de-DE" dirty="0"/>
                  <a:t> </a:t>
                </a:r>
                <a:r>
                  <a:rPr lang="de-DE" dirty="0" err="1"/>
                  <a:t>input</a:t>
                </a:r>
                <a:r>
                  <a:rPr lang="de-DE" dirty="0"/>
                  <a:t> </a:t>
                </a:r>
                <a:r>
                  <a:rPr lang="de-DE" dirty="0" err="1"/>
                  <a:t>signal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a </a:t>
                </a:r>
                <a:r>
                  <a:rPr lang="de-DE" dirty="0" err="1"/>
                  <a:t>new</a:t>
                </a:r>
                <a:r>
                  <a:rPr lang="de-DE" dirty="0"/>
                  <a:t> </a:t>
                </a:r>
                <a:r>
                  <a:rPr lang="de-DE" dirty="0" err="1"/>
                  <a:t>constant</a:t>
                </a:r>
                <a:r>
                  <a:rPr lang="de-DE" dirty="0"/>
                  <a:t> </a:t>
                </a:r>
                <a:r>
                  <a:rPr lang="de-DE" dirty="0" err="1"/>
                  <a:t>value</a:t>
                </a:r>
                <a:r>
                  <a:rPr lang="de-DE" dirty="0"/>
                  <a:t>, </a:t>
                </a:r>
                <a:r>
                  <a:rPr lang="de-DE" dirty="0" err="1"/>
                  <a:t>maintained</a:t>
                </a:r>
                <a:r>
                  <a:rPr lang="de-DE" dirty="0"/>
                  <a:t> </a:t>
                </a:r>
                <a:r>
                  <a:rPr lang="de-DE" dirty="0" err="1"/>
                  <a:t>thereafter</a:t>
                </a:r>
                <a:r>
                  <a:rPr lang="de-DE" dirty="0"/>
                  <a:t>: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de-DE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de-DE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0,  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&lt;0</m:t>
                              </m:r>
                            </m:e>
                            <m:e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de-DE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≥0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de-DE" b="0" dirty="0"/>
              </a:p>
              <a:p>
                <a:endParaRPr lang="de-DE" dirty="0"/>
              </a:p>
            </p:txBody>
          </p:sp>
        </mc:Choice>
        <mc:Fallback>
          <p:sp>
            <p:nvSpPr>
              <p:cNvPr id="6" name="Textfeld 5">
                <a:extLst>
                  <a:ext uri="{FF2B5EF4-FFF2-40B4-BE49-F238E27FC236}">
                    <a16:creationId xmlns:a16="http://schemas.microsoft.com/office/drawing/2014/main" id="{F64B60CF-C55E-C96B-58E9-FCC035B9AC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7423" y="151485"/>
                <a:ext cx="3746377" cy="1818190"/>
              </a:xfrm>
              <a:prstGeom prst="rect">
                <a:avLst/>
              </a:prstGeom>
              <a:blipFill>
                <a:blip r:embed="rId4"/>
                <a:stretch>
                  <a:fillRect l="-1010" t="-30345" r="-1010" b="-92414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3DE04CE-F77D-2B88-202B-B058E209E4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9207438" y="1969675"/>
            <a:ext cx="273174" cy="22708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0DFD434E-CEB0-6797-ED63-14555FC0C355}"/>
              </a:ext>
            </a:extLst>
          </p:cNvPr>
          <p:cNvCxnSpPr>
            <a:cxnSpLocks/>
          </p:cNvCxnSpPr>
          <p:nvPr/>
        </p:nvCxnSpPr>
        <p:spPr>
          <a:xfrm flipV="1">
            <a:off x="3579550" y="1509713"/>
            <a:ext cx="5342508" cy="2334318"/>
          </a:xfrm>
          <a:prstGeom prst="straightConnector1">
            <a:avLst/>
          </a:prstGeom>
          <a:ln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BDDBCDD-1E66-8640-CBC1-4B43104A5C67}"/>
                  </a:ext>
                </a:extLst>
              </p:cNvPr>
              <p:cNvSpPr txBox="1"/>
              <p:nvPr/>
            </p:nvSpPr>
            <p:spPr>
              <a:xfrm>
                <a:off x="975434" y="6033184"/>
                <a:ext cx="4200617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/>
                  <a:t>solution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differential </a:t>
                </a:r>
                <a:r>
                  <a:rPr lang="de-DE" dirty="0" err="1"/>
                  <a:t>equation</a:t>
                </a:r>
                <a:r>
                  <a:rPr lang="de-DE" dirty="0"/>
                  <a:t> </a:t>
                </a:r>
                <a:r>
                  <a:rPr lang="de-DE" dirty="0" err="1"/>
                  <a:t>with</a:t>
                </a:r>
                <a:r>
                  <a:rPr lang="de-DE" dirty="0"/>
                  <a:t> </a:t>
                </a:r>
                <a:r>
                  <a:rPr lang="de-DE" dirty="0" err="1"/>
                  <a:t>corresponding</a:t>
                </a:r>
                <a:r>
                  <a:rPr lang="de-DE" dirty="0"/>
                  <a:t> initial </a:t>
                </a:r>
                <a:r>
                  <a:rPr lang="de-DE" dirty="0" err="1"/>
                  <a:t>condition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de-D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de-DE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de-DE" dirty="0"/>
              </a:p>
            </p:txBody>
          </p:sp>
        </mc:Choice>
        <mc:Fallback>
          <p:sp>
            <p:nvSpPr>
              <p:cNvPr id="20" name="Textfeld 19">
                <a:extLst>
                  <a:ext uri="{FF2B5EF4-FFF2-40B4-BE49-F238E27FC236}">
                    <a16:creationId xmlns:a16="http://schemas.microsoft.com/office/drawing/2014/main" id="{4BDDBCDD-1E66-8640-CBC1-4B43104A5C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5434" y="6033184"/>
                <a:ext cx="4200617" cy="646331"/>
              </a:xfrm>
              <a:prstGeom prst="rect">
                <a:avLst/>
              </a:prstGeom>
              <a:blipFill>
                <a:blip r:embed="rId5"/>
                <a:stretch>
                  <a:fillRect l="-1205" t="-5769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678354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423221-4B10-E8D0-57BB-B791D6A583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Free Fall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Viscous</a:t>
            </a:r>
            <a:r>
              <a:rPr lang="de-DE" dirty="0"/>
              <a:t> </a:t>
            </a:r>
            <a:r>
              <a:rPr lang="de-DE" dirty="0" err="1"/>
              <a:t>Damping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Account </a:t>
                </a:r>
                <a:r>
                  <a:rPr lang="de-DE" dirty="0" err="1"/>
                  <a:t>for</a:t>
                </a:r>
                <a:r>
                  <a:rPr lang="de-DE" dirty="0"/>
                  <a:t> </a:t>
                </a:r>
                <a:r>
                  <a:rPr lang="de-DE" dirty="0" err="1"/>
                  <a:t>air</a:t>
                </a:r>
                <a:r>
                  <a:rPr lang="de-DE" dirty="0"/>
                  <a:t> </a:t>
                </a:r>
                <a:r>
                  <a:rPr lang="de-DE" dirty="0" err="1"/>
                  <a:t>resistance</a:t>
                </a:r>
                <a:r>
                  <a:rPr lang="de-DE" dirty="0"/>
                  <a:t>:</a:t>
                </a:r>
              </a:p>
              <a:p>
                <a:pPr marL="0" indent="0">
                  <a:buNone/>
                </a:pPr>
                <a:r>
                  <a:rPr lang="de-DE" b="0" dirty="0"/>
                  <a:t>	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PT1 differential </a:t>
                </a:r>
                <a:r>
                  <a:rPr lang="de-DE" dirty="0" err="1">
                    <a:sym typeface="Wingdings" pitchFamily="2" charset="2"/>
                  </a:rPr>
                  <a:t>equation</a:t>
                </a:r>
                <a:r>
                  <a:rPr lang="de-DE" dirty="0">
                    <a:sym typeface="Wingdings" pitchFamily="2" charset="2"/>
                  </a:rPr>
                  <a:t>:</a:t>
                </a:r>
              </a:p>
              <a:p>
                <a:pPr marL="0" indent="0">
                  <a:buNone/>
                </a:pPr>
                <a:r>
                  <a:rPr lang="de-DE" dirty="0"/>
                  <a:t>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acc>
                      <m:accPr>
                        <m:chr m:val="̇"/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de-DE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num>
                      <m:den>
                        <m:r>
                          <a:rPr lang="de-DE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de-DE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i="1">
                        <a:latin typeface="Cambria Math" panose="02040503050406030204" pitchFamily="18" charset="0"/>
                      </a:rPr>
                      <m:t>𝑔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26BE03E-6E22-8F29-7598-2702D1549C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28EF9B4-32D6-7E82-33D7-19B3F24F0F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14</a:t>
            </a:fld>
            <a:endParaRPr lang="en-GB"/>
          </a:p>
        </p:txBody>
      </p:sp>
      <p:sp>
        <p:nvSpPr>
          <p:cNvPr id="5" name="Textfeld 4">
            <a:extLst>
              <a:ext uri="{FF2B5EF4-FFF2-40B4-BE49-F238E27FC236}">
                <a16:creationId xmlns:a16="http://schemas.microsoft.com/office/drawing/2014/main" id="{07382B13-A071-35D6-0933-DC25F2412C2E}"/>
              </a:ext>
            </a:extLst>
          </p:cNvPr>
          <p:cNvSpPr txBox="1"/>
          <p:nvPr/>
        </p:nvSpPr>
        <p:spPr>
          <a:xfrm>
            <a:off x="3263173" y="3198167"/>
            <a:ext cx="283282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r>
              <a:rPr lang="de-DE" sz="2400" dirty="0"/>
              <a:t> </a:t>
            </a:r>
            <a:r>
              <a:rPr lang="de-DE" sz="2400" dirty="0" err="1"/>
              <a:t>coefficient</a:t>
            </a:r>
            <a:endParaRPr lang="de-DE" sz="2400" dirty="0"/>
          </a:p>
        </p:txBody>
      </p: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0AB36FBB-048F-3658-2E36-08349DFAF471}"/>
              </a:ext>
            </a:extLst>
          </p:cNvPr>
          <p:cNvCxnSpPr/>
          <p:nvPr/>
        </p:nvCxnSpPr>
        <p:spPr>
          <a:xfrm flipH="1" flipV="1">
            <a:off x="4429957" y="2698812"/>
            <a:ext cx="248575" cy="470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/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A93CF149-8CEB-E69C-7A3A-DEECB5712E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3173" y="5290864"/>
                <a:ext cx="1071980" cy="725007"/>
              </a:xfrm>
              <a:prstGeom prst="rect">
                <a:avLst/>
              </a:prstGeom>
              <a:blipFill>
                <a:blip r:embed="rId3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/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l-GR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𝜏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𝑚</m:t>
                          </m:r>
                        </m:num>
                        <m:den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𝑐</m:t>
                          </m:r>
                        </m:den>
                      </m:f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6B5C074A-7352-F1EA-0A35-745EB30FED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14697" y="5290865"/>
                <a:ext cx="1071979" cy="725007"/>
              </a:xfrm>
              <a:prstGeom prst="rect">
                <a:avLst/>
              </a:prstGeom>
              <a:blipFill>
                <a:blip r:embed="rId4"/>
                <a:stretch>
                  <a:fillRect b="-344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9" name="Textfeld 18">
            <a:extLst>
              <a:ext uri="{FF2B5EF4-FFF2-40B4-BE49-F238E27FC236}">
                <a16:creationId xmlns:a16="http://schemas.microsoft.com/office/drawing/2014/main" id="{97729EB0-4957-5719-4182-C48D239F77DB}"/>
              </a:ext>
            </a:extLst>
          </p:cNvPr>
          <p:cNvSpPr txBox="1"/>
          <p:nvPr/>
        </p:nvSpPr>
        <p:spPr>
          <a:xfrm>
            <a:off x="6738151" y="2367170"/>
            <a:ext cx="4971495" cy="212365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sz="2200" dirty="0" err="1"/>
              <a:t>Viscous</a:t>
            </a:r>
            <a:r>
              <a:rPr lang="de-DE" sz="2200" dirty="0"/>
              <a:t>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i="1" dirty="0" err="1"/>
              <a:t>simplified</a:t>
            </a:r>
            <a:r>
              <a:rPr lang="de-DE" sz="2200" i="1" dirty="0"/>
              <a:t> </a:t>
            </a:r>
            <a:r>
              <a:rPr lang="de-DE" sz="2200" i="1" dirty="0" err="1"/>
              <a:t>model</a:t>
            </a:r>
            <a:r>
              <a:rPr lang="de-DE" sz="2200" dirty="0"/>
              <a:t>.</a:t>
            </a:r>
          </a:p>
          <a:p>
            <a:r>
              <a:rPr lang="de-DE" sz="2200" dirty="0"/>
              <a:t>In </a:t>
            </a:r>
            <a:r>
              <a:rPr lang="de-DE" sz="2200" dirty="0" err="1"/>
              <a:t>reality</a:t>
            </a:r>
            <a:r>
              <a:rPr lang="de-DE" sz="2200" dirty="0"/>
              <a:t>, </a:t>
            </a:r>
            <a:r>
              <a:rPr lang="de-DE" sz="2200" dirty="0" err="1"/>
              <a:t>aerodynamic</a:t>
            </a:r>
            <a:r>
              <a:rPr lang="de-DE" sz="2200" dirty="0"/>
              <a:t> </a:t>
            </a:r>
            <a:r>
              <a:rPr lang="de-DE" sz="2200" dirty="0" err="1"/>
              <a:t>drag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</a:t>
            </a:r>
            <a:r>
              <a:rPr lang="de-DE" sz="2200" dirty="0" err="1"/>
              <a:t>typically</a:t>
            </a:r>
            <a:r>
              <a:rPr lang="de-DE" sz="2200" dirty="0"/>
              <a:t> </a:t>
            </a:r>
            <a:r>
              <a:rPr lang="de-DE" sz="2200" dirty="0" err="1"/>
              <a:t>quadratic</a:t>
            </a:r>
            <a:r>
              <a:rPr lang="de-DE" sz="2200" dirty="0"/>
              <a:t> in </a:t>
            </a:r>
            <a:r>
              <a:rPr lang="de-DE" sz="2200" dirty="0" err="1"/>
              <a:t>velocity</a:t>
            </a:r>
            <a:r>
              <a:rPr lang="de-DE" sz="2200" dirty="0"/>
              <a:t>.</a:t>
            </a:r>
          </a:p>
          <a:p>
            <a:r>
              <a:rPr lang="de-DE" sz="2200" dirty="0"/>
              <a:t>Linear </a:t>
            </a:r>
            <a:r>
              <a:rPr lang="de-DE" sz="2200" dirty="0" err="1"/>
              <a:t>damping</a:t>
            </a:r>
            <a:r>
              <a:rPr lang="de-DE" sz="2200" dirty="0"/>
              <a:t> </a:t>
            </a:r>
            <a:r>
              <a:rPr lang="de-DE" sz="2200" dirty="0" err="1"/>
              <a:t>is</a:t>
            </a:r>
            <a:r>
              <a:rPr lang="de-DE" sz="2200" dirty="0"/>
              <a:t> a </a:t>
            </a:r>
            <a:r>
              <a:rPr lang="de-DE" sz="2200" dirty="0" err="1"/>
              <a:t>good</a:t>
            </a:r>
            <a:r>
              <a:rPr lang="de-DE" sz="2200" dirty="0"/>
              <a:t> </a:t>
            </a:r>
            <a:r>
              <a:rPr lang="de-DE" sz="2200" dirty="0" err="1"/>
              <a:t>approximation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small</a:t>
            </a:r>
            <a:r>
              <a:rPr lang="de-DE" sz="2200" dirty="0"/>
              <a:t> </a:t>
            </a:r>
            <a:r>
              <a:rPr lang="de-DE" sz="2200" dirty="0" err="1"/>
              <a:t>velocities</a:t>
            </a:r>
            <a:r>
              <a:rPr lang="de-DE" sz="2200" dirty="0"/>
              <a:t> </a:t>
            </a:r>
            <a:r>
              <a:rPr lang="de-DE" sz="2200" dirty="0" err="1"/>
              <a:t>or</a:t>
            </a:r>
            <a:r>
              <a:rPr lang="de-DE" sz="2200" dirty="0"/>
              <a:t> </a:t>
            </a:r>
            <a:r>
              <a:rPr lang="de-DE" sz="2200" dirty="0" err="1"/>
              <a:t>near</a:t>
            </a:r>
            <a:r>
              <a:rPr lang="de-DE" sz="2200" dirty="0"/>
              <a:t> an </a:t>
            </a:r>
            <a:r>
              <a:rPr lang="de-DE" sz="2200" dirty="0" err="1"/>
              <a:t>operating</a:t>
            </a:r>
            <a:r>
              <a:rPr lang="de-DE" sz="2200" dirty="0"/>
              <a:t> </a:t>
            </a:r>
            <a:r>
              <a:rPr lang="de-DE" sz="2200" dirty="0" err="1"/>
              <a:t>point</a:t>
            </a:r>
            <a:r>
              <a:rPr lang="de-DE" sz="2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305423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E30C12-584A-A316-C9D4-0FE928D50C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RC and RL </a:t>
            </a:r>
            <a:r>
              <a:rPr lang="de-DE" dirty="0" err="1"/>
              <a:t>Circuits</a:t>
            </a:r>
            <a:endParaRPr lang="de-DE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de-DE" dirty="0"/>
                  <a:t>Transient </a:t>
                </a:r>
                <a:r>
                  <a:rPr lang="de-DE" dirty="0" err="1"/>
                  <a:t>responses</a:t>
                </a:r>
                <a:r>
                  <a:rPr lang="de-DE" dirty="0"/>
                  <a:t> </a:t>
                </a:r>
                <a:r>
                  <a:rPr lang="de-DE" dirty="0" err="1"/>
                  <a:t>to</a:t>
                </a:r>
                <a:r>
                  <a:rPr lang="de-DE" dirty="0"/>
                  <a:t> </a:t>
                </a:r>
                <a:r>
                  <a:rPr lang="de-DE" dirty="0" err="1"/>
                  <a:t>switching</a:t>
                </a:r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Capacitor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𝐶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de-DE" dirty="0"/>
                  <a:t>		</a:t>
                </a:r>
                <a:r>
                  <a:rPr lang="de-DE" dirty="0" err="1"/>
                  <a:t>Inductor</a:t>
                </a:r>
                <a:r>
                  <a:rPr lang="de-DE" dirty="0"/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de-DE" i="1">
                            <a:latin typeface="Cambria Math" panose="02040503050406030204" pitchFamily="18" charset="0"/>
                          </a:rPr>
                          <m:t>𝑖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>
                      <a:rPr lang="de-DE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/>
                  <a:t>But </a:t>
                </a:r>
                <a:r>
                  <a:rPr lang="de-DE" dirty="0" err="1"/>
                  <a:t>circuits</a:t>
                </a:r>
                <a:r>
                  <a:rPr lang="de-DE" dirty="0"/>
                  <a:t> </a:t>
                </a:r>
                <a:r>
                  <a:rPr lang="de-DE" dirty="0" err="1"/>
                  <a:t>without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r>
                      <a:rPr lang="de-DE" b="0" i="1" smtClean="0">
                        <a:latin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de-DE" dirty="0"/>
                  <a:t> </a:t>
                </a:r>
                <a:r>
                  <a:rPr lang="de-DE" dirty="0" err="1"/>
                  <a:t>are</a:t>
                </a:r>
                <a:r>
                  <a:rPr lang="de-DE" dirty="0"/>
                  <a:t> not </a:t>
                </a:r>
                <a:r>
                  <a:rPr lang="de-DE" dirty="0" err="1"/>
                  <a:t>physically</a:t>
                </a:r>
                <a:r>
                  <a:rPr lang="de-DE" dirty="0"/>
                  <a:t> </a:t>
                </a:r>
                <a:r>
                  <a:rPr lang="de-DE" dirty="0" err="1"/>
                  <a:t>realizable</a:t>
                </a:r>
                <a:r>
                  <a:rPr lang="de-DE" dirty="0"/>
                  <a:t> (e.g., </a:t>
                </a:r>
                <a:r>
                  <a:rPr lang="de-DE" dirty="0" err="1"/>
                  <a:t>charging</a:t>
                </a:r>
                <a:r>
                  <a:rPr lang="de-DE" dirty="0"/>
                  <a:t> a </a:t>
                </a:r>
                <a:r>
                  <a:rPr lang="de-DE" dirty="0" err="1"/>
                  <a:t>capacitor</a:t>
                </a:r>
                <a:r>
                  <a:rPr lang="de-DE" dirty="0"/>
                  <a:t> </a:t>
                </a:r>
                <a:r>
                  <a:rPr lang="de-DE" dirty="0" err="1"/>
                  <a:t>would</a:t>
                </a:r>
                <a:r>
                  <a:rPr lang="de-DE" dirty="0"/>
                  <a:t> </a:t>
                </a:r>
                <a:r>
                  <a:rPr lang="de-DE" dirty="0" err="1"/>
                  <a:t>require</a:t>
                </a:r>
                <a:r>
                  <a:rPr lang="de-DE" dirty="0"/>
                  <a:t> infinite </a:t>
                </a:r>
                <a:r>
                  <a:rPr lang="de-DE" dirty="0" err="1"/>
                  <a:t>current</a:t>
                </a:r>
                <a:r>
                  <a:rPr lang="de-DE" dirty="0"/>
                  <a:t>)</a:t>
                </a:r>
              </a:p>
              <a:p>
                <a:pPr marL="0" indent="0">
                  <a:buNone/>
                </a:pPr>
                <a:r>
                  <a:rPr lang="de-DE" dirty="0">
                    <a:sym typeface="Wingdings" pitchFamily="2" charset="2"/>
                  </a:rPr>
                  <a:t> </a:t>
                </a:r>
                <a:r>
                  <a:rPr lang="de-DE" dirty="0" err="1">
                    <a:sym typeface="Wingdings" pitchFamily="2" charset="2"/>
                  </a:rPr>
                  <a:t>damping</a:t>
                </a:r>
                <a:endParaRPr lang="de-DE" dirty="0"/>
              </a:p>
            </p:txBody>
          </p:sp>
        </mc:Choice>
        <mc:Fallback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5EE055E8-9FEF-2BBD-8427-BDAA20EA01B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06" t="-2326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EB132ED-5848-080C-9214-21C2C2687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11395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D69A32-47DF-5904-A480-63E4852F84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35E8F4DA-C1BD-95F0-7B52-E2CF7188B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16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262CE27-98C4-F52E-FACC-82F53235DAA2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28844" y="2373207"/>
            <a:ext cx="5891038" cy="3918446"/>
          </a:xfrm>
          <a:prstGeom prst="rect">
            <a:avLst/>
          </a:prstGeom>
          <a:noFill/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F127E921-17DC-5B89-6552-62E53226D86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211" y="4457416"/>
            <a:ext cx="2247900" cy="128841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/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400" dirty="0"/>
              </a:p>
              <a:p>
                <a:r>
                  <a:rPr lang="de-DE" sz="2400" dirty="0"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E9D9C505-45C5-8E94-9A95-BDAB5BB4BC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690688"/>
                <a:ext cx="3156313" cy="1257395"/>
              </a:xfrm>
              <a:prstGeom prst="rect">
                <a:avLst/>
              </a:prstGeom>
              <a:blipFill>
                <a:blip r:embed="rId4"/>
                <a:stretch>
                  <a:fillRect l="-3213" t="-2970" b="-6931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/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>
                              <a:latin typeface="Cambria Math" panose="02040503050406030204" pitchFamily="18" charset="0"/>
                            </a:rPr>
                            <m:t>1−</m:t>
                          </m:r>
                          <m:sSup>
                            <m:sSup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de-DE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num>
                                <m:den>
                                  <m:r>
                                    <a:rPr lang="de-DE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den>
                              </m:f>
                            </m:sup>
                          </m:sSup>
                        </m:e>
                      </m:d>
                    </m:oMath>
                  </m:oMathPara>
                </a14:m>
                <a:endParaRPr lang="de-DE" dirty="0"/>
              </a:p>
              <a:p>
                <a:pPr/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endParaRPr lang="de-DE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de-DE" b="0" i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081F9BD-6B9D-50CA-23C4-1CCADACB2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69318" y="4322588"/>
                <a:ext cx="2333297" cy="2024850"/>
              </a:xfrm>
              <a:prstGeom prst="rect">
                <a:avLst/>
              </a:prstGeom>
              <a:blipFill>
                <a:blip r:embed="rId5"/>
                <a:stretch>
                  <a:fillRect b="-62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feld 12">
            <a:extLst>
              <a:ext uri="{FF2B5EF4-FFF2-40B4-BE49-F238E27FC236}">
                <a16:creationId xmlns:a16="http://schemas.microsoft.com/office/drawing/2014/main" id="{9D95278F-E329-6A44-6095-36318FA88B35}"/>
              </a:ext>
            </a:extLst>
          </p:cNvPr>
          <p:cNvSpPr txBox="1"/>
          <p:nvPr/>
        </p:nvSpPr>
        <p:spPr>
          <a:xfrm>
            <a:off x="658799" y="3794021"/>
            <a:ext cx="43438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DC: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EE26FF0-1D96-8482-E5BE-DC47C347DA70}"/>
              </a:ext>
            </a:extLst>
          </p:cNvPr>
          <p:cNvSpPr txBox="1"/>
          <p:nvPr/>
        </p:nvSpPr>
        <p:spPr>
          <a:xfrm>
            <a:off x="5833241" y="1607161"/>
            <a:ext cx="615379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transients</a:t>
            </a:r>
            <a:r>
              <a:rPr lang="de-DE" dirty="0"/>
              <a:t>: time-</a:t>
            </a:r>
            <a:r>
              <a:rPr lang="de-DE" dirty="0" err="1"/>
              <a:t>varying</a:t>
            </a:r>
            <a:r>
              <a:rPr lang="de-DE" dirty="0"/>
              <a:t> </a:t>
            </a:r>
            <a:r>
              <a:rPr lang="de-DE" dirty="0" err="1"/>
              <a:t>currents</a:t>
            </a:r>
            <a:r>
              <a:rPr lang="de-DE" dirty="0"/>
              <a:t> and </a:t>
            </a:r>
            <a:r>
              <a:rPr lang="de-DE" dirty="0" err="1"/>
              <a:t>voltages</a:t>
            </a:r>
            <a:r>
              <a:rPr lang="de-DE" dirty="0"/>
              <a:t> </a:t>
            </a:r>
            <a:r>
              <a:rPr lang="de-DE" dirty="0" err="1"/>
              <a:t>resulting</a:t>
            </a:r>
            <a:r>
              <a:rPr lang="de-DE" dirty="0"/>
              <a:t> </a:t>
            </a:r>
            <a:r>
              <a:rPr lang="de-DE" dirty="0" err="1"/>
              <a:t>from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sudden</a:t>
            </a:r>
            <a:r>
              <a:rPr lang="de-DE" dirty="0"/>
              <a:t> </a:t>
            </a:r>
            <a:r>
              <a:rPr lang="de-DE" dirty="0" err="1"/>
              <a:t>application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sources</a:t>
            </a:r>
            <a:r>
              <a:rPr lang="de-DE" dirty="0"/>
              <a:t> (</a:t>
            </a:r>
            <a:r>
              <a:rPr lang="de-DE" dirty="0" err="1"/>
              <a:t>usually</a:t>
            </a:r>
            <a:r>
              <a:rPr lang="de-DE" dirty="0"/>
              <a:t> due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switching</a:t>
            </a:r>
            <a:r>
              <a:rPr lang="de-DE" dirty="0"/>
              <a:t>)</a:t>
            </a:r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4E1E26F3-84BA-69A9-1773-6AAD3B2032AA}"/>
              </a:ext>
            </a:extLst>
          </p:cNvPr>
          <p:cNvSpPr txBox="1"/>
          <p:nvPr/>
        </p:nvSpPr>
        <p:spPr>
          <a:xfrm>
            <a:off x="9074363" y="4528367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capacitances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open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/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1" name="Textfeld 10">
                <a:extLst>
                  <a:ext uri="{FF2B5EF4-FFF2-40B4-BE49-F238E27FC236}">
                    <a16:creationId xmlns:a16="http://schemas.microsoft.com/office/drawing/2014/main" id="{34640157-B0C5-0AFE-4F26-6605122EEA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4436" y="3028287"/>
                <a:ext cx="1178511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Geschweifte Klammer links 11">
            <a:extLst>
              <a:ext uri="{FF2B5EF4-FFF2-40B4-BE49-F238E27FC236}">
                <a16:creationId xmlns:a16="http://schemas.microsoft.com/office/drawing/2014/main" id="{91A73A7A-B02A-A7C0-D575-7EBF1C516EB0}"/>
              </a:ext>
            </a:extLst>
          </p:cNvPr>
          <p:cNvSpPr/>
          <p:nvPr/>
        </p:nvSpPr>
        <p:spPr>
          <a:xfrm rot="16200000">
            <a:off x="1479372" y="2640952"/>
            <a:ext cx="221942" cy="628698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/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lang="de-DE" sz="2400" dirty="0"/>
              </a:p>
            </p:txBody>
          </p:sp>
        </mc:Choice>
        <mc:Fallback>
          <p:sp>
            <p:nvSpPr>
              <p:cNvPr id="14" name="Textfeld 13">
                <a:extLst>
                  <a:ext uri="{FF2B5EF4-FFF2-40B4-BE49-F238E27FC236}">
                    <a16:creationId xmlns:a16="http://schemas.microsoft.com/office/drawing/2014/main" id="{66028E28-1859-2A78-E6E6-7C4D389D6B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07613" y="3065193"/>
                <a:ext cx="856709" cy="369332"/>
              </a:xfrm>
              <a:prstGeom prst="rect">
                <a:avLst/>
              </a:prstGeom>
              <a:blipFill>
                <a:blip r:embed="rId7"/>
                <a:stretch>
                  <a:fillRect l="-8824" r="-8824" b="-333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BCE9CC08-EAF7-7515-D31D-960C82E60FA9}"/>
              </a:ext>
            </a:extLst>
          </p:cNvPr>
          <p:cNvCxnSpPr>
            <a:cxnSpLocks/>
          </p:cNvCxnSpPr>
          <p:nvPr/>
        </p:nvCxnSpPr>
        <p:spPr>
          <a:xfrm flipV="1">
            <a:off x="4951099" y="5101623"/>
            <a:ext cx="2997035" cy="1861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078ED37F-09D4-5A3E-27C6-456BDF76254C}"/>
              </a:ext>
            </a:extLst>
          </p:cNvPr>
          <p:cNvCxnSpPr/>
          <p:nvPr/>
        </p:nvCxnSpPr>
        <p:spPr>
          <a:xfrm>
            <a:off x="4776186" y="4598633"/>
            <a:ext cx="1873189" cy="3462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998202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47E41B-764F-49AA-4B91-2ED2CB2C8D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RC Series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D68C110-C1DC-DEB3-5F70-353FFFE71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17</a:t>
            </a:fld>
            <a:endParaRPr lang="de-DE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27EF0147-E09A-C757-2848-3B62C0983B89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4529" y="2528069"/>
            <a:ext cx="2404745" cy="1378585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322CA677-64AB-399D-E770-A7E62840F03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2119108"/>
            <a:ext cx="5633670" cy="3998367"/>
          </a:xfrm>
          <a:prstGeom prst="rect">
            <a:avLst/>
          </a:prstGeom>
          <a:noFill/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54D38FDF-7428-CA03-27D8-3089CC70A0EA}"/>
              </a:ext>
            </a:extLst>
          </p:cNvPr>
          <p:cNvSpPr txBox="1"/>
          <p:nvPr/>
        </p:nvSpPr>
        <p:spPr>
          <a:xfrm>
            <a:off x="988149" y="1967321"/>
            <a:ext cx="361750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discharging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capacitor</a:t>
            </a:r>
            <a:r>
              <a:rPr lang="de-DE" sz="2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/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sz="2400" dirty="0"/>
                  <a:t>differential </a:t>
                </a:r>
                <a:r>
                  <a:rPr lang="de-DE" sz="2400" dirty="0" err="1"/>
                  <a:t>equation</a:t>
                </a:r>
                <a:r>
                  <a:rPr lang="de-DE" sz="2400" dirty="0"/>
                  <a:t>:</a:t>
                </a:r>
              </a:p>
              <a:p>
                <a:pPr/>
                <a:r>
                  <a:rPr lang="de-DE" sz="2400" dirty="0"/>
                  <a:t>	</a:t>
                </a:r>
                <a14:m>
                  <m:oMath xmlns:m="http://schemas.openxmlformats.org/officeDocument/2006/math">
                    <m:r>
                      <a:rPr lang="de-DE" sz="24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𝐶</m:t>
                    </m:r>
                    <m:r>
                      <a:rPr lang="de-DE" sz="24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𝑢</m:t>
                            </m:r>
                          </m:e>
                        </m:acc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𝑐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de-DE" sz="2400" dirty="0"/>
              </a:p>
              <a:p>
                <a:pPr/>
                <a:endParaRPr lang="de-DE" sz="240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sz="2400" i="1">
                          <a:latin typeface="Cambria Math" panose="02040503050406030204" pitchFamily="18" charset="0"/>
                        </a:rPr>
                        <m:t>𝜏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𝑅𝐶</m:t>
                      </m:r>
                    </m:oMath>
                  </m:oMathPara>
                </a14:m>
                <a:endParaRPr lang="de-DE" sz="2400" dirty="0"/>
              </a:p>
              <a:p>
                <a:pPr/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  <m:r>
                      <a:rPr lang="de-DE" sz="240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de-DE" sz="2400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de-DE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r>
                  <a:rPr lang="de-DE" sz="2400" dirty="0"/>
                  <a:t>		</a:t>
                </a:r>
                <a14:m>
                  <m:oMath xmlns:m="http://schemas.openxmlformats.org/officeDocument/2006/math"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de-DE" sz="2400" b="0" i="1" smtClean="0"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𝑞</m:t>
                            </m:r>
                          </m:sub>
                        </m:sSub>
                      </m:num>
                      <m:den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𝑅</m:t>
                        </m:r>
                      </m:den>
                    </m:f>
                    <m:r>
                      <a:rPr lang="de-DE" sz="2400">
                        <a:latin typeface="Cambria Math" panose="02040503050406030204" pitchFamily="18" charset="0"/>
                      </a:rPr>
                      <m:t>∙</m:t>
                    </m:r>
                    <m:sSup>
                      <m:sSup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p>
                        <m:r>
                          <a:rPr lang="de-DE" sz="2400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num>
                          <m:den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𝜏</m:t>
                            </m:r>
                          </m:den>
                        </m:f>
                      </m:sup>
                    </m:sSup>
                  </m:oMath>
                </a14:m>
                <a:endParaRPr lang="de-DE" sz="2400" dirty="0"/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A28B8BB7-47D6-8E42-9F7A-6ED1633DF8A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191147"/>
                <a:ext cx="5257800" cy="2168094"/>
              </a:xfrm>
              <a:prstGeom prst="rect">
                <a:avLst/>
              </a:prstGeom>
              <a:blipFill>
                <a:blip r:embed="rId4"/>
                <a:stretch>
                  <a:fillRect l="-1928" t="-2924" b="-585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/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sub>
                      </m:sSub>
                      <m:r>
                        <a:rPr lang="de-DE" sz="1800" b="0" i="1" smtClean="0">
                          <a:latin typeface="Cambria Math" panose="02040503050406030204" pitchFamily="18" charset="0"/>
                        </a:rPr>
                        <m:t>(0)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C216CE4A-10C7-7B61-9B50-883AF76637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9017" y="6488668"/>
                <a:ext cx="681361" cy="369332"/>
              </a:xfrm>
              <a:prstGeom prst="rect">
                <a:avLst/>
              </a:prstGeom>
              <a:blipFill>
                <a:blip r:embed="rId5"/>
                <a:stretch>
                  <a:fillRect r="-12727" b="-16667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411506DD-CCC5-9707-C425-D42EF0B7E3C4}"/>
              </a:ext>
            </a:extLst>
          </p:cNvPr>
          <p:cNvCxnSpPr>
            <a:stCxn id="10" idx="0"/>
          </p:cNvCxnSpPr>
          <p:nvPr/>
        </p:nvCxnSpPr>
        <p:spPr>
          <a:xfrm flipH="1" flipV="1">
            <a:off x="1796495" y="6205491"/>
            <a:ext cx="103203" cy="28317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0E61444F-6849-4F70-8A77-8BB308EDFCC3}"/>
              </a:ext>
            </a:extLst>
          </p:cNvPr>
          <p:cNvCxnSpPr/>
          <p:nvPr/>
        </p:nvCxnSpPr>
        <p:spPr>
          <a:xfrm flipV="1">
            <a:off x="2760955" y="3062796"/>
            <a:ext cx="4039340" cy="288524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9A5406DC-8FBD-AC9D-C192-78C2D0255AE2}"/>
              </a:ext>
            </a:extLst>
          </p:cNvPr>
          <p:cNvCxnSpPr/>
          <p:nvPr/>
        </p:nvCxnSpPr>
        <p:spPr>
          <a:xfrm flipV="1">
            <a:off x="5504155" y="5370990"/>
            <a:ext cx="1074198" cy="577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/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̇"/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𝑢</m:t>
                              </m:r>
                            </m:e>
                          </m:acc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sub>
                      </m:sSub>
                    </m:oMath>
                  </m:oMathPara>
                </a14:m>
                <a:endParaRPr lang="de-DE" dirty="0"/>
              </a:p>
            </p:txBody>
          </p:sp>
        </mc:Choice>
        <mc:Fallback>
          <p:sp>
            <p:nvSpPr>
              <p:cNvPr id="18" name="Textfeld 17">
                <a:extLst>
                  <a:ext uri="{FF2B5EF4-FFF2-40B4-BE49-F238E27FC236}">
                    <a16:creationId xmlns:a16="http://schemas.microsoft.com/office/drawing/2014/main" id="{9EE19ACA-9F3E-796A-A0A9-2F84F5A9B01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888" y="6488668"/>
                <a:ext cx="796771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EFE24FE4-7EDA-2BB4-0E16-E1A26B92CF45}"/>
              </a:ext>
            </a:extLst>
          </p:cNvPr>
          <p:cNvCxnSpPr>
            <a:stCxn id="18" idx="0"/>
          </p:cNvCxnSpPr>
          <p:nvPr/>
        </p:nvCxnSpPr>
        <p:spPr>
          <a:xfrm flipV="1">
            <a:off x="3999274" y="6117475"/>
            <a:ext cx="0" cy="37119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7878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53" presetClass="entr" presetSubtype="16" fill="hold" nodeType="after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38AC83-87A6-27B7-70BB-27DD49340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8BADA4F-AD89-9FED-24A4-711582CD75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Transient Responses: RL Parallel Circuit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8F13AD2B-7B82-FCF6-2807-C1F970D3A0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03FC7C-1F2C-4946-B702-1A52A755583B}" type="slidenum">
              <a:rPr lang="de-DE" smtClean="0"/>
              <a:t>18</a:t>
            </a:fld>
            <a:endParaRPr lang="de-DE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/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+</m:t>
                      </m:r>
                      <m:sSub>
                        <m:sSubPr>
                          <m:ctrlPr>
                            <a:rPr lang="de-DE" sz="240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sz="2400" b="0" i="1" smtClean="0"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sz="2400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sz="2000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</m:oMath>
                  </m:oMathPara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𝑢</m:t>
                        </m:r>
                      </m:num>
                      <m:den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b="0" i="1" smtClean="0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:r>
                  <a:rPr lang="de-DE" sz="2000" dirty="0">
                    <a:latin typeface="Calibri" panose="020F0502020204030204" pitchFamily="34" charset="0"/>
                    <a:ea typeface="Calibri" panose="020F0502020204030204" pitchFamily="34" charset="0"/>
                    <a:cs typeface="Times New Roman" panose="02020603050405020304" pitchFamily="18" charset="0"/>
                    <a:sym typeface="Wingdings" pitchFamily="2" charset="2"/>
                  </a:rPr>
                  <a:t>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b="0" i="1" smtClean="0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𝐿</m:t>
                        </m:r>
                      </m:num>
                      <m:den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𝑅</m:t>
                        </m:r>
                      </m:den>
                    </m:f>
                    <m:r>
                      <a:rPr lang="de-DE" sz="20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∙</m:t>
                    </m:r>
                    <m:f>
                      <m:fPr>
                        <m:ctrlP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</m:ctrlPr>
                      </m:fPr>
                      <m:num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sSub>
                          <m:sSubPr>
                            <m:ctrlPr>
                              <a:rPr lang="de-DE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</m:ctrlPr>
                          </m:sSubPr>
                          <m:e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𝑖</m:t>
                            </m:r>
                          </m:e>
                          <m:sub>
                            <m:r>
                              <a:rPr lang="de-DE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  <a:sym typeface="Wingdings" pitchFamily="2" charset="2"/>
                              </a:rPr>
                              <m:t>𝐿</m:t>
                            </m:r>
                          </m:sub>
                        </m:sSub>
                      </m:num>
                      <m:den>
                        <m:r>
                          <a:rPr lang="de-DE" sz="20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𝑑</m:t>
                        </m:r>
                        <m:r>
                          <a:rPr lang="de-DE" sz="20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  <a:sym typeface="Wingdings" pitchFamily="2" charset="2"/>
                          </a:rPr>
                          <m:t>𝑡</m:t>
                        </m:r>
                      </m:den>
                    </m:f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+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sz="2000" i="1">
                        <a:latin typeface="Cambria Math" panose="02040503050406030204" pitchFamily="18" charset="0"/>
                        <a:cs typeface="Times New Roman" panose="02020603050405020304" pitchFamily="18" charset="0"/>
                        <a:sym typeface="Wingdings" pitchFamily="2" charset="2"/>
                      </a:rPr>
                      <m:t>=</m:t>
                    </m:r>
                    <m:sSub>
                      <m:sSubPr>
                        <m:ctrlP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sz="2000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</m:oMath>
                </a14:m>
                <a:endParaRPr lang="de-DE" sz="2000" dirty="0">
                  <a:latin typeface="Calibri" panose="020F0502020204030204" pitchFamily="34" charset="0"/>
                  <a:ea typeface="Calibri" panose="020F0502020204030204" pitchFamily="34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8" name="Textfeld 7">
                <a:extLst>
                  <a:ext uri="{FF2B5EF4-FFF2-40B4-BE49-F238E27FC236}">
                    <a16:creationId xmlns:a16="http://schemas.microsoft.com/office/drawing/2014/main" id="{DBE91921-29E3-B023-E958-EECDE178B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38560" y="1945489"/>
                <a:ext cx="2154372" cy="1784976"/>
              </a:xfrm>
              <a:prstGeom prst="rect">
                <a:avLst/>
              </a:prstGeom>
              <a:blipFill>
                <a:blip r:embed="rId2"/>
                <a:stretch>
                  <a:fillRect l="-3529" b="-212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/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 xmlns:m="http://schemas.openxmlformats.org/officeDocument/2006/math"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𝜏</m:t>
                    </m:r>
                    <m:r>
                      <a:rPr lang="de-DE" i="1" smtClean="0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num>
                      <m:den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𝑅</m:t>
                        </m:r>
                      </m:den>
                    </m:f>
                  </m:oMath>
                </a14:m>
                <a:r>
                  <a:rPr lang="de-DE" i="1" dirty="0">
                    <a:latin typeface="Cambria Math" panose="02040503050406030204" pitchFamily="18" charset="0"/>
                    <a:ea typeface="Times New Roman" panose="02020603050405020304" pitchFamily="18" charset="0"/>
                    <a:cs typeface="Times New Roman" panose="02020603050405020304" pitchFamily="18" charset="0"/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𝐿</m:t>
                        </m:r>
                      </m:sub>
                    </m:sSub>
                    <m:r>
                      <a:rPr lang="de-DE" i="1">
                        <a:latin typeface="Cambria Math" panose="020405030504060302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rPr>
                      <m:t>=</m:t>
                    </m:r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𝐼</m:t>
                        </m:r>
                      </m:e>
                      <m:sub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𝑞</m:t>
                        </m:r>
                      </m:sub>
                    </m:sSub>
                    <m:d>
                      <m:dPr>
                        <m:ctrlP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de-DE" i="1">
                            <a:latin typeface="Cambria Math" panose="02040503050406030204" pitchFamily="18" charset="0"/>
                            <a:ea typeface="Times New Roman" panose="02020603050405020304" pitchFamily="18" charset="0"/>
                            <a:cs typeface="Times New Roman" panose="02020603050405020304" pitchFamily="18" charset="0"/>
                          </a:rPr>
                          <m:t>1−</m:t>
                        </m:r>
                        <m:sSup>
                          <m:sSupPr>
                            <m:ctrlP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de-DE" i="1">
                                <a:latin typeface="Cambria Math" panose="02040503050406030204" pitchFamily="18" charset="0"/>
                                <a:ea typeface="Times New Roman" panose="020206030504050203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𝑡</m:t>
                                </m:r>
                              </m:num>
                              <m:den>
                                <m:r>
                                  <a:rPr lang="de-DE" i="1">
                                    <a:latin typeface="Cambria Math" panose="02040503050406030204" pitchFamily="18" charset="0"/>
                                    <a:ea typeface="Times New Roman" panose="02020603050405020304" pitchFamily="18" charset="0"/>
                                    <a:cs typeface="Times New Roman" panose="02020603050405020304" pitchFamily="18" charset="0"/>
                                  </a:rPr>
                                  <m:t>𝜏</m:t>
                                </m:r>
                              </m:den>
                            </m:f>
                          </m:sup>
                        </m:sSup>
                      </m:e>
                    </m:d>
                  </m:oMath>
                </a14:m>
                <a:endParaRPr lang="de-DE" i="1" dirty="0">
                  <a:latin typeface="Cambria Math" panose="02040503050406030204" pitchFamily="18" charset="0"/>
                  <a:ea typeface="Times New Roman" panose="02020603050405020304" pitchFamily="18" charset="0"/>
                  <a:cs typeface="Times New Roman" panose="02020603050405020304" pitchFamily="18" charset="0"/>
                </a:endParaRPr>
              </a:p>
              <a:p>
                <a:pPr>
                  <a:lnSpc>
                    <a:spcPct val="115000"/>
                  </a:lnSpc>
                  <a:spcAft>
                    <a:spcPts val="1000"/>
                  </a:spcAft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𝑢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𝐿</m:t>
                      </m:r>
                      <m:r>
                        <a:rPr lang="de-DE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𝑖</m:t>
                              </m:r>
                            </m:e>
                            <m:sub>
                              <m:r>
                                <a:rPr lang="de-D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Times New Roman" panose="02020603050405020304" pitchFamily="18" charset="0"/>
                                  <a:sym typeface="Wingdings" pitchFamily="2" charset="2"/>
                                </a:rPr>
                                <m:t>𝐿</m:t>
                              </m:r>
                            </m:sub>
                          </m:sSub>
                        </m:num>
                        <m:den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𝑅</m:t>
                      </m:r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𝑅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𝑖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𝐿</m:t>
                          </m:r>
                        </m:sub>
                      </m:sSub>
                      <m:r>
                        <a:rPr lang="de-DE" b="0" i="1" smtClean="0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=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𝑞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m:t>∙</m:t>
                      </m:r>
                      <m:sSup>
                        <m:sSupPr>
                          <m:ctrlP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de-DE" i="1">
                              <a:latin typeface="Cambria Math" panose="02040503050406030204" pitchFamily="18" charset="0"/>
                              <a:ea typeface="Times New Roman" panose="02020603050405020304" pitchFamily="18" charset="0"/>
                              <a:cs typeface="Times New Roman" panose="020206030504050203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</m:ctrlPr>
                            </m:fPr>
                            <m:num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𝑡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  <a:ea typeface="Times New Roman" panose="02020603050405020304" pitchFamily="18" charset="0"/>
                                  <a:cs typeface="Times New Roman" panose="02020603050405020304" pitchFamily="18" charset="0"/>
                                </a:rPr>
                                <m:t>𝜏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10" name="Textfeld 9">
                <a:extLst>
                  <a:ext uri="{FF2B5EF4-FFF2-40B4-BE49-F238E27FC236}">
                    <a16:creationId xmlns:a16="http://schemas.microsoft.com/office/drawing/2014/main" id="{37D1A79A-6AE0-F261-CE0A-FFABA2E13C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4099559"/>
                <a:ext cx="4654732" cy="185416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4D827BEA-C117-4EF1-823D-2D622076B978}"/>
              </a:ext>
            </a:extLst>
          </p:cNvPr>
          <p:cNvPicPr>
            <a:picLocks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751" y="1810225"/>
            <a:ext cx="2865120" cy="1920240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42EF7041-D9E8-32D1-622F-8897AF3F6A6B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33621" y="2156459"/>
            <a:ext cx="6273800" cy="3886200"/>
          </a:xfrm>
          <a:prstGeom prst="rect">
            <a:avLst/>
          </a:prstGeom>
          <a:noFill/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F669E235-5F62-2F64-0ABE-D0395E3B0C2D}"/>
              </a:ext>
            </a:extLst>
          </p:cNvPr>
          <p:cNvSpPr txBox="1"/>
          <p:nvPr/>
        </p:nvSpPr>
        <p:spPr>
          <a:xfrm>
            <a:off x="8970521" y="2770345"/>
            <a:ext cx="3088728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de-DE" dirty="0" err="1">
                <a:effectLst/>
                <a:latin typeface="Helvetica Neue" panose="02000503000000020004" pitchFamily="2" charset="0"/>
              </a:rPr>
              <a:t>steady-state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conditions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with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>
                <a:latin typeface="Helvetica Neue" panose="02000503000000020004" pitchFamily="2" charset="0"/>
              </a:rPr>
              <a:t>DC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sources</a:t>
            </a:r>
            <a:r>
              <a:rPr lang="de-DE" dirty="0">
                <a:latin typeface="Helvetica Neue" panose="02000503000000020004" pitchFamily="2" charset="0"/>
              </a:rPr>
              <a:t>: </a:t>
            </a:r>
            <a:r>
              <a:rPr lang="de-DE" dirty="0" err="1">
                <a:latin typeface="Helvetica Neue" panose="02000503000000020004" pitchFamily="2" charset="0"/>
              </a:rPr>
              <a:t>inductances</a:t>
            </a:r>
            <a:r>
              <a:rPr lang="de-DE" dirty="0"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behave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as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short</a:t>
            </a:r>
            <a:r>
              <a:rPr lang="de-DE" dirty="0">
                <a:effectLst/>
                <a:latin typeface="Helvetica Neue" panose="02000503000000020004" pitchFamily="2" charset="0"/>
              </a:rPr>
              <a:t> </a:t>
            </a:r>
            <a:r>
              <a:rPr lang="de-DE" dirty="0" err="1">
                <a:effectLst/>
                <a:latin typeface="Helvetica Neue" panose="02000503000000020004" pitchFamily="2" charset="0"/>
              </a:rPr>
              <a:t>circuits</a:t>
            </a:r>
            <a:endParaRPr lang="de-DE" dirty="0">
              <a:effectLst/>
              <a:latin typeface="Helvetica Neue" panose="02000503000000020004" pitchFamily="2" charset="0"/>
            </a:endParaRPr>
          </a:p>
        </p:txBody>
      </p:sp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91526E5C-507A-628B-3BF1-4FEFAE95D054}"/>
              </a:ext>
            </a:extLst>
          </p:cNvPr>
          <p:cNvCxnSpPr>
            <a:cxnSpLocks/>
          </p:cNvCxnSpPr>
          <p:nvPr/>
        </p:nvCxnSpPr>
        <p:spPr>
          <a:xfrm>
            <a:off x="4421080" y="4358936"/>
            <a:ext cx="1908699" cy="4261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>
            <a:extLst>
              <a:ext uri="{FF2B5EF4-FFF2-40B4-BE49-F238E27FC236}">
                <a16:creationId xmlns:a16="http://schemas.microsoft.com/office/drawing/2014/main" id="{74AF2DEF-F3C4-E0F1-57FD-B435CDECB4DF}"/>
              </a:ext>
            </a:extLst>
          </p:cNvPr>
          <p:cNvCxnSpPr/>
          <p:nvPr/>
        </p:nvCxnSpPr>
        <p:spPr>
          <a:xfrm flipV="1">
            <a:off x="3338560" y="5024761"/>
            <a:ext cx="4704609" cy="621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7312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fik 5">
            <a:extLst>
              <a:ext uri="{FF2B5EF4-FFF2-40B4-BE49-F238E27FC236}">
                <a16:creationId xmlns:a16="http://schemas.microsoft.com/office/drawing/2014/main" id="{34BFEDDF-DBCB-1E43-1FD3-BC01194BE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5975" y="2560952"/>
            <a:ext cx="5237825" cy="4036913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CE787393-544D-703C-713F-00B09CCF1D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Second-Order Systems (PT2)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4AE596-18C7-3B34-C44D-8A40912DE6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277775" cy="4351338"/>
          </a:xfrm>
        </p:spPr>
        <p:txBody>
          <a:bodyPr/>
          <a:lstStyle/>
          <a:p>
            <a:pPr marL="0" indent="0">
              <a:buNone/>
            </a:pPr>
            <a:r>
              <a:rPr lang="de-DE" dirty="0" err="1"/>
              <a:t>Two</a:t>
            </a:r>
            <a:r>
              <a:rPr lang="de-DE" dirty="0"/>
              <a:t> </a:t>
            </a:r>
            <a:r>
              <a:rPr lang="de-DE" dirty="0" err="1"/>
              <a:t>energy</a:t>
            </a:r>
            <a:r>
              <a:rPr lang="de-DE" dirty="0"/>
              <a:t> </a:t>
            </a:r>
            <a:r>
              <a:rPr lang="de-DE" dirty="0" err="1"/>
              <a:t>storage</a:t>
            </a:r>
            <a:r>
              <a:rPr lang="de-DE" dirty="0"/>
              <a:t> </a:t>
            </a:r>
            <a:r>
              <a:rPr lang="de-DE" dirty="0" err="1"/>
              <a:t>elements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/>
              <a:t>Can </a:t>
            </a:r>
            <a:r>
              <a:rPr lang="de-DE" dirty="0" err="1"/>
              <a:t>show</a:t>
            </a:r>
            <a:r>
              <a:rPr lang="de-DE" dirty="0"/>
              <a:t> </a:t>
            </a:r>
            <a:r>
              <a:rPr lang="de-DE" dirty="0" err="1"/>
              <a:t>oscillations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Characterized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</a:t>
            </a:r>
            <a:r>
              <a:rPr lang="de-DE" dirty="0" err="1"/>
              <a:t>natural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and </a:t>
            </a:r>
            <a:r>
              <a:rPr lang="de-DE" dirty="0" err="1"/>
              <a:t>damping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23C8AB7-4D08-3D96-5BB4-B17DE1DB7C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19</a:t>
            </a:fld>
            <a:endParaRPr lang="en-GB"/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4E3617C7-60E3-4AD5-CB4C-AF5151E922A9}"/>
              </a:ext>
            </a:extLst>
          </p:cNvPr>
          <p:cNvSpPr txBox="1"/>
          <p:nvPr/>
        </p:nvSpPr>
        <p:spPr>
          <a:xfrm>
            <a:off x="6337917" y="1729955"/>
            <a:ext cx="5277775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2400" dirty="0" err="1"/>
              <a:t>Underdamped</a:t>
            </a:r>
            <a:r>
              <a:rPr lang="de-DE" sz="2400" dirty="0"/>
              <a:t>, </a:t>
            </a:r>
            <a:r>
              <a:rPr lang="de-DE" sz="2400" dirty="0" err="1"/>
              <a:t>critically</a:t>
            </a:r>
            <a:r>
              <a:rPr lang="de-DE" sz="2400" dirty="0"/>
              <a:t> </a:t>
            </a:r>
            <a:r>
              <a:rPr lang="de-DE" sz="2400" dirty="0" err="1"/>
              <a:t>damped</a:t>
            </a:r>
            <a:r>
              <a:rPr lang="de-DE" sz="2400" dirty="0"/>
              <a:t>, and </a:t>
            </a:r>
            <a:r>
              <a:rPr lang="de-DE" sz="2400" dirty="0" err="1"/>
              <a:t>overdamped</a:t>
            </a:r>
            <a:r>
              <a:rPr lang="de-DE" sz="2400" dirty="0"/>
              <a:t> </a:t>
            </a:r>
            <a:r>
              <a:rPr lang="de-DE" sz="2400" dirty="0" err="1"/>
              <a:t>step</a:t>
            </a:r>
            <a:r>
              <a:rPr lang="de-DE" sz="2400" dirty="0"/>
              <a:t> </a:t>
            </a:r>
            <a:r>
              <a:rPr lang="de-DE" sz="2400" dirty="0" err="1"/>
              <a:t>response</a:t>
            </a:r>
            <a:r>
              <a:rPr lang="de-DE" sz="24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1216483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1BE6BE-69ED-4AEF-A725-3F30EA6AA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</a:t>
            </a:r>
            <a:r>
              <a:rPr lang="de-DE" dirty="0" err="1"/>
              <a:t>Mass</a:t>
            </a:r>
            <a:r>
              <a:rPr lang="de-DE" dirty="0"/>
              <a:t>-Spring-</a:t>
            </a:r>
            <a:r>
              <a:rPr lang="de-DE" dirty="0" err="1"/>
              <a:t>Damper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6BDF905-D4E7-24F3-FF16-09404FF059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1BCF8D61-37CB-1256-768D-D4C7581817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08380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B8DF07-BBF2-C475-22DB-FBE9C0E8B8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Example</a:t>
            </a:r>
            <a:r>
              <a:rPr lang="de-DE" dirty="0"/>
              <a:t>: LC and RLC </a:t>
            </a:r>
            <a:r>
              <a:rPr lang="de-DE" dirty="0" err="1"/>
              <a:t>Circuits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776577C-FB27-48A1-08F9-6C0DDED2A8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…</a:t>
            </a:r>
          </a:p>
          <a:p>
            <a:r>
              <a:rPr lang="de-DE" dirty="0" err="1"/>
              <a:t>Resonance</a:t>
            </a:r>
            <a:endParaRPr lang="de-DE" dirty="0"/>
          </a:p>
          <a:p>
            <a:r>
              <a:rPr lang="de-DE" dirty="0"/>
              <a:t>Filters </a:t>
            </a:r>
            <a:r>
              <a:rPr lang="de-DE" dirty="0" err="1"/>
              <a:t>for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response</a:t>
            </a:r>
            <a:r>
              <a:rPr lang="de-DE" dirty="0"/>
              <a:t> …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A6A8B1E-789B-7B50-B61E-96014E8353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095394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8E84638-C982-10BE-20D3-8A434FD9C6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Series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de-D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:r>
                  <a:rPr lang="de-DE" dirty="0" err="1"/>
                  <a:t>resonance</a:t>
                </a:r>
                <a:r>
                  <a:rPr lang="de-DE" dirty="0"/>
                  <a:t> </a:t>
                </a:r>
                <a:r>
                  <a:rPr lang="de-DE" dirty="0" err="1"/>
                  <a:t>frequency</a:t>
                </a:r>
                <a:r>
                  <a:rPr lang="de-DE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dirty="0"/>
                  <a:t>: </a:t>
                </a:r>
                <a:r>
                  <a:rPr lang="de-DE" dirty="0" err="1"/>
                  <a:t>inductive</a:t>
                </a:r>
                <a:r>
                  <a:rPr lang="de-DE" dirty="0"/>
                  <a:t> and </a:t>
                </a:r>
                <a:r>
                  <a:rPr lang="de-DE" dirty="0" err="1"/>
                  <a:t>capacitive</a:t>
                </a:r>
                <a:r>
                  <a:rPr lang="de-DE" dirty="0"/>
                  <a:t> </a:t>
                </a:r>
                <a:r>
                  <a:rPr lang="de-DE" dirty="0" err="1"/>
                  <a:t>reactances</a:t>
                </a:r>
                <a:r>
                  <a:rPr lang="de-DE" dirty="0"/>
                  <a:t> </a:t>
                </a:r>
                <a:r>
                  <a:rPr lang="de-DE" dirty="0" err="1"/>
                  <a:t>cancel</a:t>
                </a:r>
                <a:r>
                  <a:rPr lang="de-DE" dirty="0"/>
                  <a:t> </a:t>
                </a:r>
                <a:r>
                  <a:rPr lang="de-DE" dirty="0" err="1"/>
                  <a:t>each</a:t>
                </a:r>
                <a:r>
                  <a:rPr lang="de-DE" dirty="0"/>
                  <a:t> </a:t>
                </a:r>
                <a:r>
                  <a:rPr lang="de-DE" dirty="0" err="1"/>
                  <a:t>other</a:t>
                </a:r>
                <a:r>
                  <a:rPr lang="de-DE" dirty="0"/>
                  <a:t> out</a:t>
                </a:r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i="1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de-DE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𝐶</m:t>
                          </m:r>
                        </m:den>
                      </m:f>
                      <m:r>
                        <a:rPr lang="de-DE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dirty="0"/>
              </a:p>
              <a:p>
                <a:pPr marL="0" indent="0">
                  <a:buNone/>
                </a:pPr>
                <a:endParaRPr lang="de-D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i="1">
                              <a:latin typeface="Cambria Math" panose="02040503050406030204" pitchFamily="18" charset="0"/>
                            </a:rPr>
                            <m:t>𝑍</m:t>
                          </m:r>
                        </m:e>
                      </m:bar>
                      <m:d>
                        <m:dPr>
                          <m:ctrlPr>
                            <a:rPr lang="de-D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i="1">
                          <a:latin typeface="Cambria Math" panose="02040503050406030204" pitchFamily="18" charset="0"/>
                        </a:rPr>
                        <m:t>𝑅</m:t>
                      </m:r>
                    </m:oMath>
                  </m:oMathPara>
                </a14:m>
                <a:endParaRPr lang="de-DE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6A81C956-F98E-4012-2BF8-F0E74D05EF3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6333467" cy="4351338"/>
              </a:xfrm>
              <a:blipFill>
                <a:blip r:embed="rId2"/>
                <a:stretch>
                  <a:fillRect l="-1603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DDC4D0D-B959-7B54-F052-8C4FC3159D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22</a:t>
            </a:fld>
            <a:endParaRPr lang="de-DE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1DC3EC-C4B9-C938-2070-158EC93D7CE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304680"/>
            <a:ext cx="4357722" cy="2245903"/>
          </a:xfrm>
          <a:prstGeom prst="rect">
            <a:avLst/>
          </a:prstGeom>
        </p:spPr>
      </p:pic>
      <p:sp>
        <p:nvSpPr>
          <p:cNvPr id="7" name="Textfeld 6">
            <a:extLst>
              <a:ext uri="{FF2B5EF4-FFF2-40B4-BE49-F238E27FC236}">
                <a16:creationId xmlns:a16="http://schemas.microsoft.com/office/drawing/2014/main" id="{0F267D04-5EB5-A661-CA0C-712C86781FD7}"/>
              </a:ext>
            </a:extLst>
          </p:cNvPr>
          <p:cNvSpPr txBox="1"/>
          <p:nvPr/>
        </p:nvSpPr>
        <p:spPr>
          <a:xfrm>
            <a:off x="7171667" y="5496910"/>
            <a:ext cx="249016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forced</a:t>
            </a:r>
            <a:r>
              <a:rPr lang="de-DE" sz="2400" dirty="0"/>
              <a:t> </a:t>
            </a:r>
            <a:r>
              <a:rPr lang="de-DE" sz="2400" dirty="0" err="1"/>
              <a:t>oscillation</a:t>
            </a:r>
            <a:endParaRPr lang="de-DE" sz="2400" dirty="0"/>
          </a:p>
        </p:txBody>
      </p: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54A0F95D-4214-41CE-530D-25EDCF1CC937}"/>
              </a:ext>
            </a:extLst>
          </p:cNvPr>
          <p:cNvCxnSpPr/>
          <p:nvPr/>
        </p:nvCxnSpPr>
        <p:spPr>
          <a:xfrm flipH="1" flipV="1">
            <a:off x="7367752" y="4001294"/>
            <a:ext cx="126124" cy="157969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feld 9">
            <a:extLst>
              <a:ext uri="{FF2B5EF4-FFF2-40B4-BE49-F238E27FC236}">
                <a16:creationId xmlns:a16="http://schemas.microsoft.com/office/drawing/2014/main" id="{787EB48B-EFD9-94F7-AE86-18CA5A8F68D3}"/>
              </a:ext>
            </a:extLst>
          </p:cNvPr>
          <p:cNvSpPr txBox="1"/>
          <p:nvPr/>
        </p:nvSpPr>
        <p:spPr>
          <a:xfrm>
            <a:off x="7626112" y="1211359"/>
            <a:ext cx="1350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400" dirty="0" err="1"/>
              <a:t>damping</a:t>
            </a:r>
            <a:endParaRPr lang="de-DE" sz="2400" dirty="0"/>
          </a:p>
        </p:txBody>
      </p:sp>
      <p:cxnSp>
        <p:nvCxnSpPr>
          <p:cNvPr id="12" name="Gerade Verbindung mit Pfeil 11">
            <a:extLst>
              <a:ext uri="{FF2B5EF4-FFF2-40B4-BE49-F238E27FC236}">
                <a16:creationId xmlns:a16="http://schemas.microsoft.com/office/drawing/2014/main" id="{051B736B-A12D-C42D-A17E-0B74C4D5152B}"/>
              </a:ext>
            </a:extLst>
          </p:cNvPr>
          <p:cNvCxnSpPr>
            <a:stCxn id="10" idx="2"/>
          </p:cNvCxnSpPr>
          <p:nvPr/>
        </p:nvCxnSpPr>
        <p:spPr>
          <a:xfrm>
            <a:off x="8301137" y="1673024"/>
            <a:ext cx="380408" cy="11109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33540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64EF0-7405-66A2-88B3-9851EEAF6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nhaltsplatzhalter 4">
            <a:extLst>
              <a:ext uri="{FF2B5EF4-FFF2-40B4-BE49-F238E27FC236}">
                <a16:creationId xmlns:a16="http://schemas.microsoft.com/office/drawing/2014/main" id="{D3897AF6-FCE5-18D8-7D48-E66BFDC842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667" y="2782667"/>
            <a:ext cx="4357722" cy="2251284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75E046E7-1957-23C9-7BFA-8EFF81E08F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Parallel Resonant Circuit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𝑗</m:t>
                      </m: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 i="1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de-DE" sz="240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r>
                        <a:rPr lang="de-DE" sz="240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de-DE" sz="2400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→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𝜔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de-DE" sz="2400" i="1">
                          <a:latin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ad>
                            <m:radPr>
                              <m:degHide m:val="on"/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𝐿𝐶</m:t>
                              </m:r>
                            </m:e>
                          </m:rad>
                        </m:den>
                      </m:f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bar>
                        <m:bar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barPr>
                        <m:e>
                          <m:r>
                            <a:rPr lang="de-DE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</m:bar>
                      <m:d>
                        <m:dPr>
                          <m:ctrlPr>
                            <a:rPr lang="de-DE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de-DE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de-DE" sz="2400" i="1">
                                  <a:latin typeface="Cambria Math" panose="02040503050406030204" pitchFamily="18" charset="0"/>
                                </a:rPr>
                                <m:t>𝜔</m:t>
                              </m:r>
                            </m:e>
                            <m:sub>
                              <m:r>
                                <a:rPr lang="de-DE" sz="240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de-DE" sz="24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de-DE" sz="2400" b="0" i="1" smtClean="0">
                          <a:latin typeface="Cambria Math" panose="02040503050406030204" pitchFamily="18" charset="0"/>
                        </a:rPr>
                        <m:t>𝐺</m:t>
                      </m:r>
                    </m:oMath>
                  </m:oMathPara>
                </a14:m>
                <a:endParaRPr lang="de-DE" sz="2400" dirty="0"/>
              </a:p>
              <a:p>
                <a:pPr marL="0" indent="0">
                  <a:buNone/>
                </a:pPr>
                <a:endParaRPr lang="de-DE" sz="2400" dirty="0"/>
              </a:p>
              <a:p>
                <a:pPr marL="0" indent="0">
                  <a:buNone/>
                </a:pPr>
                <a:r>
                  <a:rPr lang="de-DE" sz="2400" dirty="0" err="1">
                    <a:sym typeface="Wingdings" pitchFamily="2" charset="2"/>
                  </a:rPr>
                  <a:t>admittance</a:t>
                </a:r>
                <a:r>
                  <a:rPr lang="de-DE" sz="2400" dirty="0">
                    <a:sym typeface="Wingdings" pitchFamily="2" charset="2"/>
                  </a:rPr>
                  <a:t> minimal at </a:t>
                </a:r>
                <a:r>
                  <a:rPr lang="de-DE" sz="2400" dirty="0" err="1">
                    <a:sym typeface="Wingdings" pitchFamily="2" charset="2"/>
                  </a:rPr>
                  <a:t>resonance</a:t>
                </a:r>
                <a:r>
                  <a:rPr lang="de-DE" sz="2400" dirty="0">
                    <a:sym typeface="Wingdings" pitchFamily="2" charset="2"/>
                  </a:rPr>
                  <a:t> (</a:t>
                </a:r>
                <a:r>
                  <a:rPr lang="de-DE" sz="2400" dirty="0" err="1">
                    <a:sym typeface="Wingdings" pitchFamily="2" charset="2"/>
                  </a:rPr>
                  <a:t>impedance</a:t>
                </a:r>
                <a:r>
                  <a:rPr lang="de-DE" sz="2400" dirty="0">
                    <a:sym typeface="Wingdings" pitchFamily="2" charset="2"/>
                  </a:rPr>
                  <a:t> maximal)  total </a:t>
                </a:r>
                <a:r>
                  <a:rPr lang="de-DE" sz="2400" dirty="0" err="1">
                    <a:sym typeface="Wingdings" pitchFamily="2" charset="2"/>
                  </a:rPr>
                  <a:t>current</a:t>
                </a:r>
                <a:r>
                  <a:rPr lang="de-DE" sz="2400" dirty="0">
                    <a:sym typeface="Wingdings" pitchFamily="2" charset="2"/>
                  </a:rPr>
                  <a:t> minimal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  <m:r>
                      <a:rPr lang="de-DE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de-DE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−</m:t>
                        </m:r>
                        <m:bar>
                          <m:barPr>
                            <m:ctrlPr>
                              <a:rPr lang="de-DE" sz="2400" i="1">
                                <a:latin typeface="Cambria Math" panose="02040503050406030204" pitchFamily="18" charset="0"/>
                              </a:rPr>
                            </m:ctrlPr>
                          </m:barPr>
                          <m:e>
                            <m:r>
                              <a:rPr lang="de-DE" sz="240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</m:bar>
                      </m:e>
                      <m:sub>
                        <m:r>
                          <a:rPr lang="de-DE" sz="2400" i="1">
                            <a:latin typeface="Cambria Math" panose="02040503050406030204" pitchFamily="18" charset="0"/>
                          </a:rPr>
                          <m:t>𝐶</m:t>
                        </m:r>
                      </m:sub>
                    </m:sSub>
                  </m:oMath>
                </a14:m>
                <a:r>
                  <a:rPr lang="de-DE" sz="2400" dirty="0">
                    <a:sym typeface="Wingdings" pitchFamily="2" charset="2"/>
                  </a:rPr>
                  <a:t>)</a:t>
                </a:r>
                <a:endParaRPr lang="de-DE" sz="2400" dirty="0"/>
              </a:p>
            </p:txBody>
          </p:sp>
        </mc:Choice>
        <mc:Fallback xmlns="">
          <p:sp>
            <p:nvSpPr>
              <p:cNvPr id="3" name="Inhaltsplatzhalter 2">
                <a:extLst>
                  <a:ext uri="{FF2B5EF4-FFF2-40B4-BE49-F238E27FC236}">
                    <a16:creationId xmlns:a16="http://schemas.microsoft.com/office/drawing/2014/main" id="{2B5DD263-2145-87EE-D7B1-ABB6DF2D1CF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333467" cy="4530725"/>
              </a:xfrm>
              <a:blipFill>
                <a:blip r:embed="rId3"/>
                <a:stretch>
                  <a:fillRect l="-1603" r="-200" b="-4190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57C6127-CD32-94D3-0969-A1B39658BF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D914-B947-8E44-8E93-2211406D860E}" type="slidenum">
              <a:rPr lang="de-DE" smtClean="0"/>
              <a:t>23</a:t>
            </a:fld>
            <a:endParaRPr lang="de-DE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/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de-DE" dirty="0" err="1">
                    <a:solidFill>
                      <a:srgbClr val="1F1F1F"/>
                    </a:solidFill>
                    <a:latin typeface="Helvetica Neue" panose="02000503000000020004" pitchFamily="2" charset="0"/>
                  </a:rPr>
                  <a:t>b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elow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inductance</a:t>
                </a:r>
                <a:endParaRPr lang="de-DE" dirty="0">
                  <a:solidFill>
                    <a:srgbClr val="1F1F1F"/>
                  </a:solidFill>
                  <a:latin typeface="Helvetica Neue" panose="02000503000000020004" pitchFamily="2" charset="0"/>
                </a:endParaRPr>
              </a:p>
              <a:p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above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de-DE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DE" i="1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de-D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: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determined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by</a:t>
                </a:r>
                <a:r>
                  <a:rPr lang="de-DE" b="0" i="0" u="none" strike="noStrike" dirty="0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 </a:t>
                </a:r>
                <a:r>
                  <a:rPr lang="de-DE" b="0" i="0" u="none" strike="noStrike" dirty="0" err="1">
                    <a:solidFill>
                      <a:srgbClr val="1F1F1F"/>
                    </a:solidFill>
                    <a:effectLst/>
                    <a:latin typeface="Helvetica Neue" panose="02000503000000020004" pitchFamily="2" charset="0"/>
                  </a:rPr>
                  <a:t>capacitance</a:t>
                </a:r>
                <a:endParaRPr lang="de-DE" dirty="0"/>
              </a:p>
            </p:txBody>
          </p:sp>
        </mc:Choice>
        <mc:Fallback xmlns="">
          <p:sp>
            <p:nvSpPr>
              <p:cNvPr id="9" name="Textfeld 8">
                <a:extLst>
                  <a:ext uri="{FF2B5EF4-FFF2-40B4-BE49-F238E27FC236}">
                    <a16:creationId xmlns:a16="http://schemas.microsoft.com/office/drawing/2014/main" id="{68E67E88-A863-D3D6-7B45-6D6DAB3D4A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1667" y="1913512"/>
                <a:ext cx="4357722" cy="646331"/>
              </a:xfrm>
              <a:prstGeom prst="rect">
                <a:avLst/>
              </a:prstGeom>
              <a:blipFill>
                <a:blip r:embed="rId4"/>
                <a:stretch>
                  <a:fillRect l="-1163" t="-3846" b="-11538"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003578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24430FE-3799-1595-6BBF-C595E3B331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Linear Time-Invariant (LTI) Systems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5707770-EA62-1D7F-DA49-55EA5F60F0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do PT1 and PT2 </a:t>
            </a:r>
            <a:r>
              <a:rPr lang="de-DE" dirty="0" err="1"/>
              <a:t>have</a:t>
            </a:r>
            <a:r>
              <a:rPr lang="de-DE" dirty="0"/>
              <a:t> in </a:t>
            </a:r>
            <a:r>
              <a:rPr lang="de-DE" dirty="0" err="1"/>
              <a:t>common</a:t>
            </a:r>
            <a:r>
              <a:rPr lang="de-DE" dirty="0"/>
              <a:t>?</a:t>
            </a:r>
          </a:p>
          <a:p>
            <a:pPr lvl="1"/>
            <a:r>
              <a:rPr lang="de-DE" dirty="0"/>
              <a:t>Linear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Constant </a:t>
            </a:r>
            <a:r>
              <a:rPr lang="de-DE" dirty="0" err="1"/>
              <a:t>parameters</a:t>
            </a:r>
            <a:endParaRPr lang="de-DE" dirty="0"/>
          </a:p>
          <a:p>
            <a:pPr lvl="1"/>
            <a:r>
              <a:rPr lang="de-DE" dirty="0"/>
              <a:t>Superposition </a:t>
            </a:r>
            <a:r>
              <a:rPr lang="de-DE" dirty="0" err="1"/>
              <a:t>holds</a:t>
            </a:r>
            <a:r>
              <a:rPr lang="de-DE" dirty="0"/>
              <a:t> (</a:t>
            </a:r>
            <a:r>
              <a:rPr lang="de-DE" dirty="0" err="1"/>
              <a:t>scaling</a:t>
            </a:r>
            <a:r>
              <a:rPr lang="de-DE" dirty="0"/>
              <a:t> and </a:t>
            </a:r>
            <a:r>
              <a:rPr lang="de-DE" dirty="0" err="1"/>
              <a:t>additivity</a:t>
            </a:r>
            <a:r>
              <a:rPr lang="de-DE" dirty="0"/>
              <a:t>)</a:t>
            </a:r>
          </a:p>
          <a:p>
            <a:pPr lvl="1"/>
            <a:r>
              <a:rPr lang="de-DE" dirty="0"/>
              <a:t>Time </a:t>
            </a:r>
            <a:r>
              <a:rPr lang="de-DE" dirty="0" err="1"/>
              <a:t>shifts</a:t>
            </a:r>
            <a:r>
              <a:rPr lang="de-DE" dirty="0"/>
              <a:t> do not </a:t>
            </a:r>
            <a:r>
              <a:rPr lang="de-DE" dirty="0" err="1"/>
              <a:t>change</a:t>
            </a:r>
            <a:r>
              <a:rPr lang="de-DE" dirty="0"/>
              <a:t> </a:t>
            </a:r>
            <a:r>
              <a:rPr lang="de-DE" dirty="0" err="1"/>
              <a:t>behavior</a:t>
            </a:r>
            <a:endParaRPr lang="de-DE" dirty="0"/>
          </a:p>
          <a:p>
            <a:pPr marL="0" indent="0">
              <a:buNone/>
            </a:pPr>
            <a:endParaRPr lang="de-DE" dirty="0">
              <a:sym typeface="Wingdings" pitchFamily="2" charset="2"/>
            </a:endParaRPr>
          </a:p>
          <a:p>
            <a:pPr marL="0" indent="0">
              <a:buNone/>
            </a:pPr>
            <a:r>
              <a:rPr lang="de-DE" dirty="0">
                <a:sym typeface="Wingdings" pitchFamily="2" charset="2"/>
              </a:rPr>
              <a:t></a:t>
            </a:r>
            <a:r>
              <a:rPr lang="de-DE" dirty="0"/>
              <a:t> LTI </a:t>
            </a:r>
            <a:r>
              <a:rPr lang="de-DE" dirty="0" err="1"/>
              <a:t>systems</a:t>
            </a:r>
            <a:endParaRPr lang="de-DE" dirty="0"/>
          </a:p>
          <a:p>
            <a:pPr lvl="1"/>
            <a:r>
              <a:rPr lang="de-DE" dirty="0" err="1"/>
              <a:t>Governed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linear differential </a:t>
            </a:r>
            <a:r>
              <a:rPr lang="de-DE" dirty="0" err="1"/>
              <a:t>equations</a:t>
            </a:r>
            <a:endParaRPr lang="de-DE" dirty="0"/>
          </a:p>
          <a:p>
            <a:pPr lvl="1"/>
            <a:r>
              <a:rPr lang="de-DE" dirty="0"/>
              <a:t>Parameters do not </a:t>
            </a:r>
            <a:r>
              <a:rPr lang="de-DE" dirty="0" err="1"/>
              <a:t>depend</a:t>
            </a:r>
            <a:r>
              <a:rPr lang="de-DE" dirty="0"/>
              <a:t> on time</a:t>
            </a:r>
          </a:p>
          <a:p>
            <a:pPr marL="0" indent="0">
              <a:buNone/>
            </a:pPr>
            <a:r>
              <a:rPr lang="de-DE" dirty="0" err="1"/>
              <a:t>Foundation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classical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theory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D438F975-57B4-D1A4-A311-7F4987444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1596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5744C1E-E015-47BF-5487-BEED8BB417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Dead Time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9AE5EC4-52A4-BBD7-A547-E7DA4C4B39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Delay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and </a:t>
            </a:r>
            <a:r>
              <a:rPr lang="de-DE" dirty="0" err="1"/>
              <a:t>output</a:t>
            </a:r>
            <a:endParaRPr lang="de-DE" dirty="0"/>
          </a:p>
          <a:p>
            <a:r>
              <a:rPr lang="de-DE" dirty="0"/>
              <a:t>Common in </a:t>
            </a:r>
            <a:r>
              <a:rPr lang="de-DE" dirty="0" err="1"/>
              <a:t>processes</a:t>
            </a:r>
            <a:r>
              <a:rPr lang="de-DE" dirty="0"/>
              <a:t> and </a:t>
            </a:r>
            <a:r>
              <a:rPr lang="de-DE" dirty="0" err="1"/>
              <a:t>networks</a:t>
            </a:r>
            <a:endParaRPr lang="de-DE" dirty="0"/>
          </a:p>
          <a:p>
            <a:r>
              <a:rPr lang="de-DE" dirty="0" err="1"/>
              <a:t>Makes</a:t>
            </a:r>
            <a:r>
              <a:rPr lang="de-DE" dirty="0"/>
              <a:t> </a:t>
            </a:r>
            <a:r>
              <a:rPr lang="de-DE" dirty="0" err="1"/>
              <a:t>control</a:t>
            </a:r>
            <a:r>
              <a:rPr lang="de-DE" dirty="0"/>
              <a:t> </a:t>
            </a:r>
            <a:r>
              <a:rPr lang="de-DE" dirty="0" err="1"/>
              <a:t>more</a:t>
            </a:r>
            <a:r>
              <a:rPr lang="de-DE" dirty="0"/>
              <a:t> </a:t>
            </a:r>
            <a:r>
              <a:rPr lang="de-DE" dirty="0" err="1"/>
              <a:t>difficult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b="1" dirty="0"/>
              <a:t>Plot:</a:t>
            </a:r>
            <a:r>
              <a:rPr lang="de-DE" dirty="0"/>
              <a:t> </a:t>
            </a:r>
            <a:r>
              <a:rPr lang="de-DE" dirty="0" err="1"/>
              <a:t>delayed</a:t>
            </a:r>
            <a:r>
              <a:rPr lang="de-DE" dirty="0"/>
              <a:t> </a:t>
            </a:r>
            <a:r>
              <a:rPr lang="de-DE" dirty="0" err="1"/>
              <a:t>step</a:t>
            </a:r>
            <a:r>
              <a:rPr lang="de-DE" dirty="0"/>
              <a:t> </a:t>
            </a:r>
            <a:r>
              <a:rPr lang="de-DE" dirty="0" err="1"/>
              <a:t>response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1B8C4DB-992A-84DE-7144-6A990A34D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9887417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5FA7C-2287-C261-41A5-D8069B865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Outlook: </a:t>
            </a:r>
            <a:r>
              <a:rPr lang="de-DE" dirty="0" err="1"/>
              <a:t>Frequency</a:t>
            </a:r>
            <a:r>
              <a:rPr lang="de-DE" dirty="0"/>
              <a:t> Response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CBEB6F-2DFA-DF21-924F-54FF262E12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dirty="0"/>
              <a:t>So </a:t>
            </a:r>
            <a:r>
              <a:rPr lang="de-DE" dirty="0" err="1"/>
              <a:t>far</a:t>
            </a:r>
            <a:r>
              <a:rPr lang="de-DE" dirty="0"/>
              <a:t>, </a:t>
            </a:r>
            <a:r>
              <a:rPr lang="de-DE" dirty="0" err="1"/>
              <a:t>we</a:t>
            </a:r>
            <a:r>
              <a:rPr lang="de-DE" dirty="0"/>
              <a:t> </a:t>
            </a:r>
            <a:r>
              <a:rPr lang="de-DE" dirty="0" err="1"/>
              <a:t>tested</a:t>
            </a:r>
            <a:r>
              <a:rPr lang="de-DE" dirty="0"/>
              <a:t> </a:t>
            </a:r>
            <a:r>
              <a:rPr lang="de-DE" dirty="0" err="1"/>
              <a:t>systems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</a:t>
            </a:r>
            <a:r>
              <a:rPr lang="de-DE" dirty="0" err="1"/>
              <a:t>steps</a:t>
            </a:r>
            <a:r>
              <a:rPr lang="de-DE" dirty="0"/>
              <a:t>.</a:t>
            </a:r>
          </a:p>
          <a:p>
            <a:pPr marL="0" indent="0">
              <a:buNone/>
            </a:pPr>
            <a:endParaRPr lang="de-DE" dirty="0"/>
          </a:p>
          <a:p>
            <a:pPr marL="0" indent="0">
              <a:buNone/>
            </a:pPr>
            <a:r>
              <a:rPr lang="de-DE" dirty="0" err="1"/>
              <a:t>What</a:t>
            </a:r>
            <a:r>
              <a:rPr lang="de-DE" dirty="0"/>
              <a:t> </a:t>
            </a:r>
            <a:r>
              <a:rPr lang="de-DE" dirty="0" err="1"/>
              <a:t>if</a:t>
            </a:r>
            <a:r>
              <a:rPr lang="de-DE" dirty="0"/>
              <a:t> </a:t>
            </a:r>
            <a:r>
              <a:rPr lang="de-DE" dirty="0" err="1"/>
              <a:t>the</a:t>
            </a:r>
            <a:r>
              <a:rPr lang="de-DE" dirty="0"/>
              <a:t>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oscillates</a:t>
            </a:r>
            <a:r>
              <a:rPr lang="de-DE" dirty="0"/>
              <a:t>?</a:t>
            </a:r>
          </a:p>
          <a:p>
            <a:r>
              <a:rPr lang="de-DE" dirty="0"/>
              <a:t>slow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follows</a:t>
            </a:r>
            <a:endParaRPr lang="de-DE" dirty="0"/>
          </a:p>
          <a:p>
            <a:r>
              <a:rPr lang="de-DE" dirty="0"/>
              <a:t>fast </a:t>
            </a:r>
            <a:r>
              <a:rPr lang="de-DE" dirty="0" err="1"/>
              <a:t>sinusoid</a:t>
            </a:r>
            <a:r>
              <a:rPr lang="de-DE" dirty="0"/>
              <a:t> → </a:t>
            </a:r>
            <a:r>
              <a:rPr lang="de-DE" dirty="0" err="1"/>
              <a:t>output</a:t>
            </a:r>
            <a:r>
              <a:rPr lang="de-DE" dirty="0"/>
              <a:t> </a:t>
            </a:r>
            <a:r>
              <a:rPr lang="de-DE" dirty="0" err="1"/>
              <a:t>attenuated</a:t>
            </a:r>
            <a:r>
              <a:rPr lang="de-DE" dirty="0"/>
              <a:t> / </a:t>
            </a:r>
            <a:r>
              <a:rPr lang="de-DE" dirty="0" err="1"/>
              <a:t>phase-shifted</a:t>
            </a:r>
            <a:endParaRPr lang="de-DE" dirty="0"/>
          </a:p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5BD29095-79B9-73D6-ADBC-0F7A62DAB7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6929770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9529AB-26C3-8699-F6E0-44E6F99C40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Summary: </a:t>
            </a:r>
            <a:r>
              <a:rPr lang="de-DE" dirty="0" err="1"/>
              <a:t>From</a:t>
            </a:r>
            <a:r>
              <a:rPr lang="de-DE" dirty="0"/>
              <a:t> Physics </a:t>
            </a:r>
            <a:r>
              <a:rPr lang="de-DE" dirty="0" err="1"/>
              <a:t>to</a:t>
            </a:r>
            <a:r>
              <a:rPr lang="de-DE" dirty="0"/>
              <a:t> Model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38842CF-55F2-BFAD-1DD3-9B17F043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Identify</a:t>
            </a:r>
            <a:r>
              <a:rPr lang="de-DE" dirty="0"/>
              <a:t> </a:t>
            </a:r>
            <a:r>
              <a:rPr lang="de-DE" dirty="0" err="1"/>
              <a:t>inputs</a:t>
            </a:r>
            <a:r>
              <a:rPr lang="de-DE" dirty="0"/>
              <a:t> and </a:t>
            </a:r>
            <a:r>
              <a:rPr lang="de-DE" dirty="0" err="1"/>
              <a:t>outputs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Apply</a:t>
            </a:r>
            <a:r>
              <a:rPr lang="de-DE" dirty="0"/>
              <a:t> </a:t>
            </a:r>
            <a:r>
              <a:rPr lang="de-DE" dirty="0" err="1"/>
              <a:t>physical</a:t>
            </a:r>
            <a:r>
              <a:rPr lang="de-DE" dirty="0"/>
              <a:t> </a:t>
            </a:r>
            <a:r>
              <a:rPr lang="de-DE" dirty="0" err="1"/>
              <a:t>laws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Simplify</a:t>
            </a:r>
            <a:r>
              <a:rPr lang="de-DE" dirty="0"/>
              <a:t> </a:t>
            </a:r>
            <a:r>
              <a:rPr lang="de-DE" dirty="0" err="1"/>
              <a:t>assumptions</a:t>
            </a:r>
            <a:endParaRPr lang="de-DE" dirty="0"/>
          </a:p>
          <a:p>
            <a:pPr marL="0" indent="0">
              <a:buNone/>
            </a:pPr>
            <a:endParaRPr lang="de-DE" dirty="0"/>
          </a:p>
          <a:p>
            <a:r>
              <a:rPr lang="de-DE" dirty="0" err="1"/>
              <a:t>Validate</a:t>
            </a:r>
            <a:r>
              <a:rPr lang="de-DE" dirty="0"/>
              <a:t> </a:t>
            </a:r>
            <a:r>
              <a:rPr lang="de-DE" dirty="0" err="1"/>
              <a:t>against</a:t>
            </a:r>
            <a:r>
              <a:rPr lang="de-DE" dirty="0"/>
              <a:t> </a:t>
            </a:r>
            <a:r>
              <a:rPr lang="de-DE" dirty="0" err="1"/>
              <a:t>measurements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C4CFFC39-4C8A-4A66-CC5D-F43A3FFE42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822974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1264</Words>
  <Application>Microsoft Macintosh PowerPoint</Application>
  <PresentationFormat>Breitbild</PresentationFormat>
  <Paragraphs>306</Paragraphs>
  <Slides>27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27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Helvetica Neue</vt:lpstr>
      <vt:lpstr>Wingdings</vt:lpstr>
      <vt:lpstr>Office Theme</vt:lpstr>
      <vt:lpstr>Systems</vt:lpstr>
      <vt:lpstr>Course Schedule</vt:lpstr>
      <vt:lpstr>Systems</vt:lpstr>
      <vt:lpstr>Processes, Systems, Models</vt:lpstr>
      <vt:lpstr>Static and Dynamic Systems</vt:lpstr>
      <vt:lpstr>Examples from Electrical Engineering</vt:lpstr>
      <vt:lpstr>Mathematical Models</vt:lpstr>
      <vt:lpstr>Differential-Equation Models</vt:lpstr>
      <vt:lpstr>Why We Need Models</vt:lpstr>
      <vt:lpstr>Proportional (P) Systems</vt:lpstr>
      <vt:lpstr>Integrating and Differentiating Behavior</vt:lpstr>
      <vt:lpstr>Example: Free Fall</vt:lpstr>
      <vt:lpstr>First-Order Systems (PT1)</vt:lpstr>
      <vt:lpstr>Free Fall with Viscous Damping</vt:lpstr>
      <vt:lpstr>Example: RC and RL Circuits</vt:lpstr>
      <vt:lpstr>Transient Responses: RC Series Circuit</vt:lpstr>
      <vt:lpstr>Transient Responses: RC Series Circuit</vt:lpstr>
      <vt:lpstr>Transient Responses: RL Parallel Circuit</vt:lpstr>
      <vt:lpstr>Second-Order Systems (PT2)</vt:lpstr>
      <vt:lpstr>Example: Mass-Spring-Damper</vt:lpstr>
      <vt:lpstr>Example: LC and RLC Circuits</vt:lpstr>
      <vt:lpstr>Series Resonant Circuit</vt:lpstr>
      <vt:lpstr>Parallel Resonant Circuit</vt:lpstr>
      <vt:lpstr>Linear Time-Invariant (LTI) Systems</vt:lpstr>
      <vt:lpstr>Dead Time</vt:lpstr>
      <vt:lpstr>Outlook: Frequency Response</vt:lpstr>
      <vt:lpstr>Summary: From Physics to Model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108</cp:revision>
  <dcterms:created xsi:type="dcterms:W3CDTF">2025-01-08T09:27:30Z</dcterms:created>
  <dcterms:modified xsi:type="dcterms:W3CDTF">2026-01-30T16:49:16Z</dcterms:modified>
</cp:coreProperties>
</file>
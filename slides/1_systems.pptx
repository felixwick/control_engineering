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65" r:id="rId3"/>
    <p:sldId id="266" r:id="rId4"/>
    <p:sldId id="267" r:id="rId5"/>
    <p:sldId id="279" r:id="rId6"/>
    <p:sldId id="278" r:id="rId7"/>
    <p:sldId id="269" r:id="rId8"/>
    <p:sldId id="270" r:id="rId9"/>
    <p:sldId id="268" r:id="rId10"/>
    <p:sldId id="319" r:id="rId11"/>
    <p:sldId id="272" r:id="rId12"/>
    <p:sldId id="273" r:id="rId13"/>
    <p:sldId id="309" r:id="rId14"/>
    <p:sldId id="274" r:id="rId15"/>
    <p:sldId id="317" r:id="rId16"/>
    <p:sldId id="311" r:id="rId17"/>
    <p:sldId id="313" r:id="rId18"/>
    <p:sldId id="310" r:id="rId19"/>
    <p:sldId id="281" r:id="rId20"/>
    <p:sldId id="306" r:id="rId21"/>
    <p:sldId id="307" r:id="rId22"/>
    <p:sldId id="308" r:id="rId23"/>
    <p:sldId id="320" r:id="rId24"/>
    <p:sldId id="321" r:id="rId25"/>
    <p:sldId id="322" r:id="rId26"/>
    <p:sldId id="323" r:id="rId27"/>
    <p:sldId id="282" r:id="rId28"/>
    <p:sldId id="318" r:id="rId29"/>
    <p:sldId id="283" r:id="rId30"/>
    <p:sldId id="271" r:id="rId31"/>
    <p:sldId id="276" r:id="rId32"/>
    <p:sldId id="316" r:id="rId33"/>
    <p:sldId id="280" r:id="rId34"/>
    <p:sldId id="27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42"/>
    <p:restoredTop sz="95028" autoAdjust="0"/>
  </p:normalViewPr>
  <p:slideViewPr>
    <p:cSldViewPr snapToGrid="0">
      <p:cViewPr varScale="1">
        <p:scale>
          <a:sx n="128" d="100"/>
          <a:sy n="128" d="100"/>
        </p:scale>
        <p:origin x="6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1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Systems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Static and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/>
              <a:t>Models</a:t>
            </a:r>
          </a:p>
          <a:p>
            <a:r>
              <a:rPr lang="de-DE" dirty="0"/>
              <a:t>Proportional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/>
              <a:t>First-order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/>
              <a:t>Second-order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/>
              <a:t>Linear Time-Invariant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/>
              <a:t>Dead time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6E518A-DC77-9110-1E09-9A1FB046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Processes</a:t>
            </a:r>
            <a:r>
              <a:rPr lang="de-DE" dirty="0"/>
              <a:t>, Systems,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110E7-5232-B30B-84A9-F00952888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Process</a:t>
            </a:r>
            <a:r>
              <a:rPr lang="de-DE" sz="2600" dirty="0"/>
              <a:t>: </a:t>
            </a:r>
            <a:r>
              <a:rPr lang="de-DE" sz="2600" dirty="0" err="1"/>
              <a:t>the</a:t>
            </a:r>
            <a:r>
              <a:rPr lang="de-DE" sz="2600" dirty="0"/>
              <a:t> real-</a:t>
            </a:r>
            <a:r>
              <a:rPr lang="de-DE" sz="2600" dirty="0" err="1"/>
              <a:t>world</a:t>
            </a:r>
            <a:r>
              <a:rPr lang="de-DE" sz="2600" dirty="0"/>
              <a:t> </a:t>
            </a:r>
            <a:r>
              <a:rPr lang="de-DE" sz="2600" dirty="0" err="1"/>
              <a:t>phenomenon</a:t>
            </a:r>
            <a:r>
              <a:rPr lang="de-DE" sz="2600" dirty="0"/>
              <a:t> (</a:t>
            </a:r>
            <a:r>
              <a:rPr lang="de-DE" sz="2600" dirty="0" err="1"/>
              <a:t>physical</a:t>
            </a:r>
            <a:r>
              <a:rPr lang="de-DE" sz="2600" dirty="0"/>
              <a:t>, </a:t>
            </a:r>
            <a:r>
              <a:rPr lang="de-DE" sz="2600" dirty="0" err="1"/>
              <a:t>biological</a:t>
            </a:r>
            <a:r>
              <a:rPr lang="de-DE" sz="2600" dirty="0"/>
              <a:t>, ...), aka plant</a:t>
            </a:r>
          </a:p>
          <a:p>
            <a:pPr marL="0" indent="0">
              <a:buNone/>
            </a:pPr>
            <a:r>
              <a:rPr lang="de-DE" sz="2600" dirty="0"/>
              <a:t>System: </a:t>
            </a:r>
            <a:r>
              <a:rPr lang="de-DE" sz="2600" dirty="0" err="1"/>
              <a:t>abstraction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that</a:t>
            </a:r>
            <a:r>
              <a:rPr lang="de-DE" sz="2600" dirty="0"/>
              <a:t> </a:t>
            </a:r>
            <a:r>
              <a:rPr lang="de-DE" sz="2600" dirty="0" err="1"/>
              <a:t>process</a:t>
            </a:r>
            <a:r>
              <a:rPr lang="de-DE" sz="2600" dirty="0"/>
              <a:t> (</a:t>
            </a:r>
            <a:r>
              <a:rPr lang="de-DE" sz="2600" dirty="0" err="1"/>
              <a:t>behavior</a:t>
            </a:r>
            <a:r>
              <a:rPr lang="de-DE" sz="2600" dirty="0"/>
              <a:t>, </a:t>
            </a:r>
            <a:r>
              <a:rPr lang="de-DE" sz="2600" dirty="0" err="1"/>
              <a:t>dynamics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r>
              <a:rPr lang="de-DE" sz="2600" dirty="0"/>
              <a:t>Model: </a:t>
            </a:r>
            <a:r>
              <a:rPr lang="de-DE" sz="2600" dirty="0" err="1"/>
              <a:t>mathematical</a:t>
            </a:r>
            <a:r>
              <a:rPr lang="de-DE" sz="2600" dirty="0"/>
              <a:t> </a:t>
            </a:r>
            <a:r>
              <a:rPr lang="de-DE" sz="2600" dirty="0" err="1"/>
              <a:t>representation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system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/>
              <a:t>A </a:t>
            </a:r>
            <a:r>
              <a:rPr lang="de-DE" sz="2600" dirty="0" err="1"/>
              <a:t>system</a:t>
            </a:r>
            <a:r>
              <a:rPr lang="de-DE" sz="2600" dirty="0"/>
              <a:t> </a:t>
            </a:r>
            <a:r>
              <a:rPr lang="de-DE" sz="2600" dirty="0" err="1"/>
              <a:t>maps</a:t>
            </a:r>
            <a:r>
              <a:rPr lang="de-DE" sz="2600" dirty="0"/>
              <a:t> </a:t>
            </a:r>
            <a:r>
              <a:rPr lang="de-DE" sz="2600" dirty="0" err="1"/>
              <a:t>inputs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outputs</a:t>
            </a:r>
            <a:r>
              <a:rPr lang="de-DE" sz="2600" dirty="0"/>
              <a:t> (just like </a:t>
            </a:r>
            <a:r>
              <a:rPr lang="de-DE" sz="2600" dirty="0" err="1"/>
              <a:t>processes</a:t>
            </a:r>
            <a:r>
              <a:rPr lang="de-DE" sz="26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531475-6B8E-3F3D-846A-AF489366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6180031-A75F-3AC2-3F38-AC11E63A41E7}"/>
              </a:ext>
            </a:extLst>
          </p:cNvPr>
          <p:cNvGrpSpPr/>
          <p:nvPr/>
        </p:nvGrpSpPr>
        <p:grpSpPr>
          <a:xfrm>
            <a:off x="838200" y="4511630"/>
            <a:ext cx="6229171" cy="779319"/>
            <a:chOff x="3118757" y="2475922"/>
            <a:chExt cx="6229171" cy="779319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A79A6B5-E635-45E3-1B26-A02487173C96}"/>
                </a:ext>
              </a:extLst>
            </p:cNvPr>
            <p:cNvSpPr/>
            <p:nvPr/>
          </p:nvSpPr>
          <p:spPr>
            <a:xfrm>
              <a:off x="5103668" y="2475922"/>
              <a:ext cx="1984663" cy="7793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chemeClr val="tx1"/>
                  </a:solidFill>
                </a:rPr>
                <a:t>System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45ECD13-2956-37B4-A2D4-865F188C4763}"/>
                </a:ext>
              </a:extLst>
            </p:cNvPr>
            <p:cNvSpPr txBox="1"/>
            <p:nvPr/>
          </p:nvSpPr>
          <p:spPr>
            <a:xfrm>
              <a:off x="3118757" y="2603970"/>
              <a:ext cx="9925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Input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4E0954CB-8FEC-D438-8DF1-F08406595F2A}"/>
                </a:ext>
              </a:extLst>
            </p:cNvPr>
            <p:cNvSpPr txBox="1"/>
            <p:nvPr/>
          </p:nvSpPr>
          <p:spPr>
            <a:xfrm>
              <a:off x="8066808" y="2603970"/>
              <a:ext cx="12811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dirty="0"/>
                <a:t>Output</a:t>
              </a:r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AEAC545C-64A5-274D-2F85-1BE9EEEC911E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4125191" y="2865581"/>
              <a:ext cx="97847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0F1911F2-5D6C-62F5-520D-54636FEB189A}"/>
                </a:ext>
              </a:extLst>
            </p:cNvPr>
            <p:cNvCxnSpPr/>
            <p:nvPr/>
          </p:nvCxnSpPr>
          <p:spPr>
            <a:xfrm>
              <a:off x="7088331" y="2865580"/>
              <a:ext cx="97847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5" name="Grafik 14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71FFB093-9F42-8E87-5125-95311FC01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848" y="4570700"/>
            <a:ext cx="1007922" cy="226626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51A18DA6-E292-9399-7437-B86DDA383137}"/>
              </a:ext>
            </a:extLst>
          </p:cNvPr>
          <p:cNvSpPr txBox="1"/>
          <p:nvPr/>
        </p:nvSpPr>
        <p:spPr>
          <a:xfrm>
            <a:off x="9153982" y="4570700"/>
            <a:ext cx="28135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input</a:t>
            </a:r>
            <a:r>
              <a:rPr lang="de-DE" sz="2200" dirty="0"/>
              <a:t>: external </a:t>
            </a:r>
            <a:r>
              <a:rPr lang="de-DE" sz="2200" dirty="0" err="1"/>
              <a:t>force</a:t>
            </a:r>
            <a:endParaRPr lang="de-DE" sz="2200" dirty="0"/>
          </a:p>
          <a:p>
            <a:endParaRPr lang="de-DE" sz="2200" dirty="0"/>
          </a:p>
          <a:p>
            <a:r>
              <a:rPr lang="de-DE" sz="2200" dirty="0" err="1"/>
              <a:t>output</a:t>
            </a:r>
            <a:r>
              <a:rPr lang="de-DE" sz="2200" dirty="0"/>
              <a:t>: </a:t>
            </a:r>
            <a:r>
              <a:rPr lang="de-DE" sz="2200" dirty="0" err="1"/>
              <a:t>displacement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117763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FC4B5636-F87D-E2AF-2ABE-795C927F0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79522"/>
            <a:ext cx="3581400" cy="196061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09B6817-D8E2-2AA6-7697-58C1469A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Static and Dynamic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CDFBEA91-6A2C-D74A-3F3D-4F9B9F07543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Static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Output </a:t>
                </a:r>
                <a:r>
                  <a:rPr lang="de-DE" sz="2400" dirty="0" err="1"/>
                  <a:t>depends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only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current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memory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Time-</a:t>
                </a:r>
                <a:r>
                  <a:rPr lang="de-DE" sz="2400" dirty="0" err="1"/>
                  <a:t>varying</a:t>
                </a:r>
                <a:r>
                  <a:rPr lang="de-DE" sz="2400" dirty="0"/>
                  <a:t> ≠ </a:t>
                </a:r>
                <a:r>
                  <a:rPr lang="de-DE" sz="2400" dirty="0" err="1"/>
                  <a:t>dynamic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Examples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 err="1"/>
                  <a:t>Resistor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model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2400" dirty="0"/>
                  <a:t>)</a:t>
                </a:r>
              </a:p>
              <a:p>
                <a:r>
                  <a:rPr lang="de-DE" sz="2400" dirty="0"/>
                  <a:t>Valve</a:t>
                </a:r>
              </a:p>
              <a:p>
                <a:pPr marL="0" indent="0">
                  <a:buNone/>
                </a:pPr>
                <a:endParaRPr lang="de-DE" sz="24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CDFBEA91-6A2C-D74A-3F3D-4F9B9F0754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95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FF3653-0989-4B37-A4F6-8582EF3938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600" dirty="0"/>
              <a:t>Dynamic </a:t>
            </a:r>
            <a:r>
              <a:rPr lang="de-DE" sz="2600" dirty="0" err="1"/>
              <a:t>system</a:t>
            </a:r>
            <a:r>
              <a:rPr lang="de-DE" sz="2600" dirty="0"/>
              <a:t>: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Output </a:t>
            </a:r>
            <a:r>
              <a:rPr lang="de-DE" sz="2400" dirty="0" err="1"/>
              <a:t>depends</a:t>
            </a:r>
            <a:r>
              <a:rPr lang="de-DE" sz="2400" dirty="0"/>
              <a:t> on </a:t>
            </a:r>
            <a:r>
              <a:rPr lang="de-DE" sz="2400" dirty="0" err="1"/>
              <a:t>input</a:t>
            </a:r>
            <a:r>
              <a:rPr lang="de-DE" sz="2400" dirty="0"/>
              <a:t> and </a:t>
            </a:r>
            <a:r>
              <a:rPr lang="de-DE" sz="2400" dirty="0" err="1"/>
              <a:t>past</a:t>
            </a:r>
            <a:r>
              <a:rPr lang="de-DE" sz="2400" dirty="0"/>
              <a:t> </a:t>
            </a:r>
            <a:r>
              <a:rPr lang="de-DE" sz="2400" dirty="0" err="1"/>
              <a:t>states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e</a:t>
            </a:r>
            <a:r>
              <a:rPr lang="de-DE" sz="2400" dirty="0" err="1"/>
              <a:t>volves</a:t>
            </a:r>
            <a:r>
              <a:rPr lang="de-DE" sz="2400" dirty="0"/>
              <a:t> </a:t>
            </a:r>
            <a:r>
              <a:rPr lang="de-DE" sz="2400" dirty="0" err="1"/>
              <a:t>over</a:t>
            </a:r>
            <a:r>
              <a:rPr lang="de-DE" sz="2400" dirty="0"/>
              <a:t> time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Energy </a:t>
            </a:r>
            <a:r>
              <a:rPr lang="de-DE" sz="2400" dirty="0" err="1"/>
              <a:t>storage</a:t>
            </a:r>
            <a:r>
              <a:rPr lang="de-DE" sz="2400" dirty="0"/>
              <a:t> → </a:t>
            </a:r>
            <a:r>
              <a:rPr lang="de-DE" sz="2400" dirty="0" err="1"/>
              <a:t>memory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Examples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Capacitor</a:t>
            </a:r>
            <a:endParaRPr lang="de-DE" sz="2400" dirty="0"/>
          </a:p>
          <a:p>
            <a:r>
              <a:rPr lang="de-DE" sz="2400" dirty="0" err="1"/>
              <a:t>Mass</a:t>
            </a:r>
            <a:r>
              <a:rPr lang="de-DE" sz="2400" dirty="0"/>
              <a:t>–spring–</a:t>
            </a:r>
            <a:r>
              <a:rPr lang="de-DE" sz="2400" dirty="0" err="1"/>
              <a:t>damper</a:t>
            </a: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028F3F-A06F-B192-9493-474FEFE3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F2FF93A-9DDE-784C-040C-59756B583062}"/>
                  </a:ext>
                </a:extLst>
              </p:cNvPr>
              <p:cNvSpPr txBox="1"/>
              <p:nvPr/>
            </p:nvSpPr>
            <p:spPr>
              <a:xfrm>
                <a:off x="9806143" y="2034862"/>
                <a:ext cx="21478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(derivatives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F2FF93A-9DDE-784C-040C-59756B583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143" y="2034862"/>
                <a:ext cx="2147896" cy="369332"/>
              </a:xfrm>
              <a:prstGeom prst="rect">
                <a:avLst/>
              </a:prstGeom>
              <a:blipFill>
                <a:blip r:embed="rId4"/>
                <a:stretch>
                  <a:fillRect l="-2353" t="-10000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06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BBC1F88-92A4-BDC4-FF33-BC5C3DAA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B18FA1-6A05-6187-A225-0C7F9F98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pic>
        <p:nvPicPr>
          <p:cNvPr id="6" name="Grafik 5" descr="Ein Bild, das Symbol, Kreis, Diagramm, Uhr enthält.&#10;&#10;KI-generierte Inhalte können fehlerhaft sein.">
            <a:extLst>
              <a:ext uri="{FF2B5EF4-FFF2-40B4-BE49-F238E27FC236}">
                <a16:creationId xmlns:a16="http://schemas.microsoft.com/office/drawing/2014/main" id="{0880E623-0321-9C6F-4C36-1014069D0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1192"/>
            <a:ext cx="3982885" cy="2275935"/>
          </a:xfrm>
          <a:prstGeom prst="rect">
            <a:avLst/>
          </a:prstGeom>
        </p:spPr>
      </p:pic>
      <p:pic>
        <p:nvPicPr>
          <p:cNvPr id="7" name="Grafik 6" descr="Ein Bild, das Natur, Schraubenfeder, Frühling, Metallwaren enthält.&#10;&#10;KI-generierte Inhalte können fehlerhaft sein.">
            <a:extLst>
              <a:ext uri="{FF2B5EF4-FFF2-40B4-BE49-F238E27FC236}">
                <a16:creationId xmlns:a16="http://schemas.microsoft.com/office/drawing/2014/main" id="{D23C063E-AF1A-9081-C901-094C848CB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680" y="2901192"/>
            <a:ext cx="4026120" cy="22759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EA9700C-9ADB-C161-BFDF-D553D99BEDF0}"/>
                  </a:ext>
                </a:extLst>
              </p:cNvPr>
              <p:cNvSpPr txBox="1"/>
              <p:nvPr/>
            </p:nvSpPr>
            <p:spPr>
              <a:xfrm>
                <a:off x="1518079" y="5504257"/>
                <a:ext cx="1505527" cy="8520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de-DE" sz="260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4EA9700C-9ADB-C161-BFDF-D553D99B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8079" y="5504257"/>
                <a:ext cx="1505527" cy="852093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6BAB09D-2B5A-60A0-67CA-EE8B28CA9A0C}"/>
                  </a:ext>
                </a:extLst>
              </p:cNvPr>
              <p:cNvSpPr txBox="1"/>
              <p:nvPr/>
            </p:nvSpPr>
            <p:spPr>
              <a:xfrm>
                <a:off x="8135933" y="5504256"/>
                <a:ext cx="1505527" cy="8520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de-DE" sz="260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de-DE" sz="26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6BAB09D-2B5A-60A0-67CA-EE8B28CA9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933" y="5504256"/>
                <a:ext cx="1505527" cy="852093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05F6B445-4D6F-969D-B06C-7546F3FF2786}"/>
              </a:ext>
            </a:extLst>
          </p:cNvPr>
          <p:cNvSpPr txBox="1"/>
          <p:nvPr/>
        </p:nvSpPr>
        <p:spPr>
          <a:xfrm>
            <a:off x="4043319" y="2327840"/>
            <a:ext cx="930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input</a:t>
            </a:r>
            <a:endParaRPr lang="de-DE" sz="26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6AA7A4D-A095-494D-E518-B74729095780}"/>
              </a:ext>
            </a:extLst>
          </p:cNvPr>
          <p:cNvSpPr txBox="1"/>
          <p:nvPr/>
        </p:nvSpPr>
        <p:spPr>
          <a:xfrm>
            <a:off x="7983532" y="2327839"/>
            <a:ext cx="930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input</a:t>
            </a:r>
            <a:endParaRPr lang="de-DE" sz="2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A0A9184-808B-6FFE-8313-058147AF64C1}"/>
              </a:ext>
            </a:extLst>
          </p:cNvPr>
          <p:cNvSpPr txBox="1"/>
          <p:nvPr/>
        </p:nvSpPr>
        <p:spPr>
          <a:xfrm>
            <a:off x="1518079" y="2327838"/>
            <a:ext cx="11432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output</a:t>
            </a:r>
            <a:endParaRPr lang="de-DE" sz="26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6DBBE2E-AFEA-49C1-B06A-F6A89A9A88FC}"/>
              </a:ext>
            </a:extLst>
          </p:cNvPr>
          <p:cNvSpPr txBox="1"/>
          <p:nvPr/>
        </p:nvSpPr>
        <p:spPr>
          <a:xfrm>
            <a:off x="9982200" y="2327837"/>
            <a:ext cx="11432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output</a:t>
            </a:r>
            <a:endParaRPr lang="de-DE" sz="26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5D4B663-9056-4F72-AC56-22458F3E43B7}"/>
              </a:ext>
            </a:extLst>
          </p:cNvPr>
          <p:cNvCxnSpPr>
            <a:stCxn id="14" idx="2"/>
          </p:cNvCxnSpPr>
          <p:nvPr/>
        </p:nvCxnSpPr>
        <p:spPr>
          <a:xfrm>
            <a:off x="10553831" y="2820280"/>
            <a:ext cx="474387" cy="83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84D980A-068C-3D37-4DD5-7E4DE59D5067}"/>
              </a:ext>
            </a:extLst>
          </p:cNvPr>
          <p:cNvCxnSpPr>
            <a:stCxn id="12" idx="2"/>
          </p:cNvCxnSpPr>
          <p:nvPr/>
        </p:nvCxnSpPr>
        <p:spPr>
          <a:xfrm flipH="1">
            <a:off x="7878618" y="2820282"/>
            <a:ext cx="569946" cy="985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A971D6C-9261-85F2-0E65-CB9DA5B90560}"/>
              </a:ext>
            </a:extLst>
          </p:cNvPr>
          <p:cNvCxnSpPr>
            <a:stCxn id="11" idx="2"/>
          </p:cNvCxnSpPr>
          <p:nvPr/>
        </p:nvCxnSpPr>
        <p:spPr>
          <a:xfrm>
            <a:off x="4508351" y="2820283"/>
            <a:ext cx="144568" cy="837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055DEDA-57B7-1635-3CD4-3C0C910EDDE2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349913" y="2820281"/>
            <a:ext cx="739797" cy="985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0EE07AB7-9F49-8EF7-51A5-6A604B4ECB7B}"/>
              </a:ext>
            </a:extLst>
          </p:cNvPr>
          <p:cNvSpPr txBox="1"/>
          <p:nvPr/>
        </p:nvSpPr>
        <p:spPr>
          <a:xfrm>
            <a:off x="5028176" y="5684080"/>
            <a:ext cx="110318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model</a:t>
            </a:r>
            <a:endParaRPr lang="de-DE" sz="2600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30B8D0B-72F6-B57A-81B7-1E6E9F5E7A1A}"/>
              </a:ext>
            </a:extLst>
          </p:cNvPr>
          <p:cNvCxnSpPr>
            <a:stCxn id="24" idx="1"/>
            <a:endCxn id="9" idx="3"/>
          </p:cNvCxnSpPr>
          <p:nvPr/>
        </p:nvCxnSpPr>
        <p:spPr>
          <a:xfrm flipH="1">
            <a:off x="3023606" y="5930302"/>
            <a:ext cx="2004570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6594CF1-074C-E8CD-3C7E-0CF751457D7B}"/>
              </a:ext>
            </a:extLst>
          </p:cNvPr>
          <p:cNvCxnSpPr>
            <a:stCxn id="24" idx="3"/>
            <a:endCxn id="10" idx="1"/>
          </p:cNvCxnSpPr>
          <p:nvPr/>
        </p:nvCxnSpPr>
        <p:spPr>
          <a:xfrm>
            <a:off x="6131363" y="5930302"/>
            <a:ext cx="20045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55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57BBD5-0976-992A-C54D-C2DDFAFB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Mathematical</a:t>
            </a:r>
            <a:r>
              <a:rPr lang="de-DE" dirty="0"/>
              <a:t>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DE79026-1D13-D336-F5DD-95F40151C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Algebraic </a:t>
                </a:r>
                <a:r>
                  <a:rPr lang="de-DE" dirty="0" err="1"/>
                  <a:t>equations</a:t>
                </a:r>
                <a:r>
                  <a:rPr lang="de-DE" dirty="0"/>
                  <a:t> (</a:t>
                </a:r>
                <a:r>
                  <a:rPr lang="de-DE" dirty="0" err="1"/>
                  <a:t>static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Differential </a:t>
                </a:r>
                <a:r>
                  <a:rPr lang="de-DE" dirty="0" err="1"/>
                  <a:t>equations</a:t>
                </a:r>
                <a:r>
                  <a:rPr lang="de-DE" dirty="0"/>
                  <a:t> (</a:t>
                </a:r>
                <a:r>
                  <a:rPr lang="de-DE" dirty="0" err="1"/>
                  <a:t>dynamic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r>
                  <a:rPr lang="de-DE" dirty="0"/>
                  <a:t> (</a:t>
                </a:r>
                <a:r>
                  <a:rPr lang="de-DE" dirty="0" err="1"/>
                  <a:t>discrete</a:t>
                </a:r>
                <a:r>
                  <a:rPr lang="de-DE" dirty="0"/>
                  <a:t>-time </a:t>
                </a:r>
                <a:r>
                  <a:rPr lang="de-DE" dirty="0" err="1"/>
                  <a:t>systems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DE79026-1D13-D336-F5DD-95F40151C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583754-5D23-8629-F02D-3782D4A7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0885979-B62F-33FF-777E-719FFD0993D3}"/>
                  </a:ext>
                </a:extLst>
              </p:cNvPr>
              <p:cNvSpPr txBox="1"/>
              <p:nvPr/>
            </p:nvSpPr>
            <p:spPr>
              <a:xfrm>
                <a:off x="10452847" y="662827"/>
                <a:ext cx="900953" cy="6199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0885979-B62F-33FF-777E-719FFD099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2847" y="662827"/>
                <a:ext cx="900953" cy="619913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9BE650-7290-773E-0375-3B8FE804FDDB}"/>
                  </a:ext>
                </a:extLst>
              </p:cNvPr>
              <p:cNvSpPr txBox="1"/>
              <p:nvPr/>
            </p:nvSpPr>
            <p:spPr>
              <a:xfrm>
                <a:off x="8610600" y="3429000"/>
                <a:ext cx="3351367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dirty="0" err="1"/>
                  <a:t>Define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separately</a:t>
                </a:r>
                <a:r>
                  <a:rPr lang="de-DE" sz="2400" dirty="0"/>
                  <a:t>: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de-DE" sz="2400" dirty="0"/>
              </a:p>
              <a:p>
                <a:pPr algn="ctr"/>
                <a:r>
                  <a:rPr lang="de-DE" sz="2400" dirty="0"/>
                  <a:t>…</a:t>
                </a: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69BE650-7290-773E-0375-3B8FE804F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429000"/>
                <a:ext cx="3351367" cy="1477328"/>
              </a:xfrm>
              <a:prstGeom prst="rect">
                <a:avLst/>
              </a:prstGeom>
              <a:blipFill>
                <a:blip r:embed="rId4"/>
                <a:stretch>
                  <a:fillRect l="-5263" t="-5932" r="-4511" b="-1186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0D4B5114-D8FD-0C65-92AB-8B23832DE539}"/>
              </a:ext>
            </a:extLst>
          </p:cNvPr>
          <p:cNvSpPr txBox="1"/>
          <p:nvPr/>
        </p:nvSpPr>
        <p:spPr>
          <a:xfrm>
            <a:off x="4267198" y="2826179"/>
            <a:ext cx="87235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input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CC80E5E-4951-6CFD-13B1-4AF3B881314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478304" y="2691242"/>
            <a:ext cx="788894" cy="365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7EEBEBA3-D47F-178F-DDC4-0D17A6654F34}"/>
              </a:ext>
            </a:extLst>
          </p:cNvPr>
          <p:cNvSpPr txBox="1"/>
          <p:nvPr/>
        </p:nvSpPr>
        <p:spPr>
          <a:xfrm>
            <a:off x="455273" y="2826179"/>
            <a:ext cx="106952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output</a:t>
            </a:r>
            <a:endParaRPr lang="de-DE" sz="240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1A711C0-3029-17B9-4320-E7AEF623F9F2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990035" y="2626659"/>
            <a:ext cx="847730" cy="199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539B8B7B-318D-3C88-F919-2AC5DFA2EE29}"/>
              </a:ext>
            </a:extLst>
          </p:cNvPr>
          <p:cNvSpPr txBox="1"/>
          <p:nvPr/>
        </p:nvSpPr>
        <p:spPr>
          <a:xfrm>
            <a:off x="2754181" y="4444663"/>
            <a:ext cx="197021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state</a:t>
            </a:r>
            <a:r>
              <a:rPr lang="de-DE" sz="2400" dirty="0"/>
              <a:t> variable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1DB3ED4-916D-A36D-7EE5-90705408C92C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3478304" y="4240306"/>
            <a:ext cx="260987" cy="204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75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D7B3B12-381B-F8DF-684C-AE270F707C30}"/>
                  </a:ext>
                </a:extLst>
              </p:cNvPr>
              <p:cNvSpPr txBox="1"/>
              <p:nvPr/>
            </p:nvSpPr>
            <p:spPr>
              <a:xfrm>
                <a:off x="6427433" y="5239576"/>
                <a:ext cx="5184559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400" dirty="0" err="1"/>
                  <a:t>second</a:t>
                </a:r>
                <a:r>
                  <a:rPr lang="de-DE" sz="2400" dirty="0"/>
                  <a:t>-order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energy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storages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mass</a:t>
                </a:r>
                <a:r>
                  <a:rPr lang="de-DE" sz="2400" dirty="0"/>
                  <a:t> and spring</a:t>
                </a:r>
              </a:p>
              <a:p>
                <a:r>
                  <a:rPr lang="de-DE" sz="2000" dirty="0"/>
                  <a:t>(</a:t>
                </a:r>
                <a:r>
                  <a:rPr lang="de-DE" sz="2000" dirty="0" err="1"/>
                  <a:t>even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choose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de-DE" sz="2000" dirty="0"/>
                  <a:t>, first-order </a:t>
                </a:r>
                <a:r>
                  <a:rPr lang="de-DE" sz="2000" dirty="0" err="1"/>
                  <a:t>only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removed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spring)</a:t>
                </a: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D7B3B12-381B-F8DF-684C-AE270F707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7433" y="5239576"/>
                <a:ext cx="5184559" cy="1446550"/>
              </a:xfrm>
              <a:prstGeom prst="rect">
                <a:avLst/>
              </a:prstGeom>
              <a:blipFill>
                <a:blip r:embed="rId2"/>
                <a:stretch>
                  <a:fillRect l="-1707" t="-3478" r="-1463" b="-69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6790FEE8-8184-DD9F-1C24-7654B2B8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Differential-</a:t>
            </a:r>
            <a:r>
              <a:rPr lang="de-DE" dirty="0" err="1"/>
              <a:t>Equation</a:t>
            </a:r>
            <a:r>
              <a:rPr lang="de-DE" dirty="0"/>
              <a:t>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3EE465-2DFE-E432-459B-8A985DE18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0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 err="1"/>
              <a:t>Describe</a:t>
            </a:r>
            <a:r>
              <a:rPr lang="de-DE" sz="2400" dirty="0"/>
              <a:t> </a:t>
            </a:r>
            <a:r>
              <a:rPr lang="de-DE" sz="2400" dirty="0" err="1"/>
              <a:t>dynamics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derivatives</a:t>
            </a:r>
          </a:p>
          <a:p>
            <a:pPr marL="0" indent="0">
              <a:buNone/>
            </a:pPr>
            <a:r>
              <a:rPr lang="de-DE" sz="2400" dirty="0" err="1"/>
              <a:t>Example</a:t>
            </a:r>
            <a:r>
              <a:rPr lang="de-DE" sz="2400" dirty="0"/>
              <a:t>: </a:t>
            </a:r>
            <a:r>
              <a:rPr lang="de-DE" sz="2400" dirty="0" err="1"/>
              <a:t>mass</a:t>
            </a:r>
            <a:r>
              <a:rPr lang="de-DE" sz="2400" dirty="0"/>
              <a:t>–spring–</a:t>
            </a:r>
            <a:r>
              <a:rPr lang="de-DE" sz="2400" dirty="0" err="1"/>
              <a:t>damper</a:t>
            </a:r>
            <a:r>
              <a:rPr lang="de-DE" sz="2400" dirty="0"/>
              <a:t> </a:t>
            </a:r>
            <a:r>
              <a:rPr lang="de-DE" sz="2400" dirty="0" err="1"/>
              <a:t>system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Order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equation</a:t>
            </a:r>
            <a:r>
              <a:rPr lang="de-DE" sz="2400" dirty="0"/>
              <a:t> = </a:t>
            </a:r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order</a:t>
            </a:r>
            <a:endParaRPr lang="de-DE" sz="2400" dirty="0"/>
          </a:p>
          <a:p>
            <a:pPr lvl="1"/>
            <a:r>
              <a:rPr lang="de-DE" sz="2000" dirty="0"/>
              <a:t>= </a:t>
            </a:r>
            <a:r>
              <a:rPr lang="de-DE" sz="2000" dirty="0" err="1"/>
              <a:t>number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state</a:t>
            </a:r>
            <a:r>
              <a:rPr lang="de-DE" sz="2000" dirty="0"/>
              <a:t> variables</a:t>
            </a:r>
          </a:p>
          <a:p>
            <a:pPr lvl="1"/>
            <a:r>
              <a:rPr lang="de-DE" sz="2000" dirty="0"/>
              <a:t>= </a:t>
            </a:r>
            <a:r>
              <a:rPr lang="de-DE" sz="2000" dirty="0" err="1"/>
              <a:t>number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energy</a:t>
            </a:r>
            <a:r>
              <a:rPr lang="de-DE" sz="2000" dirty="0"/>
              <a:t> </a:t>
            </a:r>
            <a:r>
              <a:rPr lang="de-DE" sz="2000" dirty="0" err="1"/>
              <a:t>storage</a:t>
            </a:r>
            <a:r>
              <a:rPr lang="de-DE" sz="2000" dirty="0"/>
              <a:t> </a:t>
            </a:r>
            <a:r>
              <a:rPr lang="de-DE" sz="2000" dirty="0" err="1"/>
              <a:t>elements</a:t>
            </a:r>
            <a:endParaRPr lang="de-DE" sz="2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162B11-9C37-F0BA-412F-DEFAC076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 dirty="0"/>
          </a:p>
        </p:txBody>
      </p:sp>
      <p:pic>
        <p:nvPicPr>
          <p:cNvPr id="14" name="Grafik 13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257B890-6432-CC1A-D6AD-4BD0B2A7E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22923"/>
            <a:ext cx="5941291" cy="2644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02D29F3-CFB5-A7A0-EC47-01A7F08DF4C8}"/>
                  </a:ext>
                </a:extLst>
              </p:cNvPr>
              <p:cNvSpPr txBox="1"/>
              <p:nvPr/>
            </p:nvSpPr>
            <p:spPr>
              <a:xfrm>
                <a:off x="7518390" y="2852697"/>
                <a:ext cx="3835409" cy="19848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Newton: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Model: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̇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02D29F3-CFB5-A7A0-EC47-01A7F08DF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390" y="2852697"/>
                <a:ext cx="3835409" cy="1984839"/>
              </a:xfrm>
              <a:prstGeom prst="rect">
                <a:avLst/>
              </a:prstGeom>
              <a:blipFill>
                <a:blip r:embed="rId4"/>
                <a:stretch>
                  <a:fillRect l="-2303" t="-2532" b="-6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0E24689-D178-8F94-86ED-3E45D44F9A03}"/>
              </a:ext>
            </a:extLst>
          </p:cNvPr>
          <p:cNvCxnSpPr>
            <a:cxnSpLocks/>
          </p:cNvCxnSpPr>
          <p:nvPr/>
        </p:nvCxnSpPr>
        <p:spPr>
          <a:xfrm flipV="1">
            <a:off x="8069802" y="4738357"/>
            <a:ext cx="250403" cy="600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164497F8-6195-07F1-F70C-B971D6ECAFC6}"/>
              </a:ext>
            </a:extLst>
          </p:cNvPr>
          <p:cNvSpPr txBox="1"/>
          <p:nvPr/>
        </p:nvSpPr>
        <p:spPr>
          <a:xfrm>
            <a:off x="1994767" y="4587300"/>
            <a:ext cx="1416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</a:t>
            </a:r>
            <a:r>
              <a:rPr lang="de-DE" dirty="0" err="1"/>
              <a:t>dissipation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B8DC01-C520-77E6-7426-63D418D6FED4}"/>
                  </a:ext>
                </a:extLst>
              </p:cNvPr>
              <p:cNvSpPr txBox="1"/>
              <p:nvPr/>
            </p:nvSpPr>
            <p:spPr>
              <a:xfrm>
                <a:off x="4457700" y="2552740"/>
                <a:ext cx="23532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1B8DC01-C520-77E6-7426-63D418D6F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2552740"/>
                <a:ext cx="235321" cy="369332"/>
              </a:xfrm>
              <a:prstGeom prst="rect">
                <a:avLst/>
              </a:prstGeom>
              <a:blipFill>
                <a:blip r:embed="rId5"/>
                <a:stretch>
                  <a:fillRect l="-10000" r="-1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85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1606A2-6F1E-C0EF-03AE-7388CF78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Need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EF1E5E-946D-EAB2-3D18-108394A5E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Predict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Design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Understand</a:t>
            </a:r>
            <a:r>
              <a:rPr lang="de-DE" dirty="0"/>
              <a:t> </a:t>
            </a:r>
            <a:r>
              <a:rPr lang="de-DE" dirty="0" err="1"/>
              <a:t>cause</a:t>
            </a:r>
            <a:r>
              <a:rPr lang="de-DE" dirty="0"/>
              <a:t>-and-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Simplify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45D2F4-D7D0-AE36-EB76-D655433A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63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504ED3-385E-7B00-0162-09F64BE8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White-, Gray-, and Black-Box Models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C2A8E6-7F9C-01B9-B5A6-AC86A504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7888DE93-C4B7-39EF-D411-679A43E79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07603"/>
              </p:ext>
            </p:extLst>
          </p:nvPr>
        </p:nvGraphicFramePr>
        <p:xfrm>
          <a:off x="1843093" y="1644044"/>
          <a:ext cx="8505813" cy="494040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420449">
                  <a:extLst>
                    <a:ext uri="{9D8B030D-6E8A-4147-A177-3AD203B41FA5}">
                      <a16:colId xmlns:a16="http://schemas.microsoft.com/office/drawing/2014/main" val="1055275469"/>
                    </a:ext>
                  </a:extLst>
                </a:gridCol>
                <a:gridCol w="2023123">
                  <a:extLst>
                    <a:ext uri="{9D8B030D-6E8A-4147-A177-3AD203B41FA5}">
                      <a16:colId xmlns:a16="http://schemas.microsoft.com/office/drawing/2014/main" val="2433305726"/>
                    </a:ext>
                  </a:extLst>
                </a:gridCol>
                <a:gridCol w="1807123">
                  <a:extLst>
                    <a:ext uri="{9D8B030D-6E8A-4147-A177-3AD203B41FA5}">
                      <a16:colId xmlns:a16="http://schemas.microsoft.com/office/drawing/2014/main" val="3149600892"/>
                    </a:ext>
                  </a:extLst>
                </a:gridCol>
                <a:gridCol w="2255118">
                  <a:extLst>
                    <a:ext uri="{9D8B030D-6E8A-4147-A177-3AD203B41FA5}">
                      <a16:colId xmlns:a16="http://schemas.microsoft.com/office/drawing/2014/main" val="507545762"/>
                    </a:ext>
                  </a:extLst>
                </a:gridCol>
              </a:tblGrid>
              <a:tr h="82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cap="none" spc="0" dirty="0">
                          <a:solidFill>
                            <a:schemeClr val="tx1"/>
                          </a:solidFill>
                        </a:rPr>
                        <a:t>White-Box</a:t>
                      </a:r>
                      <a:endParaRPr lang="de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cap="none" spc="0">
                          <a:solidFill>
                            <a:schemeClr val="tx1"/>
                          </a:solidFill>
                        </a:rPr>
                        <a:t>Gray-Box</a:t>
                      </a:r>
                      <a:endParaRPr lang="de-DE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cap="none" spc="0" dirty="0">
                          <a:solidFill>
                            <a:schemeClr val="tx1"/>
                          </a:solidFill>
                        </a:rPr>
                        <a:t>Black-Box</a:t>
                      </a:r>
                      <a:endParaRPr lang="de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818538"/>
                  </a:ext>
                </a:extLst>
              </a:tr>
              <a:tr h="82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 dirty="0">
                          <a:solidFill>
                            <a:schemeClr val="tx1"/>
                          </a:solidFill>
                        </a:rPr>
                        <a:t>System Knowledge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 dirty="0" err="1">
                          <a:solidFill>
                            <a:schemeClr val="tx1"/>
                          </a:solidFill>
                        </a:rPr>
                        <a:t>Full</a:t>
                      </a:r>
                      <a:endParaRPr lang="de-DE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Partial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568887"/>
                  </a:ext>
                </a:extLst>
              </a:tr>
              <a:tr h="82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 dirty="0">
                          <a:solidFill>
                            <a:schemeClr val="tx1"/>
                          </a:solidFill>
                        </a:rPr>
                        <a:t>Parameter Source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Physical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Mixed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Data Only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21085"/>
                  </a:ext>
                </a:extLst>
              </a:tr>
              <a:tr h="82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Interpretability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014430"/>
                  </a:ext>
                </a:extLst>
              </a:tr>
              <a:tr h="82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Effort / Complexity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Low-Medium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966552"/>
                  </a:ext>
                </a:extLst>
              </a:tr>
              <a:tr h="823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Extrapolation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Reliable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>
                          <a:solidFill>
                            <a:schemeClr val="tx1"/>
                          </a:solidFill>
                        </a:rPr>
                        <a:t>Moderate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cap="none" spc="0" dirty="0">
                          <a:solidFill>
                            <a:schemeClr val="tx1"/>
                          </a:solidFill>
                        </a:rPr>
                        <a:t>Poor</a:t>
                      </a:r>
                    </a:p>
                  </a:txBody>
                  <a:tcPr marL="129960" marR="99969" marT="99969" marB="9996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892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38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DA3A2-F561-C805-764F-7D8E46B2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Proportional (P)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5D93057-B654-A742-35B1-8FC40DA94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de-DE" sz="2400" dirty="0"/>
                  <a:t>Output proportional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/>
                  <a:t>Static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=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divided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), aka DC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zero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dynamics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Examples</a:t>
                </a:r>
                <a:r>
                  <a:rPr lang="de-DE" sz="2400" dirty="0"/>
                  <a:t>:</a:t>
                </a:r>
              </a:p>
              <a:p>
                <a:pPr lvl="1"/>
                <a:r>
                  <a:rPr lang="de-DE" dirty="0"/>
                  <a:t>Amplifier</a:t>
                </a:r>
              </a:p>
              <a:p>
                <a:pPr lvl="1"/>
                <a:r>
                  <a:rPr lang="de-DE" dirty="0" err="1"/>
                  <a:t>Resistor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5D93057-B654-A742-35B1-8FC40DA94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035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759E45-F9D5-78E4-AB35-D7A48D2F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D233A60-217F-FEDE-E919-A1B9410F4E07}"/>
              </a:ext>
            </a:extLst>
          </p:cNvPr>
          <p:cNvCxnSpPr>
            <a:cxnSpLocks/>
          </p:cNvCxnSpPr>
          <p:nvPr/>
        </p:nvCxnSpPr>
        <p:spPr>
          <a:xfrm flipV="1">
            <a:off x="2464904" y="2601157"/>
            <a:ext cx="402583" cy="629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39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44CBF-9F85-6A17-680B-700361A6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Integrating</a:t>
            </a:r>
            <a:r>
              <a:rPr lang="de-DE" dirty="0"/>
              <a:t> and </a:t>
            </a:r>
            <a:r>
              <a:rPr lang="de-DE" dirty="0" err="1"/>
              <a:t>Differentiating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2B04744-0A78-585A-ABF6-255841A38F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de-DE" dirty="0"/>
                  <a:t>Integrator: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de-DE" dirty="0"/>
              </a:p>
              <a:p>
                <a:pPr lvl="1"/>
                <a:r>
                  <a:rPr lang="de-DE" dirty="0" err="1"/>
                  <a:t>Accumulates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time</a:t>
                </a:r>
              </a:p>
              <a:p>
                <a:pPr lvl="1"/>
                <a:r>
                  <a:rPr lang="de-DE" dirty="0" err="1"/>
                  <a:t>Introduces</a:t>
                </a:r>
                <a:r>
                  <a:rPr lang="de-DE" dirty="0"/>
                  <a:t> </a:t>
                </a:r>
                <a:r>
                  <a:rPr lang="de-DE" dirty="0" err="1"/>
                  <a:t>memory</a:t>
                </a:r>
                <a:r>
                  <a:rPr lang="de-DE" dirty="0"/>
                  <a:t> (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Differentiator: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lvl="1"/>
                <a:r>
                  <a:rPr lang="de-DE" dirty="0" err="1"/>
                  <a:t>Responds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rate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change</a:t>
                </a:r>
                <a:endParaRPr lang="de-DE" dirty="0"/>
              </a:p>
              <a:p>
                <a:pPr lvl="1"/>
                <a:r>
                  <a:rPr lang="de-DE" dirty="0"/>
                  <a:t>Sensitive </a:t>
                </a:r>
                <a:r>
                  <a:rPr lang="de-DE" dirty="0" err="1"/>
                  <a:t>to</a:t>
                </a:r>
                <a:r>
                  <a:rPr lang="de-DE" dirty="0"/>
                  <a:t> fast </a:t>
                </a:r>
                <a:r>
                  <a:rPr lang="de-DE" dirty="0" err="1"/>
                  <a:t>variations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Physical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r>
                  <a:rPr lang="de-DE" dirty="0"/>
                  <a:t> </a:t>
                </a:r>
                <a:r>
                  <a:rPr lang="de-DE" dirty="0" err="1"/>
                  <a:t>often</a:t>
                </a:r>
                <a:r>
                  <a:rPr lang="de-DE" dirty="0"/>
                  <a:t> </a:t>
                </a:r>
                <a:r>
                  <a:rPr lang="de-DE" dirty="0" err="1"/>
                  <a:t>contain</a:t>
                </a:r>
                <a:r>
                  <a:rPr lang="de-DE" dirty="0"/>
                  <a:t> </a:t>
                </a:r>
                <a:r>
                  <a:rPr lang="de-DE" dirty="0" err="1"/>
                  <a:t>integrators</a:t>
                </a:r>
                <a:r>
                  <a:rPr lang="de-DE" dirty="0"/>
                  <a:t> and </a:t>
                </a:r>
                <a:r>
                  <a:rPr lang="de-DE" dirty="0" err="1"/>
                  <a:t>differentiators</a:t>
                </a:r>
                <a:r>
                  <a:rPr lang="de-DE" dirty="0"/>
                  <a:t> </a:t>
                </a:r>
                <a:r>
                  <a:rPr lang="de-DE" dirty="0" err="1"/>
                  <a:t>implicitly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dynamic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r>
                  <a:rPr lang="de-DE" dirty="0"/>
                  <a:t> (PT1, PT2, …)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2B04744-0A78-585A-ABF6-255841A38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97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72E14E-7EB9-A40B-34AA-AC73D257E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1743308-3213-0A91-6CB7-32C43C36398F}"/>
              </a:ext>
            </a:extLst>
          </p:cNvPr>
          <p:cNvSpPr txBox="1"/>
          <p:nvPr/>
        </p:nvSpPr>
        <p:spPr>
          <a:xfrm>
            <a:off x="7306323" y="2988101"/>
            <a:ext cx="14237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 err="1"/>
              <a:t>dynamic</a:t>
            </a:r>
            <a:endParaRPr lang="de-DE" sz="2600" dirty="0"/>
          </a:p>
        </p:txBody>
      </p: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D137E3C6-24DB-72B1-3C20-10C0C8A18AA7}"/>
              </a:ext>
            </a:extLst>
          </p:cNvPr>
          <p:cNvSpPr/>
          <p:nvPr/>
        </p:nvSpPr>
        <p:spPr>
          <a:xfrm>
            <a:off x="6374167" y="1825625"/>
            <a:ext cx="816746" cy="281739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411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3BB42B-EC6C-7CCB-6ECA-480B5E45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Free Fall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6A7DE53-1BEC-02AC-1A0F-204EC1451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Velocity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mass</a:t>
                </a:r>
                <a:r>
                  <a:rPr lang="de-DE" dirty="0"/>
                  <a:t> </a:t>
                </a:r>
                <a:r>
                  <a:rPr lang="de-DE" dirty="0" err="1"/>
                  <a:t>subject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a </a:t>
                </a:r>
                <a:r>
                  <a:rPr lang="de-DE" dirty="0" err="1"/>
                  <a:t>force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Freefall: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0" dirty="0" err="1"/>
                  <a:t>Starting</a:t>
                </a:r>
                <a:r>
                  <a:rPr lang="de-DE" b="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b="0" dirty="0"/>
                  <a:t> </a:t>
                </a:r>
                <a:r>
                  <a:rPr lang="de-DE" b="0" dirty="0" err="1"/>
                  <a:t>with</a:t>
                </a:r>
                <a:r>
                  <a:rPr lang="de-DE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b="0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g</a:t>
                </a:r>
                <a:r>
                  <a:rPr lang="de-DE" dirty="0" err="1"/>
                  <a:t>rows</a:t>
                </a:r>
                <a:r>
                  <a:rPr lang="de-DE" dirty="0"/>
                  <a:t> </a:t>
                </a:r>
                <a:r>
                  <a:rPr lang="de-DE" dirty="0" err="1"/>
                  <a:t>linearly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time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Real-</a:t>
                </a:r>
                <a:r>
                  <a:rPr lang="de-DE" dirty="0" err="1"/>
                  <a:t>world</a:t>
                </a:r>
                <a:r>
                  <a:rPr lang="de-DE" dirty="0"/>
                  <a:t>: </a:t>
                </a:r>
                <a:r>
                  <a:rPr lang="de-DE" dirty="0" err="1"/>
                  <a:t>damping</a:t>
                </a:r>
                <a:r>
                  <a:rPr lang="de-DE" dirty="0"/>
                  <a:t> due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air</a:t>
                </a:r>
                <a:r>
                  <a:rPr lang="de-DE" dirty="0"/>
                  <a:t> </a:t>
                </a:r>
                <a:r>
                  <a:rPr lang="de-DE" dirty="0" err="1"/>
                  <a:t>resistance</a:t>
                </a:r>
                <a:r>
                  <a:rPr lang="de-DE" dirty="0"/>
                  <a:t> …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6A7DE53-1BEC-02AC-1A0F-204EC1451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71EE6C-9109-3EF1-D775-416FD8E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B832202-78CC-A4E4-A4A6-FC6B63F0EC65}"/>
              </a:ext>
            </a:extLst>
          </p:cNvPr>
          <p:cNvSpPr txBox="1"/>
          <p:nvPr/>
        </p:nvSpPr>
        <p:spPr>
          <a:xfrm>
            <a:off x="7376244" y="2416481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input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1218031-CC87-7525-884B-EF9A3618BAA5}"/>
              </a:ext>
            </a:extLst>
          </p:cNvPr>
          <p:cNvSpPr txBox="1"/>
          <p:nvPr/>
        </p:nvSpPr>
        <p:spPr>
          <a:xfrm>
            <a:off x="6208136" y="2423959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output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1D37711-60B5-FE72-A261-323CABB199D0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688062" y="2123518"/>
            <a:ext cx="124360" cy="29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6B571CD-EC9D-4DDB-C2D1-D5C09205C01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742898" y="2130996"/>
            <a:ext cx="223970" cy="29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368886B7-A669-EC2D-A194-FA1A3A90C70E}"/>
              </a:ext>
            </a:extLst>
          </p:cNvPr>
          <p:cNvSpPr txBox="1"/>
          <p:nvPr/>
        </p:nvSpPr>
        <p:spPr>
          <a:xfrm>
            <a:off x="3907506" y="3109400"/>
            <a:ext cx="3938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earth‘s</a:t>
            </a:r>
            <a:r>
              <a:rPr lang="de-DE" sz="2400" dirty="0"/>
              <a:t> </a:t>
            </a:r>
            <a:r>
              <a:rPr lang="de-DE" sz="2400" dirty="0" err="1"/>
              <a:t>acceleration</a:t>
            </a:r>
            <a:r>
              <a:rPr lang="de-DE" sz="2400" dirty="0"/>
              <a:t> (</a:t>
            </a:r>
            <a:r>
              <a:rPr lang="de-DE" sz="2400" dirty="0" err="1"/>
              <a:t>gravity</a:t>
            </a:r>
            <a:r>
              <a:rPr lang="de-DE" sz="2400" dirty="0"/>
              <a:t>)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56437C4-F7EB-F4ED-02C7-82D9436820D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3551067" y="2974463"/>
            <a:ext cx="356439" cy="365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fik 18" descr="Ein Bild, das Screenshot, Text, Schrift, Reihe enthält.&#10;&#10;KI-generierte Inhalte können fehlerhaft sein.">
            <a:extLst>
              <a:ext uri="{FF2B5EF4-FFF2-40B4-BE49-F238E27FC236}">
                <a16:creationId xmlns:a16="http://schemas.microsoft.com/office/drawing/2014/main" id="{EEEE3C63-2F6F-6257-C249-96B303B7F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641" y="708092"/>
            <a:ext cx="4360175" cy="840554"/>
          </a:xfrm>
          <a:prstGeom prst="rect">
            <a:avLst/>
          </a:prstGeom>
        </p:spPr>
      </p:pic>
      <p:pic>
        <p:nvPicPr>
          <p:cNvPr id="9" name="Grafik 8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277ABE33-F6AD-D0A2-0780-C841CCA22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898" y="3608183"/>
            <a:ext cx="5251262" cy="192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2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9BD9ACDD-5536-F40F-D02A-E1101856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01" y="2590024"/>
            <a:ext cx="5112785" cy="383458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745A1B-AEBE-B4CE-44F5-18B930F7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First-Order Systems (PT1)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DD7E54A-26B6-1A1F-EFCD-3CB7658FC9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482701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One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 </a:t>
                </a:r>
                <a:r>
                  <a:rPr lang="de-DE" dirty="0" err="1"/>
                  <a:t>element</a:t>
                </a:r>
                <a:r>
                  <a:rPr lang="de-DE" dirty="0"/>
                  <a:t> (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1)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Time constant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d</a:t>
                </a:r>
                <a:r>
                  <a:rPr lang="de-DE" dirty="0" err="1"/>
                  <a:t>ynamic</a:t>
                </a:r>
                <a:r>
                  <a:rPr lang="de-DE" dirty="0"/>
                  <a:t> (T)</a:t>
                </a:r>
              </a:p>
              <a:p>
                <a:r>
                  <a:rPr lang="de-DE" dirty="0"/>
                  <a:t>Static (DC)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 p</a:t>
                </a:r>
                <a:r>
                  <a:rPr lang="de-DE" dirty="0"/>
                  <a:t>roportional (P)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(∞)</m:t>
                        </m:r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step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output</a:t>
                </a:r>
                <a:r>
                  <a:rPr lang="de-DE" dirty="0"/>
                  <a:t>–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ratio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after </a:t>
                </a:r>
                <a:r>
                  <a:rPr lang="de-DE" dirty="0" err="1"/>
                  <a:t>transients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</a:t>
                </a:r>
                <a:r>
                  <a:rPr lang="de-DE" dirty="0" err="1"/>
                  <a:t>died</a:t>
                </a:r>
                <a:r>
                  <a:rPr lang="de-DE" dirty="0"/>
                  <a:t> out, i.e.,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DD7E54A-26B6-1A1F-EFCD-3CB7658FC9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482701" cy="4351338"/>
              </a:xfrm>
              <a:blipFill>
                <a:blip r:embed="rId3"/>
                <a:stretch>
                  <a:fillRect l="-1852" t="-2907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A2CB85-35FF-7939-CCB6-F661E5A2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B9C476A-5E24-7EB7-4348-D3FCC0B3AA08}"/>
              </a:ext>
            </a:extLst>
          </p:cNvPr>
          <p:cNvSpPr txBox="1"/>
          <p:nvPr/>
        </p:nvSpPr>
        <p:spPr>
          <a:xfrm>
            <a:off x="8109011" y="2196758"/>
            <a:ext cx="219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Step</a:t>
            </a:r>
            <a:r>
              <a:rPr lang="de-DE" sz="2400" dirty="0"/>
              <a:t> </a:t>
            </a:r>
            <a:r>
              <a:rPr lang="de-DE" sz="2400" dirty="0" err="1"/>
              <a:t>response</a:t>
            </a:r>
            <a:r>
              <a:rPr lang="de-DE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64B60CF-C55E-C96B-58E9-FCC035B9ACFC}"/>
                  </a:ext>
                </a:extLst>
              </p:cNvPr>
              <p:cNvSpPr txBox="1"/>
              <p:nvPr/>
            </p:nvSpPr>
            <p:spPr>
              <a:xfrm>
                <a:off x="7607423" y="151485"/>
                <a:ext cx="3746377" cy="18181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A </a:t>
                </a:r>
                <a:r>
                  <a:rPr lang="de-DE" dirty="0" err="1"/>
                  <a:t>sudden</a:t>
                </a:r>
                <a:r>
                  <a:rPr lang="de-DE" dirty="0"/>
                  <a:t> </a:t>
                </a:r>
                <a:r>
                  <a:rPr lang="de-DE" dirty="0" err="1"/>
                  <a:t>change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signal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a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value</a:t>
                </a:r>
                <a:r>
                  <a:rPr lang="de-DE" dirty="0"/>
                  <a:t>, </a:t>
                </a:r>
                <a:r>
                  <a:rPr lang="de-DE" dirty="0" err="1"/>
                  <a:t>maintained</a:t>
                </a:r>
                <a:r>
                  <a:rPr lang="de-DE" dirty="0"/>
                  <a:t> </a:t>
                </a:r>
                <a:r>
                  <a:rPr lang="de-DE" dirty="0" err="1"/>
                  <a:t>thereafter</a:t>
                </a:r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0,         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de-DE">
                                      <a:latin typeface="Cambria Math" panose="02040503050406030204" pitchFamily="18" charset="0"/>
                                    </a:rPr>
                                    <m:t>step</m:t>
                                  </m:r>
                                </m:sub>
                              </m:s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b="0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F64B60CF-C55E-C96B-58E9-FCC035B9A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423" y="151485"/>
                <a:ext cx="3746377" cy="1818190"/>
              </a:xfrm>
              <a:prstGeom prst="rect">
                <a:avLst/>
              </a:prstGeom>
              <a:blipFill>
                <a:blip r:embed="rId4"/>
                <a:stretch>
                  <a:fillRect l="-1010" t="-30345" r="-1010" b="-924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3DE04CE-F77D-2B88-202B-B058E209E43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9207438" y="1969675"/>
            <a:ext cx="273174" cy="227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4CDEF52-B8D1-F76F-D8CD-066C9ECAC3D2}"/>
                  </a:ext>
                </a:extLst>
              </p:cNvPr>
              <p:cNvSpPr txBox="1"/>
              <p:nvPr/>
            </p:nvSpPr>
            <p:spPr>
              <a:xfrm>
                <a:off x="9982200" y="3192415"/>
                <a:ext cx="964944" cy="855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step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54CDEF52-B8D1-F76F-D8CD-066C9ECAC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192415"/>
                <a:ext cx="964944" cy="855683"/>
              </a:xfrm>
              <a:prstGeom prst="rect">
                <a:avLst/>
              </a:prstGeom>
              <a:blipFill>
                <a:blip r:embed="rId5"/>
                <a:stretch>
                  <a:fillRect l="-3896" r="-3896" b="-7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E92474A8-0D60-A379-C595-D92B302236B5}"/>
              </a:ext>
            </a:extLst>
          </p:cNvPr>
          <p:cNvCxnSpPr>
            <a:cxnSpLocks/>
          </p:cNvCxnSpPr>
          <p:nvPr/>
        </p:nvCxnSpPr>
        <p:spPr>
          <a:xfrm>
            <a:off x="6858000" y="3916017"/>
            <a:ext cx="2622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B1669DC8-B72D-8135-5003-9A08C7138DAC}"/>
              </a:ext>
            </a:extLst>
          </p:cNvPr>
          <p:cNvSpPr txBox="1"/>
          <p:nvPr/>
        </p:nvSpPr>
        <p:spPr>
          <a:xfrm>
            <a:off x="8721739" y="3620256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63%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B801FC8-1B2F-DC15-E05C-25850766135A}"/>
                  </a:ext>
                </a:extLst>
              </p:cNvPr>
              <p:cNvSpPr txBox="1"/>
              <p:nvPr/>
            </p:nvSpPr>
            <p:spPr>
              <a:xfrm>
                <a:off x="7640974" y="5391186"/>
                <a:ext cx="3855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3B801FC8-1B2F-DC15-E05C-258507661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974" y="5391186"/>
                <a:ext cx="3855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272F4846-875F-7812-2E6C-15E025F60CB5}"/>
              </a:ext>
            </a:extLst>
          </p:cNvPr>
          <p:cNvCxnSpPr>
            <a:cxnSpLocks/>
          </p:cNvCxnSpPr>
          <p:nvPr/>
        </p:nvCxnSpPr>
        <p:spPr>
          <a:xfrm>
            <a:off x="7742583" y="3955773"/>
            <a:ext cx="0" cy="184450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835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B8547-AEE4-B255-5E90-6ED98B38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Gain</a:t>
            </a:r>
            <a:r>
              <a:rPr lang="de-DE" dirty="0"/>
              <a:t> and Time Constant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FCC748-1ECC-6B54-2760-821AF3C9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  <p:pic>
        <p:nvPicPr>
          <p:cNvPr id="6" name="Grafik 5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9C3298DA-8247-0E24-AF2E-29BAE8A8C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730" y="1640064"/>
            <a:ext cx="7858539" cy="5081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F883B8F-F678-2F50-86EA-A4A6581D0514}"/>
                  </a:ext>
                </a:extLst>
              </p:cNvPr>
              <p:cNvSpPr txBox="1"/>
              <p:nvPr/>
            </p:nvSpPr>
            <p:spPr>
              <a:xfrm>
                <a:off x="5464304" y="5833130"/>
                <a:ext cx="3855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F883B8F-F678-2F50-86EA-A4A6581D0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304" y="5833130"/>
                <a:ext cx="38553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055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192040B-8DCE-C5AA-4D7E-6E6F8EE2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01" y="2590024"/>
            <a:ext cx="5112785" cy="3834589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76B65EF0-B2BD-3E65-ECF5-3DC11FC1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Solution </a:t>
            </a:r>
            <a:r>
              <a:rPr lang="de-DE" dirty="0" err="1"/>
              <a:t>for</a:t>
            </a:r>
            <a:r>
              <a:rPr lang="de-DE" dirty="0"/>
              <a:t> PT1 Differential </a:t>
            </a:r>
            <a:r>
              <a:rPr lang="de-DE" dirty="0" err="1"/>
              <a:t>Equation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14773E-45E0-9D74-6A62-08A6F34BD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U</a:t>
                </a:r>
                <a:r>
                  <a:rPr lang="de-DE" sz="2600" dirty="0" err="1"/>
                  <a:t>nforced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natural</a:t>
                </a:r>
                <a:r>
                  <a:rPr lang="de-DE" sz="2600" dirty="0"/>
                  <a:t>):   </a:t>
                </a:r>
                <a14:m>
                  <m:oMath xmlns:m="http://schemas.openxmlformats.org/officeDocument/2006/math">
                    <m:r>
                      <a:rPr lang="el-GR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6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Forced</a:t>
                </a:r>
                <a:r>
                  <a:rPr lang="de-DE" sz="2600" dirty="0"/>
                  <a:t>:   </a:t>
                </a:r>
                <a14:m>
                  <m:oMath xmlns:m="http://schemas.openxmlformats.org/officeDocument/2006/math">
                    <m:r>
                      <a:rPr lang="el-GR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Example</a:t>
                </a:r>
                <a:r>
                  <a:rPr lang="de-DE" sz="2600" dirty="0"/>
                  <a:t>:</a:t>
                </a:r>
              </a:p>
              <a:p>
                <a:r>
                  <a:rPr lang="de-DE" sz="2600" dirty="0"/>
                  <a:t>At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600" dirty="0"/>
                  <a:t>, </a:t>
                </a:r>
                <a:r>
                  <a:rPr lang="de-DE" sz="2600" dirty="0" err="1"/>
                  <a:t>step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600" dirty="0"/>
                  <a:t> to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</m:oMath>
                </a14:m>
                <a:endParaRPr lang="de-DE" sz="2400" dirty="0"/>
              </a:p>
              <a:p>
                <a:r>
                  <a:rPr lang="de-DE" sz="2600" dirty="0"/>
                  <a:t>Initial </a:t>
                </a:r>
                <a:r>
                  <a:rPr lang="de-DE" sz="2600" dirty="0" err="1"/>
                  <a:t>condition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de-DE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de-DE" sz="2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14773E-45E0-9D74-6A62-08A6F34BD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1928" t="-2035" b="-784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E2261F-C33F-46F4-130D-80379693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3CF4432-DA9A-203B-7D7E-5D2144F31AE8}"/>
                  </a:ext>
                </a:extLst>
              </p:cNvPr>
              <p:cNvSpPr txBox="1"/>
              <p:nvPr/>
            </p:nvSpPr>
            <p:spPr>
              <a:xfrm>
                <a:off x="9982200" y="3192415"/>
                <a:ext cx="964944" cy="855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step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3CF4432-DA9A-203B-7D7E-5D2144F31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3192415"/>
                <a:ext cx="964944" cy="855683"/>
              </a:xfrm>
              <a:prstGeom prst="rect">
                <a:avLst/>
              </a:prstGeom>
              <a:blipFill>
                <a:blip r:embed="rId4"/>
                <a:stretch>
                  <a:fillRect l="-3896" r="-3896" b="-7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feld 13">
            <a:extLst>
              <a:ext uri="{FF2B5EF4-FFF2-40B4-BE49-F238E27FC236}">
                <a16:creationId xmlns:a16="http://schemas.microsoft.com/office/drawing/2014/main" id="{B82408D0-B64A-54D0-7FE9-96A0AA58BF36}"/>
              </a:ext>
            </a:extLst>
          </p:cNvPr>
          <p:cNvSpPr txBox="1"/>
          <p:nvPr/>
        </p:nvSpPr>
        <p:spPr>
          <a:xfrm>
            <a:off x="8109011" y="2196758"/>
            <a:ext cx="219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Step</a:t>
            </a:r>
            <a:r>
              <a:rPr lang="de-DE" sz="2400" dirty="0"/>
              <a:t> </a:t>
            </a:r>
            <a:r>
              <a:rPr lang="de-DE" sz="2400" dirty="0" err="1"/>
              <a:t>response</a:t>
            </a:r>
            <a:r>
              <a:rPr lang="de-DE" sz="2400" dirty="0"/>
              <a:t>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B2F0D34-6EE1-D174-4573-06DCD25D4EB9}"/>
              </a:ext>
            </a:extLst>
          </p:cNvPr>
          <p:cNvSpPr txBox="1"/>
          <p:nvPr/>
        </p:nvSpPr>
        <p:spPr>
          <a:xfrm>
            <a:off x="1822174" y="2919137"/>
            <a:ext cx="290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initial </a:t>
            </a:r>
            <a:r>
              <a:rPr lang="de-DE" dirty="0" err="1"/>
              <a:t>conditions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A5A937E-2605-EEEF-EAE7-DEE8E62144BE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2991678" y="2658286"/>
            <a:ext cx="284922" cy="260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99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CDF7E-657E-71BD-DD8E-8C1DB7E79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28FD1C1-F08D-5C06-5539-E04E99649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71313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Total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= </a:t>
                </a:r>
                <a:r>
                  <a:rPr lang="de-DE" sz="2400" dirty="0" err="1"/>
                  <a:t>forced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particular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+ </a:t>
                </a:r>
                <a:r>
                  <a:rPr lang="de-DE" sz="2400" dirty="0" err="1"/>
                  <a:t>natural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homogeneous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response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Particular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constant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</m:oMath>
                </a14:m>
                <a:r>
                  <a:rPr lang="de-DE" sz="2400" dirty="0"/>
                  <a:t>)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constant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solution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400" b="0" dirty="0"/>
                  <a:t>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</m:oMath>
                </a14:m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Determine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from</a:t>
                </a:r>
                <a:r>
                  <a:rPr lang="de-DE" sz="2400" dirty="0"/>
                  <a:t> initial </a:t>
                </a:r>
                <a:r>
                  <a:rPr lang="de-DE" sz="2400" dirty="0" err="1"/>
                  <a:t>condition</a:t>
                </a:r>
                <a:r>
                  <a:rPr lang="de-DE" sz="2400" dirty="0"/>
                  <a:t> (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r>
                  <a:rPr lang="de-DE" sz="2400" b="0" dirty="0"/>
                  <a:t>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0=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skw"/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28FD1C1-F08D-5C06-5539-E04E99649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71313" cy="4351338"/>
              </a:xfrm>
              <a:blipFill>
                <a:blip r:embed="rId2"/>
                <a:stretch>
                  <a:fillRect l="-594" t="-2616" b="-81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6DFC6-FB07-67FD-CC0C-917D55AB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798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423221-4B10-E8D0-57BB-B791D6A5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Free Fall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Viscous</a:t>
            </a:r>
            <a:r>
              <a:rPr lang="de-DE" dirty="0"/>
              <a:t> </a:t>
            </a:r>
            <a:r>
              <a:rPr lang="de-DE" dirty="0" err="1"/>
              <a:t>Damping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26BE03E-6E22-8F29-7598-2702D1549C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Account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air</a:t>
                </a:r>
                <a:r>
                  <a:rPr lang="de-DE" dirty="0"/>
                  <a:t> </a:t>
                </a:r>
                <a:r>
                  <a:rPr lang="de-DE" dirty="0" err="1"/>
                  <a:t>resistance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PT1 differential </a:t>
                </a:r>
                <a:r>
                  <a:rPr lang="de-DE" dirty="0" err="1">
                    <a:sym typeface="Wingdings" pitchFamily="2" charset="2"/>
                  </a:rPr>
                  <a:t>equation</a:t>
                </a:r>
                <a:r>
                  <a:rPr lang="de-DE" dirty="0">
                    <a:sym typeface="Wingdings" pitchFamily="2" charset="2"/>
                  </a:rPr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26BE03E-6E22-8F29-7598-2702D1549C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8EF9B4-32D6-7E82-33D7-19B3F24F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7382B13-A071-35D6-0933-DC25F2412C2E}"/>
              </a:ext>
            </a:extLst>
          </p:cNvPr>
          <p:cNvSpPr txBox="1"/>
          <p:nvPr/>
        </p:nvSpPr>
        <p:spPr>
          <a:xfrm>
            <a:off x="3263173" y="3198167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damping</a:t>
            </a:r>
            <a:r>
              <a:rPr lang="de-DE" sz="2400" dirty="0"/>
              <a:t> </a:t>
            </a:r>
            <a:r>
              <a:rPr lang="de-DE" sz="2400" dirty="0" err="1"/>
              <a:t>coefficient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AB36FBB-048F-3658-2E36-08349DFAF471}"/>
              </a:ext>
            </a:extLst>
          </p:cNvPr>
          <p:cNvCxnSpPr/>
          <p:nvPr/>
        </p:nvCxnSpPr>
        <p:spPr>
          <a:xfrm flipH="1" flipV="1">
            <a:off x="4429957" y="2698812"/>
            <a:ext cx="248575" cy="470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93CF149-8CEB-E69C-7A3A-DEECB5712E71}"/>
                  </a:ext>
                </a:extLst>
              </p:cNvPr>
              <p:cNvSpPr txBox="1"/>
              <p:nvPr/>
            </p:nvSpPr>
            <p:spPr>
              <a:xfrm>
                <a:off x="3263173" y="5290864"/>
                <a:ext cx="1071980" cy="72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93CF149-8CEB-E69C-7A3A-DEECB5712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173" y="5290864"/>
                <a:ext cx="1071980" cy="725007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B5C074A-7352-F1EA-0A35-745EB30FED07}"/>
                  </a:ext>
                </a:extLst>
              </p:cNvPr>
              <p:cNvSpPr txBox="1"/>
              <p:nvPr/>
            </p:nvSpPr>
            <p:spPr>
              <a:xfrm>
                <a:off x="1514697" y="5290865"/>
                <a:ext cx="1071979" cy="72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6B5C074A-7352-F1EA-0A35-745EB30FE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97" y="5290865"/>
                <a:ext cx="1071979" cy="725007"/>
              </a:xfrm>
              <a:prstGeom prst="rect">
                <a:avLst/>
              </a:prstGeom>
              <a:blipFill>
                <a:blip r:embed="rId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feld 18">
            <a:extLst>
              <a:ext uri="{FF2B5EF4-FFF2-40B4-BE49-F238E27FC236}">
                <a16:creationId xmlns:a16="http://schemas.microsoft.com/office/drawing/2014/main" id="{97729EB0-4957-5719-4182-C48D239F77DB}"/>
              </a:ext>
            </a:extLst>
          </p:cNvPr>
          <p:cNvSpPr txBox="1"/>
          <p:nvPr/>
        </p:nvSpPr>
        <p:spPr>
          <a:xfrm>
            <a:off x="6738151" y="2367170"/>
            <a:ext cx="4971495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200" dirty="0" err="1"/>
              <a:t>Viscous</a:t>
            </a:r>
            <a:r>
              <a:rPr lang="de-DE" sz="2200" dirty="0"/>
              <a:t> </a:t>
            </a:r>
            <a:r>
              <a:rPr lang="de-DE" sz="2200" dirty="0" err="1"/>
              <a:t>damping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a </a:t>
            </a:r>
            <a:r>
              <a:rPr lang="de-DE" sz="2200" i="1" dirty="0" err="1"/>
              <a:t>simplified</a:t>
            </a:r>
            <a:r>
              <a:rPr lang="de-DE" sz="2200" i="1" dirty="0"/>
              <a:t> </a:t>
            </a:r>
            <a:r>
              <a:rPr lang="de-DE" sz="2200" i="1" dirty="0" err="1"/>
              <a:t>model</a:t>
            </a:r>
            <a:r>
              <a:rPr lang="de-DE" sz="2200" dirty="0"/>
              <a:t>.</a:t>
            </a:r>
          </a:p>
          <a:p>
            <a:r>
              <a:rPr lang="de-DE" sz="2200" dirty="0"/>
              <a:t>In </a:t>
            </a:r>
            <a:r>
              <a:rPr lang="de-DE" sz="2200" dirty="0" err="1"/>
              <a:t>reality</a:t>
            </a:r>
            <a:r>
              <a:rPr lang="de-DE" sz="2200" dirty="0"/>
              <a:t>, </a:t>
            </a:r>
            <a:r>
              <a:rPr lang="de-DE" sz="2200" dirty="0" err="1"/>
              <a:t>aerodynamic</a:t>
            </a:r>
            <a:r>
              <a:rPr lang="de-DE" sz="2200" dirty="0"/>
              <a:t> </a:t>
            </a:r>
            <a:r>
              <a:rPr lang="de-DE" sz="2200" dirty="0" err="1"/>
              <a:t>drag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</a:t>
            </a:r>
            <a:r>
              <a:rPr lang="de-DE" sz="2200" dirty="0" err="1"/>
              <a:t>typically</a:t>
            </a:r>
            <a:r>
              <a:rPr lang="de-DE" sz="2200" dirty="0"/>
              <a:t> </a:t>
            </a:r>
            <a:r>
              <a:rPr lang="de-DE" sz="2200" dirty="0" err="1"/>
              <a:t>quadratic</a:t>
            </a:r>
            <a:r>
              <a:rPr lang="de-DE" sz="2200" dirty="0"/>
              <a:t> in </a:t>
            </a:r>
            <a:r>
              <a:rPr lang="de-DE" sz="2200" dirty="0" err="1"/>
              <a:t>velocity</a:t>
            </a:r>
            <a:r>
              <a:rPr lang="de-DE" sz="2200" dirty="0"/>
              <a:t>.</a:t>
            </a:r>
          </a:p>
          <a:p>
            <a:r>
              <a:rPr lang="de-DE" sz="2200" dirty="0"/>
              <a:t>Linear </a:t>
            </a:r>
            <a:r>
              <a:rPr lang="de-DE" sz="2200" dirty="0" err="1"/>
              <a:t>damping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a </a:t>
            </a:r>
            <a:r>
              <a:rPr lang="de-DE" sz="2200" dirty="0" err="1"/>
              <a:t>good</a:t>
            </a:r>
            <a:r>
              <a:rPr lang="de-DE" sz="2200" dirty="0"/>
              <a:t> </a:t>
            </a:r>
            <a:r>
              <a:rPr lang="de-DE" sz="2200" dirty="0" err="1"/>
              <a:t>approximation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small</a:t>
            </a:r>
            <a:r>
              <a:rPr lang="de-DE" sz="2200" dirty="0"/>
              <a:t> </a:t>
            </a:r>
            <a:r>
              <a:rPr lang="de-DE" sz="2200" dirty="0" err="1"/>
              <a:t>velocities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</a:t>
            </a:r>
            <a:r>
              <a:rPr lang="de-DE" sz="2200" dirty="0" err="1"/>
              <a:t>near</a:t>
            </a:r>
            <a:r>
              <a:rPr lang="de-DE" sz="2200" dirty="0"/>
              <a:t> an </a:t>
            </a:r>
            <a:r>
              <a:rPr lang="de-DE" sz="2200" dirty="0" err="1"/>
              <a:t>operating</a:t>
            </a:r>
            <a:r>
              <a:rPr lang="de-DE" sz="2200" dirty="0"/>
              <a:t> </a:t>
            </a:r>
            <a:r>
              <a:rPr lang="de-DE" sz="2200" dirty="0" err="1"/>
              <a:t>point</a:t>
            </a:r>
            <a:r>
              <a:rPr lang="de-DE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0542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30C12-584A-A316-C9D4-0FE928D5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RC and RL </a:t>
            </a:r>
            <a:r>
              <a:rPr lang="de-DE" dirty="0" err="1"/>
              <a:t>Circuits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EE055E8-9FEF-2BBD-8427-BDAA20EA01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Transient </a:t>
                </a:r>
                <a:r>
                  <a:rPr lang="de-DE" dirty="0" err="1"/>
                  <a:t>responses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switching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Capacitor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dirty="0"/>
                  <a:t>		</a:t>
                </a:r>
                <a:r>
                  <a:rPr lang="de-DE" dirty="0" err="1"/>
                  <a:t>Inductor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e-DE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But </a:t>
                </a:r>
                <a:r>
                  <a:rPr lang="de-DE" dirty="0" err="1"/>
                  <a:t>circuits</a:t>
                </a:r>
                <a:r>
                  <a:rPr lang="de-DE" dirty="0"/>
                  <a:t> </a:t>
                </a:r>
                <a:r>
                  <a:rPr lang="de-DE" dirty="0" err="1"/>
                  <a:t>without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not </a:t>
                </a:r>
                <a:r>
                  <a:rPr lang="de-DE" dirty="0" err="1"/>
                  <a:t>physically</a:t>
                </a:r>
                <a:r>
                  <a:rPr lang="de-DE" dirty="0"/>
                  <a:t> </a:t>
                </a:r>
                <a:r>
                  <a:rPr lang="de-DE" dirty="0" err="1"/>
                  <a:t>realizable</a:t>
                </a:r>
                <a:r>
                  <a:rPr lang="de-DE" dirty="0"/>
                  <a:t> (e.g., </a:t>
                </a:r>
                <a:r>
                  <a:rPr lang="de-DE" dirty="0" err="1"/>
                  <a:t>charging</a:t>
                </a:r>
                <a:r>
                  <a:rPr lang="de-DE" dirty="0"/>
                  <a:t> a </a:t>
                </a:r>
                <a:r>
                  <a:rPr lang="de-DE" dirty="0" err="1"/>
                  <a:t>capacitor</a:t>
                </a:r>
                <a:r>
                  <a:rPr lang="de-DE" dirty="0"/>
                  <a:t> </a:t>
                </a:r>
                <a:r>
                  <a:rPr lang="de-DE" dirty="0" err="1"/>
                  <a:t>would</a:t>
                </a:r>
                <a:r>
                  <a:rPr lang="de-DE" dirty="0"/>
                  <a:t> </a:t>
                </a:r>
                <a:r>
                  <a:rPr lang="de-DE" dirty="0" err="1"/>
                  <a:t>require</a:t>
                </a:r>
                <a:r>
                  <a:rPr lang="de-DE" dirty="0"/>
                  <a:t> infinite </a:t>
                </a:r>
                <a:r>
                  <a:rPr lang="de-DE" dirty="0" err="1"/>
                  <a:t>current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damping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EE055E8-9FEF-2BBD-8427-BDAA20EA01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B132ED-5848-080C-9214-21C2C268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139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D69A32-47DF-5904-A480-63E4852F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E8F4DA-C1BD-95F0-7B52-E2CF7188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62CE27-98C4-F52E-FACC-82F53235DA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844" y="2373207"/>
            <a:ext cx="5891038" cy="3918446"/>
          </a:xfrm>
          <a:prstGeom prst="rect">
            <a:avLst/>
          </a:prstGeom>
          <a:noFill/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27E921-17DC-5B89-6552-62E53226D8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11" y="4457416"/>
            <a:ext cx="2247900" cy="1288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3156313" cy="12573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E9D9C505-45C5-8E94-9A95-BDAB5BB4B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3156313" cy="1257395"/>
              </a:xfrm>
              <a:prstGeom prst="rect">
                <a:avLst/>
              </a:prstGeom>
              <a:blipFill>
                <a:blip r:embed="rId4"/>
                <a:stretch>
                  <a:fillRect l="-3213" t="-2970" b="-693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/>
              <p:nvPr/>
            </p:nvSpPr>
            <p:spPr>
              <a:xfrm>
                <a:off x="2669318" y="4322588"/>
                <a:ext cx="2333297" cy="2024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de-DE" dirty="0"/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081F9BD-6B9D-50CA-23C4-1CCADACB2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318" y="4322588"/>
                <a:ext cx="2333297" cy="2024850"/>
              </a:xfrm>
              <a:prstGeom prst="rect">
                <a:avLst/>
              </a:prstGeom>
              <a:blipFill>
                <a:blip r:embed="rId5"/>
                <a:stretch>
                  <a:fillRect b="-6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9D95278F-E329-6A44-6095-36318FA88B35}"/>
              </a:ext>
            </a:extLst>
          </p:cNvPr>
          <p:cNvSpPr txBox="1"/>
          <p:nvPr/>
        </p:nvSpPr>
        <p:spPr>
          <a:xfrm>
            <a:off x="658799" y="3883472"/>
            <a:ext cx="4395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DC: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EE26FF0-1D96-8482-E5BE-DC47C347DA70}"/>
              </a:ext>
            </a:extLst>
          </p:cNvPr>
          <p:cNvSpPr txBox="1"/>
          <p:nvPr/>
        </p:nvSpPr>
        <p:spPr>
          <a:xfrm>
            <a:off x="5833241" y="1607161"/>
            <a:ext cx="6153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Transients</a:t>
            </a:r>
            <a:r>
              <a:rPr lang="de-DE" dirty="0"/>
              <a:t>: time-</a:t>
            </a:r>
            <a:r>
              <a:rPr lang="de-DE" dirty="0" err="1"/>
              <a:t>varying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and </a:t>
            </a:r>
            <a:r>
              <a:rPr lang="de-DE" dirty="0" err="1"/>
              <a:t>voltages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sudden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(</a:t>
            </a:r>
            <a:r>
              <a:rPr lang="de-DE" dirty="0" err="1"/>
              <a:t>usually</a:t>
            </a:r>
            <a:r>
              <a:rPr lang="de-DE" dirty="0"/>
              <a:t> 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switching</a:t>
            </a:r>
            <a:r>
              <a:rPr lang="de-DE" dirty="0"/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E1E26F3-84BA-69A9-1773-6AAD3B2032AA}"/>
              </a:ext>
            </a:extLst>
          </p:cNvPr>
          <p:cNvSpPr txBox="1"/>
          <p:nvPr/>
        </p:nvSpPr>
        <p:spPr>
          <a:xfrm>
            <a:off x="8943553" y="4528367"/>
            <a:ext cx="3140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latin typeface="Helvetica Neue" panose="02000503000000020004" pitchFamily="2" charset="0"/>
              </a:rPr>
              <a:t>S</a:t>
            </a:r>
            <a:r>
              <a:rPr lang="de-DE" dirty="0">
                <a:effectLst/>
                <a:latin typeface="Helvetica Neue" panose="02000503000000020004" pitchFamily="2" charset="0"/>
              </a:rPr>
              <a:t>teady-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capacitances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open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4640157-B0C5-0AFE-4F26-6605122EEABF}"/>
                  </a:ext>
                </a:extLst>
              </p:cNvPr>
              <p:cNvSpPr txBox="1"/>
              <p:nvPr/>
            </p:nvSpPr>
            <p:spPr>
              <a:xfrm>
                <a:off x="1004436" y="3028287"/>
                <a:ext cx="11785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D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4640157-B0C5-0AFE-4F26-6605122EE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36" y="3028287"/>
                <a:ext cx="1178511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91A73A7A-B02A-A7C0-D575-7EBF1C516EB0}"/>
              </a:ext>
            </a:extLst>
          </p:cNvPr>
          <p:cNvSpPr/>
          <p:nvPr/>
        </p:nvSpPr>
        <p:spPr>
          <a:xfrm rot="16200000">
            <a:off x="1479372" y="2640952"/>
            <a:ext cx="221942" cy="6286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6028E28-1859-2A78-E6E6-7C4D389D6B5F}"/>
                  </a:ext>
                </a:extLst>
              </p:cNvPr>
              <p:cNvSpPr txBox="1"/>
              <p:nvPr/>
            </p:nvSpPr>
            <p:spPr>
              <a:xfrm>
                <a:off x="3407613" y="3065193"/>
                <a:ext cx="8567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6028E28-1859-2A78-E6E6-7C4D389D6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613" y="3065193"/>
                <a:ext cx="856709" cy="369332"/>
              </a:xfrm>
              <a:prstGeom prst="rect">
                <a:avLst/>
              </a:prstGeom>
              <a:blipFill>
                <a:blip r:embed="rId7"/>
                <a:stretch>
                  <a:fillRect l="-8824" r="-8824" b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CE9CC08-EAF7-7515-D31D-960C82E60FA9}"/>
              </a:ext>
            </a:extLst>
          </p:cNvPr>
          <p:cNvCxnSpPr>
            <a:cxnSpLocks/>
          </p:cNvCxnSpPr>
          <p:nvPr/>
        </p:nvCxnSpPr>
        <p:spPr>
          <a:xfrm flipV="1">
            <a:off x="4951099" y="5101623"/>
            <a:ext cx="2997035" cy="186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78ED37F-09D4-5A3E-27C6-456BDF76254C}"/>
              </a:ext>
            </a:extLst>
          </p:cNvPr>
          <p:cNvCxnSpPr/>
          <p:nvPr/>
        </p:nvCxnSpPr>
        <p:spPr>
          <a:xfrm>
            <a:off x="4776186" y="4598633"/>
            <a:ext cx="1873189" cy="346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FCAA1B82-32F1-DCD9-AF6D-0CC43E7B3683}"/>
              </a:ext>
            </a:extLst>
          </p:cNvPr>
          <p:cNvSpPr txBox="1"/>
          <p:nvPr/>
        </p:nvSpPr>
        <p:spPr>
          <a:xfrm>
            <a:off x="1382011" y="3429000"/>
            <a:ext cx="2096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D034787-9C10-7291-77A5-4987A4D1B7B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273303" y="3405402"/>
            <a:ext cx="108708" cy="208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1997420-88D3-368E-F1F0-8287902CEC0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478162" y="3397030"/>
            <a:ext cx="38180" cy="216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82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7E41B-764F-49AA-4B91-2ED2CB2C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RC Series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D68C110-C1DC-DEB3-5F70-353FFFE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21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7EF0147-E09A-C757-2848-3B62C0983B8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529" y="2528069"/>
            <a:ext cx="2404745" cy="137858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22CA677-64AB-399D-E770-A7E62840F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19108"/>
            <a:ext cx="5633670" cy="3998367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4D38FDF-7428-CA03-27D8-3089CC70A0EA}"/>
              </a:ext>
            </a:extLst>
          </p:cNvPr>
          <p:cNvSpPr txBox="1"/>
          <p:nvPr/>
        </p:nvSpPr>
        <p:spPr>
          <a:xfrm>
            <a:off x="988149" y="1967321"/>
            <a:ext cx="3732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Discharging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capacitor</a:t>
            </a:r>
            <a:r>
              <a:rPr lang="de-DE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28B8BB7-47D6-8E42-9F7A-6ED1633DF8A7}"/>
                  </a:ext>
                </a:extLst>
              </p:cNvPr>
              <p:cNvSpPr txBox="1"/>
              <p:nvPr/>
            </p:nvSpPr>
            <p:spPr>
              <a:xfrm>
                <a:off x="838200" y="4191147"/>
                <a:ext cx="5257800" cy="2168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400" dirty="0"/>
                  <a:t>Differential </a:t>
                </a:r>
                <a:r>
                  <a:rPr lang="de-DE" sz="2400" dirty="0" err="1"/>
                  <a:t>equation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400" dirty="0"/>
              </a:p>
              <a:p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𝑅𝐶</m:t>
                      </m:r>
                    </m:oMath>
                  </m:oMathPara>
                </a14:m>
                <a:endParaRPr lang="de-DE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de-DE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r>
                  <a:rPr lang="de-DE" sz="2400" dirty="0"/>
                  <a:t>	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de-DE" sz="240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4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A28B8BB7-47D6-8E42-9F7A-6ED1633DF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91147"/>
                <a:ext cx="5257800" cy="2168094"/>
              </a:xfrm>
              <a:prstGeom prst="rect">
                <a:avLst/>
              </a:prstGeom>
              <a:blipFill>
                <a:blip r:embed="rId4"/>
                <a:stretch>
                  <a:fillRect l="-1928" t="-2924" b="-5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216CE4A-10C7-7B61-9B50-883AF76637E0}"/>
                  </a:ext>
                </a:extLst>
              </p:cNvPr>
              <p:cNvSpPr txBox="1"/>
              <p:nvPr/>
            </p:nvSpPr>
            <p:spPr>
              <a:xfrm>
                <a:off x="1559017" y="6488668"/>
                <a:ext cx="6813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sz="18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216CE4A-10C7-7B61-9B50-883AF7663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017" y="6488668"/>
                <a:ext cx="681361" cy="369332"/>
              </a:xfrm>
              <a:prstGeom prst="rect">
                <a:avLst/>
              </a:prstGeom>
              <a:blipFill>
                <a:blip r:embed="rId5"/>
                <a:stretch>
                  <a:fillRect r="-1272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11506DD-CCC5-9707-C425-D42EF0B7E3C4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1796495" y="6205491"/>
            <a:ext cx="103203" cy="283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E61444F-6849-4F70-8A77-8BB308EDFCC3}"/>
              </a:ext>
            </a:extLst>
          </p:cNvPr>
          <p:cNvCxnSpPr/>
          <p:nvPr/>
        </p:nvCxnSpPr>
        <p:spPr>
          <a:xfrm flipV="1">
            <a:off x="2760955" y="3062796"/>
            <a:ext cx="4039340" cy="2885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A5406DC-8FBD-AC9D-C192-78C2D0255AE2}"/>
              </a:ext>
            </a:extLst>
          </p:cNvPr>
          <p:cNvCxnSpPr/>
          <p:nvPr/>
        </p:nvCxnSpPr>
        <p:spPr>
          <a:xfrm flipV="1">
            <a:off x="5504155" y="5370990"/>
            <a:ext cx="1074198" cy="577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EE19ACA-9F3E-796A-A0A9-2F84F5A9B017}"/>
                  </a:ext>
                </a:extLst>
              </p:cNvPr>
              <p:cNvSpPr txBox="1"/>
              <p:nvPr/>
            </p:nvSpPr>
            <p:spPr>
              <a:xfrm>
                <a:off x="3600888" y="6488668"/>
                <a:ext cx="7967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9EE19ACA-9F3E-796A-A0A9-2F84F5A9B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888" y="6488668"/>
                <a:ext cx="79677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FE24FE4-7EDA-2BB4-0E16-E1A26B92CF45}"/>
              </a:ext>
            </a:extLst>
          </p:cNvPr>
          <p:cNvCxnSpPr>
            <a:stCxn id="18" idx="0"/>
          </p:cNvCxnSpPr>
          <p:nvPr/>
        </p:nvCxnSpPr>
        <p:spPr>
          <a:xfrm flipV="1">
            <a:off x="3999274" y="6117475"/>
            <a:ext cx="0" cy="371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7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AC83-87A6-27B7-70BB-27DD4934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ADA4F-AD89-9FED-24A4-711582C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Transient Responses: RL Parallel Circuit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13AD2B-7B82-FCF6-2807-C1F970D3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3FC7C-1F2C-4946-B702-1A52A755583B}" type="slidenum">
              <a:rPr lang="de-DE" smtClean="0"/>
              <a:t>22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/>
              <p:nvPr/>
            </p:nvSpPr>
            <p:spPr>
              <a:xfrm>
                <a:off x="3338560" y="1945489"/>
                <a:ext cx="2154372" cy="17849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e-DE" sz="2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de-DE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𝑢</m:t>
                        </m:r>
                      </m:num>
                      <m:den>
                        <m:r>
                          <a:rPr lang="de-DE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𝑅</m:t>
                        </m:r>
                      </m:den>
                    </m:f>
                    <m:r>
                      <a:rPr lang="de-DE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de-DE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e-DE" sz="2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de-DE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𝐿</m:t>
                        </m:r>
                      </m:num>
                      <m:den>
                        <m: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𝑅</m:t>
                        </m:r>
                      </m:den>
                    </m:f>
                    <m:r>
                      <a:rPr lang="de-D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∙</m:t>
                    </m:r>
                    <m:f>
                      <m:fPr>
                        <m:ctrlPr>
                          <a:rPr lang="de-D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de-D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𝑑</m:t>
                        </m:r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𝑖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de-DE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𝑑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</m:den>
                    </m:f>
                    <m:r>
                      <a:rPr lang="de-DE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de-DE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BE91921-29E3-B023-E958-EECDE178B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560" y="1945489"/>
                <a:ext cx="2154372" cy="1784976"/>
              </a:xfrm>
              <a:prstGeom prst="rect">
                <a:avLst/>
              </a:prstGeom>
              <a:blipFill>
                <a:blip r:embed="rId2"/>
                <a:stretch>
                  <a:fillRect l="-3529" b="-212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/>
              <p:nvPr/>
            </p:nvSpPr>
            <p:spPr>
              <a:xfrm>
                <a:off x="838200" y="4099559"/>
                <a:ext cx="4654732" cy="1854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𝜏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de-DE" i="1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itchFamily="2" charset="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  <a:sym typeface="Wingdings" pitchFamily="2" charset="2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D1A79A-6AE0-F261-CE0A-FFABA2E13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99559"/>
                <a:ext cx="4654732" cy="1854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4D827BEA-C117-4EF1-823D-2D622076B978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51" y="1810225"/>
            <a:ext cx="2865120" cy="192024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2EF7041-D9E8-32D1-622F-8897AF3F6A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621" y="2156459"/>
            <a:ext cx="6273800" cy="3886200"/>
          </a:xfrm>
          <a:prstGeom prst="rect">
            <a:avLst/>
          </a:prstGeom>
          <a:noFill/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669E235-5F62-2F64-0ABE-D0395E3B0C2D}"/>
              </a:ext>
            </a:extLst>
          </p:cNvPr>
          <p:cNvSpPr txBox="1"/>
          <p:nvPr/>
        </p:nvSpPr>
        <p:spPr>
          <a:xfrm>
            <a:off x="8935278" y="2770345"/>
            <a:ext cx="31239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>
                <a:latin typeface="Helvetica Neue" panose="02000503000000020004" pitchFamily="2" charset="0"/>
              </a:rPr>
              <a:t>S</a:t>
            </a:r>
            <a:r>
              <a:rPr lang="de-DE" dirty="0">
                <a:effectLst/>
                <a:latin typeface="Helvetica Neue" panose="02000503000000020004" pitchFamily="2" charset="0"/>
              </a:rPr>
              <a:t>teady-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state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conditions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with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>
                <a:latin typeface="Helvetica Neue" panose="02000503000000020004" pitchFamily="2" charset="0"/>
              </a:rPr>
              <a:t>DC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sources</a:t>
            </a:r>
            <a:r>
              <a:rPr lang="de-DE" dirty="0">
                <a:latin typeface="Helvetica Neue" panose="02000503000000020004" pitchFamily="2" charset="0"/>
              </a:rPr>
              <a:t>: </a:t>
            </a:r>
            <a:r>
              <a:rPr lang="de-DE" dirty="0" err="1">
                <a:latin typeface="Helvetica Neue" panose="02000503000000020004" pitchFamily="2" charset="0"/>
              </a:rPr>
              <a:t>inductances</a:t>
            </a:r>
            <a:r>
              <a:rPr lang="de-DE" dirty="0"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behave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as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short</a:t>
            </a:r>
            <a:r>
              <a:rPr lang="de-DE" dirty="0">
                <a:effectLst/>
                <a:latin typeface="Helvetica Neue" panose="02000503000000020004" pitchFamily="2" charset="0"/>
              </a:rPr>
              <a:t> </a:t>
            </a:r>
            <a:r>
              <a:rPr lang="de-DE" dirty="0" err="1">
                <a:effectLst/>
                <a:latin typeface="Helvetica Neue" panose="02000503000000020004" pitchFamily="2" charset="0"/>
              </a:rPr>
              <a:t>circuits</a:t>
            </a:r>
            <a:endParaRPr lang="de-DE" dirty="0">
              <a:effectLst/>
              <a:latin typeface="Helvetica Neue" panose="02000503000000020004" pitchFamily="2" charset="0"/>
            </a:endParaRP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91526E5C-507A-628B-3BF1-4FEFAE95D054}"/>
              </a:ext>
            </a:extLst>
          </p:cNvPr>
          <p:cNvCxnSpPr>
            <a:cxnSpLocks/>
          </p:cNvCxnSpPr>
          <p:nvPr/>
        </p:nvCxnSpPr>
        <p:spPr>
          <a:xfrm>
            <a:off x="4421080" y="4358936"/>
            <a:ext cx="1908699" cy="426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4AF2DEF-F3C4-E0F1-57FD-B435CDECB4DF}"/>
              </a:ext>
            </a:extLst>
          </p:cNvPr>
          <p:cNvCxnSpPr/>
          <p:nvPr/>
        </p:nvCxnSpPr>
        <p:spPr>
          <a:xfrm flipV="1">
            <a:off x="3338560" y="5024761"/>
            <a:ext cx="4704609" cy="62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31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1665C22-EB67-009B-48E2-4F112F3F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035" y="2502734"/>
            <a:ext cx="5320965" cy="40369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E787393-544D-703C-713F-00B09CCF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Second-Order Systems (PT2)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4AE596-18C7-3B34-C44D-8A40912DE6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14133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 err="1"/>
                  <a:t>Two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energy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storage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elements</a:t>
                </a:r>
                <a:r>
                  <a:rPr lang="de-DE" sz="2200" dirty="0"/>
                  <a:t> (</a:t>
                </a:r>
                <a:r>
                  <a:rPr lang="de-DE" sz="2200" dirty="0">
                    <a:sym typeface="Wingdings" pitchFamily="2" charset="2"/>
                  </a:rPr>
                  <a:t> 2</a:t>
                </a:r>
                <a:r>
                  <a:rPr lang="de-DE" sz="22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l-G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lang="el-GR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el-G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de-DE" sz="22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de-DE" sz="2200" i="1">
                          <a:latin typeface="Cambria Math" panose="02040503050406030204" pitchFamily="18" charset="0"/>
                        </a:rPr>
                        <m:t>𝐾𝑢</m:t>
                      </m:r>
                    </m:oMath>
                  </m:oMathPara>
                </a14:m>
                <a:endParaRPr lang="de-DE" sz="2200" dirty="0"/>
              </a:p>
              <a:p>
                <a:pPr marL="0" indent="0">
                  <a:buNone/>
                </a:pPr>
                <a:r>
                  <a:rPr lang="de-DE" sz="2200" dirty="0" err="1"/>
                  <a:t>Three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system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parameters</a:t>
                </a:r>
                <a:r>
                  <a:rPr lang="de-DE" sz="2200" dirty="0"/>
                  <a:t>:</a:t>
                </a:r>
              </a:p>
              <a:p>
                <a:r>
                  <a:rPr lang="de-DE" sz="2200" dirty="0"/>
                  <a:t>Natural </a:t>
                </a:r>
                <a:r>
                  <a:rPr lang="de-DE" sz="2200" dirty="0" err="1"/>
                  <a:t>frequency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sz="2200" dirty="0"/>
              </a:p>
              <a:p>
                <a:r>
                  <a:rPr lang="de-DE" sz="2200" dirty="0" err="1"/>
                  <a:t>Damping</a:t>
                </a:r>
                <a:r>
                  <a:rPr lang="de-DE" sz="2200" dirty="0"/>
                  <a:t> </a:t>
                </a:r>
                <a:r>
                  <a:rPr lang="de-DE" sz="2200" dirty="0" err="1"/>
                  <a:t>ratio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el-G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endParaRPr lang="de-DE" sz="2200" dirty="0">
                  <a:ea typeface="Cambria Math" panose="02040503050406030204" pitchFamily="18" charset="0"/>
                </a:endParaRPr>
              </a:p>
              <a:p>
                <a:r>
                  <a:rPr lang="de-DE" sz="2200" dirty="0"/>
                  <a:t>Static (DC) </a:t>
                </a:r>
                <a:r>
                  <a:rPr lang="de-DE" sz="2200" dirty="0" err="1"/>
                  <a:t>gain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in PT1):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(∞)</m:t>
                        </m:r>
                      </m:num>
                      <m:den>
                        <m:sSub>
                          <m:sSubPr>
                            <m:ctrlPr>
                              <a:rPr lang="de-DE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2200" b="0" i="0" smtClean="0">
                                <a:latin typeface="Cambria Math" panose="02040503050406030204" pitchFamily="18" charset="0"/>
                              </a:rPr>
                              <m:t>step</m:t>
                            </m:r>
                          </m:sub>
                        </m:sSub>
                      </m:den>
                    </m:f>
                  </m:oMath>
                </a14:m>
                <a:endParaRPr lang="de-DE" sz="2200" dirty="0"/>
              </a:p>
              <a:p>
                <a:pPr marL="0" indent="0">
                  <a:buNone/>
                </a:pPr>
                <a:r>
                  <a:rPr lang="de-DE" sz="2200" dirty="0"/>
                  <a:t>Different </a:t>
                </a:r>
                <a:r>
                  <a:rPr lang="de-DE" sz="2200" dirty="0" err="1"/>
                  <a:t>cases</a:t>
                </a:r>
                <a:r>
                  <a:rPr lang="de-DE" sz="2200" dirty="0"/>
                  <a:t>:</a:t>
                </a:r>
              </a:p>
              <a:p>
                <a:r>
                  <a:rPr lang="de-DE" sz="2200" dirty="0" err="1"/>
                  <a:t>Underdamped</a:t>
                </a:r>
                <a:r>
                  <a:rPr lang="de-DE" sz="2200" dirty="0"/>
                  <a:t> (</a:t>
                </a:r>
                <a14:m>
                  <m:oMath xmlns:m="http://schemas.openxmlformats.org/officeDocument/2006/math">
                    <m: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de-DE" sz="2200" dirty="0"/>
                  <a:t>)</a:t>
                </a:r>
              </a:p>
              <a:p>
                <a:r>
                  <a:rPr lang="de-DE" sz="2200" dirty="0" err="1"/>
                  <a:t>Critically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damped</a:t>
                </a:r>
                <a:r>
                  <a:rPr lang="de-DE" sz="2200" dirty="0"/>
                  <a:t> (</a:t>
                </a:r>
                <a14:m>
                  <m:oMath xmlns:m="http://schemas.openxmlformats.org/officeDocument/2006/math">
                    <m: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200" dirty="0"/>
                  <a:t>)</a:t>
                </a:r>
              </a:p>
              <a:p>
                <a:r>
                  <a:rPr lang="de-DE" sz="2200" dirty="0" err="1"/>
                  <a:t>Overdamped</a:t>
                </a:r>
                <a:r>
                  <a:rPr lang="de-DE" sz="2200" dirty="0"/>
                  <a:t> (</a:t>
                </a:r>
                <a14:m>
                  <m:oMath xmlns:m="http://schemas.openxmlformats.org/officeDocument/2006/math">
                    <m: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de-DE" sz="2200" dirty="0"/>
                  <a:t>)</a:t>
                </a:r>
                <a:endParaRPr lang="de-DE" sz="2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64AE596-18C7-3B34-C44D-8A40912DE6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14133" cy="4351338"/>
              </a:xfrm>
              <a:blipFill>
                <a:blip r:embed="rId3"/>
                <a:stretch>
                  <a:fillRect l="-1310" t="-1744" b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3C8AB7-4D08-3D96-5BB4-B17DE1DB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56320B-2818-6510-4502-4DB6537AD73D}"/>
              </a:ext>
            </a:extLst>
          </p:cNvPr>
          <p:cNvSpPr txBox="1"/>
          <p:nvPr/>
        </p:nvSpPr>
        <p:spPr>
          <a:xfrm>
            <a:off x="4708683" y="5530957"/>
            <a:ext cx="1826847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 err="1"/>
              <a:t>no</a:t>
            </a:r>
            <a:r>
              <a:rPr lang="de-DE" sz="2200" dirty="0"/>
              <a:t> </a:t>
            </a:r>
            <a:r>
              <a:rPr lang="de-DE" sz="2200" dirty="0" err="1"/>
              <a:t>oscillation</a:t>
            </a:r>
            <a:endParaRPr lang="de-DE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14BA3E7-B1DE-A23D-A982-D4557F0A5B4E}"/>
                  </a:ext>
                </a:extLst>
              </p:cNvPr>
              <p:cNvSpPr txBox="1"/>
              <p:nvPr/>
            </p:nvSpPr>
            <p:spPr>
              <a:xfrm>
                <a:off x="10728693" y="4282548"/>
                <a:ext cx="1013867" cy="1132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step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14BA3E7-B1DE-A23D-A982-D4557F0A5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693" y="4282548"/>
                <a:ext cx="1013867" cy="1132682"/>
              </a:xfrm>
              <a:prstGeom prst="rect">
                <a:avLst/>
              </a:prstGeom>
              <a:blipFill>
                <a:blip r:embed="rId4"/>
                <a:stretch>
                  <a:fillRect r="-2469"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625A4EF2-83A6-7152-8219-C2E15053E92A}"/>
              </a:ext>
            </a:extLst>
          </p:cNvPr>
          <p:cNvSpPr txBox="1"/>
          <p:nvPr/>
        </p:nvSpPr>
        <p:spPr>
          <a:xfrm>
            <a:off x="8109011" y="2196758"/>
            <a:ext cx="219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Step</a:t>
            </a:r>
            <a:r>
              <a:rPr lang="de-DE" sz="2400" dirty="0"/>
              <a:t> </a:t>
            </a:r>
            <a:r>
              <a:rPr lang="de-DE" sz="2400" dirty="0" err="1"/>
              <a:t>response</a:t>
            </a:r>
            <a:r>
              <a:rPr lang="de-DE" sz="2400" dirty="0"/>
              <a:t>: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9A65622-FAD6-EC72-FDA9-8102A842392D}"/>
              </a:ext>
            </a:extLst>
          </p:cNvPr>
          <p:cNvSpPr txBox="1"/>
          <p:nvPr/>
        </p:nvSpPr>
        <p:spPr>
          <a:xfrm>
            <a:off x="6314709" y="1479977"/>
            <a:ext cx="32583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 err="1">
                <a:sym typeface="Wingdings" pitchFamily="2" charset="2"/>
              </a:rPr>
              <a:t>c</a:t>
            </a:r>
            <a:r>
              <a:rPr lang="de-DE" sz="2600" dirty="0" err="1"/>
              <a:t>an</a:t>
            </a:r>
            <a:r>
              <a:rPr lang="de-DE" sz="2600" dirty="0"/>
              <a:t> </a:t>
            </a:r>
            <a:r>
              <a:rPr lang="de-DE" sz="2600" dirty="0" err="1"/>
              <a:t>show</a:t>
            </a:r>
            <a:r>
              <a:rPr lang="de-DE" sz="2600" dirty="0"/>
              <a:t> </a:t>
            </a:r>
            <a:r>
              <a:rPr lang="de-DE" sz="2600" dirty="0" err="1"/>
              <a:t>oscillations</a:t>
            </a:r>
            <a:endParaRPr lang="de-DE" sz="26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B891784-3A1A-3653-2FB1-A581B87A8CF2}"/>
              </a:ext>
            </a:extLst>
          </p:cNvPr>
          <p:cNvCxnSpPr>
            <a:stCxn id="13" idx="2"/>
          </p:cNvCxnSpPr>
          <p:nvPr/>
        </p:nvCxnSpPr>
        <p:spPr>
          <a:xfrm>
            <a:off x="7943898" y="1972420"/>
            <a:ext cx="742902" cy="1585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Geschweifte Klammer rechts 16">
            <a:extLst>
              <a:ext uri="{FF2B5EF4-FFF2-40B4-BE49-F238E27FC236}">
                <a16:creationId xmlns:a16="http://schemas.microsoft.com/office/drawing/2014/main" id="{F154D3ED-D893-DC64-A985-205C26711EC2}"/>
              </a:ext>
            </a:extLst>
          </p:cNvPr>
          <p:cNvSpPr/>
          <p:nvPr/>
        </p:nvSpPr>
        <p:spPr>
          <a:xfrm>
            <a:off x="4448430" y="5375474"/>
            <a:ext cx="262718" cy="7617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20181E0-59B5-360F-5C78-FB120AC905D1}"/>
              </a:ext>
            </a:extLst>
          </p:cNvPr>
          <p:cNvSpPr txBox="1"/>
          <p:nvPr/>
        </p:nvSpPr>
        <p:spPr>
          <a:xfrm>
            <a:off x="7943898" y="140852"/>
            <a:ext cx="408451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000" dirty="0"/>
              <a:t>Series </a:t>
            </a:r>
            <a:r>
              <a:rPr lang="de-DE" sz="2000" dirty="0" err="1"/>
              <a:t>connection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two</a:t>
            </a:r>
            <a:r>
              <a:rPr lang="de-DE" sz="2000" dirty="0"/>
              <a:t> PT1:</a:t>
            </a:r>
          </a:p>
          <a:p>
            <a:r>
              <a:rPr lang="de-DE" sz="2000" dirty="0"/>
              <a:t>Time </a:t>
            </a:r>
            <a:r>
              <a:rPr lang="de-DE" sz="2000" dirty="0" err="1"/>
              <a:t>constants</a:t>
            </a:r>
            <a:r>
              <a:rPr lang="de-DE" sz="2000" dirty="0"/>
              <a:t> </a:t>
            </a:r>
            <a:r>
              <a:rPr lang="de-DE" sz="2000" dirty="0" err="1"/>
              <a:t>determine</a:t>
            </a:r>
            <a:r>
              <a:rPr lang="de-DE" sz="2000" dirty="0"/>
              <a:t> </a:t>
            </a:r>
            <a:r>
              <a:rPr lang="de-DE" sz="2000" dirty="0" err="1"/>
              <a:t>behavior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535768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9C8FDDD-72B7-CFB2-F3D3-6580A501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035" y="2502734"/>
            <a:ext cx="5320965" cy="40369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357712D-DFBC-0822-6D6F-56495DAD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Solution </a:t>
            </a:r>
            <a:r>
              <a:rPr lang="de-DE" dirty="0" err="1"/>
              <a:t>for</a:t>
            </a:r>
            <a:r>
              <a:rPr lang="de-DE" dirty="0"/>
              <a:t> PT2 Differential </a:t>
            </a:r>
            <a:r>
              <a:rPr lang="de-DE" dirty="0" err="1"/>
              <a:t>Equation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F15533-66FD-0B73-809B-3CC2997EB2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15975" cy="361942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Unforced (</a:t>
                </a:r>
                <a:r>
                  <a:rPr lang="de-DE" dirty="0" err="1"/>
                  <a:t>natural</a:t>
                </a:r>
                <a:r>
                  <a:rPr lang="de-DE" dirty="0"/>
                  <a:t>):  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Forced</a:t>
                </a:r>
                <a:r>
                  <a:rPr lang="de-DE" dirty="0"/>
                  <a:t>: </a:t>
                </a:r>
                <a:r>
                  <a:rPr lang="de-DE" dirty="0"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𝐾𝑢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At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step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r>
                  <a:rPr lang="de-DE" dirty="0"/>
                  <a:t>Initial </a:t>
                </a:r>
                <a:r>
                  <a:rPr lang="de-DE" dirty="0" err="1"/>
                  <a:t>conditions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F15533-66FD-0B73-809B-3CC2997EB2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15975" cy="3619422"/>
              </a:xfrm>
              <a:blipFill>
                <a:blip r:embed="rId3"/>
                <a:stretch>
                  <a:fillRect l="-1660" t="-38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9FCFF3-389C-63F2-EDD7-3F722D48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396D852-88F3-8822-B9E3-4672979528BF}"/>
                  </a:ext>
                </a:extLst>
              </p:cNvPr>
              <p:cNvSpPr txBox="1"/>
              <p:nvPr/>
            </p:nvSpPr>
            <p:spPr>
              <a:xfrm>
                <a:off x="10728693" y="4282548"/>
                <a:ext cx="1013867" cy="1132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b="0" dirty="0"/>
              </a:p>
              <a:p>
                <a:endParaRPr lang="de-D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step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396D852-88F3-8822-B9E3-467297952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693" y="4282548"/>
                <a:ext cx="1013867" cy="1132682"/>
              </a:xfrm>
              <a:prstGeom prst="rect">
                <a:avLst/>
              </a:prstGeom>
              <a:blipFill>
                <a:blip r:embed="rId4"/>
                <a:stretch>
                  <a:fillRect r="-2469"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5B84143C-18DB-1FF0-B2E8-03197E28CFCE}"/>
              </a:ext>
            </a:extLst>
          </p:cNvPr>
          <p:cNvSpPr txBox="1"/>
          <p:nvPr/>
        </p:nvSpPr>
        <p:spPr>
          <a:xfrm>
            <a:off x="8109011" y="2196758"/>
            <a:ext cx="21968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Step</a:t>
            </a:r>
            <a:r>
              <a:rPr lang="de-DE" sz="2400" dirty="0"/>
              <a:t> </a:t>
            </a:r>
            <a:r>
              <a:rPr lang="de-DE" sz="2400" dirty="0" err="1"/>
              <a:t>response</a:t>
            </a:r>
            <a:r>
              <a:rPr lang="de-DE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56B130A-2017-EE7C-DF35-C2C0A77E8515}"/>
                  </a:ext>
                </a:extLst>
              </p:cNvPr>
              <p:cNvSpPr txBox="1"/>
              <p:nvPr/>
            </p:nvSpPr>
            <p:spPr>
              <a:xfrm>
                <a:off x="265139" y="5325779"/>
                <a:ext cx="6689035" cy="1320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&lt;1: 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d>
                            <m:d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5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l-GR" sz="15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de-DE" sz="15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de-DE" sz="15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l-GR" sz="15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𝜁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de-DE" sz="1500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p>
                                            </m:e>
                                          </m:rad>
                                          <m: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de-DE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l-GR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de-DE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de-DE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func>
                                <m:func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5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de-DE" sz="15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l-GR" sz="15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e>
                                            <m:sup>
                                              <m:r>
                                                <a:rPr lang="de-DE" sz="15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  <m:sSub>
                                        <m:sSubPr>
                                          <m:ctrlP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de-DE" sz="15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d>
                    </m:oMath>
                  </m:oMathPara>
                </a14:m>
                <a:endParaRPr lang="de-DE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=1: 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&gt;1: 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de-DE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sz="15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l-GR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DE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de-DE" sz="15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56B130A-2017-EE7C-DF35-C2C0A77E8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39" y="5325779"/>
                <a:ext cx="6689035" cy="13209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C48DBF5-513B-5AED-8D12-588AE0A55C8A}"/>
                  </a:ext>
                </a:extLst>
              </p:cNvPr>
              <p:cNvSpPr txBox="1"/>
              <p:nvPr/>
            </p:nvSpPr>
            <p:spPr>
              <a:xfrm>
                <a:off x="265140" y="2242132"/>
                <a:ext cx="6689035" cy="1067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&lt;1: </m:t>
                      </m:r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l-GR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el-GR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d>
                        <m:dPr>
                          <m:ctrlP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func>
                            <m:func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7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l-G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el-GR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de-DE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de-DE" sz="17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l-GR" sz="17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𝜁</m:t>
                                              </m:r>
                                            </m:e>
                                            <m:sup>
                                              <m:r>
                                                <a:rPr lang="de-DE" sz="17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rad>
                                      <m:r>
                                        <a:rPr lang="el-G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de-DE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7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l-G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de-DE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de-DE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l-GR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𝜁</m:t>
                                          </m:r>
                                        </m:e>
                                        <m:sup>
                                          <m:r>
                                            <a:rPr lang="de-DE" sz="17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  <m:sSub>
                                    <m:sSubPr>
                                      <m:ctrlPr>
                                        <a:rPr lang="el-G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de-DE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de-DE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sz="17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=1: </m:t>
                      </m:r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DE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sz="1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l-GR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de-DE" sz="17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de-DE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e-DE" sz="1700" dirty="0"/>
              </a:p>
              <a:p>
                <a14:m>
                  <m:oMath xmlns:m="http://schemas.openxmlformats.org/officeDocument/2006/math">
                    <m:r>
                      <a:rPr lang="el-G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&gt;1: </m:t>
                    </m:r>
                    <m:r>
                      <a:rPr lang="de-DE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de-DE" sz="1700" dirty="0"/>
                  <a:t>     with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de-DE" sz="17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7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l-G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l-G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l-GR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l-G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l-GR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de-DE" sz="1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de-DE" sz="17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C48DBF5-513B-5AED-8D12-588AE0A55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40" y="2242132"/>
                <a:ext cx="6689035" cy="1067600"/>
              </a:xfrm>
              <a:prstGeom prst="rect">
                <a:avLst/>
              </a:prstGeom>
              <a:blipFill>
                <a:blip r:embed="rId6"/>
                <a:stretch>
                  <a:fillRect b="-70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3661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1D082-53A4-70A9-67CF-9568D4A6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Derivation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B7123AE-74DF-0736-9955-698B1BEBF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Particular </a:t>
                </a:r>
                <a:r>
                  <a:rPr lang="de-DE" dirty="0" err="1"/>
                  <a:t>response</a:t>
                </a:r>
                <a:r>
                  <a:rPr lang="de-DE" dirty="0"/>
                  <a:t>: 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step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0+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&lt;1: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Total </a:t>
                </a:r>
                <a:r>
                  <a:rPr lang="de-DE" dirty="0" err="1"/>
                  <a:t>response</a:t>
                </a:r>
                <a:r>
                  <a:rPr lang="de-DE" dirty="0"/>
                  <a:t> = </a:t>
                </a:r>
                <a:r>
                  <a:rPr lang="de-DE" dirty="0" err="1"/>
                  <a:t>forced</a:t>
                </a:r>
                <a:r>
                  <a:rPr lang="de-DE" dirty="0"/>
                  <a:t> (</a:t>
                </a:r>
                <a:r>
                  <a:rPr lang="de-DE" dirty="0" err="1"/>
                  <a:t>particular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r>
                  <a:rPr lang="de-DE" dirty="0"/>
                  <a:t> + </a:t>
                </a:r>
                <a:r>
                  <a:rPr lang="de-DE" dirty="0" err="1"/>
                  <a:t>natural</a:t>
                </a:r>
                <a:r>
                  <a:rPr lang="de-DE" dirty="0"/>
                  <a:t> (</a:t>
                </a:r>
                <a:r>
                  <a:rPr lang="de-DE" dirty="0" err="1"/>
                  <a:t>homogeneous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</m:e>
                                          <m:sup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 from initial </a:t>
                </a:r>
                <a:r>
                  <a:rPr lang="de-DE" dirty="0" err="1"/>
                  <a:t>conditions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+1∙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degHide m:val="on"/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degHide m:val="on"/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+0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−0+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degHide m:val="on"/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ad>
                              <m:radPr>
                                <m:degHide m:val="on"/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</m:e>
                                          <m:sup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𝜁</m:t>
                                    </m:r>
                                  </m:e>
                                  <m:sup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func>
                          <m:func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de-DE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de-DE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l-GR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𝜁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de-DE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func>
                              <m:func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de-DE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sSup>
                                          <m:sSupPr>
                                            <m:ctrlP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l-GR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𝜁</m:t>
                                            </m:r>
                                          </m:e>
                                          <m:sup>
                                            <m:r>
                                              <a:rPr lang="de-DE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  <m:sSub>
                                      <m:sSubPr>
                                        <m:ctrlP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de-DE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B7123AE-74DF-0736-9955-698B1BEBF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  <a:blipFill>
                <a:blip r:embed="rId2"/>
                <a:stretch>
                  <a:fillRect l="-603" t="-17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BD03F7-9AB1-7168-9F04-75DA5E97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190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08E42C-11F1-8807-7112-304714BB8F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525"/>
                <a:ext cx="10515600" cy="658495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1: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Total </a:t>
                </a:r>
                <a:r>
                  <a:rPr lang="de-DE" dirty="0" err="1"/>
                  <a:t>response</a:t>
                </a:r>
                <a:r>
                  <a:rPr lang="de-DE" dirty="0"/>
                  <a:t> = </a:t>
                </a:r>
                <a:r>
                  <a:rPr lang="de-DE" dirty="0" err="1"/>
                  <a:t>forced</a:t>
                </a:r>
                <a:r>
                  <a:rPr lang="de-DE" dirty="0"/>
                  <a:t> (</a:t>
                </a:r>
                <a:r>
                  <a:rPr lang="de-DE" dirty="0" err="1"/>
                  <a:t>particular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r>
                  <a:rPr lang="de-DE" dirty="0"/>
                  <a:t> + </a:t>
                </a:r>
                <a:r>
                  <a:rPr lang="de-DE" dirty="0" err="1"/>
                  <a:t>natural</a:t>
                </a:r>
                <a:r>
                  <a:rPr lang="de-DE" dirty="0"/>
                  <a:t> (</a:t>
                </a:r>
                <a:r>
                  <a:rPr lang="de-DE" dirty="0" err="1"/>
                  <a:t>homogeneous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 from initial </a:t>
                </a:r>
                <a:r>
                  <a:rPr lang="de-DE" dirty="0" err="1"/>
                  <a:t>conditions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∙0</m:t>
                        </m:r>
                      </m:e>
                    </m:d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0=−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1: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Total </a:t>
                </a:r>
                <a:r>
                  <a:rPr lang="de-DE" dirty="0" err="1"/>
                  <a:t>response</a:t>
                </a:r>
                <a:r>
                  <a:rPr lang="de-DE" dirty="0"/>
                  <a:t> = </a:t>
                </a:r>
                <a:r>
                  <a:rPr lang="de-DE" dirty="0" err="1"/>
                  <a:t>forced</a:t>
                </a:r>
                <a:r>
                  <a:rPr lang="de-DE" dirty="0"/>
                  <a:t> (</a:t>
                </a:r>
                <a:r>
                  <a:rPr lang="de-DE" dirty="0" err="1"/>
                  <a:t>particular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r>
                  <a:rPr lang="de-DE" dirty="0"/>
                  <a:t> + </a:t>
                </a:r>
                <a:r>
                  <a:rPr lang="de-DE" dirty="0" err="1"/>
                  <a:t>natural</a:t>
                </a:r>
                <a:r>
                  <a:rPr lang="de-DE" dirty="0"/>
                  <a:t> (</a:t>
                </a:r>
                <a:r>
                  <a:rPr lang="de-DE" dirty="0" err="1"/>
                  <a:t>homogeneous</a:t>
                </a:r>
                <a:r>
                  <a:rPr lang="de-DE" dirty="0"/>
                  <a:t>) </a:t>
                </a:r>
                <a:r>
                  <a:rPr lang="de-DE" dirty="0" err="1"/>
                  <a:t>response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 from initial </a:t>
                </a:r>
                <a:r>
                  <a:rPr lang="de-DE" dirty="0" err="1"/>
                  <a:t>conditions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0=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num>
                      <m:den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l-G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08E42C-11F1-8807-7112-304714BB8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525"/>
                <a:ext cx="10515600" cy="6584950"/>
              </a:xfrm>
              <a:blipFill>
                <a:blip r:embed="rId2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668E90-2CF0-760C-2FCD-34CF30C7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04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1BE6BE-69ED-4AEF-A725-3F30EA6A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Mass</a:t>
            </a:r>
            <a:r>
              <a:rPr lang="de-DE" dirty="0"/>
              <a:t>-Spring-</a:t>
            </a:r>
            <a:r>
              <a:rPr lang="de-DE" dirty="0" err="1"/>
              <a:t>Damper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BDF905-D4E7-24F3-FF16-09404FF05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513143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̇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de-DE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𝑘𝑚</m:t>
                            </m:r>
                          </m:e>
                        </m:rad>
                      </m:den>
                    </m:f>
                  </m:oMath>
                </a14:m>
                <a:r>
                  <a:rPr lang="de-DE" dirty="0"/>
                  <a:t>	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At </a:t>
                </a:r>
                <a:r>
                  <a:rPr lang="de-DE" dirty="0" err="1"/>
                  <a:t>steady</a:t>
                </a:r>
                <a:r>
                  <a:rPr lang="de-DE" dirty="0"/>
                  <a:t> </a:t>
                </a:r>
                <a:r>
                  <a:rPr lang="de-DE" dirty="0" err="1"/>
                  <a:t>state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=0, </m:t>
                    </m:r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=0 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de-DE" b="0" i="1" dirty="0">
                    <a:latin typeface="Cambria Math" panose="02040503050406030204" pitchFamily="18" charset="0"/>
                  </a:rPr>
                  <a:t>	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(∞)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(∞)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de-DE" dirty="0"/>
                  <a:t>	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6BDF905-D4E7-24F3-FF16-09404FF05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513143" cy="4351338"/>
              </a:xfrm>
              <a:blipFill>
                <a:blip r:embed="rId2"/>
                <a:stretch>
                  <a:fillRect l="-1961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CF8D61-37CB-1256-768D-D4C75818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6A1EB3C-99B4-6C2B-E5D1-20F097E56E74}"/>
                  </a:ext>
                </a:extLst>
              </p:cNvPr>
              <p:cNvSpPr txBox="1"/>
              <p:nvPr/>
            </p:nvSpPr>
            <p:spPr>
              <a:xfrm>
                <a:off x="5635634" y="5698175"/>
                <a:ext cx="59499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ea typeface="Cambria Math" panose="02040503050406030204" pitchFamily="18" charset="0"/>
                  </a:rPr>
                  <a:t>w</a:t>
                </a:r>
                <a:r>
                  <a:rPr lang="de-DE" sz="2000" dirty="0" err="1">
                    <a:ea typeface="Cambria Math" panose="02040503050406030204" pitchFamily="18" charset="0"/>
                  </a:rPr>
                  <a:t>ithout</a:t>
                </a:r>
                <a:r>
                  <a:rPr lang="de-DE" sz="2000" dirty="0">
                    <a:ea typeface="Cambria Math" panose="02040503050406030204" pitchFamily="18" charset="0"/>
                  </a:rPr>
                  <a:t> </a:t>
                </a:r>
                <a:r>
                  <a:rPr lang="de-DE" sz="2000" dirty="0" err="1">
                    <a:ea typeface="Cambria Math" panose="02040503050406030204" pitchFamily="18" charset="0"/>
                  </a:rPr>
                  <a:t>damping</a:t>
                </a:r>
                <a:r>
                  <a:rPr lang="de-DE" sz="2000" dirty="0"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0): 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de-D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a14:m>
                <a:endParaRPr lang="de-DE" sz="20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86A1EB3C-99B4-6C2B-E5D1-20F097E56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634" y="5698175"/>
                <a:ext cx="5949932" cy="400110"/>
              </a:xfrm>
              <a:prstGeom prst="rect">
                <a:avLst/>
              </a:prstGeom>
              <a:blipFill>
                <a:blip r:embed="rId3"/>
                <a:stretch>
                  <a:fillRect l="-1064" t="-6061" b="-272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fik 14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8245FF6-F62A-7917-774D-22E16CE431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342" y="1825625"/>
            <a:ext cx="6840658" cy="336516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0D3C84F5-784C-AC73-0D65-41A4D64ED76E}"/>
              </a:ext>
            </a:extLst>
          </p:cNvPr>
          <p:cNvSpPr txBox="1"/>
          <p:nvPr/>
        </p:nvSpPr>
        <p:spPr>
          <a:xfrm>
            <a:off x="967842" y="6364803"/>
            <a:ext cx="163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)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ECC3753B-CAB1-01FF-F023-9CC8549FB8C9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1704513" y="6098285"/>
            <a:ext cx="79899" cy="26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F4B3D22-0CE3-B13B-4D31-635A55F59978}"/>
              </a:ext>
            </a:extLst>
          </p:cNvPr>
          <p:cNvSpPr txBox="1"/>
          <p:nvPr/>
        </p:nvSpPr>
        <p:spPr>
          <a:xfrm>
            <a:off x="4145871" y="3185040"/>
            <a:ext cx="1757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impulse</a:t>
            </a:r>
            <a:r>
              <a:rPr lang="de-DE" dirty="0"/>
              <a:t>:</a:t>
            </a:r>
          </a:p>
          <a:p>
            <a:r>
              <a:rPr lang="de-DE" dirty="0"/>
              <a:t>same </a:t>
            </a:r>
            <a:r>
              <a:rPr lang="de-DE" dirty="0" err="1"/>
              <a:t>dynamics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</p:txBody>
      </p:sp>
      <p:pic>
        <p:nvPicPr>
          <p:cNvPr id="9" name="Grafik 8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64E46781-3A36-0F13-09D1-3967E245B1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6081566" y="2421128"/>
            <a:ext cx="930617" cy="262800"/>
          </a:xfrm>
          <a:prstGeom prst="rect">
            <a:avLst/>
          </a:prstGeom>
        </p:spPr>
      </p:pic>
      <p:pic>
        <p:nvPicPr>
          <p:cNvPr id="10" name="Grafik 9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F0EAE811-ED39-C7C3-AFF2-C1C967C139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6081567" y="4258039"/>
            <a:ext cx="930617" cy="2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38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C2983263-B164-34FF-E305-281445B7B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469" y="1232065"/>
            <a:ext cx="3282018" cy="261124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BEC4502-07A1-FC55-7616-3C68D5ED9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344" y="3817199"/>
            <a:ext cx="5460539" cy="253915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F1E493E-F9E8-B141-B5A6-D960EE78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and Impulse Response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642D4C-3133-8842-0920-06E0EE1B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  <p:pic>
        <p:nvPicPr>
          <p:cNvPr id="8" name="Grafik 7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B015B22-9D8B-8B6F-2198-93E7327F1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1" y="1440784"/>
            <a:ext cx="3405073" cy="2729066"/>
          </a:xfrm>
          <a:prstGeom prst="rect">
            <a:avLst/>
          </a:prstGeom>
        </p:spPr>
      </p:pic>
      <p:pic>
        <p:nvPicPr>
          <p:cNvPr id="10" name="Grafik 9" descr="Ein Bild, das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ACE53A99-5DB1-04D3-C422-BE937EEC5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3" y="4318849"/>
            <a:ext cx="5595178" cy="253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58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8DF07-BBF2-C475-22DB-FBE9C0E8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RLC Series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76577C-FB27-48A1-08F9-6C0DDED2A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𝑅𝐶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𝐿𝐶</m:t>
                            </m:r>
                          </m:den>
                        </m:f>
                      </m:e>
                    </m:rad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rad>
                  </m:oMath>
                </a14:m>
                <a:r>
                  <a:rPr lang="de-DE" dirty="0"/>
                  <a:t>,  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Without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e-DE" sz="2400" dirty="0"/>
                  <a:t>: </a:t>
                </a:r>
                <a:r>
                  <a:rPr lang="de-DE" sz="2400" dirty="0" err="1"/>
                  <a:t>undamped</a:t>
                </a:r>
                <a:endParaRPr lang="de-DE" sz="2400" dirty="0"/>
              </a:p>
              <a:p>
                <a:r>
                  <a:rPr lang="de-DE" sz="2400" dirty="0"/>
                  <a:t>An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circuit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a PT2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whose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step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governed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natural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damping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exactly</a:t>
                </a:r>
                <a:r>
                  <a:rPr lang="de-DE" sz="2400" dirty="0"/>
                  <a:t> like a </a:t>
                </a:r>
                <a:r>
                  <a:rPr lang="de-DE" sz="2400" dirty="0" err="1"/>
                  <a:t>mass</a:t>
                </a:r>
                <a:r>
                  <a:rPr lang="de-DE" sz="2400" dirty="0"/>
                  <a:t>–spring–</a:t>
                </a:r>
                <a:r>
                  <a:rPr lang="de-DE" sz="2400" dirty="0" err="1"/>
                  <a:t>damper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.</a:t>
                </a:r>
              </a:p>
              <a:p>
                <a:r>
                  <a:rPr lang="de-DE" sz="2400" dirty="0" err="1"/>
                  <a:t>Frequency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resonance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describes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sinusoidal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forcing</a:t>
                </a:r>
                <a:r>
                  <a:rPr lang="de-DE" sz="2400" dirty="0"/>
                  <a:t>. Here </a:t>
                </a:r>
                <a:r>
                  <a:rPr lang="de-DE" sz="2400" dirty="0" err="1"/>
                  <a:t>we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focus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step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 and transient </a:t>
                </a:r>
                <a:r>
                  <a:rPr lang="de-DE" sz="2400" dirty="0" err="1"/>
                  <a:t>behavior</a:t>
                </a:r>
                <a:r>
                  <a:rPr lang="de-DE" sz="2400" dirty="0"/>
                  <a:t>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776577C-FB27-48A1-08F9-6C0DDED2A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844" r="-4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6A8B1E-789B-7B50-B61E-96014E83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41D073-0E9B-EB23-C1A8-59F7E0D72763}"/>
              </a:ext>
            </a:extLst>
          </p:cNvPr>
          <p:cNvSpPr txBox="1"/>
          <p:nvPr/>
        </p:nvSpPr>
        <p:spPr>
          <a:xfrm>
            <a:off x="8256233" y="1103345"/>
            <a:ext cx="2534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step</a:t>
            </a:r>
            <a:r>
              <a:rPr lang="de-DE" sz="2400" dirty="0"/>
              <a:t> </a:t>
            </a:r>
            <a:r>
              <a:rPr lang="de-DE" sz="2400" dirty="0" err="1"/>
              <a:t>voltage</a:t>
            </a:r>
            <a:r>
              <a:rPr lang="de-DE" sz="2400" dirty="0"/>
              <a:t> </a:t>
            </a:r>
            <a:r>
              <a:rPr lang="de-DE" sz="2400" dirty="0" err="1"/>
              <a:t>input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4E62E3A-FA88-086C-31CA-4F93C23B62D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99285" y="1334178"/>
            <a:ext cx="656948" cy="610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DAECF696-5BD3-6BB2-5A73-71CD57F5039A}"/>
              </a:ext>
            </a:extLst>
          </p:cNvPr>
          <p:cNvSpPr txBox="1"/>
          <p:nvPr/>
        </p:nvSpPr>
        <p:spPr>
          <a:xfrm>
            <a:off x="7112494" y="2451598"/>
            <a:ext cx="3505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output</a:t>
            </a:r>
            <a:r>
              <a:rPr lang="de-DE" sz="2400" dirty="0"/>
              <a:t>: </a:t>
            </a:r>
            <a:r>
              <a:rPr lang="de-DE" sz="2400" dirty="0" err="1"/>
              <a:t>capacitor</a:t>
            </a:r>
            <a:r>
              <a:rPr lang="de-DE" sz="2400" dirty="0"/>
              <a:t> </a:t>
            </a:r>
            <a:r>
              <a:rPr lang="de-DE" sz="2400" dirty="0" err="1"/>
              <a:t>voltage</a:t>
            </a:r>
            <a:endParaRPr lang="de-DE" sz="2400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138487B8-9771-9580-F617-0AE759C7A161}"/>
              </a:ext>
            </a:extLst>
          </p:cNvPr>
          <p:cNvCxnSpPr>
            <a:cxnSpLocks/>
          </p:cNvCxnSpPr>
          <p:nvPr/>
        </p:nvCxnSpPr>
        <p:spPr>
          <a:xfrm flipH="1" flipV="1">
            <a:off x="6755907" y="2272683"/>
            <a:ext cx="346229" cy="408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5D570C-A5DB-DD63-D9E0-F8AF60485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20" y="1433827"/>
            <a:ext cx="1967099" cy="272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953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430FE-3799-1595-6BBF-C595E3B3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Time-Invariant (LTI)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707770-EA62-1D7F-DA49-55EA5F60F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What</a:t>
            </a:r>
            <a:r>
              <a:rPr lang="de-DE" dirty="0"/>
              <a:t> do PT1 and PT2 </a:t>
            </a:r>
            <a:r>
              <a:rPr lang="de-DE" dirty="0" err="1"/>
              <a:t>have</a:t>
            </a:r>
            <a:r>
              <a:rPr lang="de-DE" dirty="0"/>
              <a:t> in </a:t>
            </a:r>
            <a:r>
              <a:rPr lang="de-DE" dirty="0" err="1"/>
              <a:t>common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Linear </a:t>
            </a:r>
            <a:r>
              <a:rPr lang="de-DE" dirty="0" err="1"/>
              <a:t>equations</a:t>
            </a:r>
            <a:endParaRPr lang="de-DE" dirty="0"/>
          </a:p>
          <a:p>
            <a:pPr lvl="1"/>
            <a:r>
              <a:rPr lang="de-DE" dirty="0"/>
              <a:t>Constant </a:t>
            </a:r>
            <a:r>
              <a:rPr lang="de-DE" dirty="0" err="1"/>
              <a:t>parameters</a:t>
            </a:r>
            <a:endParaRPr lang="de-DE" dirty="0"/>
          </a:p>
          <a:p>
            <a:pPr lvl="1"/>
            <a:r>
              <a:rPr lang="de-DE" dirty="0"/>
              <a:t>Superposition </a:t>
            </a:r>
            <a:r>
              <a:rPr lang="de-DE" dirty="0" err="1"/>
              <a:t>holds</a:t>
            </a:r>
            <a:r>
              <a:rPr lang="de-DE" dirty="0"/>
              <a:t> (</a:t>
            </a:r>
            <a:r>
              <a:rPr lang="de-DE" dirty="0" err="1"/>
              <a:t>scaling</a:t>
            </a:r>
            <a:r>
              <a:rPr lang="de-DE" dirty="0"/>
              <a:t> and </a:t>
            </a:r>
            <a:r>
              <a:rPr lang="de-DE" dirty="0" err="1"/>
              <a:t>additivity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Time </a:t>
            </a:r>
            <a:r>
              <a:rPr lang="de-DE" dirty="0" err="1"/>
              <a:t>shifts</a:t>
            </a:r>
            <a:r>
              <a:rPr lang="de-DE" dirty="0"/>
              <a:t> do not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LTI </a:t>
            </a:r>
            <a:r>
              <a:rPr lang="de-DE" dirty="0" err="1"/>
              <a:t>systems</a:t>
            </a:r>
            <a:endParaRPr lang="de-DE" dirty="0"/>
          </a:p>
          <a:p>
            <a:pPr lvl="1"/>
            <a:r>
              <a:rPr lang="de-DE" dirty="0" err="1"/>
              <a:t>Governed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linear differential </a:t>
            </a:r>
            <a:r>
              <a:rPr lang="de-DE" dirty="0" err="1"/>
              <a:t>equations</a:t>
            </a:r>
            <a:endParaRPr lang="de-DE" dirty="0"/>
          </a:p>
          <a:p>
            <a:pPr lvl="1"/>
            <a:r>
              <a:rPr lang="de-DE" dirty="0"/>
              <a:t>Parameters do not </a:t>
            </a:r>
            <a:r>
              <a:rPr lang="de-DE" dirty="0" err="1"/>
              <a:t>depend</a:t>
            </a:r>
            <a:r>
              <a:rPr lang="de-DE" dirty="0"/>
              <a:t> on time</a:t>
            </a:r>
          </a:p>
          <a:p>
            <a:pPr marL="0" indent="0">
              <a:buNone/>
            </a:pPr>
            <a:r>
              <a:rPr lang="de-DE" dirty="0" err="1"/>
              <a:t>Foundation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theory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38F975-57B4-D1A4-A311-7F498744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F1755DB-4D43-E552-C661-F2B6CC928071}"/>
                  </a:ext>
                </a:extLst>
              </p:cNvPr>
              <p:cNvSpPr txBox="1"/>
              <p:nvPr/>
            </p:nvSpPr>
            <p:spPr>
              <a:xfrm>
                <a:off x="7947011" y="2232026"/>
                <a:ext cx="20890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F1755DB-4D43-E552-C661-F2B6CC928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011" y="2232026"/>
                <a:ext cx="2089033" cy="553998"/>
              </a:xfrm>
              <a:prstGeom prst="rect">
                <a:avLst/>
              </a:prstGeom>
              <a:blipFill>
                <a:blip r:embed="rId2"/>
                <a:stretch>
                  <a:fillRect l="-1205" r="-3614" b="-1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9E29DD8-B0F3-DCDF-B26A-20F98CA89592}"/>
                  </a:ext>
                </a:extLst>
              </p:cNvPr>
              <p:cNvSpPr txBox="1"/>
              <p:nvPr/>
            </p:nvSpPr>
            <p:spPr>
              <a:xfrm>
                <a:off x="7947011" y="3429000"/>
                <a:ext cx="353045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9E29DD8-B0F3-DCDF-B26A-20F98CA89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011" y="3429000"/>
                <a:ext cx="3530454" cy="646331"/>
              </a:xfrm>
              <a:prstGeom prst="rect">
                <a:avLst/>
              </a:prstGeom>
              <a:blipFill>
                <a:blip r:embed="rId3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AF01E19-EED3-0E00-ACC9-B60D000D4FFF}"/>
              </a:ext>
            </a:extLst>
          </p:cNvPr>
          <p:cNvCxnSpPr>
            <a:endCxn id="7" idx="1"/>
          </p:cNvCxnSpPr>
          <p:nvPr/>
        </p:nvCxnSpPr>
        <p:spPr>
          <a:xfrm>
            <a:off x="6927574" y="3299791"/>
            <a:ext cx="1019437" cy="452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A58A0B2-442D-7AB7-6986-15C8E352A0DA}"/>
              </a:ext>
            </a:extLst>
          </p:cNvPr>
          <p:cNvCxnSpPr>
            <a:endCxn id="5" idx="1"/>
          </p:cNvCxnSpPr>
          <p:nvPr/>
        </p:nvCxnSpPr>
        <p:spPr>
          <a:xfrm flipV="1">
            <a:off x="5138530" y="2509025"/>
            <a:ext cx="2808481" cy="43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59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44C1E-E015-47BF-5487-BEED8BB4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Dead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9AE5EC4-52A4-BBD7-A547-E7DA4C4B39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Time </a:t>
                </a:r>
                <a:r>
                  <a:rPr lang="de-DE" dirty="0" err="1"/>
                  <a:t>delay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and </a:t>
                </a:r>
                <a:r>
                  <a:rPr lang="de-DE" dirty="0" err="1"/>
                  <a:t>output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Common in </a:t>
                </a:r>
                <a:r>
                  <a:rPr lang="de-DE" dirty="0" err="1"/>
                  <a:t>processes</a:t>
                </a:r>
                <a:r>
                  <a:rPr lang="de-DE" dirty="0"/>
                  <a:t> and </a:t>
                </a:r>
                <a:r>
                  <a:rPr lang="de-DE" dirty="0" err="1"/>
                  <a:t>networks</a:t>
                </a:r>
                <a:endParaRPr lang="de-DE" dirty="0"/>
              </a:p>
              <a:p>
                <a:pPr lvl="1"/>
                <a:r>
                  <a:rPr lang="de-DE" dirty="0"/>
                  <a:t>Transport </a:t>
                </a:r>
                <a:r>
                  <a:rPr lang="de-DE" dirty="0" err="1"/>
                  <a:t>phenomena</a:t>
                </a:r>
                <a:endParaRPr lang="de-DE" dirty="0"/>
              </a:p>
              <a:p>
                <a:pPr lvl="1"/>
                <a:r>
                  <a:rPr lang="de-DE" dirty="0"/>
                  <a:t>Measurement </a:t>
                </a:r>
                <a:r>
                  <a:rPr lang="de-DE" dirty="0" err="1"/>
                  <a:t>delays</a:t>
                </a:r>
                <a:endParaRPr lang="de-DE" dirty="0"/>
              </a:p>
              <a:p>
                <a:pPr lvl="1"/>
                <a:r>
                  <a:rPr lang="de-DE" dirty="0" err="1"/>
                  <a:t>Computation</a:t>
                </a:r>
                <a:r>
                  <a:rPr lang="de-DE" dirty="0"/>
                  <a:t> </a:t>
                </a:r>
                <a:r>
                  <a:rPr lang="de-DE" dirty="0" err="1"/>
                  <a:t>delays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Makes</a:t>
                </a:r>
                <a:r>
                  <a:rPr lang="de-DE" dirty="0"/>
                  <a:t>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r>
                  <a:rPr lang="de-DE" dirty="0"/>
                  <a:t> </a:t>
                </a:r>
                <a:r>
                  <a:rPr lang="de-DE" dirty="0" err="1"/>
                  <a:t>difficult</a:t>
                </a:r>
                <a:endParaRPr lang="de-DE" dirty="0"/>
              </a:p>
              <a:p>
                <a:pPr lvl="1"/>
                <a:r>
                  <a:rPr lang="de-DE" dirty="0" err="1"/>
                  <a:t>Degrades</a:t>
                </a:r>
                <a:r>
                  <a:rPr lang="de-DE" dirty="0"/>
                  <a:t>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margins</a:t>
                </a:r>
                <a:endParaRPr lang="de-DE" dirty="0"/>
              </a:p>
              <a:p>
                <a:pPr lvl="1"/>
                <a:r>
                  <a:rPr lang="de-DE" dirty="0"/>
                  <a:t>Limits </a:t>
                </a:r>
                <a:r>
                  <a:rPr lang="de-DE" dirty="0" err="1"/>
                  <a:t>achievable</a:t>
                </a:r>
                <a:r>
                  <a:rPr lang="de-DE" dirty="0"/>
                  <a:t> </a:t>
                </a:r>
                <a:r>
                  <a:rPr lang="de-DE" dirty="0" err="1"/>
                  <a:t>performance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9AE5EC4-52A4-BBD7-A547-E7DA4C4B39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B8C4DB-992A-84DE-7144-6A990A34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31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A4D1A9C-C7EB-9033-19BD-68A68CB7C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745" y="2425670"/>
            <a:ext cx="4674688" cy="37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74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9F8F5-4DF8-B3DA-4C6D-AA2B467EE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Responses </a:t>
            </a:r>
            <a:r>
              <a:rPr lang="de-DE" dirty="0" err="1"/>
              <a:t>of</a:t>
            </a:r>
            <a:r>
              <a:rPr lang="de-DE" dirty="0"/>
              <a:t> Higher-Order Systems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31AC4-E923-2B53-1360-2B9FAF65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32</a:t>
            </a:fld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055636F-CEC6-5112-E387-095FDF61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9637"/>
            <a:ext cx="7727398" cy="490927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9E1AEC0-F52F-9949-AB14-1F7CB6916133}"/>
              </a:ext>
            </a:extLst>
          </p:cNvPr>
          <p:cNvSpPr txBox="1"/>
          <p:nvPr/>
        </p:nvSpPr>
        <p:spPr>
          <a:xfrm>
            <a:off x="8610600" y="2823189"/>
            <a:ext cx="3299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looks</a:t>
            </a:r>
            <a:r>
              <a:rPr lang="de-DE" dirty="0"/>
              <a:t> like a </a:t>
            </a:r>
            <a:r>
              <a:rPr lang="de-DE" dirty="0" err="1"/>
              <a:t>delayed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there’s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actual</a:t>
            </a:r>
            <a:r>
              <a:rPr lang="de-DE" dirty="0"/>
              <a:t> </a:t>
            </a:r>
            <a:r>
              <a:rPr lang="de-DE" dirty="0" err="1"/>
              <a:t>dead</a:t>
            </a:r>
            <a:r>
              <a:rPr lang="de-DE" dirty="0"/>
              <a:t> time.</a:t>
            </a:r>
          </a:p>
        </p:txBody>
      </p:sp>
    </p:spTree>
    <p:extLst>
      <p:ext uri="{BB962C8B-B14F-4D97-AF65-F5344CB8AC3E}">
        <p14:creationId xmlns:p14="http://schemas.microsoft.com/office/powerpoint/2010/main" val="3823066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E5FA7C-2287-C261-41A5-D8069B86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Outlook: </a:t>
            </a:r>
            <a:r>
              <a:rPr lang="de-DE" dirty="0" err="1"/>
              <a:t>Frequency</a:t>
            </a:r>
            <a:r>
              <a:rPr lang="de-DE" dirty="0"/>
              <a:t> Response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CBEB6F-2DFA-DF21-924F-54FF262E1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So </a:t>
            </a:r>
            <a:r>
              <a:rPr lang="de-DE" dirty="0" err="1"/>
              <a:t>far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tested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oscillates</a:t>
            </a:r>
            <a:r>
              <a:rPr lang="de-DE" dirty="0"/>
              <a:t>?</a:t>
            </a:r>
          </a:p>
          <a:p>
            <a:r>
              <a:rPr lang="de-DE" dirty="0"/>
              <a:t>slow </a:t>
            </a:r>
            <a:r>
              <a:rPr lang="de-DE" dirty="0" err="1"/>
              <a:t>sinusoid</a:t>
            </a:r>
            <a:r>
              <a:rPr lang="de-DE" dirty="0"/>
              <a:t> →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follows</a:t>
            </a:r>
            <a:endParaRPr lang="de-DE" dirty="0"/>
          </a:p>
          <a:p>
            <a:r>
              <a:rPr lang="de-DE" dirty="0"/>
              <a:t>fast </a:t>
            </a:r>
            <a:r>
              <a:rPr lang="de-DE" dirty="0" err="1"/>
              <a:t>sinusoid</a:t>
            </a:r>
            <a:r>
              <a:rPr lang="de-DE" dirty="0"/>
              <a:t> →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 err="1"/>
              <a:t>attenuated</a:t>
            </a:r>
            <a:r>
              <a:rPr lang="de-DE" dirty="0"/>
              <a:t> / </a:t>
            </a:r>
            <a:r>
              <a:rPr lang="de-DE" dirty="0" err="1"/>
              <a:t>phase-shifted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D29095-79B9-73D6-ADBC-0F7A62DA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297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9529AB-26C3-8699-F6E0-44E6F99C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Summary: </a:t>
            </a:r>
            <a:r>
              <a:rPr lang="de-DE" dirty="0" err="1"/>
              <a:t>From</a:t>
            </a:r>
            <a:r>
              <a:rPr lang="de-DE" dirty="0"/>
              <a:t> Physics </a:t>
            </a:r>
            <a:r>
              <a:rPr lang="de-DE" dirty="0" err="1"/>
              <a:t>to</a:t>
            </a:r>
            <a:r>
              <a:rPr lang="de-DE" dirty="0"/>
              <a:t>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8842CF-55F2-BFAD-1DD3-9B17F0433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Identify</a:t>
            </a:r>
            <a:r>
              <a:rPr lang="de-DE" dirty="0"/>
              <a:t> </a:t>
            </a:r>
            <a:r>
              <a:rPr lang="de-DE" dirty="0" err="1"/>
              <a:t>inputs</a:t>
            </a:r>
            <a:r>
              <a:rPr lang="de-DE" dirty="0"/>
              <a:t> and </a:t>
            </a:r>
            <a:r>
              <a:rPr lang="de-DE" dirty="0" err="1"/>
              <a:t>outputs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laws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Simplify</a:t>
            </a:r>
            <a:r>
              <a:rPr lang="de-DE" dirty="0"/>
              <a:t> </a:t>
            </a:r>
            <a:r>
              <a:rPr lang="de-DE" dirty="0" err="1"/>
              <a:t>assumptions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Validate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CFFC39-4C8A-4A66-CC5D-F43A3FFE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29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2217</Words>
  <Application>Microsoft Macintosh PowerPoint</Application>
  <PresentationFormat>Breitbild</PresentationFormat>
  <Paragraphs>447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Cambria Math</vt:lpstr>
      <vt:lpstr>Helvetica Neue</vt:lpstr>
      <vt:lpstr>Wingdings</vt:lpstr>
      <vt:lpstr>Office Theme</vt:lpstr>
      <vt:lpstr>Systems</vt:lpstr>
      <vt:lpstr>Course Schedule</vt:lpstr>
      <vt:lpstr>Systems</vt:lpstr>
      <vt:lpstr>Processes, Systems, Models</vt:lpstr>
      <vt:lpstr>Static and Dynamic Systems</vt:lpstr>
      <vt:lpstr>Examples from Electrical Engineering</vt:lpstr>
      <vt:lpstr>Mathematical Models</vt:lpstr>
      <vt:lpstr>Differential-Equation Models</vt:lpstr>
      <vt:lpstr>Why We Need Models</vt:lpstr>
      <vt:lpstr>White-, Gray-, and Black-Box Models</vt:lpstr>
      <vt:lpstr>Proportional (P) Systems</vt:lpstr>
      <vt:lpstr>Integrating and Differentiating Behavior</vt:lpstr>
      <vt:lpstr>Example: Free Fall</vt:lpstr>
      <vt:lpstr>First-Order Systems (PT1)</vt:lpstr>
      <vt:lpstr>Gain and Time Constant</vt:lpstr>
      <vt:lpstr>Solution for PT1 Differential Equation</vt:lpstr>
      <vt:lpstr>Derivation of Specific Example</vt:lpstr>
      <vt:lpstr>Free Fall with Viscous Damping</vt:lpstr>
      <vt:lpstr>Example: RC and RL Circuits</vt:lpstr>
      <vt:lpstr>Transient Responses: RC Series Circuit</vt:lpstr>
      <vt:lpstr>Transient Responses: RC Series Circuit</vt:lpstr>
      <vt:lpstr>Transient Responses: RL Parallel Circuit</vt:lpstr>
      <vt:lpstr>Second-Order Systems (PT2)</vt:lpstr>
      <vt:lpstr>Solution for PT2 Differential Equation</vt:lpstr>
      <vt:lpstr>Derivation of Specific Example</vt:lpstr>
      <vt:lpstr>PowerPoint-Präsentation</vt:lpstr>
      <vt:lpstr>Example: Mass-Spring-Damper</vt:lpstr>
      <vt:lpstr>Step and Impulse Response</vt:lpstr>
      <vt:lpstr>Example: RLC Series Circuit</vt:lpstr>
      <vt:lpstr>Linear Time-Invariant (LTI) Systems</vt:lpstr>
      <vt:lpstr>Dead Time</vt:lpstr>
      <vt:lpstr>Step Responses of Higher-Order Systems</vt:lpstr>
      <vt:lpstr>Outlook: Frequency Response</vt:lpstr>
      <vt:lpstr>Summary: From Physics to Model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253</cp:revision>
  <dcterms:created xsi:type="dcterms:W3CDTF">2025-01-08T09:27:30Z</dcterms:created>
  <dcterms:modified xsi:type="dcterms:W3CDTF">2026-03-26T22:58:54Z</dcterms:modified>
</cp:coreProperties>
</file>
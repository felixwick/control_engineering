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76" r:id="rId3"/>
    <p:sldId id="279" r:id="rId4"/>
    <p:sldId id="286" r:id="rId5"/>
    <p:sldId id="285" r:id="rId6"/>
    <p:sldId id="280" r:id="rId7"/>
    <p:sldId id="281" r:id="rId8"/>
    <p:sldId id="282" r:id="rId9"/>
    <p:sldId id="259" r:id="rId10"/>
    <p:sldId id="283" r:id="rId11"/>
    <p:sldId id="278" r:id="rId12"/>
    <p:sldId id="28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/>
    <p:restoredTop sz="95028" autoAdjust="0"/>
  </p:normalViewPr>
  <p:slideViewPr>
    <p:cSldViewPr snapToGrid="0">
      <p:cViewPr varScale="1">
        <p:scale>
          <a:sx n="144" d="100"/>
          <a:sy n="144" d="100"/>
        </p:scale>
        <p:origin x="9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615242-9AE4-EA1E-7DFA-9BD7D9F6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Control Engineering?</a:t>
            </a:r>
            <a:endParaRPr lang="en-GB" dirty="0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280FA31C-0719-27CE-5CC0-D22FEA964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b="1" dirty="0"/>
              <a:t>Making </a:t>
            </a:r>
            <a:r>
              <a:rPr lang="de-DE" b="1" dirty="0" err="1"/>
              <a:t>processes</a:t>
            </a:r>
            <a:r>
              <a:rPr lang="de-DE" b="1" dirty="0"/>
              <a:t> </a:t>
            </a:r>
            <a:r>
              <a:rPr lang="de-DE" b="1" dirty="0" err="1"/>
              <a:t>behave</a:t>
            </a:r>
            <a:r>
              <a:rPr lang="de-DE" b="1" dirty="0"/>
              <a:t>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desired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Objective</a:t>
            </a:r>
            <a:r>
              <a:rPr lang="de-DE" dirty="0"/>
              <a:t>: </a:t>
            </a:r>
            <a:r>
              <a:rPr lang="de-DE" dirty="0" err="1"/>
              <a:t>regulate</a:t>
            </a:r>
            <a:r>
              <a:rPr lang="de-DE" dirty="0"/>
              <a:t>, track, and </a:t>
            </a:r>
            <a:r>
              <a:rPr lang="de-DE" dirty="0" err="1"/>
              <a:t>stabilize</a:t>
            </a:r>
            <a:r>
              <a:rPr lang="de-DE" dirty="0"/>
              <a:t>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processes</a:t>
            </a:r>
            <a:endParaRPr lang="de-DE" dirty="0"/>
          </a:p>
          <a:p>
            <a:r>
              <a:rPr lang="de-DE" dirty="0"/>
              <a:t>Control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b="1" dirty="0" err="1"/>
              <a:t>decision-making</a:t>
            </a:r>
            <a:r>
              <a:rPr lang="de-DE" b="1" dirty="0"/>
              <a:t> </a:t>
            </a:r>
            <a:r>
              <a:rPr lang="de-DE" b="1" dirty="0" err="1"/>
              <a:t>over</a:t>
            </a:r>
            <a:r>
              <a:rPr lang="de-DE" b="1" dirty="0"/>
              <a:t>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07719-B5C6-E0AE-4F7D-D21E5E34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C1DCFE2-15B0-E489-57DD-4BED8E6DFFC0}"/>
              </a:ext>
            </a:extLst>
          </p:cNvPr>
          <p:cNvSpPr/>
          <p:nvPr/>
        </p:nvSpPr>
        <p:spPr>
          <a:xfrm>
            <a:off x="5103668" y="3039340"/>
            <a:ext cx="1984663" cy="779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1"/>
                </a:solidFill>
              </a:rPr>
              <a:t>Process</a:t>
            </a:r>
            <a:endParaRPr lang="de-DE" sz="2800" dirty="0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C08370-325E-C181-90A9-AEBB8C817397}"/>
              </a:ext>
            </a:extLst>
          </p:cNvPr>
          <p:cNvSpPr txBox="1"/>
          <p:nvPr/>
        </p:nvSpPr>
        <p:spPr>
          <a:xfrm>
            <a:off x="3118757" y="3167388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Input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8D16279-3EA7-9F20-F626-9791C36CFFE9}"/>
              </a:ext>
            </a:extLst>
          </p:cNvPr>
          <p:cNvSpPr txBox="1"/>
          <p:nvPr/>
        </p:nvSpPr>
        <p:spPr>
          <a:xfrm>
            <a:off x="8066808" y="3167388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Output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5EC3401-4D10-0D87-E15E-8777CAD07110}"/>
              </a:ext>
            </a:extLst>
          </p:cNvPr>
          <p:cNvCxnSpPr>
            <a:endCxn id="2" idx="1"/>
          </p:cNvCxnSpPr>
          <p:nvPr/>
        </p:nvCxnSpPr>
        <p:spPr>
          <a:xfrm>
            <a:off x="4125191" y="3428999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E4F23EC-7368-6E28-6C1C-2D0F2F3E772F}"/>
              </a:ext>
            </a:extLst>
          </p:cNvPr>
          <p:cNvCxnSpPr/>
          <p:nvPr/>
        </p:nvCxnSpPr>
        <p:spPr>
          <a:xfrm>
            <a:off x="7088331" y="3428998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45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9A4AC-769E-7040-521B-A72CFA6E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Open-Loop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4EA166-0889-39AD-81F7-0B6344948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3838"/>
            <a:ext cx="10515600" cy="37176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/>
              <a:t>Control </a:t>
            </a:r>
            <a:r>
              <a:rPr lang="de-DE" dirty="0" err="1"/>
              <a:t>action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b="1" dirty="0"/>
              <a:t>not </a:t>
            </a:r>
            <a:r>
              <a:rPr lang="de-DE" b="1" dirty="0" err="1"/>
              <a:t>depend</a:t>
            </a:r>
            <a:r>
              <a:rPr lang="de-DE" b="1" dirty="0"/>
              <a:t> on </a:t>
            </a:r>
            <a:r>
              <a:rPr lang="de-DE" b="1" dirty="0" err="1"/>
              <a:t>output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feedback</a:t>
            </a:r>
            <a:endParaRPr lang="de-DE" dirty="0"/>
          </a:p>
          <a:p>
            <a:r>
              <a:rPr lang="de-DE" dirty="0"/>
              <a:t>Simple, </a:t>
            </a:r>
            <a:r>
              <a:rPr lang="de-DE" dirty="0" err="1"/>
              <a:t>cheap</a:t>
            </a:r>
            <a:r>
              <a:rPr lang="de-DE" dirty="0"/>
              <a:t>, but </a:t>
            </a:r>
            <a:r>
              <a:rPr lang="de-DE" dirty="0" err="1"/>
              <a:t>inaccurate</a:t>
            </a:r>
            <a:endParaRPr lang="de-DE" dirty="0"/>
          </a:p>
          <a:p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correct</a:t>
            </a:r>
            <a:r>
              <a:rPr lang="de-DE" dirty="0"/>
              <a:t> </a:t>
            </a:r>
            <a:r>
              <a:rPr lang="de-DE" dirty="0" err="1"/>
              <a:t>disturbances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errors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0052B0-C540-B203-1030-DC450892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5BFAC6B-F298-7D62-13E7-DDD7DD2DA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32" y="2754743"/>
            <a:ext cx="31750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B7CB5EA-CBEE-8618-06BB-BFCE85CD132A}"/>
              </a:ext>
            </a:extLst>
          </p:cNvPr>
          <p:cNvSpPr txBox="1"/>
          <p:nvPr/>
        </p:nvSpPr>
        <p:spPr>
          <a:xfrm>
            <a:off x="8426976" y="5142343"/>
            <a:ext cx="3758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programmed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turn on at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set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times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464A210-35E1-2C84-0C46-4736338845F3}"/>
              </a:ext>
            </a:extLst>
          </p:cNvPr>
          <p:cNvSpPr/>
          <p:nvPr/>
        </p:nvSpPr>
        <p:spPr>
          <a:xfrm>
            <a:off x="1816678" y="1829459"/>
            <a:ext cx="1291438" cy="779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9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E7289D4-548A-492F-9632-071BD1F89E37}"/>
              </a:ext>
            </a:extLst>
          </p:cNvPr>
          <p:cNvSpPr txBox="1"/>
          <p:nvPr/>
        </p:nvSpPr>
        <p:spPr>
          <a:xfrm>
            <a:off x="915612" y="1832160"/>
            <a:ext cx="73449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00" dirty="0"/>
              <a:t>Input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4505E3F-0BE3-B7AC-049F-69528FFE073E}"/>
              </a:ext>
            </a:extLst>
          </p:cNvPr>
          <p:cNvSpPr txBox="1"/>
          <p:nvPr/>
        </p:nvSpPr>
        <p:spPr>
          <a:xfrm>
            <a:off x="7648652" y="1826536"/>
            <a:ext cx="92845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00" dirty="0"/>
              <a:t>Output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A6CAB22-9741-F485-D327-15BDDC6D255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38200" y="2219118"/>
            <a:ext cx="97847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F0D9285-D828-E3ED-B8B1-7244AD0438D1}"/>
              </a:ext>
            </a:extLst>
          </p:cNvPr>
          <p:cNvCxnSpPr/>
          <p:nvPr/>
        </p:nvCxnSpPr>
        <p:spPr>
          <a:xfrm>
            <a:off x="3108116" y="2219118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1E4E35B4-050C-06AC-05FF-2D3827AD94D6}"/>
              </a:ext>
            </a:extLst>
          </p:cNvPr>
          <p:cNvSpPr/>
          <p:nvPr/>
        </p:nvSpPr>
        <p:spPr>
          <a:xfrm>
            <a:off x="4086593" y="1821821"/>
            <a:ext cx="1291438" cy="779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900" dirty="0" err="1">
                <a:solidFill>
                  <a:schemeClr val="tx1"/>
                </a:solidFill>
              </a:rPr>
              <a:t>Actuator</a:t>
            </a:r>
            <a:endParaRPr lang="de-DE" sz="1900" dirty="0">
              <a:solidFill>
                <a:schemeClr val="tx1"/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264F9CF-BE7D-7649-71FD-D7D288433D98}"/>
              </a:ext>
            </a:extLst>
          </p:cNvPr>
          <p:cNvCxnSpPr/>
          <p:nvPr/>
        </p:nvCxnSpPr>
        <p:spPr>
          <a:xfrm>
            <a:off x="5378031" y="2216881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5D633AC9-12F8-10D3-6A1D-2AA5420B9592}"/>
              </a:ext>
            </a:extLst>
          </p:cNvPr>
          <p:cNvSpPr/>
          <p:nvPr/>
        </p:nvSpPr>
        <p:spPr>
          <a:xfrm>
            <a:off x="6356508" y="1819584"/>
            <a:ext cx="1291438" cy="779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900" dirty="0" err="1">
                <a:solidFill>
                  <a:schemeClr val="tx1"/>
                </a:solidFill>
              </a:rPr>
              <a:t>Process</a:t>
            </a:r>
            <a:endParaRPr lang="de-DE" sz="1900" dirty="0">
              <a:solidFill>
                <a:schemeClr val="tx1"/>
              </a:solidFill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C89FE3D-44C7-9EEF-82C1-ADB3858D5607}"/>
              </a:ext>
            </a:extLst>
          </p:cNvPr>
          <p:cNvCxnSpPr/>
          <p:nvPr/>
        </p:nvCxnSpPr>
        <p:spPr>
          <a:xfrm>
            <a:off x="7647946" y="2216881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01AF99C-E255-E64A-15AF-234AE00A0B28}"/>
              </a:ext>
            </a:extLst>
          </p:cNvPr>
          <p:cNvGrpSpPr/>
          <p:nvPr/>
        </p:nvGrpSpPr>
        <p:grpSpPr>
          <a:xfrm>
            <a:off x="1338434" y="3688942"/>
            <a:ext cx="6188395" cy="1540885"/>
            <a:chOff x="1920330" y="3688942"/>
            <a:chExt cx="6188395" cy="1540885"/>
          </a:xfrm>
        </p:grpSpPr>
        <p:pic>
          <p:nvPicPr>
            <p:cNvPr id="5124" name="Picture 4" descr="open-loop system">
              <a:extLst>
                <a:ext uri="{FF2B5EF4-FFF2-40B4-BE49-F238E27FC236}">
                  <a16:creationId xmlns:a16="http://schemas.microsoft.com/office/drawing/2014/main" id="{E71BC585-3E89-1CF8-ABCC-4E7CB599D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330" y="3688942"/>
              <a:ext cx="6188395" cy="1540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3C00375A-AFBF-E39B-7680-D7C88C11DFC6}"/>
                </a:ext>
              </a:extLst>
            </p:cNvPr>
            <p:cNvSpPr/>
            <p:nvPr/>
          </p:nvSpPr>
          <p:spPr>
            <a:xfrm>
              <a:off x="1920330" y="5007631"/>
              <a:ext cx="5259230" cy="222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A9F0C303-F59C-2DF7-EFB9-2399D4A50446}"/>
                </a:ext>
              </a:extLst>
            </p:cNvPr>
            <p:cNvSpPr/>
            <p:nvPr/>
          </p:nvSpPr>
          <p:spPr>
            <a:xfrm>
              <a:off x="3118577" y="3699333"/>
              <a:ext cx="913096" cy="560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88635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B41D4-AAD8-A82E-7D02-C5E4EE311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Closed</a:t>
            </a:r>
            <a:r>
              <a:rPr lang="de-DE" dirty="0"/>
              <a:t>-Loop Control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86533E-CD80-5B8C-D6BC-8237FBA8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DBDE414-F866-5686-4012-E6173E152C28}"/>
              </a:ext>
            </a:extLst>
          </p:cNvPr>
          <p:cNvGrpSpPr/>
          <p:nvPr/>
        </p:nvGrpSpPr>
        <p:grpSpPr>
          <a:xfrm>
            <a:off x="1396004" y="1690688"/>
            <a:ext cx="9399992" cy="3736651"/>
            <a:chOff x="1312999" y="1551600"/>
            <a:chExt cx="9399992" cy="3736651"/>
          </a:xfrm>
        </p:grpSpPr>
        <p:pic>
          <p:nvPicPr>
            <p:cNvPr id="5" name="Picture 4" descr="Closed Loop System and Closed-loop Feedback Control Systems">
              <a:extLst>
                <a:ext uri="{FF2B5EF4-FFF2-40B4-BE49-F238E27FC236}">
                  <a16:creationId xmlns:a16="http://schemas.microsoft.com/office/drawing/2014/main" id="{A7AC868E-480E-184E-ECAC-4206501920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9008" y="1569749"/>
              <a:ext cx="9233983" cy="3718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E523742-8946-1647-84BD-79CA3E93CE67}"/>
                </a:ext>
              </a:extLst>
            </p:cNvPr>
            <p:cNvSpPr/>
            <p:nvPr/>
          </p:nvSpPr>
          <p:spPr>
            <a:xfrm flipV="1">
              <a:off x="1312999" y="2971798"/>
              <a:ext cx="921046" cy="3740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E19C7476-F588-E0F5-E8FC-01AC6343002A}"/>
                </a:ext>
              </a:extLst>
            </p:cNvPr>
            <p:cNvSpPr/>
            <p:nvPr/>
          </p:nvSpPr>
          <p:spPr>
            <a:xfrm flipV="1">
              <a:off x="9791945" y="3054926"/>
              <a:ext cx="921046" cy="3740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B330525-47C4-8D5A-AD70-FE0865C7A283}"/>
                </a:ext>
              </a:extLst>
            </p:cNvPr>
            <p:cNvSpPr/>
            <p:nvPr/>
          </p:nvSpPr>
          <p:spPr>
            <a:xfrm flipV="1">
              <a:off x="3314981" y="1551600"/>
              <a:ext cx="1433664" cy="830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86EA4BE6-0AFF-8D87-3B41-1A0E9CA4FBED}"/>
              </a:ext>
            </a:extLst>
          </p:cNvPr>
          <p:cNvSpPr txBox="1"/>
          <p:nvPr/>
        </p:nvSpPr>
        <p:spPr>
          <a:xfrm>
            <a:off x="3456002" y="5833130"/>
            <a:ext cx="5279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/>
              <a:t>Output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measured</a:t>
            </a:r>
            <a:r>
              <a:rPr lang="de-DE" sz="2800" dirty="0"/>
              <a:t> and </a:t>
            </a:r>
            <a:r>
              <a:rPr lang="de-DE" sz="2800" dirty="0" err="1"/>
              <a:t>fed</a:t>
            </a:r>
            <a:r>
              <a:rPr lang="de-DE" sz="2800" dirty="0"/>
              <a:t> back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3128331-CF8D-6556-289A-F256119A5778}"/>
              </a:ext>
            </a:extLst>
          </p:cNvPr>
          <p:cNvSpPr/>
          <p:nvPr/>
        </p:nvSpPr>
        <p:spPr>
          <a:xfrm>
            <a:off x="3968318" y="4145872"/>
            <a:ext cx="639193" cy="337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730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0B121C6D-6A3B-E6C4-325C-73795373A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521"/>
            <a:ext cx="10035309" cy="63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7247C8-F08E-D5F2-4FCB-49426E9B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A62C64C-D9DF-BB1A-4590-0128D63505A4}"/>
              </a:ext>
            </a:extLst>
          </p:cNvPr>
          <p:cNvSpPr txBox="1"/>
          <p:nvPr/>
        </p:nvSpPr>
        <p:spPr>
          <a:xfrm>
            <a:off x="1171853" y="2476870"/>
            <a:ext cx="1127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Control Deviation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B08342E-6370-C428-4AAE-027C8BD1D8E3}"/>
              </a:ext>
            </a:extLst>
          </p:cNvPr>
          <p:cNvCxnSpPr>
            <a:stCxn id="2" idx="2"/>
          </p:cNvCxnSpPr>
          <p:nvPr/>
        </p:nvCxnSpPr>
        <p:spPr>
          <a:xfrm>
            <a:off x="1735585" y="3123201"/>
            <a:ext cx="412811" cy="685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886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AE0BB0-F77F-FA50-6B80-18D40A2D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Closed</a:t>
            </a:r>
            <a:r>
              <a:rPr lang="de-DE" dirty="0"/>
              <a:t>-Loop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910CEA-C417-EDB3-77B8-E0AE80ED8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26512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Controller </a:t>
            </a:r>
            <a:r>
              <a:rPr lang="de-DE" dirty="0" err="1"/>
              <a:t>compares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and </a:t>
            </a:r>
            <a:r>
              <a:rPr lang="de-DE" dirty="0" err="1"/>
              <a:t>output</a:t>
            </a:r>
            <a:endParaRPr lang="de-DE" dirty="0"/>
          </a:p>
          <a:p>
            <a:r>
              <a:rPr lang="de-DE" dirty="0"/>
              <a:t>Error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drives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action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accuracy</a:t>
            </a:r>
            <a:r>
              <a:rPr lang="de-DE" dirty="0"/>
              <a:t> and </a:t>
            </a:r>
            <a:r>
              <a:rPr lang="de-DE" dirty="0" err="1"/>
              <a:t>robustness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82764-F195-9802-B5EF-0CA33B39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3B2EE04-1262-D49F-16FA-5FFE7C7CE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295" y="2980057"/>
            <a:ext cx="9819409" cy="2820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28BC0FC-895C-4EFD-795C-80692263F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40800"/>
            <a:ext cx="31750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D5A7AC4-023C-6F5F-9C9C-17702D7A0B59}"/>
              </a:ext>
            </a:extLst>
          </p:cNvPr>
          <p:cNvSpPr txBox="1"/>
          <p:nvPr/>
        </p:nvSpPr>
        <p:spPr>
          <a:xfrm>
            <a:off x="8286198" y="2361700"/>
            <a:ext cx="3823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maintains</a:t>
            </a:r>
            <a:r>
              <a:rPr lang="de-DE" dirty="0"/>
              <a:t> </a:t>
            </a:r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near</a:t>
            </a:r>
            <a:r>
              <a:rPr lang="de-DE" dirty="0"/>
              <a:t> </a:t>
            </a:r>
            <a:r>
              <a:rPr lang="de-DE" dirty="0" err="1"/>
              <a:t>setpoint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0F47F0-558F-B76A-2E27-44D39B0AC6D5}"/>
              </a:ext>
            </a:extLst>
          </p:cNvPr>
          <p:cNvSpPr txBox="1"/>
          <p:nvPr/>
        </p:nvSpPr>
        <p:spPr>
          <a:xfrm>
            <a:off x="8477435" y="4011523"/>
            <a:ext cx="115483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Process</a:t>
            </a:r>
            <a:endParaRPr lang="de-DE" sz="2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5D69DF-C4B2-3D60-8C91-63719335CE8B}"/>
              </a:ext>
            </a:extLst>
          </p:cNvPr>
          <p:cNvSpPr txBox="1"/>
          <p:nvPr/>
        </p:nvSpPr>
        <p:spPr>
          <a:xfrm>
            <a:off x="7322598" y="2875782"/>
            <a:ext cx="115483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Process</a:t>
            </a:r>
            <a:endParaRPr lang="de-DE" sz="22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D639BA3-71C5-E0B3-D0D0-588E9592BD96}"/>
              </a:ext>
            </a:extLst>
          </p:cNvPr>
          <p:cNvSpPr txBox="1"/>
          <p:nvPr/>
        </p:nvSpPr>
        <p:spPr>
          <a:xfrm>
            <a:off x="9982200" y="3283010"/>
            <a:ext cx="115483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Process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1869757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0ED58-5FA1-F257-7511-87418DE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Sensors and </a:t>
            </a:r>
            <a:r>
              <a:rPr lang="de-DE" dirty="0" err="1"/>
              <a:t>Actuators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DF0C89-4633-D22B-E857-71C245808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Sensors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(</a:t>
            </a:r>
            <a:r>
              <a:rPr lang="de-DE" dirty="0" err="1"/>
              <a:t>position</a:t>
            </a:r>
            <a:r>
              <a:rPr lang="de-DE" dirty="0"/>
              <a:t>, </a:t>
            </a:r>
            <a:r>
              <a:rPr lang="de-DE" dirty="0" err="1"/>
              <a:t>speed</a:t>
            </a:r>
            <a:r>
              <a:rPr lang="de-DE" dirty="0"/>
              <a:t>, </a:t>
            </a:r>
            <a:r>
              <a:rPr lang="de-DE" dirty="0" err="1"/>
              <a:t>temperature</a:t>
            </a:r>
            <a:r>
              <a:rPr lang="de-DE" dirty="0"/>
              <a:t>)</a:t>
            </a:r>
          </a:p>
          <a:p>
            <a:r>
              <a:rPr lang="de-DE" dirty="0" err="1"/>
              <a:t>Actuators</a:t>
            </a: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(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torque</a:t>
            </a:r>
            <a:r>
              <a:rPr lang="de-DE" dirty="0"/>
              <a:t>, </a:t>
            </a:r>
            <a:r>
              <a:rPr lang="de-DE" dirty="0" err="1"/>
              <a:t>valve</a:t>
            </a:r>
            <a:r>
              <a:rPr lang="de-DE" dirty="0"/>
              <a:t> </a:t>
            </a:r>
            <a:r>
              <a:rPr lang="de-DE" dirty="0" err="1"/>
              <a:t>opening</a:t>
            </a:r>
            <a:r>
              <a:rPr lang="de-DE" dirty="0"/>
              <a:t>)</a:t>
            </a:r>
          </a:p>
          <a:p>
            <a:r>
              <a:rPr lang="de-DE" dirty="0"/>
              <a:t>Measurement </a:t>
            </a:r>
            <a:r>
              <a:rPr lang="de-DE" dirty="0" err="1"/>
              <a:t>noise</a:t>
            </a:r>
            <a:r>
              <a:rPr lang="de-DE" dirty="0"/>
              <a:t> and </a:t>
            </a:r>
            <a:r>
              <a:rPr lang="de-DE" dirty="0" err="1"/>
              <a:t>delays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unavoidable</a:t>
            </a:r>
            <a:endParaRPr lang="de-DE" dirty="0"/>
          </a:p>
          <a:p>
            <a:r>
              <a:rPr lang="de-DE" dirty="0"/>
              <a:t>Control design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account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imperfections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347BD4-FB42-D585-E4E6-3F7E59ED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2F046B-8AD8-1F0E-FE39-A6D9B3614EBB}"/>
              </a:ext>
            </a:extLst>
          </p:cNvPr>
          <p:cNvGrpSpPr/>
          <p:nvPr/>
        </p:nvGrpSpPr>
        <p:grpSpPr>
          <a:xfrm>
            <a:off x="2963281" y="4001294"/>
            <a:ext cx="5647319" cy="2794361"/>
            <a:chOff x="2963281" y="4001294"/>
            <a:chExt cx="5647319" cy="2794361"/>
          </a:xfrm>
        </p:grpSpPr>
        <p:pic>
          <p:nvPicPr>
            <p:cNvPr id="6150" name="Picture 6" descr="Closed Loop Systems - an overview | ScienceDirect Topics">
              <a:extLst>
                <a:ext uri="{FF2B5EF4-FFF2-40B4-BE49-F238E27FC236}">
                  <a16:creationId xmlns:a16="http://schemas.microsoft.com/office/drawing/2014/main" id="{75E4E095-69E4-D97E-24D8-99A54A72E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0571" y="4001294"/>
              <a:ext cx="5590029" cy="2783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8A110454-E3E6-E3D5-8C14-3D1F540DA00C}"/>
                </a:ext>
              </a:extLst>
            </p:cNvPr>
            <p:cNvSpPr/>
            <p:nvPr/>
          </p:nvSpPr>
          <p:spPr>
            <a:xfrm>
              <a:off x="3020571" y="4665518"/>
              <a:ext cx="283738" cy="270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D3DEC7F2-EFDA-3EC6-3564-E6697726F5F2}"/>
                </a:ext>
              </a:extLst>
            </p:cNvPr>
            <p:cNvSpPr/>
            <p:nvPr/>
          </p:nvSpPr>
          <p:spPr>
            <a:xfrm>
              <a:off x="3020571" y="6525491"/>
              <a:ext cx="283738" cy="270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A40EC6F9-F15F-9604-3B41-E2E3778ED24C}"/>
                </a:ext>
              </a:extLst>
            </p:cNvPr>
            <p:cNvSpPr/>
            <p:nvPr/>
          </p:nvSpPr>
          <p:spPr>
            <a:xfrm>
              <a:off x="5147244" y="5524500"/>
              <a:ext cx="283738" cy="270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3B8936F-5782-4F43-FCFF-DFF77F131F19}"/>
                </a:ext>
              </a:extLst>
            </p:cNvPr>
            <p:cNvSpPr/>
            <p:nvPr/>
          </p:nvSpPr>
          <p:spPr>
            <a:xfrm>
              <a:off x="6425327" y="5534891"/>
              <a:ext cx="283738" cy="270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1CD4402-5670-9F9E-944B-726D3E0CE652}"/>
                </a:ext>
              </a:extLst>
            </p:cNvPr>
            <p:cNvSpPr/>
            <p:nvPr/>
          </p:nvSpPr>
          <p:spPr>
            <a:xfrm flipV="1">
              <a:off x="3640562" y="4592781"/>
              <a:ext cx="723620" cy="145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0A30F5C-545F-6C74-B4FC-0749C68F124F}"/>
                </a:ext>
              </a:extLst>
            </p:cNvPr>
            <p:cNvSpPr/>
            <p:nvPr/>
          </p:nvSpPr>
          <p:spPr>
            <a:xfrm flipV="1">
              <a:off x="2963281" y="5891537"/>
              <a:ext cx="723620" cy="145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10348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12107-E377-DB91-6E16-5180CD6A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Feedback: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C46CA0-26AF-9F63-1400-0D58BE5CF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sensitivity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disturbances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uncertainty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tracking</a:t>
            </a:r>
            <a:r>
              <a:rPr lang="de-DE" dirty="0"/>
              <a:t> </a:t>
            </a:r>
            <a:r>
              <a:rPr lang="de-DE" dirty="0" err="1"/>
              <a:t>accuracy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But </a:t>
            </a:r>
            <a:r>
              <a:rPr lang="de-DE" dirty="0" err="1"/>
              <a:t>can</a:t>
            </a:r>
            <a:r>
              <a:rPr lang="de-DE" dirty="0"/>
              <a:t> also </a:t>
            </a:r>
            <a:r>
              <a:rPr lang="de-DE" dirty="0" err="1"/>
              <a:t>destabilize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poorly</a:t>
            </a:r>
            <a:r>
              <a:rPr lang="de-DE" dirty="0"/>
              <a:t> </a:t>
            </a:r>
            <a:r>
              <a:rPr lang="de-DE" dirty="0" err="1"/>
              <a:t>designed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230E84-B9F1-09AA-7ED5-98BAB1A4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70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2E5C-5FD4-F085-4DAA-7404FBAA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Engineering Applications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165E42-8540-9972-087F-81866151D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600" dirty="0"/>
              <a:t>Robotics: </a:t>
            </a:r>
            <a:r>
              <a:rPr lang="de-DE" sz="2600" dirty="0" err="1"/>
              <a:t>motion</a:t>
            </a:r>
            <a:r>
              <a:rPr lang="de-DE" sz="2600" dirty="0"/>
              <a:t> </a:t>
            </a:r>
            <a:r>
              <a:rPr lang="de-DE" sz="2600" dirty="0" err="1"/>
              <a:t>control</a:t>
            </a:r>
            <a:r>
              <a:rPr lang="de-DE" sz="2600" dirty="0"/>
              <a:t>, </a:t>
            </a:r>
            <a:r>
              <a:rPr lang="de-DE" sz="2600" dirty="0" err="1"/>
              <a:t>balance</a:t>
            </a:r>
            <a:r>
              <a:rPr lang="de-DE" sz="2600" dirty="0"/>
              <a:t>, </a:t>
            </a:r>
            <a:r>
              <a:rPr lang="de-DE" sz="2600" dirty="0" err="1"/>
              <a:t>manipulation</a:t>
            </a:r>
            <a:endParaRPr lang="de-DE" sz="2600" dirty="0"/>
          </a:p>
          <a:p>
            <a:r>
              <a:rPr lang="de-DE" sz="2600" dirty="0"/>
              <a:t>Automation: </a:t>
            </a:r>
            <a:r>
              <a:rPr lang="de-DE" sz="2600" dirty="0" err="1"/>
              <a:t>process</a:t>
            </a:r>
            <a:r>
              <a:rPr lang="de-DE" sz="2600" dirty="0"/>
              <a:t> </a:t>
            </a:r>
            <a:r>
              <a:rPr lang="de-DE" sz="2600" dirty="0" err="1"/>
              <a:t>control</a:t>
            </a:r>
            <a:r>
              <a:rPr lang="de-DE" sz="2600" dirty="0"/>
              <a:t>, </a:t>
            </a:r>
            <a:r>
              <a:rPr lang="de-DE" sz="2600" dirty="0" err="1"/>
              <a:t>manufacturing</a:t>
            </a:r>
            <a:r>
              <a:rPr lang="de-DE" sz="2600" dirty="0"/>
              <a:t> </a:t>
            </a:r>
            <a:r>
              <a:rPr lang="de-DE" sz="2600" dirty="0" err="1"/>
              <a:t>lines</a:t>
            </a:r>
            <a:endParaRPr lang="de-DE" sz="2600" dirty="0"/>
          </a:p>
          <a:p>
            <a:r>
              <a:rPr lang="de-DE" sz="2600" dirty="0"/>
              <a:t>Automotive: cruise </a:t>
            </a:r>
            <a:r>
              <a:rPr lang="de-DE" sz="2600" dirty="0" err="1"/>
              <a:t>control</a:t>
            </a:r>
            <a:r>
              <a:rPr lang="de-DE" sz="2600" dirty="0"/>
              <a:t>, ABS, </a:t>
            </a:r>
            <a:r>
              <a:rPr lang="de-DE" sz="2600" dirty="0" err="1"/>
              <a:t>engine</a:t>
            </a:r>
            <a:r>
              <a:rPr lang="de-DE" sz="2600" dirty="0"/>
              <a:t> </a:t>
            </a:r>
            <a:r>
              <a:rPr lang="de-DE" sz="2600" dirty="0" err="1"/>
              <a:t>control</a:t>
            </a:r>
            <a:endParaRPr lang="de-DE" sz="2600" dirty="0"/>
          </a:p>
          <a:p>
            <a:r>
              <a:rPr lang="de-DE" sz="2600" dirty="0"/>
              <a:t>Energy </a:t>
            </a:r>
            <a:r>
              <a:rPr lang="de-DE" sz="2600" dirty="0" err="1"/>
              <a:t>systems</a:t>
            </a:r>
            <a:r>
              <a:rPr lang="de-DE" sz="2600" dirty="0"/>
              <a:t>, </a:t>
            </a:r>
            <a:r>
              <a:rPr lang="de-DE" sz="2600" dirty="0" err="1"/>
              <a:t>aerospace</a:t>
            </a:r>
            <a:r>
              <a:rPr lang="de-DE" sz="2600" dirty="0"/>
              <a:t>, </a:t>
            </a:r>
            <a:r>
              <a:rPr lang="de-DE" sz="2600" dirty="0" err="1"/>
              <a:t>biomedical</a:t>
            </a:r>
            <a:r>
              <a:rPr lang="de-DE" sz="2600" dirty="0"/>
              <a:t> </a:t>
            </a:r>
            <a:r>
              <a:rPr lang="de-DE" sz="2600" dirty="0" err="1"/>
              <a:t>engineering</a:t>
            </a:r>
            <a:endParaRPr lang="de-DE" sz="2600" dirty="0"/>
          </a:p>
          <a:p>
            <a:r>
              <a:rPr lang="de-DE" sz="2600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26E71-3908-2652-F640-7EB52307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E98922-05D6-3F98-B9E9-B91AFA84A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46" y="4506912"/>
            <a:ext cx="203200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0CCDB53-C088-4AB2-30FC-CFCF54E59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4689475"/>
            <a:ext cx="1544073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506E513-637F-EA33-EC85-3F81E833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315" y="4178227"/>
            <a:ext cx="2360685" cy="236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ild von Boston Dynamics">
            <a:extLst>
              <a:ext uri="{FF2B5EF4-FFF2-40B4-BE49-F238E27FC236}">
                <a16:creationId xmlns:a16="http://schemas.microsoft.com/office/drawing/2014/main" id="{D91A33C6-2BB8-9F11-8F9C-9268451C5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841" y="3335483"/>
            <a:ext cx="2581740" cy="293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61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BAD325-45D4-6586-A523-3DE94A71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Typical</a:t>
            </a:r>
            <a:r>
              <a:rPr lang="de-DE" dirty="0"/>
              <a:t> Control Engineering Workflow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1BEE14-FC3B-78F5-006B-79ECB9B9D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process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Build</a:t>
            </a:r>
            <a:r>
              <a:rPr lang="de-DE" dirty="0"/>
              <a:t> a </a:t>
            </a:r>
            <a:r>
              <a:rPr lang="de-DE" dirty="0" err="1"/>
              <a:t>mathematical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Design a </a:t>
            </a:r>
            <a:r>
              <a:rPr lang="de-DE" dirty="0" err="1"/>
              <a:t>controller</a:t>
            </a:r>
            <a:r>
              <a:rPr lang="de-DE" dirty="0"/>
              <a:t> (</a:t>
            </a:r>
            <a:r>
              <a:rPr lang="de-DE" dirty="0" err="1"/>
              <a:t>regarding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Simulate</a:t>
            </a:r>
            <a:r>
              <a:rPr lang="de-DE" dirty="0"/>
              <a:t> and </a:t>
            </a:r>
            <a:r>
              <a:rPr lang="de-DE" dirty="0" err="1"/>
              <a:t>analyze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Implement and </a:t>
            </a:r>
            <a:r>
              <a:rPr lang="de-DE" dirty="0" err="1"/>
              <a:t>test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15D189-2B0D-6B32-3F39-4AAB5832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3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135310B-9F15-7386-2DEF-6280289B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 Tools </a:t>
            </a:r>
            <a:r>
              <a:rPr lang="de-DE" dirty="0" err="1"/>
              <a:t>for</a:t>
            </a:r>
            <a:r>
              <a:rPr lang="de-DE" dirty="0"/>
              <a:t> This Course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676C7C6-1A78-E5A4-E683-89B4C7906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Python </a:t>
            </a:r>
            <a:r>
              <a:rPr lang="de-DE" dirty="0" err="1"/>
              <a:t>ecosystem</a:t>
            </a:r>
            <a:r>
              <a:rPr lang="de-DE" dirty="0"/>
              <a:t>:</a:t>
            </a:r>
          </a:p>
          <a:p>
            <a:pPr lvl="1"/>
            <a:r>
              <a:rPr lang="de-DE" sz="2600" dirty="0" err="1"/>
              <a:t>numpy</a:t>
            </a:r>
            <a:r>
              <a:rPr lang="de-DE" sz="2600" dirty="0"/>
              <a:t>, </a:t>
            </a:r>
            <a:r>
              <a:rPr lang="de-DE" sz="2600" dirty="0" err="1"/>
              <a:t>scipy</a:t>
            </a:r>
            <a:endParaRPr lang="de-DE" sz="2600" dirty="0"/>
          </a:p>
          <a:p>
            <a:pPr lvl="1"/>
            <a:r>
              <a:rPr lang="de-DE" sz="2600" dirty="0" err="1"/>
              <a:t>matplotlib</a:t>
            </a:r>
            <a:endParaRPr lang="de-DE" sz="2600" dirty="0"/>
          </a:p>
          <a:p>
            <a:pPr lvl="1"/>
            <a:r>
              <a:rPr lang="de-DE" sz="2600" dirty="0" err="1"/>
              <a:t>python-control</a:t>
            </a:r>
            <a:endParaRPr lang="de-DE" sz="2600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Advantages: open-source, </a:t>
            </a:r>
            <a:r>
              <a:rPr lang="de-DE" dirty="0" err="1"/>
              <a:t>reproducible</a:t>
            </a:r>
            <a:r>
              <a:rPr lang="de-DE" dirty="0"/>
              <a:t>, </a:t>
            </a:r>
            <a:r>
              <a:rPr lang="de-DE" dirty="0" err="1"/>
              <a:t>widely</a:t>
            </a:r>
            <a:r>
              <a:rPr lang="de-DE" dirty="0"/>
              <a:t> </a:t>
            </a:r>
            <a:r>
              <a:rPr lang="de-DE" dirty="0" err="1"/>
              <a:t>used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491D7-C432-6B3E-E374-5B0305EE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p:pic>
        <p:nvPicPr>
          <p:cNvPr id="2" name="Picture 4" descr="undefined">
            <a:extLst>
              <a:ext uri="{FF2B5EF4-FFF2-40B4-BE49-F238E27FC236}">
                <a16:creationId xmlns:a16="http://schemas.microsoft.com/office/drawing/2014/main" id="{0E103420-7227-A482-8F3B-38A37FFC6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151" y="2221710"/>
            <a:ext cx="2270330" cy="1021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undefined">
            <a:extLst>
              <a:ext uri="{FF2B5EF4-FFF2-40B4-BE49-F238E27FC236}">
                <a16:creationId xmlns:a16="http://schemas.microsoft.com/office/drawing/2014/main" id="{B68F3007-8B4C-6918-C411-C666C4472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21" y="3796409"/>
            <a:ext cx="2815303" cy="51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A939F483-D105-E44F-8EBA-9FE8B5718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151" y="2592992"/>
            <a:ext cx="1021649" cy="1021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undefined">
            <a:extLst>
              <a:ext uri="{FF2B5EF4-FFF2-40B4-BE49-F238E27FC236}">
                <a16:creationId xmlns:a16="http://schemas.microsoft.com/office/drawing/2014/main" id="{B38DF660-F52A-A67C-4463-E13F3B7B8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557" y="1871424"/>
            <a:ext cx="1124843" cy="123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30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86B17B-886E-71F1-045C-1A8F4167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</a:t>
            </a:r>
            <a:r>
              <a:rPr lang="de-DE" dirty="0" err="1"/>
              <a:t>Structure</a:t>
            </a:r>
            <a:r>
              <a:rPr lang="de-DE" dirty="0"/>
              <a:t> and Goals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52CE77-34C9-F112-5986-F8A45BF0D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core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concepts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Analyze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Design </a:t>
            </a:r>
            <a:r>
              <a:rPr lang="de-DE" dirty="0" err="1"/>
              <a:t>classical</a:t>
            </a:r>
            <a:r>
              <a:rPr lang="de-DE" dirty="0"/>
              <a:t> and modern </a:t>
            </a:r>
            <a:r>
              <a:rPr lang="de-DE" dirty="0" err="1"/>
              <a:t>controllers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Bridge </a:t>
            </a:r>
            <a:r>
              <a:rPr lang="de-DE" dirty="0" err="1"/>
              <a:t>theory</a:t>
            </a:r>
            <a:r>
              <a:rPr lang="de-DE" dirty="0"/>
              <a:t> and </a:t>
            </a:r>
            <a:r>
              <a:rPr lang="de-DE" dirty="0" err="1"/>
              <a:t>implementation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09B56B-083E-6FB0-C2E8-1775C36D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19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Macintosh PowerPoint</Application>
  <PresentationFormat>Breitbild</PresentationFormat>
  <Paragraphs>122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Introduction</vt:lpstr>
      <vt:lpstr>What Is Control Engineering?</vt:lpstr>
      <vt:lpstr>Open-Loop Control</vt:lpstr>
      <vt:lpstr>Closed-Loop Control</vt:lpstr>
      <vt:lpstr>PowerPoint-Präsentation</vt:lpstr>
      <vt:lpstr>Closed-Loop Control</vt:lpstr>
      <vt:lpstr>Sensors and Actuators</vt:lpstr>
      <vt:lpstr>Feedback: Why It Works</vt:lpstr>
      <vt:lpstr>Control Engineering Applications</vt:lpstr>
      <vt:lpstr>Typical Control Engineering Workflow</vt:lpstr>
      <vt:lpstr>Software Tools for This Course</vt:lpstr>
      <vt:lpstr>Course Structure and Goals</vt:lpstr>
      <vt:lpstr>Course Schedule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58</cp:revision>
  <dcterms:created xsi:type="dcterms:W3CDTF">2025-01-08T09:27:30Z</dcterms:created>
  <dcterms:modified xsi:type="dcterms:W3CDTF">2026-03-11T21:54:45Z</dcterms:modified>
</cp:coreProperties>
</file>
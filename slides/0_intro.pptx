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76" r:id="rId3"/>
    <p:sldId id="279" r:id="rId4"/>
    <p:sldId id="280" r:id="rId5"/>
    <p:sldId id="286" r:id="rId6"/>
    <p:sldId id="285" r:id="rId7"/>
    <p:sldId id="281" r:id="rId8"/>
    <p:sldId id="282" r:id="rId9"/>
    <p:sldId id="259" r:id="rId10"/>
    <p:sldId id="283" r:id="rId11"/>
    <p:sldId id="278" r:id="rId12"/>
    <p:sldId id="284" r:id="rId13"/>
    <p:sldId id="26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75"/>
    <p:restoredTop sz="95028" autoAdjust="0"/>
  </p:normalViewPr>
  <p:slideViewPr>
    <p:cSldViewPr snapToGrid="0">
      <p:cViewPr varScale="1">
        <p:scale>
          <a:sx n="123" d="100"/>
          <a:sy n="123" d="100"/>
        </p:scale>
        <p:origin x="208" y="2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28/01/2026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28/01/2026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28/01/2026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615242-9AE4-EA1E-7DFA-9BD7D9F6C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Control Engineering?</a:t>
            </a:r>
            <a:endParaRPr lang="en-GB" dirty="0"/>
          </a:p>
        </p:txBody>
      </p:sp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280FA31C-0719-27CE-5CC0-D22FEA964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Making </a:t>
            </a:r>
            <a:r>
              <a:rPr lang="de-DE" b="1" dirty="0" err="1"/>
              <a:t>systems</a:t>
            </a:r>
            <a:r>
              <a:rPr lang="de-DE" b="1" dirty="0"/>
              <a:t> </a:t>
            </a:r>
            <a:r>
              <a:rPr lang="de-DE" b="1" dirty="0" err="1"/>
              <a:t>behave</a:t>
            </a:r>
            <a:r>
              <a:rPr lang="de-DE" b="1" dirty="0"/>
              <a:t> </a:t>
            </a:r>
            <a:r>
              <a:rPr lang="de-DE" b="1" dirty="0" err="1"/>
              <a:t>as</a:t>
            </a:r>
            <a:r>
              <a:rPr lang="de-DE" b="1" dirty="0"/>
              <a:t> </a:t>
            </a:r>
            <a:r>
              <a:rPr lang="de-DE" b="1" dirty="0" err="1"/>
              <a:t>desired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Objective</a:t>
            </a:r>
            <a:r>
              <a:rPr lang="de-DE" dirty="0"/>
              <a:t>: </a:t>
            </a:r>
            <a:r>
              <a:rPr lang="de-DE" dirty="0" err="1"/>
              <a:t>regulate</a:t>
            </a:r>
            <a:r>
              <a:rPr lang="de-DE" dirty="0"/>
              <a:t>, track, and </a:t>
            </a:r>
            <a:r>
              <a:rPr lang="de-DE" dirty="0" err="1"/>
              <a:t>stabilize</a:t>
            </a:r>
            <a:r>
              <a:rPr lang="de-DE" dirty="0"/>
              <a:t>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Control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b="1" dirty="0" err="1"/>
              <a:t>decision-making</a:t>
            </a:r>
            <a:r>
              <a:rPr lang="de-DE" b="1" dirty="0"/>
              <a:t> </a:t>
            </a:r>
            <a:r>
              <a:rPr lang="de-DE" b="1" dirty="0" err="1"/>
              <a:t>over</a:t>
            </a:r>
            <a:r>
              <a:rPr lang="de-DE" b="1" dirty="0"/>
              <a:t> time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807719-B5C6-E0AE-4F7D-D21E5E34B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3C1DCFE2-15B0-E489-57DD-4BED8E6DFFC0}"/>
              </a:ext>
            </a:extLst>
          </p:cNvPr>
          <p:cNvSpPr/>
          <p:nvPr/>
        </p:nvSpPr>
        <p:spPr>
          <a:xfrm>
            <a:off x="4366340" y="3039340"/>
            <a:ext cx="1984663" cy="779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>
                <a:solidFill>
                  <a:schemeClr val="tx1"/>
                </a:solidFill>
              </a:rPr>
              <a:t>System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4C08370-325E-C181-90A9-AEBB8C817397}"/>
              </a:ext>
            </a:extLst>
          </p:cNvPr>
          <p:cNvSpPr txBox="1"/>
          <p:nvPr/>
        </p:nvSpPr>
        <p:spPr>
          <a:xfrm>
            <a:off x="2381429" y="3167388"/>
            <a:ext cx="992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Input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8D16279-3EA7-9F20-F626-9791C36CFFE9}"/>
              </a:ext>
            </a:extLst>
          </p:cNvPr>
          <p:cNvSpPr txBox="1"/>
          <p:nvPr/>
        </p:nvSpPr>
        <p:spPr>
          <a:xfrm>
            <a:off x="7329480" y="3167388"/>
            <a:ext cx="12811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Output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5EC3401-4D10-0D87-E15E-8777CAD07110}"/>
              </a:ext>
            </a:extLst>
          </p:cNvPr>
          <p:cNvCxnSpPr>
            <a:endCxn id="2" idx="1"/>
          </p:cNvCxnSpPr>
          <p:nvPr/>
        </p:nvCxnSpPr>
        <p:spPr>
          <a:xfrm>
            <a:off x="3387863" y="3428999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E4F23EC-7368-6E28-6C1C-2D0F2F3E772F}"/>
              </a:ext>
            </a:extLst>
          </p:cNvPr>
          <p:cNvCxnSpPr/>
          <p:nvPr/>
        </p:nvCxnSpPr>
        <p:spPr>
          <a:xfrm>
            <a:off x="6351003" y="342899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1452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09A4AC-769E-7040-521B-A72CFA6EB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Open-Loop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4EA166-0889-39AD-81F7-0B63449483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03838"/>
            <a:ext cx="10515600" cy="371763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/>
              <a:t>Control </a:t>
            </a:r>
            <a:r>
              <a:rPr lang="de-DE" dirty="0" err="1"/>
              <a:t>action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b="1" dirty="0"/>
              <a:t>not </a:t>
            </a:r>
            <a:r>
              <a:rPr lang="de-DE" b="1" dirty="0" err="1"/>
              <a:t>depend</a:t>
            </a:r>
            <a:r>
              <a:rPr lang="de-DE" b="1" dirty="0"/>
              <a:t> on </a:t>
            </a:r>
            <a:r>
              <a:rPr lang="de-DE" b="1" dirty="0" err="1"/>
              <a:t>output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feedback</a:t>
            </a:r>
            <a:endParaRPr lang="de-DE" dirty="0"/>
          </a:p>
          <a:p>
            <a:r>
              <a:rPr lang="de-DE" dirty="0"/>
              <a:t>Simple, </a:t>
            </a:r>
            <a:r>
              <a:rPr lang="de-DE" dirty="0" err="1"/>
              <a:t>cheap</a:t>
            </a:r>
            <a:r>
              <a:rPr lang="de-DE" dirty="0"/>
              <a:t>, but </a:t>
            </a:r>
            <a:r>
              <a:rPr lang="de-DE" dirty="0" err="1"/>
              <a:t>inaccurate</a:t>
            </a:r>
            <a:endParaRPr lang="de-DE" dirty="0"/>
          </a:p>
          <a:p>
            <a:r>
              <a:rPr lang="de-DE" dirty="0" err="1"/>
              <a:t>Cannot</a:t>
            </a:r>
            <a:r>
              <a:rPr lang="de-DE" dirty="0"/>
              <a:t> </a:t>
            </a:r>
            <a:r>
              <a:rPr lang="de-DE" dirty="0" err="1"/>
              <a:t>correct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errors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0052B0-C540-B203-1030-DC4508924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B5BFAC6B-F298-7D62-13E7-DDD7DD2DAC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8932" y="2754743"/>
            <a:ext cx="3175000" cy="238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DB7CB5EA-CBEE-8618-06BB-BFCE85CD132A}"/>
              </a:ext>
            </a:extLst>
          </p:cNvPr>
          <p:cNvSpPr txBox="1"/>
          <p:nvPr/>
        </p:nvSpPr>
        <p:spPr>
          <a:xfrm>
            <a:off x="8426976" y="5142343"/>
            <a:ext cx="37589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programmed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to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turn on at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set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times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464A210-35E1-2C84-0C46-4736338845F3}"/>
              </a:ext>
            </a:extLst>
          </p:cNvPr>
          <p:cNvSpPr/>
          <p:nvPr/>
        </p:nvSpPr>
        <p:spPr>
          <a:xfrm>
            <a:off x="1816678" y="1829459"/>
            <a:ext cx="1291438" cy="779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900" dirty="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E7289D4-548A-492F-9632-071BD1F89E37}"/>
              </a:ext>
            </a:extLst>
          </p:cNvPr>
          <p:cNvSpPr txBox="1"/>
          <p:nvPr/>
        </p:nvSpPr>
        <p:spPr>
          <a:xfrm>
            <a:off x="915612" y="1832160"/>
            <a:ext cx="734496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900" dirty="0"/>
              <a:t>Input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4505E3F-0BE3-B7AC-049F-69528FFE073E}"/>
              </a:ext>
            </a:extLst>
          </p:cNvPr>
          <p:cNvSpPr txBox="1"/>
          <p:nvPr/>
        </p:nvSpPr>
        <p:spPr>
          <a:xfrm>
            <a:off x="7648652" y="1826536"/>
            <a:ext cx="928459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900" dirty="0"/>
              <a:t>Output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A6CAB22-9741-F485-D327-15BDDC6D255B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838200" y="2219118"/>
            <a:ext cx="978478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F0D9285-D828-E3ED-B8B1-7244AD0438D1}"/>
              </a:ext>
            </a:extLst>
          </p:cNvPr>
          <p:cNvCxnSpPr/>
          <p:nvPr/>
        </p:nvCxnSpPr>
        <p:spPr>
          <a:xfrm>
            <a:off x="3108116" y="22191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Rechteck 16">
            <a:extLst>
              <a:ext uri="{FF2B5EF4-FFF2-40B4-BE49-F238E27FC236}">
                <a16:creationId xmlns:a16="http://schemas.microsoft.com/office/drawing/2014/main" id="{1E4E35B4-050C-06AC-05FF-2D3827AD94D6}"/>
              </a:ext>
            </a:extLst>
          </p:cNvPr>
          <p:cNvSpPr/>
          <p:nvPr/>
        </p:nvSpPr>
        <p:spPr>
          <a:xfrm>
            <a:off x="4086593" y="1821821"/>
            <a:ext cx="1291438" cy="779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900" dirty="0" err="1">
                <a:solidFill>
                  <a:schemeClr val="tx1"/>
                </a:solidFill>
              </a:rPr>
              <a:t>Actuator</a:t>
            </a:r>
            <a:endParaRPr lang="de-DE" sz="1900" dirty="0">
              <a:solidFill>
                <a:schemeClr val="tx1"/>
              </a:solidFill>
            </a:endParaRP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264F9CF-BE7D-7649-71FD-D7D288433D98}"/>
              </a:ext>
            </a:extLst>
          </p:cNvPr>
          <p:cNvCxnSpPr/>
          <p:nvPr/>
        </p:nvCxnSpPr>
        <p:spPr>
          <a:xfrm>
            <a:off x="5378031" y="22168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5D633AC9-12F8-10D3-6A1D-2AA5420B9592}"/>
              </a:ext>
            </a:extLst>
          </p:cNvPr>
          <p:cNvSpPr/>
          <p:nvPr/>
        </p:nvSpPr>
        <p:spPr>
          <a:xfrm>
            <a:off x="6356508" y="1819584"/>
            <a:ext cx="1291438" cy="779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900" dirty="0">
                <a:solidFill>
                  <a:schemeClr val="tx1"/>
                </a:solidFill>
              </a:rPr>
              <a:t>System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CC89FE3D-44C7-9EEF-82C1-ADB3858D5607}"/>
              </a:ext>
            </a:extLst>
          </p:cNvPr>
          <p:cNvCxnSpPr/>
          <p:nvPr/>
        </p:nvCxnSpPr>
        <p:spPr>
          <a:xfrm>
            <a:off x="7647946" y="22168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301AF99C-E255-E64A-15AF-234AE00A0B28}"/>
              </a:ext>
            </a:extLst>
          </p:cNvPr>
          <p:cNvGrpSpPr/>
          <p:nvPr/>
        </p:nvGrpSpPr>
        <p:grpSpPr>
          <a:xfrm>
            <a:off x="1338434" y="3688942"/>
            <a:ext cx="6188395" cy="1540885"/>
            <a:chOff x="1920330" y="3688942"/>
            <a:chExt cx="6188395" cy="1540885"/>
          </a:xfrm>
        </p:grpSpPr>
        <p:pic>
          <p:nvPicPr>
            <p:cNvPr id="5124" name="Picture 4" descr="open-loop system">
              <a:extLst>
                <a:ext uri="{FF2B5EF4-FFF2-40B4-BE49-F238E27FC236}">
                  <a16:creationId xmlns:a16="http://schemas.microsoft.com/office/drawing/2014/main" id="{E71BC585-3E89-1CF8-ABCC-4E7CB599D4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0330" y="3688942"/>
              <a:ext cx="6188395" cy="1540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3C00375A-AFBF-E39B-7680-D7C88C11DFC6}"/>
                </a:ext>
              </a:extLst>
            </p:cNvPr>
            <p:cNvSpPr/>
            <p:nvPr/>
          </p:nvSpPr>
          <p:spPr>
            <a:xfrm>
              <a:off x="1920330" y="5007631"/>
              <a:ext cx="5259230" cy="2221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A9F0C303-F59C-2DF7-EFB9-2399D4A50446}"/>
                </a:ext>
              </a:extLst>
            </p:cNvPr>
            <p:cNvSpPr/>
            <p:nvPr/>
          </p:nvSpPr>
          <p:spPr>
            <a:xfrm>
              <a:off x="3118577" y="3699333"/>
              <a:ext cx="913096" cy="5609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886357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AE0BB0-F77F-FA50-6B80-18D40A2D3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Closed</a:t>
            </a:r>
            <a:r>
              <a:rPr lang="de-DE" dirty="0"/>
              <a:t>-Loop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910CEA-C417-EDB3-77B8-E0AE80ED8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Output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measured</a:t>
            </a:r>
            <a:r>
              <a:rPr lang="de-DE" dirty="0"/>
              <a:t> and </a:t>
            </a:r>
            <a:r>
              <a:rPr lang="de-DE" dirty="0" err="1"/>
              <a:t>fed</a:t>
            </a:r>
            <a:r>
              <a:rPr lang="de-DE" dirty="0"/>
              <a:t> back</a:t>
            </a:r>
          </a:p>
          <a:p>
            <a:r>
              <a:rPr lang="de-DE" dirty="0"/>
              <a:t>Controller </a:t>
            </a:r>
            <a:r>
              <a:rPr lang="de-DE" dirty="0" err="1"/>
              <a:t>compares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and </a:t>
            </a:r>
            <a:r>
              <a:rPr lang="de-DE" dirty="0" err="1"/>
              <a:t>output</a:t>
            </a:r>
            <a:endParaRPr lang="de-DE" dirty="0"/>
          </a:p>
          <a:p>
            <a:r>
              <a:rPr lang="de-DE" dirty="0"/>
              <a:t>Error </a:t>
            </a:r>
            <a:r>
              <a:rPr lang="de-DE" dirty="0" err="1"/>
              <a:t>signal</a:t>
            </a:r>
            <a:r>
              <a:rPr lang="de-DE" dirty="0"/>
              <a:t> </a:t>
            </a:r>
            <a:r>
              <a:rPr lang="de-DE" dirty="0" err="1"/>
              <a:t>drives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action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accuracy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482764-F195-9802-B5EF-0CA33B391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03B2EE04-1262-D49F-16FA-5FFE7C7CE2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6295" y="3166495"/>
            <a:ext cx="9819409" cy="2820523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28BC0FC-895C-4EFD-795C-80692263F5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0600" y="240800"/>
            <a:ext cx="3175000" cy="212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5D5A7AC4-023C-6F5F-9C9C-17702D7A0B59}"/>
              </a:ext>
            </a:extLst>
          </p:cNvPr>
          <p:cNvSpPr txBox="1"/>
          <p:nvPr/>
        </p:nvSpPr>
        <p:spPr>
          <a:xfrm>
            <a:off x="8286198" y="2361700"/>
            <a:ext cx="3823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maintains</a:t>
            </a:r>
            <a:r>
              <a:rPr lang="de-DE" dirty="0"/>
              <a:t> </a:t>
            </a:r>
            <a:r>
              <a:rPr lang="de-DE" dirty="0" err="1"/>
              <a:t>temperature</a:t>
            </a:r>
            <a:r>
              <a:rPr lang="de-DE" dirty="0"/>
              <a:t>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setpoint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697572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86533E-CD80-5B8C-D6BC-8237FBA8B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pic>
        <p:nvPicPr>
          <p:cNvPr id="5" name="Picture 4" descr="Closed Loop System and Closed-loop Feedback Control Systems">
            <a:extLst>
              <a:ext uri="{FF2B5EF4-FFF2-40B4-BE49-F238E27FC236}">
                <a16:creationId xmlns:a16="http://schemas.microsoft.com/office/drawing/2014/main" id="{A7AC868E-480E-184E-ECAC-4206501920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9008" y="1569749"/>
            <a:ext cx="9233983" cy="37185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AE523742-8946-1647-84BD-79CA3E93CE67}"/>
              </a:ext>
            </a:extLst>
          </p:cNvPr>
          <p:cNvSpPr/>
          <p:nvPr/>
        </p:nvSpPr>
        <p:spPr>
          <a:xfrm flipV="1">
            <a:off x="1312999" y="2971798"/>
            <a:ext cx="921046" cy="3740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19C7476-F588-E0F5-E8FC-01AC6343002A}"/>
              </a:ext>
            </a:extLst>
          </p:cNvPr>
          <p:cNvSpPr/>
          <p:nvPr/>
        </p:nvSpPr>
        <p:spPr>
          <a:xfrm flipV="1">
            <a:off x="9791945" y="3054926"/>
            <a:ext cx="921046" cy="3740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B330525-47C4-8D5A-AD70-FE0865C7A283}"/>
              </a:ext>
            </a:extLst>
          </p:cNvPr>
          <p:cNvSpPr/>
          <p:nvPr/>
        </p:nvSpPr>
        <p:spPr>
          <a:xfrm flipV="1">
            <a:off x="3314981" y="1551600"/>
            <a:ext cx="1433664" cy="8305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37306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2" name="Picture 6">
            <a:extLst>
              <a:ext uri="{FF2B5EF4-FFF2-40B4-BE49-F238E27FC236}">
                <a16:creationId xmlns:a16="http://schemas.microsoft.com/office/drawing/2014/main" id="{0B121C6D-6A3B-E6C4-325C-73795373A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81521"/>
            <a:ext cx="10035309" cy="633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7247C8-F08E-D5F2-4FCB-49426E9BC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3886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50ED58-5FA1-F257-7511-87418DE79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Measurement, Sensors, and </a:t>
            </a:r>
            <a:r>
              <a:rPr lang="de-DE" dirty="0" err="1"/>
              <a:t>Actuators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DF0C89-4633-D22B-E857-71C245808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Sensors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(</a:t>
            </a:r>
            <a:r>
              <a:rPr lang="de-DE" dirty="0" err="1"/>
              <a:t>position</a:t>
            </a:r>
            <a:r>
              <a:rPr lang="de-DE" dirty="0"/>
              <a:t>, </a:t>
            </a:r>
            <a:r>
              <a:rPr lang="de-DE" dirty="0" err="1"/>
              <a:t>speed</a:t>
            </a:r>
            <a:r>
              <a:rPr lang="de-DE" dirty="0"/>
              <a:t>, </a:t>
            </a:r>
            <a:r>
              <a:rPr lang="de-DE" dirty="0" err="1"/>
              <a:t>temperature</a:t>
            </a:r>
            <a:r>
              <a:rPr lang="de-DE" dirty="0"/>
              <a:t>)</a:t>
            </a:r>
          </a:p>
          <a:p>
            <a:r>
              <a:rPr lang="de-DE" dirty="0" err="1"/>
              <a:t>Actuators</a:t>
            </a:r>
            <a:r>
              <a:rPr lang="de-DE" dirty="0"/>
              <a:t> </a:t>
            </a:r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(</a:t>
            </a:r>
            <a:r>
              <a:rPr lang="de-DE" dirty="0" err="1"/>
              <a:t>motor</a:t>
            </a:r>
            <a:r>
              <a:rPr lang="de-DE" dirty="0"/>
              <a:t> </a:t>
            </a:r>
            <a:r>
              <a:rPr lang="de-DE" dirty="0" err="1"/>
              <a:t>torque</a:t>
            </a:r>
            <a:r>
              <a:rPr lang="de-DE" dirty="0"/>
              <a:t>, </a:t>
            </a:r>
            <a:r>
              <a:rPr lang="de-DE" dirty="0" err="1"/>
              <a:t>valve</a:t>
            </a:r>
            <a:r>
              <a:rPr lang="de-DE" dirty="0"/>
              <a:t> </a:t>
            </a:r>
            <a:r>
              <a:rPr lang="de-DE" dirty="0" err="1"/>
              <a:t>opening</a:t>
            </a:r>
            <a:r>
              <a:rPr lang="de-DE" dirty="0"/>
              <a:t>)</a:t>
            </a:r>
          </a:p>
          <a:p>
            <a:r>
              <a:rPr lang="de-DE" dirty="0"/>
              <a:t>Measurement </a:t>
            </a:r>
            <a:r>
              <a:rPr lang="de-DE" dirty="0" err="1"/>
              <a:t>noise</a:t>
            </a:r>
            <a:r>
              <a:rPr lang="de-DE" dirty="0"/>
              <a:t> and </a:t>
            </a:r>
            <a:r>
              <a:rPr lang="de-DE" dirty="0" err="1"/>
              <a:t>delays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unavoidable</a:t>
            </a:r>
            <a:endParaRPr lang="de-DE" dirty="0"/>
          </a:p>
          <a:p>
            <a:r>
              <a:rPr lang="de-DE" dirty="0"/>
              <a:t>Control design </a:t>
            </a:r>
            <a:r>
              <a:rPr lang="de-DE" dirty="0" err="1"/>
              <a:t>must</a:t>
            </a:r>
            <a:r>
              <a:rPr lang="de-DE" dirty="0"/>
              <a:t> </a:t>
            </a:r>
            <a:r>
              <a:rPr lang="de-DE" dirty="0" err="1"/>
              <a:t>account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imperfections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2347BD4-FB42-D585-E4E6-3F7E59ED6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2F046B-8AD8-1F0E-FE39-A6D9B3614EBB}"/>
              </a:ext>
            </a:extLst>
          </p:cNvPr>
          <p:cNvGrpSpPr/>
          <p:nvPr/>
        </p:nvGrpSpPr>
        <p:grpSpPr>
          <a:xfrm>
            <a:off x="2963281" y="4001294"/>
            <a:ext cx="5647319" cy="2794361"/>
            <a:chOff x="2963281" y="4001294"/>
            <a:chExt cx="5647319" cy="2794361"/>
          </a:xfrm>
        </p:grpSpPr>
        <p:pic>
          <p:nvPicPr>
            <p:cNvPr id="6150" name="Picture 6" descr="Closed Loop Systems - an overview | ScienceDirect Topics">
              <a:extLst>
                <a:ext uri="{FF2B5EF4-FFF2-40B4-BE49-F238E27FC236}">
                  <a16:creationId xmlns:a16="http://schemas.microsoft.com/office/drawing/2014/main" id="{75E4E095-69E4-D97E-24D8-99A54A72E3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20571" y="4001294"/>
              <a:ext cx="5590029" cy="27833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8A110454-E3E6-E3D5-8C14-3D1F540DA00C}"/>
                </a:ext>
              </a:extLst>
            </p:cNvPr>
            <p:cNvSpPr/>
            <p:nvPr/>
          </p:nvSpPr>
          <p:spPr>
            <a:xfrm>
              <a:off x="3020571" y="4665518"/>
              <a:ext cx="283738" cy="2701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D3DEC7F2-EFDA-3EC6-3564-E6697726F5F2}"/>
                </a:ext>
              </a:extLst>
            </p:cNvPr>
            <p:cNvSpPr/>
            <p:nvPr/>
          </p:nvSpPr>
          <p:spPr>
            <a:xfrm>
              <a:off x="3020571" y="6525491"/>
              <a:ext cx="283738" cy="2701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A40EC6F9-F15F-9604-3B41-E2E3778ED24C}"/>
                </a:ext>
              </a:extLst>
            </p:cNvPr>
            <p:cNvSpPr/>
            <p:nvPr/>
          </p:nvSpPr>
          <p:spPr>
            <a:xfrm>
              <a:off x="5147244" y="5524500"/>
              <a:ext cx="283738" cy="2701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13B8936F-5782-4F43-FCFF-DFF77F131F19}"/>
                </a:ext>
              </a:extLst>
            </p:cNvPr>
            <p:cNvSpPr/>
            <p:nvPr/>
          </p:nvSpPr>
          <p:spPr>
            <a:xfrm>
              <a:off x="6425327" y="5534891"/>
              <a:ext cx="283738" cy="2701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1CD4402-5670-9F9E-944B-726D3E0CE652}"/>
                </a:ext>
              </a:extLst>
            </p:cNvPr>
            <p:cNvSpPr/>
            <p:nvPr/>
          </p:nvSpPr>
          <p:spPr>
            <a:xfrm flipV="1">
              <a:off x="3640562" y="4592781"/>
              <a:ext cx="723620" cy="1454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10A30F5C-545F-6C74-B4FC-0749C68F124F}"/>
                </a:ext>
              </a:extLst>
            </p:cNvPr>
            <p:cNvSpPr/>
            <p:nvPr/>
          </p:nvSpPr>
          <p:spPr>
            <a:xfrm flipV="1">
              <a:off x="2963281" y="5891537"/>
              <a:ext cx="723620" cy="1454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1034832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812107-E377-DB91-6E16-5180CD6AF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Feedback: </a:t>
            </a:r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Works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C46CA0-26AF-9F63-1400-0D58BE5CF8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tracking</a:t>
            </a:r>
            <a:r>
              <a:rPr lang="de-DE" dirty="0"/>
              <a:t> </a:t>
            </a:r>
            <a:r>
              <a:rPr lang="de-DE" dirty="0" err="1"/>
              <a:t>accuracy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But </a:t>
            </a:r>
            <a:r>
              <a:rPr lang="de-DE" dirty="0" err="1"/>
              <a:t>can</a:t>
            </a:r>
            <a:r>
              <a:rPr lang="de-DE" dirty="0"/>
              <a:t> also </a:t>
            </a:r>
            <a:r>
              <a:rPr lang="de-DE" dirty="0" err="1"/>
              <a:t>destabilize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poorly</a:t>
            </a:r>
            <a:r>
              <a:rPr lang="de-DE" dirty="0"/>
              <a:t> </a:t>
            </a:r>
            <a:r>
              <a:rPr lang="de-DE" dirty="0" err="1"/>
              <a:t>designed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230E84-B9F1-09AA-7ED5-98BAB1A45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9702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A2E5C-5FD4-F085-4DAA-7404FBAAA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 Engineering Applications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165E42-8540-9972-087F-81866151D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600" dirty="0"/>
              <a:t>Robotics: </a:t>
            </a:r>
            <a:r>
              <a:rPr lang="de-DE" sz="2600" dirty="0" err="1"/>
              <a:t>motion</a:t>
            </a:r>
            <a:r>
              <a:rPr lang="de-DE" sz="2600" dirty="0"/>
              <a:t> </a:t>
            </a:r>
            <a:r>
              <a:rPr lang="de-DE" sz="2600" dirty="0" err="1"/>
              <a:t>control</a:t>
            </a:r>
            <a:r>
              <a:rPr lang="de-DE" sz="2600" dirty="0"/>
              <a:t>, </a:t>
            </a:r>
            <a:r>
              <a:rPr lang="de-DE" sz="2600" dirty="0" err="1"/>
              <a:t>balance</a:t>
            </a:r>
            <a:r>
              <a:rPr lang="de-DE" sz="2600" dirty="0"/>
              <a:t>, </a:t>
            </a:r>
            <a:r>
              <a:rPr lang="de-DE" sz="2600" dirty="0" err="1"/>
              <a:t>manipulation</a:t>
            </a:r>
            <a:endParaRPr lang="de-DE" sz="2600" dirty="0"/>
          </a:p>
          <a:p>
            <a:r>
              <a:rPr lang="de-DE" sz="2600" dirty="0"/>
              <a:t>Automation: </a:t>
            </a:r>
            <a:r>
              <a:rPr lang="de-DE" sz="2600" dirty="0" err="1"/>
              <a:t>process</a:t>
            </a:r>
            <a:r>
              <a:rPr lang="de-DE" sz="2600" dirty="0"/>
              <a:t> </a:t>
            </a:r>
            <a:r>
              <a:rPr lang="de-DE" sz="2600" dirty="0" err="1"/>
              <a:t>control</a:t>
            </a:r>
            <a:r>
              <a:rPr lang="de-DE" sz="2600" dirty="0"/>
              <a:t>, </a:t>
            </a:r>
            <a:r>
              <a:rPr lang="de-DE" sz="2600" dirty="0" err="1"/>
              <a:t>manufacturing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endParaRPr lang="de-DE" sz="2600" dirty="0"/>
          </a:p>
          <a:p>
            <a:r>
              <a:rPr lang="de-DE" sz="2600" dirty="0"/>
              <a:t>Automotive: cruise </a:t>
            </a:r>
            <a:r>
              <a:rPr lang="de-DE" sz="2600" dirty="0" err="1"/>
              <a:t>control</a:t>
            </a:r>
            <a:r>
              <a:rPr lang="de-DE" sz="2600" dirty="0"/>
              <a:t>, ABS, </a:t>
            </a:r>
            <a:r>
              <a:rPr lang="de-DE" sz="2600" dirty="0" err="1"/>
              <a:t>engine</a:t>
            </a:r>
            <a:r>
              <a:rPr lang="de-DE" sz="2600" dirty="0"/>
              <a:t> </a:t>
            </a:r>
            <a:r>
              <a:rPr lang="de-DE" sz="2600" dirty="0" err="1"/>
              <a:t>control</a:t>
            </a:r>
            <a:endParaRPr lang="de-DE" sz="2600" dirty="0"/>
          </a:p>
          <a:p>
            <a:r>
              <a:rPr lang="de-DE" sz="2600" dirty="0"/>
              <a:t>Energy </a:t>
            </a:r>
            <a:r>
              <a:rPr lang="de-DE" sz="2600" dirty="0" err="1"/>
              <a:t>systems</a:t>
            </a:r>
            <a:r>
              <a:rPr lang="de-DE" sz="2600" dirty="0"/>
              <a:t>, </a:t>
            </a:r>
            <a:r>
              <a:rPr lang="de-DE" sz="2600" dirty="0" err="1"/>
              <a:t>aerospace</a:t>
            </a:r>
            <a:r>
              <a:rPr lang="de-DE" sz="2600" dirty="0"/>
              <a:t>, </a:t>
            </a:r>
            <a:r>
              <a:rPr lang="de-DE" sz="2600" dirty="0" err="1"/>
              <a:t>biomedical</a:t>
            </a:r>
            <a:r>
              <a:rPr lang="de-DE" sz="2600" dirty="0"/>
              <a:t> </a:t>
            </a:r>
            <a:r>
              <a:rPr lang="de-DE" sz="2600" dirty="0" err="1"/>
              <a:t>engineering</a:t>
            </a:r>
            <a:endParaRPr lang="de-DE" sz="2600" dirty="0"/>
          </a:p>
          <a:p>
            <a:r>
              <a:rPr lang="de-DE" sz="2600" dirty="0"/>
              <a:t>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226E71-3908-2652-F640-7EB52307F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AE98922-05D6-3F98-B9E9-B91AFA84A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246" y="4506912"/>
            <a:ext cx="2032000" cy="20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90CCDB53-C088-4AB2-30FC-CFCF54E59A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1401" y="4689475"/>
            <a:ext cx="1544073" cy="20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2506E513-637F-EA33-EC85-3F81E8330B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7315" y="4178227"/>
            <a:ext cx="2360685" cy="2360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Bild von Boston Dynamics">
            <a:extLst>
              <a:ext uri="{FF2B5EF4-FFF2-40B4-BE49-F238E27FC236}">
                <a16:creationId xmlns:a16="http://schemas.microsoft.com/office/drawing/2014/main" id="{D91A33C6-2BB8-9F11-8F9C-9268451C5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9841" y="3335483"/>
            <a:ext cx="2581740" cy="2931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7613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BAD325-45D4-6586-A523-3DE94A719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Control Engineering Workflow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1BEE14-FC3B-78F5-006B-79ECB9B9D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Build</a:t>
            </a:r>
            <a:r>
              <a:rPr lang="de-DE" dirty="0"/>
              <a:t> a </a:t>
            </a:r>
            <a:r>
              <a:rPr lang="de-DE" dirty="0" err="1"/>
              <a:t>mathematical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Design a </a:t>
            </a:r>
            <a:r>
              <a:rPr lang="de-DE" dirty="0" err="1"/>
              <a:t>controller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Simulate</a:t>
            </a:r>
            <a:r>
              <a:rPr lang="de-DE" dirty="0"/>
              <a:t> and </a:t>
            </a:r>
            <a:r>
              <a:rPr lang="de-DE" dirty="0" err="1"/>
              <a:t>analyze</a:t>
            </a:r>
            <a:r>
              <a:rPr lang="de-DE" dirty="0"/>
              <a:t> </a:t>
            </a:r>
            <a:r>
              <a:rPr lang="de-DE" dirty="0" err="1"/>
              <a:t>performance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Implement and </a:t>
            </a:r>
            <a:r>
              <a:rPr lang="de-DE" dirty="0" err="1"/>
              <a:t>test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15D189-2B0D-6B32-3F39-4AAB58321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5937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3135310B-9F15-7386-2DEF-6280289B0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Software Tools </a:t>
            </a:r>
            <a:r>
              <a:rPr lang="de-DE" dirty="0" err="1"/>
              <a:t>for</a:t>
            </a:r>
            <a:r>
              <a:rPr lang="de-DE" dirty="0"/>
              <a:t> This Course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676C7C6-1A78-E5A4-E683-89B4C7906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Python </a:t>
            </a:r>
            <a:r>
              <a:rPr lang="de-DE" dirty="0" err="1"/>
              <a:t>ecosystem</a:t>
            </a:r>
            <a:r>
              <a:rPr lang="de-DE" dirty="0"/>
              <a:t>:</a:t>
            </a:r>
          </a:p>
          <a:p>
            <a:pPr lvl="1"/>
            <a:r>
              <a:rPr lang="de-DE" sz="2600" dirty="0" err="1"/>
              <a:t>numpy</a:t>
            </a:r>
            <a:r>
              <a:rPr lang="de-DE" sz="2600" dirty="0"/>
              <a:t>, </a:t>
            </a:r>
            <a:r>
              <a:rPr lang="de-DE" sz="2600" dirty="0" err="1"/>
              <a:t>scipy</a:t>
            </a:r>
            <a:endParaRPr lang="de-DE" sz="2600" dirty="0"/>
          </a:p>
          <a:p>
            <a:pPr lvl="1"/>
            <a:r>
              <a:rPr lang="de-DE" sz="2600" dirty="0" err="1"/>
              <a:t>matplotlib</a:t>
            </a:r>
            <a:endParaRPr lang="de-DE" sz="2600" dirty="0"/>
          </a:p>
          <a:p>
            <a:pPr lvl="1"/>
            <a:r>
              <a:rPr lang="de-DE" sz="2600" dirty="0" err="1"/>
              <a:t>python-control</a:t>
            </a:r>
            <a:endParaRPr lang="de-DE" sz="2600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Advantages: open-source, </a:t>
            </a:r>
            <a:r>
              <a:rPr lang="de-DE" dirty="0" err="1"/>
              <a:t>reproducible</a:t>
            </a:r>
            <a:r>
              <a:rPr lang="de-DE" dirty="0"/>
              <a:t>, </a:t>
            </a:r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3491D7-C432-6B3E-E374-5B0305EED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2" name="Picture 4" descr="undefined">
            <a:extLst>
              <a:ext uri="{FF2B5EF4-FFF2-40B4-BE49-F238E27FC236}">
                <a16:creationId xmlns:a16="http://schemas.microsoft.com/office/drawing/2014/main" id="{0E103420-7227-A482-8F3B-38A37FFC6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151" y="2221710"/>
            <a:ext cx="2270330" cy="1021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undefined">
            <a:extLst>
              <a:ext uri="{FF2B5EF4-FFF2-40B4-BE49-F238E27FC236}">
                <a16:creationId xmlns:a16="http://schemas.microsoft.com/office/drawing/2014/main" id="{B68F3007-8B4C-6918-C411-C666C44720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21" y="3796409"/>
            <a:ext cx="2815303" cy="516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0">
            <a:extLst>
              <a:ext uri="{FF2B5EF4-FFF2-40B4-BE49-F238E27FC236}">
                <a16:creationId xmlns:a16="http://schemas.microsoft.com/office/drawing/2014/main" id="{A939F483-D105-E44F-8EBA-9FE8B57189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2151" y="2592992"/>
            <a:ext cx="1021649" cy="1021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undefined">
            <a:extLst>
              <a:ext uri="{FF2B5EF4-FFF2-40B4-BE49-F238E27FC236}">
                <a16:creationId xmlns:a16="http://schemas.microsoft.com/office/drawing/2014/main" id="{B38DF660-F52A-A67C-4463-E13F3B7B8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0557" y="1871424"/>
            <a:ext cx="1124843" cy="1232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83048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86B17B-886E-71F1-045C-1A8F41674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</a:t>
            </a:r>
            <a:r>
              <a:rPr lang="de-DE" dirty="0" err="1"/>
              <a:t>Structure</a:t>
            </a:r>
            <a:r>
              <a:rPr lang="de-DE" dirty="0"/>
              <a:t> and Goals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52CE77-34C9-F112-5986-F8A45BF0D4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concepts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Analyze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Design </a:t>
            </a:r>
            <a:r>
              <a:rPr lang="de-DE" dirty="0" err="1"/>
              <a:t>classical</a:t>
            </a:r>
            <a:r>
              <a:rPr lang="de-DE" dirty="0"/>
              <a:t> and modern </a:t>
            </a:r>
            <a:r>
              <a:rPr lang="de-DE" dirty="0" err="1"/>
              <a:t>controllers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Bridge </a:t>
            </a:r>
            <a:r>
              <a:rPr lang="de-DE" dirty="0" err="1"/>
              <a:t>theory</a:t>
            </a:r>
            <a:r>
              <a:rPr lang="de-DE" dirty="0"/>
              <a:t> and </a:t>
            </a:r>
            <a:r>
              <a:rPr lang="de-DE" dirty="0" err="1"/>
              <a:t>implementation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09B56B-083E-6FB0-C2E8-1775C36DD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946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Systems, </a:t>
            </a:r>
            <a:r>
              <a:rPr lang="de-DE" dirty="0" err="1"/>
              <a:t>Processes</a:t>
            </a:r>
            <a:r>
              <a:rPr lang="de-DE" dirty="0"/>
              <a:t>,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295</Words>
  <Application>Microsoft Macintosh PowerPoint</Application>
  <PresentationFormat>Breitbild</PresentationFormat>
  <Paragraphs>116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Wingdings</vt:lpstr>
      <vt:lpstr>Office Theme</vt:lpstr>
      <vt:lpstr>Introduction</vt:lpstr>
      <vt:lpstr>What Is Control Engineering?</vt:lpstr>
      <vt:lpstr>Open-Loop Control</vt:lpstr>
      <vt:lpstr>Closed-Loop Control</vt:lpstr>
      <vt:lpstr>PowerPoint-Präsentation</vt:lpstr>
      <vt:lpstr>PowerPoint-Präsentation</vt:lpstr>
      <vt:lpstr>Measurement, Sensors, and Actuators</vt:lpstr>
      <vt:lpstr>Feedback: Why It Works</vt:lpstr>
      <vt:lpstr>Control Engineering Applications</vt:lpstr>
      <vt:lpstr>Typical Control Engineering Workflow</vt:lpstr>
      <vt:lpstr>Software Tools for This Course</vt:lpstr>
      <vt:lpstr>Course Structure and Goals</vt:lpstr>
      <vt:lpstr>Course Schedule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54</cp:revision>
  <dcterms:created xsi:type="dcterms:W3CDTF">2025-01-08T09:27:30Z</dcterms:created>
  <dcterms:modified xsi:type="dcterms:W3CDTF">2026-01-28T12:56:30Z</dcterms:modified>
</cp:coreProperties>
</file>
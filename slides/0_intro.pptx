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76" r:id="rId3"/>
    <p:sldId id="279" r:id="rId4"/>
    <p:sldId id="280" r:id="rId5"/>
    <p:sldId id="281" r:id="rId6"/>
    <p:sldId id="282" r:id="rId7"/>
    <p:sldId id="259" r:id="rId8"/>
    <p:sldId id="283" r:id="rId9"/>
    <p:sldId id="278" r:id="rId10"/>
    <p:sldId id="28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71"/>
    <p:restoredTop sz="95028" autoAdjust="0"/>
  </p:normalViewPr>
  <p:slideViewPr>
    <p:cSldViewPr snapToGrid="0">
      <p:cViewPr varScale="1">
        <p:scale>
          <a:sx n="81" d="100"/>
          <a:sy n="81" d="100"/>
        </p:scale>
        <p:origin x="200" y="1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615242-9AE4-EA1E-7DFA-9BD7D9F6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Control Engineering?</a:t>
            </a:r>
            <a:endParaRPr lang="en-GB" dirty="0"/>
          </a:p>
        </p:txBody>
      </p:sp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280FA31C-0719-27CE-5CC0-D22FEA964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engineering</a:t>
            </a:r>
            <a:r>
              <a:rPr lang="de-DE" dirty="0"/>
              <a:t> </a:t>
            </a:r>
            <a:r>
              <a:rPr lang="de-DE" dirty="0" err="1"/>
              <a:t>deals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making</a:t>
            </a:r>
            <a:r>
              <a:rPr lang="de-DE" b="1" dirty="0"/>
              <a:t> </a:t>
            </a:r>
            <a:r>
              <a:rPr lang="de-DE" b="1" dirty="0" err="1"/>
              <a:t>systems</a:t>
            </a:r>
            <a:r>
              <a:rPr lang="de-DE" b="1" dirty="0"/>
              <a:t> </a:t>
            </a:r>
            <a:r>
              <a:rPr lang="de-DE" b="1" dirty="0" err="1"/>
              <a:t>behave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desired</a:t>
            </a:r>
            <a:endParaRPr lang="de-DE" dirty="0"/>
          </a:p>
          <a:p>
            <a:r>
              <a:rPr lang="de-DE" dirty="0" err="1"/>
              <a:t>Objective</a:t>
            </a:r>
            <a:r>
              <a:rPr lang="de-DE" dirty="0"/>
              <a:t>: </a:t>
            </a:r>
            <a:r>
              <a:rPr lang="de-DE" dirty="0" err="1"/>
              <a:t>regulate</a:t>
            </a:r>
            <a:r>
              <a:rPr lang="de-DE" dirty="0"/>
              <a:t>, track, and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Inputs → </a:t>
            </a:r>
            <a:r>
              <a:rPr lang="de-DE" dirty="0" err="1"/>
              <a:t>system</a:t>
            </a:r>
            <a:r>
              <a:rPr lang="de-DE" dirty="0"/>
              <a:t> → </a:t>
            </a:r>
            <a:r>
              <a:rPr lang="de-DE" dirty="0" err="1"/>
              <a:t>outputs</a:t>
            </a:r>
            <a:endParaRPr lang="de-DE" dirty="0"/>
          </a:p>
          <a:p>
            <a:r>
              <a:rPr lang="de-DE" dirty="0"/>
              <a:t>Control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b="1" dirty="0" err="1"/>
              <a:t>decision-making</a:t>
            </a:r>
            <a:r>
              <a:rPr lang="de-DE" b="1" dirty="0"/>
              <a:t> </a:t>
            </a:r>
            <a:r>
              <a:rPr lang="de-DE" b="1" dirty="0" err="1"/>
              <a:t>over</a:t>
            </a:r>
            <a:r>
              <a:rPr lang="de-DE" b="1" dirty="0"/>
              <a:t> time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block </a:t>
            </a:r>
            <a:r>
              <a:rPr lang="de-DE" dirty="0" err="1"/>
              <a:t>diagram</a:t>
            </a:r>
            <a:r>
              <a:rPr lang="de-DE" dirty="0"/>
              <a:t>: </a:t>
            </a:r>
            <a:r>
              <a:rPr lang="de-DE" dirty="0" err="1"/>
              <a:t>input</a:t>
            </a:r>
            <a:r>
              <a:rPr lang="de-DE" dirty="0"/>
              <a:t> → </a:t>
            </a:r>
            <a:r>
              <a:rPr lang="de-DE" dirty="0" err="1"/>
              <a:t>system</a:t>
            </a:r>
            <a:r>
              <a:rPr lang="de-DE" dirty="0"/>
              <a:t> → </a:t>
            </a:r>
            <a:r>
              <a:rPr lang="de-DE" dirty="0" err="1"/>
              <a:t>output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807719-B5C6-E0AE-4F7D-D21E5E34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452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09A4AC-769E-7040-521B-A72CFA6EB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Open-Loop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4EA166-0889-39AD-81F7-0B634494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 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b="1" dirty="0"/>
              <a:t>not </a:t>
            </a:r>
            <a:r>
              <a:rPr lang="de-DE" b="1" dirty="0" err="1"/>
              <a:t>depend</a:t>
            </a:r>
            <a:r>
              <a:rPr lang="de-DE" b="1" dirty="0"/>
              <a:t> on </a:t>
            </a:r>
            <a:r>
              <a:rPr lang="de-DE" b="1" dirty="0" err="1"/>
              <a:t>output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feedback</a:t>
            </a:r>
            <a:endParaRPr lang="de-DE" dirty="0"/>
          </a:p>
          <a:p>
            <a:r>
              <a:rPr lang="de-DE" dirty="0"/>
              <a:t>Simple, </a:t>
            </a:r>
            <a:r>
              <a:rPr lang="de-DE" dirty="0" err="1"/>
              <a:t>cheap</a:t>
            </a:r>
            <a:r>
              <a:rPr lang="de-DE" dirty="0"/>
              <a:t>, but </a:t>
            </a:r>
            <a:r>
              <a:rPr lang="de-DE" dirty="0" err="1"/>
              <a:t>inaccurate</a:t>
            </a:r>
            <a:endParaRPr lang="de-DE" dirty="0"/>
          </a:p>
          <a:p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correct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Example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toaster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heating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open-loop block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0052B0-C540-B203-1030-DC4508924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35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AE0BB0-F77F-FA50-6B80-18D40A2D3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910CEA-C417-EDB3-77B8-E0AE80ED8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and </a:t>
            </a:r>
            <a:r>
              <a:rPr lang="de-DE" dirty="0" err="1"/>
              <a:t>fed</a:t>
            </a:r>
            <a:r>
              <a:rPr lang="de-DE" dirty="0"/>
              <a:t> back</a:t>
            </a:r>
          </a:p>
          <a:p>
            <a:r>
              <a:rPr lang="de-DE" dirty="0"/>
              <a:t>Controller </a:t>
            </a:r>
            <a:r>
              <a:rPr lang="de-DE" dirty="0" err="1"/>
              <a:t>compares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Error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drives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classic </a:t>
            </a:r>
            <a:r>
              <a:rPr lang="de-DE" dirty="0" err="1"/>
              <a:t>feedback</a:t>
            </a:r>
            <a:r>
              <a:rPr lang="de-DE" dirty="0"/>
              <a:t> loop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82764-F195-9802-B5EF-0CA33B391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9757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0ED58-5FA1-F257-7511-87418DE79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Measurement, Sensors, and </a:t>
            </a:r>
            <a:r>
              <a:rPr lang="de-DE" dirty="0" err="1"/>
              <a:t>Actuators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DF0C89-4633-D22B-E857-71C245808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Sensors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(</a:t>
            </a:r>
            <a:r>
              <a:rPr lang="de-DE" dirty="0" err="1"/>
              <a:t>position</a:t>
            </a:r>
            <a:r>
              <a:rPr lang="de-DE" dirty="0"/>
              <a:t>, </a:t>
            </a:r>
            <a:r>
              <a:rPr lang="de-DE" dirty="0" err="1"/>
              <a:t>speed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)</a:t>
            </a:r>
          </a:p>
          <a:p>
            <a:r>
              <a:rPr lang="de-DE" dirty="0" err="1"/>
              <a:t>Actuators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(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torque</a:t>
            </a:r>
            <a:r>
              <a:rPr lang="de-DE" dirty="0"/>
              <a:t>, </a:t>
            </a:r>
            <a:r>
              <a:rPr lang="de-DE" dirty="0" err="1"/>
              <a:t>valve</a:t>
            </a:r>
            <a:r>
              <a:rPr lang="de-DE" dirty="0"/>
              <a:t> </a:t>
            </a:r>
            <a:r>
              <a:rPr lang="de-DE" dirty="0" err="1"/>
              <a:t>opening</a:t>
            </a:r>
            <a:r>
              <a:rPr lang="de-DE" dirty="0"/>
              <a:t>)</a:t>
            </a:r>
          </a:p>
          <a:p>
            <a:r>
              <a:rPr lang="de-DE" dirty="0"/>
              <a:t>Measurement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delays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unavoidable</a:t>
            </a:r>
            <a:endParaRPr lang="de-DE" dirty="0"/>
          </a:p>
          <a:p>
            <a:r>
              <a:rPr lang="de-DE" dirty="0"/>
              <a:t>Control design </a:t>
            </a:r>
            <a:r>
              <a:rPr lang="de-DE" dirty="0" err="1"/>
              <a:t>must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imperfections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347BD4-FB42-D585-E4E6-3F7E59ED6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483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812107-E377-DB91-6E16-5180CD6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Feedback: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C46CA0-26AF-9F63-1400-0D58BE5CF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destabilize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designed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230E84-B9F1-09AA-7ED5-98BAB1A4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702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A2E5C-5FD4-F085-4DAA-7404FBAA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Engineering Applications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65E42-8540-9972-087F-81866151D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Robotics: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balance</a:t>
            </a:r>
            <a:r>
              <a:rPr lang="de-DE" dirty="0"/>
              <a:t>, </a:t>
            </a:r>
            <a:r>
              <a:rPr lang="de-DE" dirty="0" err="1"/>
              <a:t>manipulation</a:t>
            </a:r>
            <a:endParaRPr lang="de-DE" dirty="0"/>
          </a:p>
          <a:p>
            <a:r>
              <a:rPr lang="de-DE" dirty="0"/>
              <a:t>Automation: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manufacturing</a:t>
            </a:r>
            <a:r>
              <a:rPr lang="de-DE" dirty="0"/>
              <a:t> </a:t>
            </a:r>
            <a:r>
              <a:rPr lang="de-DE" dirty="0" err="1"/>
              <a:t>lines</a:t>
            </a:r>
            <a:endParaRPr lang="de-DE" dirty="0"/>
          </a:p>
          <a:p>
            <a:r>
              <a:rPr lang="de-DE" dirty="0"/>
              <a:t>Automotive: cruise </a:t>
            </a:r>
            <a:r>
              <a:rPr lang="de-DE" dirty="0" err="1"/>
              <a:t>control</a:t>
            </a:r>
            <a:r>
              <a:rPr lang="de-DE" dirty="0"/>
              <a:t>, ABS, </a:t>
            </a:r>
            <a:r>
              <a:rPr lang="de-DE" dirty="0" err="1"/>
              <a:t>engine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Energy </a:t>
            </a:r>
            <a:r>
              <a:rPr lang="de-DE" dirty="0" err="1"/>
              <a:t>systems</a:t>
            </a:r>
            <a:r>
              <a:rPr lang="de-DE" dirty="0"/>
              <a:t>, </a:t>
            </a:r>
            <a:r>
              <a:rPr lang="de-DE" dirty="0" err="1"/>
              <a:t>aerospace</a:t>
            </a:r>
            <a:r>
              <a:rPr lang="de-DE" dirty="0"/>
              <a:t>, </a:t>
            </a:r>
            <a:r>
              <a:rPr lang="de-DE" dirty="0" err="1"/>
              <a:t>biomedical</a:t>
            </a:r>
            <a:r>
              <a:rPr lang="de-DE" dirty="0"/>
              <a:t>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</a:t>
            </a:r>
            <a:r>
              <a:rPr lang="de-DE" dirty="0" err="1"/>
              <a:t>collage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26E71-3908-2652-F640-7EB52307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613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BAD325-45D4-6586-A523-3DE94A71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Control Engineering Workflow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1BEE14-FC3B-78F5-006B-79ECB9B9D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 err="1"/>
              <a:t>Build</a:t>
            </a:r>
            <a:r>
              <a:rPr lang="de-DE" dirty="0"/>
              <a:t> a </a:t>
            </a:r>
            <a:r>
              <a:rPr lang="de-DE" dirty="0" err="1"/>
              <a:t>mathematical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Design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 err="1"/>
              <a:t>Simulate</a:t>
            </a:r>
            <a:r>
              <a:rPr lang="de-DE" dirty="0"/>
              <a:t> and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Implement and </a:t>
            </a:r>
            <a:r>
              <a:rPr lang="de-DE" dirty="0" err="1"/>
              <a:t>test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5D189-2B0D-6B32-3F39-4AAB58321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37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135310B-9F15-7386-2DEF-6280289B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Software Tools </a:t>
            </a:r>
            <a:r>
              <a:rPr lang="de-DE" dirty="0" err="1"/>
              <a:t>for</a:t>
            </a:r>
            <a:r>
              <a:rPr lang="de-DE" dirty="0"/>
              <a:t> This Course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676C7C6-1A78-E5A4-E683-89B4C7906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Python </a:t>
            </a:r>
            <a:r>
              <a:rPr lang="de-DE" dirty="0" err="1"/>
              <a:t>ecosystem</a:t>
            </a:r>
            <a:r>
              <a:rPr lang="de-DE" dirty="0"/>
              <a:t>:</a:t>
            </a:r>
          </a:p>
          <a:p>
            <a:pPr lvl="1"/>
            <a:r>
              <a:rPr lang="de-DE" dirty="0" err="1"/>
              <a:t>numpy</a:t>
            </a:r>
            <a:r>
              <a:rPr lang="de-DE" dirty="0"/>
              <a:t>, </a:t>
            </a:r>
            <a:r>
              <a:rPr lang="de-DE" dirty="0" err="1"/>
              <a:t>scipy</a:t>
            </a:r>
            <a:endParaRPr lang="de-DE" dirty="0"/>
          </a:p>
          <a:p>
            <a:pPr lvl="1"/>
            <a:r>
              <a:rPr lang="de-DE" dirty="0" err="1"/>
              <a:t>matplotlib</a:t>
            </a:r>
            <a:endParaRPr lang="de-DE" dirty="0"/>
          </a:p>
          <a:p>
            <a:pPr lvl="1"/>
            <a:r>
              <a:rPr lang="de-DE" dirty="0" err="1"/>
              <a:t>python-control</a:t>
            </a:r>
            <a:endParaRPr lang="de-DE" dirty="0"/>
          </a:p>
          <a:p>
            <a:r>
              <a:rPr lang="de-DE" dirty="0"/>
              <a:t>Advantages: open-source, </a:t>
            </a:r>
            <a:r>
              <a:rPr lang="de-DE" dirty="0" err="1"/>
              <a:t>reproducible</a:t>
            </a:r>
            <a:r>
              <a:rPr lang="de-DE" dirty="0"/>
              <a:t>,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491D7-C432-6B3E-E374-5B0305E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304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86B17B-886E-71F1-045C-1A8F41674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</a:t>
            </a:r>
            <a:r>
              <a:rPr lang="de-DE" dirty="0" err="1"/>
              <a:t>Structure</a:t>
            </a:r>
            <a:r>
              <a:rPr lang="de-DE" dirty="0"/>
              <a:t> and Goals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52CE77-34C9-F112-5986-F8A45BF0D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  <a:p>
            <a:r>
              <a:rPr lang="de-DE" dirty="0"/>
              <a:t>Analyze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classical</a:t>
            </a:r>
            <a:r>
              <a:rPr lang="de-DE" dirty="0"/>
              <a:t> and modern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Bridge </a:t>
            </a:r>
            <a:r>
              <a:rPr lang="de-DE" dirty="0" err="1"/>
              <a:t>theory</a:t>
            </a:r>
            <a:r>
              <a:rPr lang="de-DE" dirty="0"/>
              <a:t> and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09B56B-083E-6FB0-C2E8-1775C36D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94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312</Words>
  <Application>Microsoft Macintosh PowerPoint</Application>
  <PresentationFormat>Breitbild</PresentationFormat>
  <Paragraphs>84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Introduction</vt:lpstr>
      <vt:lpstr>What Is Control Engineering?</vt:lpstr>
      <vt:lpstr>Open-Loop Control</vt:lpstr>
      <vt:lpstr>Closed-Loop Control</vt:lpstr>
      <vt:lpstr>Measurement, Sensors, and Actuators</vt:lpstr>
      <vt:lpstr>Feedback: Why It Works</vt:lpstr>
      <vt:lpstr>Control Engineering Applications</vt:lpstr>
      <vt:lpstr>Typical Control Engineering Workflow</vt:lpstr>
      <vt:lpstr>Software Tools for This Course</vt:lpstr>
      <vt:lpstr>Course Structure and Goals</vt:lpstr>
      <vt:lpstr>Course Schedule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45</cp:revision>
  <dcterms:created xsi:type="dcterms:W3CDTF">2025-01-08T09:27:30Z</dcterms:created>
  <dcterms:modified xsi:type="dcterms:W3CDTF">2026-01-24T11:06:49Z</dcterms:modified>
</cp:coreProperties>
</file>
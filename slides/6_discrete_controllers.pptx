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1"/>
  </p:notesMasterIdLst>
  <p:sldIdLst>
    <p:sldId id="256" r:id="rId2"/>
    <p:sldId id="265" r:id="rId3"/>
    <p:sldId id="266" r:id="rId4"/>
    <p:sldId id="267" r:id="rId5"/>
    <p:sldId id="275" r:id="rId6"/>
    <p:sldId id="276" r:id="rId7"/>
    <p:sldId id="268" r:id="rId8"/>
    <p:sldId id="373" r:id="rId9"/>
    <p:sldId id="370" r:id="rId10"/>
    <p:sldId id="371" r:id="rId11"/>
    <p:sldId id="372" r:id="rId12"/>
    <p:sldId id="269" r:id="rId13"/>
    <p:sldId id="377" r:id="rId14"/>
    <p:sldId id="379" r:id="rId15"/>
    <p:sldId id="380" r:id="rId16"/>
    <p:sldId id="382" r:id="rId17"/>
    <p:sldId id="386" r:id="rId18"/>
    <p:sldId id="383" r:id="rId19"/>
    <p:sldId id="384" r:id="rId20"/>
    <p:sldId id="271" r:id="rId21"/>
    <p:sldId id="388" r:id="rId22"/>
    <p:sldId id="385" r:id="rId23"/>
    <p:sldId id="405" r:id="rId24"/>
    <p:sldId id="374" r:id="rId25"/>
    <p:sldId id="375" r:id="rId26"/>
    <p:sldId id="387" r:id="rId27"/>
    <p:sldId id="390" r:id="rId28"/>
    <p:sldId id="406" r:id="rId29"/>
    <p:sldId id="272" r:id="rId30"/>
    <p:sldId id="393" r:id="rId31"/>
    <p:sldId id="273" r:id="rId32"/>
    <p:sldId id="398" r:id="rId33"/>
    <p:sldId id="274" r:id="rId34"/>
    <p:sldId id="401" r:id="rId35"/>
    <p:sldId id="407" r:id="rId36"/>
    <p:sldId id="408" r:id="rId37"/>
    <p:sldId id="409" r:id="rId38"/>
    <p:sldId id="410" r:id="rId39"/>
    <p:sldId id="399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13"/>
    <p:restoredTop sz="95028" autoAdjust="0"/>
  </p:normalViewPr>
  <p:slideViewPr>
    <p:cSldViewPr snapToGrid="0">
      <p:cViewPr varScale="1">
        <p:scale>
          <a:sx n="142" d="100"/>
          <a:sy n="142" d="100"/>
        </p:scale>
        <p:origin x="344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02/04/2026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02/04/2026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02/04/2026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02/04/2026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Discrete</a:t>
            </a:r>
            <a:r>
              <a:rPr lang="de-DE" dirty="0"/>
              <a:t>-time Controllers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-time Controllers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Digital </a:t>
            </a:r>
            <a:r>
              <a:rPr lang="de-DE" dirty="0" err="1"/>
              <a:t>controllers</a:t>
            </a:r>
            <a:endParaRPr lang="de-DE" dirty="0"/>
          </a:p>
          <a:p>
            <a:r>
              <a:rPr lang="de-DE" dirty="0"/>
              <a:t>Sampling &amp; Zero-Order Hold</a:t>
            </a:r>
          </a:p>
          <a:p>
            <a:r>
              <a:rPr lang="de-DE" dirty="0" err="1"/>
              <a:t>Discrete</a:t>
            </a:r>
            <a:r>
              <a:rPr lang="de-DE" dirty="0"/>
              <a:t>-time </a:t>
            </a:r>
            <a:r>
              <a:rPr lang="de-DE" dirty="0" err="1"/>
              <a:t>modeling</a:t>
            </a:r>
            <a:endParaRPr lang="de-DE" dirty="0"/>
          </a:p>
          <a:p>
            <a:r>
              <a:rPr lang="de-DE" dirty="0" err="1"/>
              <a:t>z</a:t>
            </a:r>
            <a:r>
              <a:rPr lang="de-DE" dirty="0"/>
              <a:t>-transfer </a:t>
            </a:r>
            <a:r>
              <a:rPr lang="de-DE" dirty="0" err="1"/>
              <a:t>functions</a:t>
            </a:r>
            <a:endParaRPr lang="de-DE" dirty="0"/>
          </a:p>
          <a:p>
            <a:r>
              <a:rPr lang="de-DE" dirty="0" err="1"/>
              <a:t>Discretization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B815CB-9B3A-95F8-AEEF-789EBD9B8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Digital Control?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0B1ED3-1DF7-9213-36EE-664A9A2E2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Most modern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implemented</a:t>
            </a:r>
            <a:r>
              <a:rPr lang="de-DE" dirty="0"/>
              <a:t> on:</a:t>
            </a:r>
          </a:p>
          <a:p>
            <a:pPr lvl="1"/>
            <a:r>
              <a:rPr lang="de-DE" dirty="0"/>
              <a:t>Microcontrollers</a:t>
            </a:r>
          </a:p>
          <a:p>
            <a:pPr lvl="1"/>
            <a:r>
              <a:rPr lang="de-DE" dirty="0"/>
              <a:t>DSPs (Digital Signal </a:t>
            </a:r>
            <a:r>
              <a:rPr lang="de-DE" dirty="0" err="1"/>
              <a:t>Processor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Computers</a:t>
            </a:r>
          </a:p>
          <a:p>
            <a:pPr marL="0" indent="0">
              <a:buNone/>
            </a:pPr>
            <a:r>
              <a:rPr lang="de-DE" dirty="0"/>
              <a:t>Advantages:</a:t>
            </a:r>
          </a:p>
          <a:p>
            <a:pPr lvl="1"/>
            <a:r>
              <a:rPr lang="de-DE" dirty="0" err="1"/>
              <a:t>Flexibility</a:t>
            </a:r>
            <a:r>
              <a:rPr lang="de-DE" dirty="0"/>
              <a:t> (</a:t>
            </a:r>
            <a:r>
              <a:rPr lang="de-DE" dirty="0" err="1"/>
              <a:t>software</a:t>
            </a:r>
            <a:r>
              <a:rPr lang="de-DE" dirty="0"/>
              <a:t> </a:t>
            </a:r>
            <a:r>
              <a:rPr lang="de-DE" dirty="0" err="1"/>
              <a:t>changes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efficiency</a:t>
            </a:r>
            <a:endParaRPr lang="de-DE" dirty="0"/>
          </a:p>
          <a:p>
            <a:pPr lvl="1"/>
            <a:r>
              <a:rPr lang="de-DE" dirty="0" err="1"/>
              <a:t>Advanced</a:t>
            </a:r>
            <a:r>
              <a:rPr lang="de-DE" dirty="0"/>
              <a:t> </a:t>
            </a:r>
            <a:r>
              <a:rPr lang="de-DE" dirty="0" err="1"/>
              <a:t>algorithms</a:t>
            </a:r>
            <a:r>
              <a:rPr lang="de-DE" dirty="0"/>
              <a:t> possible</a:t>
            </a:r>
          </a:p>
          <a:p>
            <a:pPr marL="0" indent="0">
              <a:buNone/>
            </a:pPr>
            <a:r>
              <a:rPr lang="de-DE" dirty="0" err="1"/>
              <a:t>Disadvantages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Sampling </a:t>
            </a:r>
            <a:r>
              <a:rPr lang="de-DE" dirty="0" err="1"/>
              <a:t>effects</a:t>
            </a:r>
            <a:endParaRPr lang="de-DE" dirty="0"/>
          </a:p>
          <a:p>
            <a:pPr lvl="1"/>
            <a:r>
              <a:rPr lang="de-DE" dirty="0" err="1"/>
              <a:t>Quantization</a:t>
            </a:r>
            <a:endParaRPr lang="de-DE" dirty="0"/>
          </a:p>
          <a:p>
            <a:pPr lvl="1"/>
            <a:r>
              <a:rPr lang="de-DE" dirty="0"/>
              <a:t>Delays (</a:t>
            </a:r>
            <a:r>
              <a:rPr lang="de-DE" dirty="0" err="1"/>
              <a:t>latency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E5F975-800C-923F-C0D1-904DD82BC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854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32CEE5-807F-7A24-5941-092A4E479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Digital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B02182-42C5-8A09-2F3F-C2232DC6E9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Continuous-time:</a:t>
                </a:r>
              </a:p>
              <a:p>
                <a:r>
                  <a:rPr lang="de-DE" dirty="0"/>
                  <a:t>Signals </a:t>
                </a:r>
                <a:r>
                  <a:rPr lang="de-DE" dirty="0" err="1"/>
                  <a:t>defined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∈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de-D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Digital (</a:t>
                </a:r>
                <a:r>
                  <a:rPr lang="de-DE" dirty="0" err="1"/>
                  <a:t>discrete</a:t>
                </a:r>
                <a:r>
                  <a:rPr lang="de-DE" dirty="0"/>
                  <a:t>-time):</a:t>
                </a:r>
              </a:p>
              <a:p>
                <a:r>
                  <a:rPr lang="de-DE" dirty="0"/>
                  <a:t>Signals </a:t>
                </a:r>
                <a:r>
                  <a:rPr lang="de-DE" dirty="0" err="1"/>
                  <a:t>defined</a:t>
                </a:r>
                <a:r>
                  <a:rPr lang="de-DE" dirty="0"/>
                  <a:t> at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𝑘𝑇</m:t>
                    </m:r>
                  </m:oMath>
                </a14:m>
                <a:endParaRPr lang="de-DE" dirty="0"/>
              </a:p>
              <a:p>
                <a:r>
                  <a:rPr lang="de-DE" dirty="0"/>
                  <a:t>Difference </a:t>
                </a:r>
                <a:r>
                  <a:rPr lang="de-DE" dirty="0" err="1"/>
                  <a:t>equations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Key </a:t>
                </a:r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approximation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continuous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using</a:t>
                </a:r>
                <a:r>
                  <a:rPr lang="de-DE" dirty="0"/>
                  <a:t> </a:t>
                </a:r>
                <a:r>
                  <a:rPr lang="de-DE" dirty="0" err="1"/>
                  <a:t>sampled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B02182-42C5-8A09-2F3F-C2232DC6E9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603" b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8DE643-EE4D-16D9-01F0-A5D12473C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3674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8909347D-4D00-308C-BF8B-7A79F13B1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2667000" y="-1423468"/>
            <a:ext cx="6858000" cy="9704936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0AC909-688A-7BAF-A7D1-8993F9810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22B8CB9-A9B1-B1AD-2B8A-0EB3E995B833}"/>
              </a:ext>
            </a:extLst>
          </p:cNvPr>
          <p:cNvSpPr txBox="1"/>
          <p:nvPr/>
        </p:nvSpPr>
        <p:spPr>
          <a:xfrm>
            <a:off x="1463137" y="5327273"/>
            <a:ext cx="9485331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600" dirty="0"/>
              <a:t>Idea:</a:t>
            </a:r>
          </a:p>
          <a:p>
            <a:r>
              <a:rPr lang="de-DE" sz="2600" dirty="0" err="1"/>
              <a:t>controlling</a:t>
            </a:r>
            <a:r>
              <a:rPr lang="de-DE" sz="2600" dirty="0"/>
              <a:t> a </a:t>
            </a:r>
            <a:r>
              <a:rPr lang="de-DE" sz="2600" dirty="0" err="1"/>
              <a:t>continuous</a:t>
            </a:r>
            <a:r>
              <a:rPr lang="de-DE" sz="2600" dirty="0"/>
              <a:t> </a:t>
            </a:r>
            <a:r>
              <a:rPr lang="de-DE" sz="2600" dirty="0" err="1"/>
              <a:t>physical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using</a:t>
            </a:r>
            <a:r>
              <a:rPr lang="de-DE" sz="2600" dirty="0"/>
              <a:t> a digital </a:t>
            </a:r>
            <a:r>
              <a:rPr lang="de-DE" sz="2600" dirty="0" err="1"/>
              <a:t>computer</a:t>
            </a:r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30880821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5483B4-2097-BA9C-BEEC-5D77C96D8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60A92-BBD5-B430-333F-20D223BE6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Signals </a:t>
                </a:r>
                <a:r>
                  <a:rPr lang="de-DE" dirty="0" err="1"/>
                  <a:t>measured</a:t>
                </a:r>
                <a:r>
                  <a:rPr lang="de-DE" dirty="0"/>
                  <a:t> at </a:t>
                </a:r>
                <a:r>
                  <a:rPr lang="de-DE" dirty="0" err="1"/>
                  <a:t>discrete</a:t>
                </a:r>
                <a:r>
                  <a:rPr lang="de-DE" dirty="0"/>
                  <a:t> </a:t>
                </a:r>
                <a:r>
                  <a:rPr lang="de-DE" dirty="0" err="1"/>
                  <a:t>times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𝑘𝑇</m:t>
                        </m:r>
                      </m:e>
                    </m:d>
                  </m:oMath>
                </a14:m>
                <a:br>
                  <a:rPr lang="de-DE" dirty="0"/>
                </a:b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dirty="0"/>
                  <a:t>: sampling </a:t>
                </a:r>
                <a:r>
                  <a:rPr lang="de-DE" dirty="0" err="1"/>
                  <a:t>period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de-DE" dirty="0"/>
                  <a:t>: integer </a:t>
                </a:r>
                <a:r>
                  <a:rPr lang="de-DE" dirty="0" err="1"/>
                  <a:t>index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</m:oMath>
                  </m:oMathPara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𝑘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sin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𝑘𝑇</m:t>
                        </m:r>
                      </m:e>
                    </m:func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60A92-BBD5-B430-333F-20D223BE6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DAB374-386D-E2FC-9168-D2BABD3E0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F3A6A00-84CF-9E4A-36D1-D7BC82B18CA4}"/>
                  </a:ext>
                </a:extLst>
              </p:cNvPr>
              <p:cNvSpPr txBox="1"/>
              <p:nvPr/>
            </p:nvSpPr>
            <p:spPr>
              <a:xfrm>
                <a:off x="8237677" y="1690688"/>
                <a:ext cx="2928085" cy="18748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Sampling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Angular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F3A6A00-84CF-9E4A-36D1-D7BC82B18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7677" y="1690688"/>
                <a:ext cx="2928085" cy="1874872"/>
              </a:xfrm>
              <a:prstGeom prst="rect">
                <a:avLst/>
              </a:prstGeom>
              <a:blipFill>
                <a:blip r:embed="rId3"/>
                <a:stretch>
                  <a:fillRect l="-3017" t="-2000" r="-17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4" descr="A graph showing the value of a number of points&#10;&#10;Description automatically generated with medium confidence">
            <a:extLst>
              <a:ext uri="{FF2B5EF4-FFF2-40B4-BE49-F238E27FC236}">
                <a16:creationId xmlns:a16="http://schemas.microsoft.com/office/drawing/2014/main" id="{699A288C-8C01-BC40-80FA-EF6530A448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1011" y="4246477"/>
            <a:ext cx="8520989" cy="210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24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5D1BC4F-E23A-2459-8ACC-3C8FF7ED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Undersampling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709FC-BE27-8A31-C26C-ACBD68ADD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39741-2FC0-4C84-9528-80AA7942A7E5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 descr="A graph of a function&#10;&#10;Description automatically generated">
            <a:extLst>
              <a:ext uri="{FF2B5EF4-FFF2-40B4-BE49-F238E27FC236}">
                <a16:creationId xmlns:a16="http://schemas.microsoft.com/office/drawing/2014/main" id="{1DB9E0ED-7D85-9AF7-2F44-EF56D25BE1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548" y="2092913"/>
            <a:ext cx="9062903" cy="23016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667735-E3DF-6CA7-963C-0E291E42063D}"/>
              </a:ext>
            </a:extLst>
          </p:cNvPr>
          <p:cNvSpPr txBox="1"/>
          <p:nvPr/>
        </p:nvSpPr>
        <p:spPr>
          <a:xfrm>
            <a:off x="692180" y="5113866"/>
            <a:ext cx="1080763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800" b="1" dirty="0"/>
              <a:t>Aliasing</a:t>
            </a:r>
            <a:r>
              <a:rPr lang="en-GB" sz="2800" dirty="0"/>
              <a:t>: higher-frequency signal disguised as one of lower frequency</a:t>
            </a:r>
          </a:p>
        </p:txBody>
      </p:sp>
    </p:spTree>
    <p:extLst>
      <p:ext uri="{BB962C8B-B14F-4D97-AF65-F5344CB8AC3E}">
        <p14:creationId xmlns:p14="http://schemas.microsoft.com/office/powerpoint/2010/main" val="2927969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0C83E-F9AD-8B64-8DB6-EF5840B7B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Moir</a:t>
            </a:r>
            <a:r>
              <a:rPr lang="en-GB" dirty="0">
                <a:latin typeface="Aptos" panose="020B0004020202020204" pitchFamily="34" charset="0"/>
              </a:rPr>
              <a:t>é Effect in </a:t>
            </a:r>
            <a:r>
              <a:rPr lang="en-GB" dirty="0"/>
              <a:t>Digital Images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97FFF9-A216-16C4-BF48-C74702DCB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39741-2FC0-4C84-9528-80AA7942A7E5}" type="slidenum">
              <a:rPr lang="en-GB" smtClean="0"/>
              <a:t>9</a:t>
            </a:fld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DCE54-5237-0AB2-4DD5-67A477FB5EED}"/>
              </a:ext>
            </a:extLst>
          </p:cNvPr>
          <p:cNvSpPr txBox="1"/>
          <p:nvPr/>
        </p:nvSpPr>
        <p:spPr>
          <a:xfrm>
            <a:off x="6172200" y="2096594"/>
            <a:ext cx="558005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Aliasing in digital images often manifests itself as ringing patterns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  <a:p>
            <a:r>
              <a:rPr lang="en-GB" sz="2400" dirty="0"/>
              <a:t>Temporal aliasing can be observed as wagon-wheel effect (apparent backward motion) in image sequences (video): frame rate too low with respect to speed of wheel rotation</a:t>
            </a:r>
          </a:p>
        </p:txBody>
      </p:sp>
      <p:pic>
        <p:nvPicPr>
          <p:cNvPr id="8" name="Picture 7" descr="A collage of a person's suit&#10;&#10;Description automatically generated">
            <a:extLst>
              <a:ext uri="{FF2B5EF4-FFF2-40B4-BE49-F238E27FC236}">
                <a16:creationId xmlns:a16="http://schemas.microsoft.com/office/drawing/2014/main" id="{EBB72632-C097-BE4B-AF92-4F0825F31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97060"/>
            <a:ext cx="4859346" cy="4852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478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8B2D-FEC5-9F50-CB03-F4BF2987F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-Shannon Sampling Theorem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F923C-A548-8982-8790-580733C2DA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56775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N</a:t>
                </a:r>
                <a:r>
                  <a:rPr lang="de-DE" sz="2600" dirty="0" err="1"/>
                  <a:t>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aliasing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continuous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recovered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samples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if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600" i="1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endParaRPr lang="en-GB" sz="26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endParaRPr lang="de-DE" sz="26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Must</a:t>
                </a:r>
                <a:r>
                  <a:rPr lang="de-DE" sz="2600" dirty="0"/>
                  <a:t> sample at least </a:t>
                </a:r>
                <a:r>
                  <a:rPr lang="de-DE" sz="2600" dirty="0" err="1"/>
                  <a:t>twice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highest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F923C-A548-8982-8790-580733C2DA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56775" cy="4351338"/>
              </a:xfrm>
              <a:blipFill>
                <a:blip r:embed="rId2"/>
                <a:stretch>
                  <a:fillRect l="-1948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A8F9FC-CDB0-CDC7-A913-124CC9522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39741-2FC0-4C84-9528-80AA7942A7E5}" type="slidenum">
              <a:rPr lang="en-GB" smtClean="0"/>
              <a:t>10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61AFFE-F774-D983-3686-F1CC5EBCAB91}"/>
                  </a:ext>
                </a:extLst>
              </p:cNvPr>
              <p:cNvSpPr txBox="1"/>
              <p:nvPr/>
            </p:nvSpPr>
            <p:spPr>
              <a:xfrm>
                <a:off x="8610600" y="1766583"/>
                <a:ext cx="897467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GB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GB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sz="2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61AFFE-F774-D983-3686-F1CC5EBCA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1766583"/>
                <a:ext cx="897467" cy="430887"/>
              </a:xfrm>
              <a:prstGeom prst="rect">
                <a:avLst/>
              </a:prstGeom>
              <a:blipFill>
                <a:blip r:embed="rId3"/>
                <a:stretch>
                  <a:fillRect l="-29577" t="-126471" r="-8451" b="-19117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A402A5-88F6-4F98-0FB4-B0F64A0E15EE}"/>
                  </a:ext>
                </a:extLst>
              </p:cNvPr>
              <p:cNvSpPr txBox="1"/>
              <p:nvPr/>
            </p:nvSpPr>
            <p:spPr>
              <a:xfrm>
                <a:off x="838200" y="5316553"/>
                <a:ext cx="5499100" cy="126117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dirty="0"/>
                  <a:t>Digital images: no aliasing if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nor/>
                          </m:rPr>
                          <a:rPr lang="en-GB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GB" sz="2400" dirty="0"/>
                  <a:t>,</a:t>
                </a:r>
              </a:p>
              <a:p>
                <a:r>
                  <a:rPr lang="en-GB" sz="2400" dirty="0"/>
                  <a:t>with number of pixels </a:t>
                </a:r>
                <a14:m>
                  <m:oMath xmlns:m="http://schemas.openxmlformats.org/officeDocument/2006/math">
                    <m:r>
                      <a:rPr lang="en-GB" sz="240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GB" sz="2400" dirty="0"/>
              </a:p>
              <a:p>
                <a:r>
                  <a:rPr lang="en-GB" dirty="0"/>
                  <a:t>(second dimension accordingly)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A402A5-88F6-4F98-0FB4-B0F64A0E1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316553"/>
                <a:ext cx="5499100" cy="1261179"/>
              </a:xfrm>
              <a:prstGeom prst="rect">
                <a:avLst/>
              </a:prstGeom>
              <a:blipFill>
                <a:blip r:embed="rId4"/>
                <a:stretch>
                  <a:fillRect l="-1609" b="-59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176C1AC-1849-EC2F-C549-968CCCE37DA0}"/>
                  </a:ext>
                </a:extLst>
              </p:cNvPr>
              <p:cNvSpPr txBox="1"/>
              <p:nvPr/>
            </p:nvSpPr>
            <p:spPr>
              <a:xfrm>
                <a:off x="10361762" y="3858438"/>
                <a:ext cx="1727130" cy="11263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200" dirty="0"/>
                  <a:t>Aliasing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2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den>
                      </m:f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&lt;2</m:t>
                      </m:r>
                      <m:r>
                        <a:rPr lang="de-DE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176C1AC-1849-EC2F-C549-968CCCE37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1762" y="3858438"/>
                <a:ext cx="1727130" cy="1126334"/>
              </a:xfrm>
              <a:prstGeom prst="rect">
                <a:avLst/>
              </a:prstGeom>
              <a:blipFill>
                <a:blip r:embed="rId5"/>
                <a:stretch>
                  <a:fillRect l="-5147" t="-3333"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fik 7">
            <a:extLst>
              <a:ext uri="{FF2B5EF4-FFF2-40B4-BE49-F238E27FC236}">
                <a16:creationId xmlns:a16="http://schemas.microsoft.com/office/drawing/2014/main" id="{9E47D6D7-58AA-A7B5-9E6D-9F73D9E8F3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7933" y="2486860"/>
            <a:ext cx="3125334" cy="4036027"/>
          </a:xfrm>
          <a:prstGeom prst="rect">
            <a:avLst/>
          </a:prstGeom>
        </p:spPr>
      </p:pic>
      <p:sp>
        <p:nvSpPr>
          <p:cNvPr id="13" name="Geschweifte Klammer rechts 12">
            <a:extLst>
              <a:ext uri="{FF2B5EF4-FFF2-40B4-BE49-F238E27FC236}">
                <a16:creationId xmlns:a16="http://schemas.microsoft.com/office/drawing/2014/main" id="{8FCD3738-0D69-935D-F255-C6D2CF781C22}"/>
              </a:ext>
            </a:extLst>
          </p:cNvPr>
          <p:cNvSpPr/>
          <p:nvPr/>
        </p:nvSpPr>
        <p:spPr>
          <a:xfrm rot="16200000">
            <a:off x="8756669" y="1931482"/>
            <a:ext cx="289394" cy="75478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Geschweifte Klammer rechts 14">
            <a:extLst>
              <a:ext uri="{FF2B5EF4-FFF2-40B4-BE49-F238E27FC236}">
                <a16:creationId xmlns:a16="http://schemas.microsoft.com/office/drawing/2014/main" id="{8273E3F7-BF3D-6E96-90F8-71F02480FDC2}"/>
              </a:ext>
            </a:extLst>
          </p:cNvPr>
          <p:cNvSpPr/>
          <p:nvPr/>
        </p:nvSpPr>
        <p:spPr>
          <a:xfrm rot="16200000">
            <a:off x="8539457" y="3847840"/>
            <a:ext cx="144697" cy="4483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B24D523-39B7-36F3-7757-5BD430DDD8B7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8610600" y="2164176"/>
            <a:ext cx="290766" cy="18355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Geschweifte Klammer rechts 18">
            <a:extLst>
              <a:ext uri="{FF2B5EF4-FFF2-40B4-BE49-F238E27FC236}">
                <a16:creationId xmlns:a16="http://schemas.microsoft.com/office/drawing/2014/main" id="{07B63BF9-16EB-0C89-4BA2-BEE3FA742487}"/>
              </a:ext>
            </a:extLst>
          </p:cNvPr>
          <p:cNvSpPr/>
          <p:nvPr/>
        </p:nvSpPr>
        <p:spPr>
          <a:xfrm rot="16200000">
            <a:off x="7015413" y="2215945"/>
            <a:ext cx="322682" cy="21914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8">
                <a:extLst>
                  <a:ext uri="{FF2B5EF4-FFF2-40B4-BE49-F238E27FC236}">
                    <a16:creationId xmlns:a16="http://schemas.microsoft.com/office/drawing/2014/main" id="{65E637F5-1BC4-447E-0D83-E76413BCA59C}"/>
                  </a:ext>
                </a:extLst>
              </p:cNvPr>
              <p:cNvSpPr txBox="1"/>
              <p:nvPr/>
            </p:nvSpPr>
            <p:spPr>
              <a:xfrm>
                <a:off x="6837591" y="1733285"/>
                <a:ext cx="897467" cy="440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GB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sz="2200" dirty="0"/>
              </a:p>
            </p:txBody>
          </p:sp>
        </mc:Choice>
        <mc:Fallback xmlns="">
          <p:sp>
            <p:nvSpPr>
              <p:cNvPr id="21" name="TextBox 8">
                <a:extLst>
                  <a:ext uri="{FF2B5EF4-FFF2-40B4-BE49-F238E27FC236}">
                    <a16:creationId xmlns:a16="http://schemas.microsoft.com/office/drawing/2014/main" id="{65E637F5-1BC4-447E-0D83-E76413BCA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591" y="1733285"/>
                <a:ext cx="897467" cy="440249"/>
              </a:xfrm>
              <a:prstGeom prst="rect">
                <a:avLst/>
              </a:prstGeom>
              <a:blipFill>
                <a:blip r:embed="rId7"/>
                <a:stretch>
                  <a:fillRect l="-19444" t="-116667" b="-17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A41CB799-3375-4115-442A-E8E366C83174}"/>
              </a:ext>
            </a:extLst>
          </p:cNvPr>
          <p:cNvSpPr txBox="1"/>
          <p:nvPr/>
        </p:nvSpPr>
        <p:spPr>
          <a:xfrm>
            <a:off x="2461660" y="3367173"/>
            <a:ext cx="20044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>
                <a:sym typeface="Wingdings" pitchFamily="2" charset="2"/>
              </a:rPr>
              <a:t>Nyquist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frequency</a:t>
            </a:r>
            <a:endParaRPr lang="de-DE" dirty="0"/>
          </a:p>
        </p:txBody>
      </p:sp>
      <p:sp>
        <p:nvSpPr>
          <p:cNvPr id="25" name="Geschweifte Klammer rechts 24">
            <a:extLst>
              <a:ext uri="{FF2B5EF4-FFF2-40B4-BE49-F238E27FC236}">
                <a16:creationId xmlns:a16="http://schemas.microsoft.com/office/drawing/2014/main" id="{C880C01D-740D-51E7-F5CB-E7A73F2C4662}"/>
              </a:ext>
            </a:extLst>
          </p:cNvPr>
          <p:cNvSpPr/>
          <p:nvPr/>
        </p:nvSpPr>
        <p:spPr>
          <a:xfrm rot="5400000">
            <a:off x="2772629" y="2838336"/>
            <a:ext cx="304495" cy="791679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4693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028F58-516B-15F4-5B86-734255C85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Anti-Aliasing Filter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97DBC9-5210-B4E9-34B9-C7192026A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Solution: </a:t>
            </a:r>
            <a:r>
              <a:rPr lang="de-DE" dirty="0" err="1"/>
              <a:t>use</a:t>
            </a:r>
            <a:r>
              <a:rPr lang="de-DE" dirty="0"/>
              <a:t> a </a:t>
            </a:r>
            <a:r>
              <a:rPr lang="de-DE" dirty="0" err="1"/>
              <a:t>low</a:t>
            </a:r>
            <a:r>
              <a:rPr lang="de-DE" dirty="0"/>
              <a:t>-pass </a:t>
            </a:r>
            <a:r>
              <a:rPr lang="de-DE" dirty="0" err="1"/>
              <a:t>filter</a:t>
            </a:r>
            <a:r>
              <a:rPr lang="de-DE" dirty="0"/>
              <a:t> (</a:t>
            </a:r>
            <a:r>
              <a:rPr lang="de-DE" dirty="0" err="1"/>
              <a:t>smoothing</a:t>
            </a:r>
            <a:r>
              <a:rPr lang="de-DE" dirty="0"/>
              <a:t>)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sampling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remove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signal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frequencies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above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Nyquist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F73092-F3E4-B46E-D83B-903FE4BC5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5" name="Picture 5" descr="A black and white checkered surface&#10;&#10;Description automatically generated">
            <a:extLst>
              <a:ext uri="{FF2B5EF4-FFF2-40B4-BE49-F238E27FC236}">
                <a16:creationId xmlns:a16="http://schemas.microsoft.com/office/drawing/2014/main" id="{E358579F-8E79-FB43-AE49-241B26F1DE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71278"/>
            <a:ext cx="8348241" cy="338107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FCBC3B24-2808-754B-939F-C0137ADCDC02}"/>
              </a:ext>
            </a:extLst>
          </p:cNvPr>
          <p:cNvSpPr txBox="1"/>
          <p:nvPr/>
        </p:nvSpPr>
        <p:spPr>
          <a:xfrm>
            <a:off x="9186441" y="4026409"/>
            <a:ext cx="21673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average of black and white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733227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41EB34-91F7-7AA8-187C-D2604A348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Zero-Order Hold (ZOH)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E8EFF3-CC02-00AB-EB73-26424F6867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29098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Holds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between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samples</a:t>
                </a: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∈[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Real </a:t>
                </a:r>
                <a:r>
                  <a:rPr lang="de-DE" sz="2400" dirty="0" err="1"/>
                  <a:t>actuators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receive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continuous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signals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d</a:t>
                </a:r>
                <a:r>
                  <a:rPr lang="de-DE" sz="2400" dirty="0"/>
                  <a:t>igital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must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converted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ZOH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 Digital-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-Analog Converter (DAC) </a:t>
                </a:r>
                <a:r>
                  <a:rPr lang="de-DE" sz="2400" dirty="0" err="1"/>
                  <a:t>behavior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ZOH </a:t>
                </a:r>
                <a:r>
                  <a:rPr lang="de-DE" sz="2400" dirty="0" err="1"/>
                  <a:t>introduces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Delay</a:t>
                </a:r>
              </a:p>
              <a:p>
                <a:r>
                  <a:rPr lang="de-DE" sz="2400" dirty="0"/>
                  <a:t>Approximation </a:t>
                </a:r>
                <a:r>
                  <a:rPr lang="de-DE" sz="2400" dirty="0" err="1"/>
                  <a:t>error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E8EFF3-CC02-00AB-EB73-26424F686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29098" cy="4351338"/>
              </a:xfrm>
              <a:blipFill>
                <a:blip r:embed="rId2"/>
                <a:stretch>
                  <a:fillRect l="-1739" t="-2035" b="-119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466D5C-63DE-4B7F-96EA-005E8F82C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AB56C75-E433-AEF0-7527-91F3DB278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298" y="1825625"/>
            <a:ext cx="5430876" cy="310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37379CA-4263-A0F9-70BC-4725DDD80B3F}"/>
              </a:ext>
            </a:extLst>
          </p:cNvPr>
          <p:cNvSpPr txBox="1"/>
          <p:nvPr/>
        </p:nvSpPr>
        <p:spPr>
          <a:xfrm>
            <a:off x="7579241" y="5415149"/>
            <a:ext cx="3774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Signals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now</a:t>
            </a:r>
            <a:r>
              <a:rPr lang="de-DE" sz="2400" dirty="0"/>
              <a:t> </a:t>
            </a:r>
            <a:r>
              <a:rPr lang="de-DE" sz="2400" dirty="0" err="1"/>
              <a:t>sequences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065809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790550-A78E-E662-C286-0A4703645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Differential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3C6EA2B-2FFC-A758-76FA-03DAE99A40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Continuous-time </a:t>
                </a:r>
                <a:r>
                  <a:rPr lang="de-DE" dirty="0" err="1"/>
                  <a:t>systems</a:t>
                </a:r>
                <a:r>
                  <a:rPr lang="de-DE" dirty="0"/>
                  <a:t>: differential </a:t>
                </a:r>
                <a:r>
                  <a:rPr lang="de-DE" dirty="0" err="1"/>
                  <a:t>equations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𝑘𝑇</m:t>
                    </m:r>
                  </m:oMath>
                </a14:m>
                <a:r>
                  <a:rPr lang="de-DE" dirty="0"/>
                  <a:t>):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Sampling a </a:t>
                </a:r>
                <a:r>
                  <a:rPr lang="de-DE" dirty="0" err="1"/>
                  <a:t>continuous</a:t>
                </a:r>
                <a:r>
                  <a:rPr lang="de-DE" dirty="0"/>
                  <a:t>-time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leads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Start </a:t>
                </a:r>
                <a:r>
                  <a:rPr lang="de-DE" dirty="0" err="1"/>
                  <a:t>with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endParaRPr lang="de-DE" dirty="0"/>
              </a:p>
              <a:p>
                <a:r>
                  <a:rPr lang="de-DE" dirty="0" err="1"/>
                  <a:t>Solve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sampling</a:t>
                </a:r>
                <a:r>
                  <a:rPr lang="de-DE" dirty="0"/>
                  <a:t> </a:t>
                </a:r>
                <a:r>
                  <a:rPr lang="de-DE" dirty="0" err="1"/>
                  <a:t>interval</a:t>
                </a:r>
                <a:endParaRPr lang="de-DE" dirty="0"/>
              </a:p>
              <a:p>
                <a:r>
                  <a:rPr lang="de-DE" dirty="0" err="1"/>
                  <a:t>Evaluate</a:t>
                </a:r>
                <a:r>
                  <a:rPr lang="de-DE" dirty="0"/>
                  <a:t> at </a:t>
                </a:r>
                <a:r>
                  <a:rPr lang="de-DE" dirty="0" err="1"/>
                  <a:t>next</a:t>
                </a:r>
                <a:r>
                  <a:rPr lang="de-DE" dirty="0"/>
                  <a:t> sample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3C6EA2B-2FFC-A758-76FA-03DAE99A40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57A029-C8C9-21BF-B915-36D436FD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46510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71765F-089D-FEEB-61CF-394A971E5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First-Order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C1B609B-4CC0-3084-F0AC-71B8E882E3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dirty="0"/>
                  <a:t>     with initial </a:t>
                </a:r>
                <a:r>
                  <a:rPr lang="de-DE" dirty="0" err="1"/>
                  <a:t>condition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Constant </a:t>
                </a:r>
                <a:r>
                  <a:rPr lang="de-DE" dirty="0" err="1"/>
                  <a:t>input</a:t>
                </a:r>
                <a:r>
                  <a:rPr lang="de-DE" dirty="0"/>
                  <a:t>  (ZOH):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Homogenous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Particular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: </a:t>
                </a:r>
                <a:r>
                  <a:rPr lang="de-DE" dirty="0" err="1"/>
                  <a:t>try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0=−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dirty="0"/>
                  <a:t>	</a:t>
                </a:r>
                <a:r>
                  <a:rPr lang="de-DE" dirty="0">
                    <a:sym typeface="Wingdings" pitchFamily="2" charset="2"/>
                  </a:rPr>
                  <a:t>	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General </a:t>
                </a:r>
                <a:r>
                  <a:rPr lang="de-DE" dirty="0" err="1"/>
                  <a:t>solution</a:t>
                </a:r>
                <a:r>
                  <a:rPr lang="de-DE" dirty="0"/>
                  <a:t>: 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C1B609B-4CC0-3084-F0AC-71B8E882E3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577DBE6-AC22-1207-7959-601A742F8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9592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AB735E-50BB-DEE3-8824-3FBD347866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577515"/>
                <a:ext cx="10515600" cy="5599447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Initial </a:t>
                </a:r>
                <a:r>
                  <a:rPr lang="de-DE" sz="2600" dirty="0" err="1"/>
                  <a:t>condition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sz="2600" dirty="0"/>
                  <a:t>	</a:t>
                </a:r>
                <a:r>
                  <a:rPr lang="de-DE" sz="2600" dirty="0">
                    <a:sym typeface="Wingdings" pitchFamily="2" charset="2"/>
                  </a:rPr>
                  <a:t>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0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</a:t>
                </a: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0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</a:t>
                </a: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(0)+</m:t>
                    </m:r>
                    <m:d>
                      <m:d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Sample at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𝑘𝑇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)+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Discrete</a:t>
                </a:r>
                <a:r>
                  <a:rPr lang="de-DE" sz="2600" dirty="0"/>
                  <a:t>-time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difference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equation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AB735E-50BB-DEE3-8824-3FBD347866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577515"/>
                <a:ext cx="10515600" cy="5599447"/>
              </a:xfrm>
              <a:blipFill>
                <a:blip r:embed="rId2"/>
                <a:stretch>
                  <a:fillRect l="-965" t="-203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F90EAB-7E62-DA81-B216-F1074DD8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7A4C25C-D84B-29E0-1395-C931DEE05493}"/>
              </a:ext>
            </a:extLst>
          </p:cNvPr>
          <p:cNvSpPr txBox="1"/>
          <p:nvPr/>
        </p:nvSpPr>
        <p:spPr>
          <a:xfrm>
            <a:off x="5643847" y="2463974"/>
            <a:ext cx="1531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steady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endParaRPr lang="de-DE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FC4202E-EC4D-D2F1-2649-7E504F152824}"/>
              </a:ext>
            </a:extLst>
          </p:cNvPr>
          <p:cNvSpPr txBox="1"/>
          <p:nvPr/>
        </p:nvSpPr>
        <p:spPr>
          <a:xfrm>
            <a:off x="3352506" y="2463974"/>
            <a:ext cx="1168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/>
              <a:t>transient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83D71293-F78C-B6BB-B945-FE313C18BA31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5522142" y="2175309"/>
            <a:ext cx="121705" cy="488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95EBD66E-3ED7-AD9E-7A7F-5EC17F9CB130}"/>
              </a:ext>
            </a:extLst>
          </p:cNvPr>
          <p:cNvSpPr/>
          <p:nvPr/>
        </p:nvSpPr>
        <p:spPr>
          <a:xfrm rot="5400000">
            <a:off x="3758895" y="1244496"/>
            <a:ext cx="317633" cy="2179260"/>
          </a:xfrm>
          <a:prstGeom prst="rightBrace">
            <a:avLst>
              <a:gd name="adj1" fmla="val 8333"/>
              <a:gd name="adj2" fmla="val 480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E31C663E-C0E2-96BB-9F46-564D8A17E871}"/>
                  </a:ext>
                </a:extLst>
              </p:cNvPr>
              <p:cNvSpPr txBox="1"/>
              <p:nvPr/>
            </p:nvSpPr>
            <p:spPr>
              <a:xfrm>
                <a:off x="7648075" y="2017698"/>
                <a:ext cx="370572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System </a:t>
                </a:r>
                <a:r>
                  <a:rPr lang="de-DE" dirty="0" err="1"/>
                  <a:t>moves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de-DE" dirty="0"/>
                  <a:t> to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transition</a:t>
                </a:r>
                <a:endParaRPr lang="de-DE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E31C663E-C0E2-96BB-9F46-564D8A17E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8075" y="2017698"/>
                <a:ext cx="3705725" cy="646331"/>
              </a:xfrm>
              <a:prstGeom prst="rect">
                <a:avLst/>
              </a:prstGeom>
              <a:blipFill>
                <a:blip r:embed="rId3"/>
                <a:stretch>
                  <a:fillRect l="-1024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3300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DAAE50-17F6-59E5-99D3-B54782437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D38550-2779-4710-166B-853B3C3DF3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First-order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template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Second-order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template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Time-</a:t>
                </a:r>
                <a:r>
                  <a:rPr lang="de-DE" dirty="0" err="1"/>
                  <a:t>shifted</a:t>
                </a:r>
                <a:r>
                  <a:rPr lang="de-DE" dirty="0"/>
                  <a:t> </a:t>
                </a:r>
                <a:r>
                  <a:rPr lang="de-DE" dirty="0" err="1"/>
                  <a:t>version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make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causal</a:t>
                </a:r>
                <a:r>
                  <a:rPr lang="de-DE" dirty="0"/>
                  <a:t> (</a:t>
                </a:r>
                <a:r>
                  <a:rPr lang="de-DE" dirty="0" err="1"/>
                  <a:t>current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−2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D38550-2779-4710-166B-853B3C3DF3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D3654B-765B-E231-35F8-266B90EBD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051C712-BDDF-EE3F-5D52-82596C1870A4}"/>
              </a:ext>
            </a:extLst>
          </p:cNvPr>
          <p:cNvSpPr txBox="1"/>
          <p:nvPr/>
        </p:nvSpPr>
        <p:spPr>
          <a:xfrm>
            <a:off x="3316705" y="2723948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memory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3701B33-51DA-5DBA-E5FF-653DDB0EC264}"/>
              </a:ext>
            </a:extLst>
          </p:cNvPr>
          <p:cNvSpPr txBox="1"/>
          <p:nvPr/>
        </p:nvSpPr>
        <p:spPr>
          <a:xfrm>
            <a:off x="4600876" y="2723948"/>
            <a:ext cx="1321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effect</a:t>
            </a:r>
            <a:endParaRPr lang="de-DE" dirty="0"/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787BED0B-B839-4316-07A3-EEF5B53BD2E5}"/>
              </a:ext>
            </a:extLst>
          </p:cNvPr>
          <p:cNvSpPr/>
          <p:nvPr/>
        </p:nvSpPr>
        <p:spPr>
          <a:xfrm rot="5400000">
            <a:off x="3769308" y="2246297"/>
            <a:ext cx="216753" cy="90218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A84D7A95-C453-0BC9-7A6D-5E4C061DB96B}"/>
              </a:ext>
            </a:extLst>
          </p:cNvPr>
          <p:cNvSpPr/>
          <p:nvPr/>
        </p:nvSpPr>
        <p:spPr>
          <a:xfrm rot="5400000">
            <a:off x="5047864" y="2272857"/>
            <a:ext cx="216753" cy="90218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6D37DDC-96DB-5D4C-B5BD-D9ADF81BDF68}"/>
                  </a:ext>
                </a:extLst>
              </p:cNvPr>
              <p:cNvSpPr txBox="1"/>
              <p:nvPr/>
            </p:nvSpPr>
            <p:spPr>
              <a:xfrm>
                <a:off x="7863226" y="2184880"/>
                <a:ext cx="3041583" cy="6930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comes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from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continuous</a:t>
                </a:r>
                <a:r>
                  <a:rPr lang="de-DE" sz="2200" dirty="0"/>
                  <a:t>-time </a:t>
                </a:r>
                <a:r>
                  <a:rPr lang="de-DE" sz="2200" dirty="0" err="1"/>
                  <a:t>physics</a:t>
                </a:r>
                <a:endParaRPr lang="de-DE" sz="22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6D37DDC-96DB-5D4C-B5BD-D9ADF81BDF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226" y="2184880"/>
                <a:ext cx="3041583" cy="693075"/>
              </a:xfrm>
              <a:prstGeom prst="rect">
                <a:avLst/>
              </a:prstGeom>
              <a:blipFill>
                <a:blip r:embed="rId3"/>
                <a:stretch>
                  <a:fillRect l="-5833" t="-7143" r="-3750" b="-232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82836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C8B7C9-E535-7076-D584-E20BF3DD8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z</a:t>
            </a:r>
            <a:r>
              <a:rPr lang="de-DE" dirty="0"/>
              <a:t>-Transform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619CBDA-C814-CDB4-7375-278B01885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?</a:t>
            </a:r>
          </a:p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analyze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?</a:t>
            </a:r>
          </a:p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design </a:t>
            </a:r>
            <a:r>
              <a:rPr lang="de-DE" dirty="0" err="1"/>
              <a:t>controllers</a:t>
            </a:r>
            <a:r>
              <a:rPr lang="de-DE" dirty="0"/>
              <a:t>?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Continuous</a:t>
            </a:r>
            <a:r>
              <a:rPr lang="de-DE" dirty="0"/>
              <a:t>-time </a:t>
            </a:r>
            <a:r>
              <a:rPr lang="de-DE" dirty="0" err="1"/>
              <a:t>systems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/>
              <a:t>differential </a:t>
            </a:r>
            <a:r>
              <a:rPr lang="de-DE" dirty="0" err="1"/>
              <a:t>equation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Laplace </a:t>
            </a:r>
            <a:r>
              <a:rPr lang="de-DE" dirty="0" err="1"/>
              <a:t>transform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algebra</a:t>
            </a:r>
            <a:r>
              <a:rPr lang="de-DE" dirty="0"/>
              <a:t> (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Discrete</a:t>
            </a:r>
            <a:r>
              <a:rPr lang="de-DE" dirty="0"/>
              <a:t>-time </a:t>
            </a:r>
            <a:r>
              <a:rPr lang="de-DE" dirty="0" err="1"/>
              <a:t>systems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z-transform</a:t>
            </a:r>
            <a:r>
              <a:rPr lang="de-DE" dirty="0">
                <a:sym typeface="Wingdings" pitchFamily="2" charset="2"/>
              </a:rPr>
              <a:t>  </a:t>
            </a:r>
            <a:r>
              <a:rPr lang="de-DE" dirty="0" err="1"/>
              <a:t>algebra</a:t>
            </a:r>
            <a:r>
              <a:rPr lang="de-DE" dirty="0"/>
              <a:t> (</a:t>
            </a:r>
            <a:r>
              <a:rPr lang="de-DE" dirty="0" err="1"/>
              <a:t>z</a:t>
            </a:r>
            <a:r>
              <a:rPr lang="de-DE" dirty="0"/>
              <a:t>-transfer </a:t>
            </a:r>
            <a:r>
              <a:rPr lang="de-DE" dirty="0" err="1"/>
              <a:t>function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9D0AF9-DEBC-5E26-D22C-4D0AFC24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5966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EA3253-6AF2-4946-EFA5-9C77FCAC7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z</a:t>
            </a:r>
            <a:r>
              <a:rPr lang="de-DE" dirty="0"/>
              <a:t>-Transform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A3C9EBB-09EA-3C95-52B6-621AAD0061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signal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complex</a:t>
                </a:r>
                <a:r>
                  <a:rPr lang="de-DE" dirty="0"/>
                  <a:t> variable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Interpretation:</a:t>
                </a:r>
              </a:p>
              <a:p>
                <a:r>
                  <a:rPr lang="de-DE" dirty="0" err="1"/>
                  <a:t>Converts</a:t>
                </a:r>
                <a:r>
                  <a:rPr lang="de-DE" dirty="0"/>
                  <a:t> a </a:t>
                </a:r>
                <a:r>
                  <a:rPr lang="de-DE" dirty="0" err="1"/>
                  <a:t>sequence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a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Laplace </a:t>
                </a:r>
                <a:r>
                  <a:rPr lang="de-DE" dirty="0" err="1"/>
                  <a:t>transform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A3C9EBB-09EA-3C95-52B6-621AAD0061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627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0FCA90-A34B-22CC-2EA9-951A01766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9EA23C-D5BF-3BA7-B8EA-A47CD394A5E3}"/>
                  </a:ext>
                </a:extLst>
              </p:cNvPr>
              <p:cNvSpPr txBox="1"/>
              <p:nvPr/>
            </p:nvSpPr>
            <p:spPr>
              <a:xfrm>
                <a:off x="7550217" y="1462633"/>
                <a:ext cx="2431983" cy="11806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b="0" dirty="0">
                    <a:ea typeface="Cambria Math" panose="02040503050406030204" pitchFamily="18" charset="0"/>
                  </a:rPr>
                  <a:t>Laplace </a:t>
                </a:r>
                <a:r>
                  <a:rPr lang="de-DE" b="0" dirty="0" err="1">
                    <a:ea typeface="Cambria Math" panose="02040503050406030204" pitchFamily="18" charset="0"/>
                  </a:rPr>
                  <a:t>transform</a:t>
                </a:r>
                <a:r>
                  <a:rPr lang="de-DE" b="0" dirty="0">
                    <a:ea typeface="Cambria Math" panose="02040503050406030204" pitchFamily="18" charset="0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9EA23C-D5BF-3BA7-B8EA-A47CD394A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217" y="1462633"/>
                <a:ext cx="2431983" cy="1180644"/>
              </a:xfrm>
              <a:prstGeom prst="rect">
                <a:avLst/>
              </a:prstGeom>
              <a:blipFill>
                <a:blip r:embed="rId3"/>
                <a:stretch>
                  <a:fillRect l="-3109" t="-61702" b="-1308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5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18619F-A5C3-CB68-668F-FF9DFD600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Shift Property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3BFDFD-39F4-0594-39FD-6D5DD1E89B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𝑧𝑋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br>
                  <a:rPr lang="de-DE" dirty="0"/>
                </a:b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Shifts</a:t>
                </a:r>
                <a:r>
                  <a:rPr lang="de-DE" dirty="0">
                    <a:sym typeface="Wingdings" pitchFamily="2" charset="2"/>
                  </a:rPr>
                  <a:t> in </a:t>
                </a:r>
                <a:r>
                  <a:rPr lang="de-DE" dirty="0" err="1">
                    <a:sym typeface="Wingdings" pitchFamily="2" charset="2"/>
                  </a:rPr>
                  <a:t>d</a:t>
                </a:r>
                <a:r>
                  <a:rPr lang="de-DE" dirty="0" err="1"/>
                  <a:t>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become</a:t>
                </a:r>
                <a:r>
                  <a:rPr lang="de-DE" dirty="0"/>
                  <a:t> simple </a:t>
                </a:r>
                <a:r>
                  <a:rPr lang="de-DE" dirty="0" err="1"/>
                  <a:t>multiplications</a:t>
                </a:r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z</a:t>
                </a:r>
                <a:r>
                  <a:rPr lang="de-DE" dirty="0"/>
                  <a:t>-domain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3BFDFD-39F4-0594-39FD-6D5DD1E89B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r="-1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3FC9453-5896-DFDA-CDC8-CC5023950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5383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2E2459-DBE8-2A75-5BAE-0EE350A31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z</a:t>
            </a:r>
            <a:r>
              <a:rPr lang="de-DE" dirty="0"/>
              <a:t>-Transfer </a:t>
            </a:r>
            <a:r>
              <a:rPr lang="de-DE" dirty="0" err="1"/>
              <a:t>Functions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4E6248-1BA1-3AB3-8452-0EB5FBF61D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Apply</a:t>
                </a:r>
                <a:r>
                  <a:rPr lang="de-DE" dirty="0"/>
                  <a:t> </a:t>
                </a:r>
                <a:r>
                  <a:rPr lang="de-DE" dirty="0" err="1"/>
                  <a:t>z-transform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Discrete</a:t>
                </a:r>
                <a:r>
                  <a:rPr lang="de-DE" dirty="0"/>
                  <a:t> 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Laplace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4E6248-1BA1-3AB3-8452-0EB5FBF61D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515CCA-631A-F11D-97BE-34BE6B328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126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A34126-E1FD-D3FD-250E-BE1DBC207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s-Plane </a:t>
            </a:r>
            <a:r>
              <a:rPr lang="de-DE" dirty="0" err="1"/>
              <a:t>Mapped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z</a:t>
            </a:r>
            <a:r>
              <a:rPr lang="de-DE" dirty="0"/>
              <a:t>-Plane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A098AEA-3D94-690F-6D1B-9AC99359E4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Relation: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𝑠𝑇</m:t>
                        </m:r>
                      </m:sup>
                    </m:sSup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A098AEA-3D94-690F-6D1B-9AC99359E4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C51841-FA88-91D5-145B-3D0BDA9FB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9AED19D-7D00-A995-349C-1190786F7CE9}"/>
                  </a:ext>
                </a:extLst>
              </p:cNvPr>
              <p:cNvSpPr txBox="1"/>
              <p:nvPr/>
            </p:nvSpPr>
            <p:spPr>
              <a:xfrm>
                <a:off x="838200" y="1687826"/>
                <a:ext cx="3467482" cy="11140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200" dirty="0"/>
                  <a:t>Sampling </a:t>
                </a:r>
                <a:r>
                  <a:rPr lang="de-DE" sz="2200" dirty="0" err="1"/>
                  <a:t>exponentials</a:t>
                </a:r>
                <a:r>
                  <a:rPr lang="de-DE" sz="2200" dirty="0"/>
                  <a:t>:</a:t>
                </a:r>
                <a:endParaRPr lang="de-DE" sz="22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𝑠𝑡</m:t>
                          </m:r>
                        </m:sup>
                      </m:sSup>
                    </m:oMath>
                  </m:oMathPara>
                </a14:m>
                <a:endParaRPr lang="de-DE" sz="22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𝑘𝑇</m:t>
                          </m:r>
                        </m:sup>
                      </m:sSup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  <m:t>𝑠𝑇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de-DE" sz="22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9AED19D-7D00-A995-349C-1190786F7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87826"/>
                <a:ext cx="3467482" cy="1114088"/>
              </a:xfrm>
              <a:prstGeom prst="rect">
                <a:avLst/>
              </a:prstGeom>
              <a:blipFill>
                <a:blip r:embed="rId3"/>
                <a:stretch>
                  <a:fillRect l="-2198" t="-33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31EE7CF9-84FB-C61F-FA72-CE026A481771}"/>
                  </a:ext>
                </a:extLst>
              </p:cNvPr>
              <p:cNvSpPr txBox="1"/>
              <p:nvPr/>
            </p:nvSpPr>
            <p:spPr>
              <a:xfrm>
                <a:off x="116864" y="3570407"/>
                <a:ext cx="1558012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sz="22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31EE7CF9-84FB-C61F-FA72-CE026A481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864" y="3570407"/>
                <a:ext cx="1558012" cy="430887"/>
              </a:xfrm>
              <a:prstGeom prst="rect">
                <a:avLst/>
              </a:prstGeom>
              <a:blipFill>
                <a:blip r:embed="rId4"/>
                <a:stretch>
                  <a:fillRect b="-1470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F752E6F-CBE9-9DB7-0269-92231678175E}"/>
                  </a:ext>
                </a:extLst>
              </p:cNvPr>
              <p:cNvSpPr txBox="1"/>
              <p:nvPr/>
            </p:nvSpPr>
            <p:spPr>
              <a:xfrm>
                <a:off x="9447276" y="3570407"/>
                <a:ext cx="2465832" cy="14575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de-DE" sz="2200" dirty="0"/>
              </a:p>
              <a:p>
                <a:endParaRPr lang="de-DE" sz="2200" dirty="0"/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>
                    <a:sym typeface="Wingdings" pitchFamily="2" charset="2"/>
                  </a:rPr>
                  <a:t> </a:t>
                </a:r>
                <a:r>
                  <a:rPr lang="de-DE" sz="2200" dirty="0" err="1">
                    <a:sym typeface="Wingdings" pitchFamily="2" charset="2"/>
                  </a:rPr>
                  <a:t>unit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circle</a:t>
                </a:r>
                <a:endParaRPr lang="de-DE" sz="2200" dirty="0"/>
              </a:p>
              <a:p>
                <a:endParaRPr lang="de-DE" sz="22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F752E6F-CBE9-9DB7-0269-9223167817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7276" y="3570407"/>
                <a:ext cx="2465832" cy="1457579"/>
              </a:xfrm>
              <a:prstGeom prst="rect">
                <a:avLst/>
              </a:prstGeom>
              <a:blipFill>
                <a:blip r:embed="rId5"/>
                <a:stretch>
                  <a:fillRect r="-257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Grafik 11">
            <a:extLst>
              <a:ext uri="{FF2B5EF4-FFF2-40B4-BE49-F238E27FC236}">
                <a16:creationId xmlns:a16="http://schemas.microsoft.com/office/drawing/2014/main" id="{42CB669C-D189-4B3C-F152-5BD40E97B7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4876" y="3252910"/>
            <a:ext cx="7772400" cy="328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5537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6B36AE83-611D-B02A-12BE-0EC671187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39462"/>
            <a:ext cx="5257800" cy="518201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E6D035F-C0FB-44AD-30F4-AFEDE2F71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in </a:t>
            </a:r>
            <a:r>
              <a:rPr lang="de-DE" dirty="0" err="1"/>
              <a:t>Discrete</a:t>
            </a:r>
            <a:r>
              <a:rPr lang="de-DE" dirty="0"/>
              <a:t>-Time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9F1111-2F1A-4B89-470B-1C913FCB46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85526" y="1825625"/>
                <a:ext cx="476827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Remember: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sz="2600" dirty="0"/>
                  <a:t>: </a:t>
                </a:r>
                <a:r>
                  <a:rPr lang="de-DE" sz="2600" dirty="0" err="1">
                    <a:sym typeface="Wingdings" pitchFamily="2" charset="2"/>
                  </a:rPr>
                  <a:t>stable</a:t>
                </a:r>
                <a:endParaRPr lang="de-DE" sz="2600" dirty="0">
                  <a:sym typeface="Wingdings" pitchFamily="2" charset="2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r>
                  <a:rPr lang="de-DE" sz="2600" dirty="0">
                    <a:sym typeface="Wingdings" pitchFamily="2" charset="2"/>
                  </a:rPr>
                  <a:t>: marginally </a:t>
                </a:r>
                <a:r>
                  <a:rPr lang="de-DE" sz="2600" dirty="0" err="1">
                    <a:sym typeface="Wingdings" pitchFamily="2" charset="2"/>
                  </a:rPr>
                  <a:t>stable</a:t>
                </a:r>
                <a:endParaRPr lang="de-DE" sz="2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)&gt;0</m:t>
                    </m:r>
                  </m:oMath>
                </a14:m>
                <a:r>
                  <a:rPr lang="de-DE" sz="2600" dirty="0"/>
                  <a:t>: </a:t>
                </a:r>
                <a:r>
                  <a:rPr lang="de-DE" sz="2600" dirty="0" err="1">
                    <a:sym typeface="Wingdings" pitchFamily="2" charset="2"/>
                  </a:rPr>
                  <a:t>unstable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Discrete</a:t>
                </a:r>
                <a:r>
                  <a:rPr lang="de-DE" sz="2600" dirty="0">
                    <a:sym typeface="Wingdings" pitchFamily="2" charset="2"/>
                  </a:rPr>
                  <a:t>-time </a:t>
                </a:r>
                <a:r>
                  <a:rPr lang="de-DE" sz="2600" dirty="0" err="1">
                    <a:sym typeface="Wingdings" pitchFamily="2" charset="2"/>
                  </a:rPr>
                  <a:t>s</a:t>
                </a:r>
                <a:r>
                  <a:rPr lang="de-DE" sz="2600" dirty="0" err="1"/>
                  <a:t>ystem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stable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lie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inside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unit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circle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9F1111-2F1A-4B89-470B-1C913FCB46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85526" y="1825625"/>
                <a:ext cx="4768273" cy="4351338"/>
              </a:xfrm>
              <a:blipFill>
                <a:blip r:embed="rId3"/>
                <a:stretch>
                  <a:fillRect l="-2128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CC739B-76A7-CF79-0B93-E52879AFF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88657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0C91F-7B71-019B-8D54-371DC7F55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ZOH </a:t>
            </a:r>
            <a:r>
              <a:rPr lang="de-DE" dirty="0" err="1"/>
              <a:t>Equivalent</a:t>
            </a:r>
            <a:r>
              <a:rPr lang="de-DE" dirty="0"/>
              <a:t> </a:t>
            </a:r>
            <a:r>
              <a:rPr lang="de-DE" dirty="0" err="1"/>
              <a:t>Discretization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064A3B-B62B-C624-2470-28812383F6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Goal: </a:t>
                </a:r>
                <a:r>
                  <a:rPr lang="de-DE" dirty="0" err="1"/>
                  <a:t>direct</a:t>
                </a:r>
                <a:r>
                  <a:rPr lang="de-DE" dirty="0"/>
                  <a:t> </a:t>
                </a:r>
                <a:r>
                  <a:rPr lang="de-DE" dirty="0" err="1"/>
                  <a:t>mapping</a:t>
                </a: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Steps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groupChr>
                      <m:groupChrPr>
                        <m:chr m:val="→"/>
                        <m:vertJc m:val="bot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2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OH</m:t>
                        </m:r>
                      </m:e>
                    </m:groupCh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  <m:groupChr>
                      <m:groupChrPr>
                        <m:chr m:val="→"/>
                        <m:vertJc m:val="bot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groupCh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  <m:groupChr>
                      <m:groupChrPr>
                        <m:chr m:val="→"/>
                        <m:vertJc m:val="bot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2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ampling</m:t>
                        </m:r>
                      </m:e>
                    </m:groupCh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ZOH </a:t>
                </a:r>
                <a:r>
                  <a:rPr lang="de-DE" dirty="0" err="1"/>
                  <a:t>modifies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seen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plant</a:t>
                </a:r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dirty="0"/>
                  <a:t>ZOH 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discretization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produces</a:t>
                </a:r>
                <a:r>
                  <a:rPr lang="de-DE" dirty="0"/>
                  <a:t> </a:t>
                </a:r>
                <a:r>
                  <a:rPr lang="de-DE" dirty="0" err="1"/>
                  <a:t>exactly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same </a:t>
                </a:r>
                <a:r>
                  <a:rPr lang="de-DE" dirty="0" err="1"/>
                  <a:t>sampled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continuous</a:t>
                </a:r>
                <a:r>
                  <a:rPr lang="de-DE" dirty="0"/>
                  <a:t>-time plant </a:t>
                </a:r>
                <a:r>
                  <a:rPr lang="de-DE" dirty="0" err="1"/>
                  <a:t>under</a:t>
                </a:r>
                <a:r>
                  <a:rPr lang="de-DE" dirty="0"/>
                  <a:t> ZOH </a:t>
                </a:r>
                <a:r>
                  <a:rPr lang="de-DE" dirty="0" err="1"/>
                  <a:t>input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064A3B-B62B-C624-2470-28812383F6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D2B7F34-CD61-7C91-E7F0-FD7BB70BA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4202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29D9B5-4388-01F5-3D30-72141D496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ZOH </a:t>
            </a:r>
            <a:r>
              <a:rPr lang="de-DE" dirty="0" err="1"/>
              <a:t>Equivalent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81C50DD-53E8-1F42-99A3-8B6A5B3B32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Converts a </a:t>
                </a:r>
                <a:r>
                  <a:rPr lang="de-DE" sz="2600" dirty="0" err="1"/>
                  <a:t>continuous</a:t>
                </a:r>
                <a:r>
                  <a:rPr lang="de-DE" sz="2600" dirty="0"/>
                  <a:t>-time plant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into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discrete</a:t>
                </a:r>
                <a:r>
                  <a:rPr lang="de-DE" sz="2600" dirty="0"/>
                  <a:t>-time </a:t>
                </a:r>
                <a:r>
                  <a:rPr lang="de-DE" sz="2600" dirty="0" err="1"/>
                  <a:t>equivalent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)∙</m:t>
                        </m:r>
                        <m:f>
                          <m:f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𝑠𝑇</m:t>
                                </m:r>
                              </m:sup>
                            </m:sSup>
                          </m:num>
                          <m:den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sequence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b="1" dirty="0" err="1"/>
                  <a:t>rectangular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pulses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over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interval</a:t>
                </a:r>
                <a:endParaRPr lang="de-DE" sz="26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constant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					turn ON at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𝑠𝑇</m:t>
                        </m:r>
                      </m:sup>
                    </m:sSup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delay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delayed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constant</a:t>
                </a:r>
                <a:r>
                  <a:rPr lang="de-DE" sz="2600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6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𝑠𝑇</m:t>
                            </m:r>
                          </m:sup>
                        </m:sSup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den>
                    </m:f>
                  </m:oMath>
                </a14:m>
                <a:r>
                  <a:rPr lang="de-DE" sz="2600" dirty="0"/>
                  <a:t>	turn OFF (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de-DE" sz="2600" dirty="0"/>
                  <a:t>) at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81C50DD-53E8-1F42-99A3-8B6A5B3B32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4351338"/>
              </a:xfrm>
              <a:blipFill>
                <a:blip r:embed="rId2"/>
                <a:stretch>
                  <a:fillRect l="-781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51CCB1D-A448-03BD-3A32-30AC7AA0E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19B8D5B-0D47-31FD-6845-F893C48FEACC}"/>
                  </a:ext>
                </a:extLst>
              </p:cNvPr>
              <p:cNvSpPr txBox="1"/>
              <p:nvPr/>
            </p:nvSpPr>
            <p:spPr>
              <a:xfrm>
                <a:off x="4077433" y="3174443"/>
                <a:ext cx="113370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ZOH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19B8D5B-0D47-31FD-6845-F893C48FEA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433" y="3174443"/>
                <a:ext cx="1133707" cy="369332"/>
              </a:xfrm>
              <a:prstGeom prst="rect">
                <a:avLst/>
              </a:prstGeom>
              <a:blipFill>
                <a:blip r:embed="rId3"/>
                <a:stretch>
                  <a:fillRect l="-6667" t="-3448" r="-8889" b="-310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92FC6A8B-5B78-D197-1045-16CE651414C8}"/>
              </a:ext>
            </a:extLst>
          </p:cNvPr>
          <p:cNvSpPr/>
          <p:nvPr/>
        </p:nvSpPr>
        <p:spPr>
          <a:xfrm rot="16200000">
            <a:off x="4366431" y="2604700"/>
            <a:ext cx="302808" cy="8366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8E192C18-A674-1CDA-B15C-26B4E9ED0A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0656" y="2760758"/>
            <a:ext cx="2842207" cy="1627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2C0B4EE-ACD1-333E-F7FA-6584238C715B}"/>
              </a:ext>
            </a:extLst>
          </p:cNvPr>
          <p:cNvCxnSpPr>
            <a:cxnSpLocks/>
          </p:cNvCxnSpPr>
          <p:nvPr/>
        </p:nvCxnSpPr>
        <p:spPr>
          <a:xfrm>
            <a:off x="4599709" y="3574552"/>
            <a:ext cx="336465" cy="9302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6766D84-3271-8FAA-B992-2C6F5891BF0A}"/>
                  </a:ext>
                </a:extLst>
              </p:cNvPr>
              <p:cNvSpPr txBox="1"/>
              <p:nvPr/>
            </p:nvSpPr>
            <p:spPr>
              <a:xfrm>
                <a:off x="5718849" y="3574552"/>
                <a:ext cx="3321807" cy="6178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1−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0&lt;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0,          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6766D84-3271-8FAA-B992-2C6F5891BF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8849" y="3574552"/>
                <a:ext cx="3321807" cy="617861"/>
              </a:xfrm>
              <a:prstGeom prst="rect">
                <a:avLst/>
              </a:prstGeom>
              <a:blipFill>
                <a:blip r:embed="rId5"/>
                <a:stretch>
                  <a:fillRect l="-1136" t="-217647" r="-758" b="-31568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77341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1AEA4B-5887-4F08-EB19-ABD3933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ZOH </a:t>
            </a:r>
            <a:r>
              <a:rPr lang="de-DE" dirty="0" err="1"/>
              <a:t>Discretization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E2F7FDC-C112-EB05-B253-CD92731303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Given </a:t>
                </a:r>
                <a:r>
                  <a:rPr lang="de-DE" sz="2200" dirty="0" err="1"/>
                  <a:t>continuous</a:t>
                </a:r>
                <a:r>
                  <a:rPr lang="de-DE" sz="2200" dirty="0"/>
                  <a:t>-time </a:t>
                </a:r>
                <a:r>
                  <a:rPr lang="de-DE" sz="2200" dirty="0" err="1"/>
                  <a:t>system</a:t>
                </a:r>
                <a:r>
                  <a:rPr lang="de-DE" sz="2200" dirty="0"/>
                  <a:t>:</a:t>
                </a:r>
              </a:p>
              <a:p>
                <a:pPr marL="0" indent="0">
                  <a:buNone/>
                </a:pPr>
                <a:r>
                  <a:rPr lang="de-DE" sz="2200" b="0" dirty="0"/>
                  <a:t>	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/>
                  <a:t>Goal: Find </a:t>
                </a:r>
                <a:r>
                  <a:rPr lang="de-DE" sz="2200" dirty="0" err="1"/>
                  <a:t>discrete</a:t>
                </a:r>
                <a:r>
                  <a:rPr lang="de-DE" sz="2200" dirty="0"/>
                  <a:t>-time </a:t>
                </a:r>
                <a:r>
                  <a:rPr lang="de-DE" sz="2200" dirty="0" err="1"/>
                  <a:t>transfer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function</a:t>
                </a:r>
                <a:r>
                  <a:rPr lang="de-DE" sz="2200" dirty="0"/>
                  <a:t>, </a:t>
                </a:r>
                <a:r>
                  <a:rPr lang="de-DE" sz="2200" dirty="0" err="1"/>
                  <a:t>using</a:t>
                </a:r>
                <a:r>
                  <a:rPr lang="de-DE" sz="2200" dirty="0"/>
                  <a:t> ZOH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sampling</a:t>
                </a:r>
                <a:r>
                  <a:rPr lang="de-DE" sz="2200" dirty="0"/>
                  <a:t> time 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200" dirty="0" err="1"/>
                  <a:t>Apply</a:t>
                </a:r>
                <a:r>
                  <a:rPr lang="de-DE" sz="2200" dirty="0"/>
                  <a:t> ZOH: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𝑠𝑇</m:t>
                            </m:r>
                          </m:sup>
                        </m:sSup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𝑠𝑇</m:t>
                            </m:r>
                          </m:sup>
                        </m:sSup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2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200" dirty="0"/>
                  <a:t>Go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time </a:t>
                </a:r>
                <a:r>
                  <a:rPr lang="de-DE" sz="2200" dirty="0" err="1"/>
                  <a:t>domain</a:t>
                </a:r>
                <a:r>
                  <a:rPr lang="de-DE" sz="2200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𝑠𝑇</m:t>
                                </m:r>
                              </m:sup>
                            </m:sSup>
                          </m:num>
                          <m:den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de-DE" sz="2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endParaRPr lang="de-DE" sz="2200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200" dirty="0"/>
                  <a:t>Sample </a:t>
                </a:r>
                <a:r>
                  <a:rPr lang="de-DE" sz="2200" dirty="0" err="1"/>
                  <a:t>output</a:t>
                </a:r>
                <a:r>
                  <a:rPr lang="de-DE" sz="2200" dirty="0"/>
                  <a:t>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𝑘𝑇</m:t>
                        </m:r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   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</m:t>
                    </m:r>
                  </m:oMath>
                </a14:m>
                <a:endParaRPr lang="de-DE" sz="22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200" dirty="0"/>
                  <a:t>Take </a:t>
                </a:r>
                <a:r>
                  <a:rPr lang="de-DE" sz="2200" dirty="0" err="1"/>
                  <a:t>z-transform</a:t>
                </a:r>
                <a:r>
                  <a:rPr lang="de-DE" sz="2200" dirty="0"/>
                  <a:t>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den>
                    </m:f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E2F7FDC-C112-EB05-B253-CD92731303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B74330-485E-C7D6-86E2-A23565E74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8262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752144E6-9A4A-09D2-9156-53D959141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2122" y="1803626"/>
            <a:ext cx="6029879" cy="455272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FDBE573-CFF3-8D22-749D-89F4FDAAA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Step</a:t>
            </a:r>
            <a:r>
              <a:rPr lang="de-DE" dirty="0"/>
              <a:t> Response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D0C5C-A5B6-3AF4-23BC-09898A65F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F836160-3C06-D090-4A1C-195F52AE8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2" y="1803627"/>
            <a:ext cx="6029878" cy="4552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7034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8C735A-B755-C027-C92C-3C3466B42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Alternative </a:t>
            </a:r>
            <a:r>
              <a:rPr lang="de-DE" dirty="0" err="1"/>
              <a:t>Discretization</a:t>
            </a:r>
            <a:r>
              <a:rPr lang="de-DE" dirty="0"/>
              <a:t>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2F07B9D-09CF-1A1F-5CD8-5F69FA0910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How </a:t>
                </a:r>
                <a:r>
                  <a:rPr lang="de-DE" dirty="0" err="1"/>
                  <a:t>can</a:t>
                </a:r>
                <a:r>
                  <a:rPr lang="de-DE" dirty="0"/>
                  <a:t> I </a:t>
                </a:r>
                <a:r>
                  <a:rPr lang="de-DE" dirty="0" err="1"/>
                  <a:t>approximate</a:t>
                </a:r>
                <a:r>
                  <a:rPr lang="de-DE" dirty="0"/>
                  <a:t> a </a:t>
                </a:r>
                <a:r>
                  <a:rPr lang="de-DE" dirty="0" err="1"/>
                  <a:t>continuous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in </a:t>
                </a:r>
                <a:r>
                  <a:rPr lang="de-DE" dirty="0" err="1"/>
                  <a:t>discrete</a:t>
                </a:r>
                <a:r>
                  <a:rPr lang="de-DE" dirty="0"/>
                  <a:t> time </a:t>
                </a: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:r>
                  <a:rPr lang="de-DE" dirty="0" err="1"/>
                  <a:t>modeling</a:t>
                </a:r>
                <a:r>
                  <a:rPr lang="de-DE" dirty="0"/>
                  <a:t> ZOH </a:t>
                </a:r>
                <a:r>
                  <a:rPr lang="de-DE" dirty="0" err="1"/>
                  <a:t>explicitly</a:t>
                </a:r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Goal: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(approximative)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Methods:</a:t>
                </a:r>
              </a:p>
              <a:p>
                <a:r>
                  <a:rPr lang="de-DE" dirty="0"/>
                  <a:t>Forward Euler</a:t>
                </a:r>
              </a:p>
              <a:p>
                <a:r>
                  <a:rPr lang="de-DE" dirty="0" err="1"/>
                  <a:t>Backward</a:t>
                </a:r>
                <a:r>
                  <a:rPr lang="de-DE" dirty="0"/>
                  <a:t> Euler</a:t>
                </a:r>
              </a:p>
              <a:p>
                <a:r>
                  <a:rPr lang="de-DE" dirty="0" err="1"/>
                  <a:t>Tustin</a:t>
                </a:r>
                <a:r>
                  <a:rPr lang="de-DE" dirty="0"/>
                  <a:t> (bilinear)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2F07B9D-09CF-1A1F-5CD8-5F69FA0910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45104E-DB0C-27FD-F25D-8F0C66906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4644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745B91F4-6A3F-75D7-7009-76BA8A965CB6}"/>
              </a:ext>
            </a:extLst>
          </p:cNvPr>
          <p:cNvSpPr/>
          <p:nvPr/>
        </p:nvSpPr>
        <p:spPr>
          <a:xfrm>
            <a:off x="1595718" y="1568824"/>
            <a:ext cx="1685364" cy="10309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3D1C3CB-A3F2-44AD-B94F-49D53C8C3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Forward Euler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A61502FF-F73D-C978-5092-8BCC6312CA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93824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3000" dirty="0"/>
                  <a:t>	</a:t>
                </a:r>
                <a14:m>
                  <m:oMath xmlns:m="http://schemas.openxmlformats.org/officeDocument/2006/math">
                    <m:r>
                      <a:rPr lang="de-DE" sz="3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de-DE" sz="3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3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  <m:r>
                          <a:rPr lang="de-DE" sz="3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de-DE" sz="3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de-DE" sz="3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Derivation:</a:t>
                </a:r>
              </a:p>
              <a:p>
                <a:pPr marL="0" indent="0">
                  <a:buNone/>
                </a:pPr>
                <a:r>
                  <a:rPr lang="de-DE" sz="2400" dirty="0"/>
                  <a:t>Approximation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slope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using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forward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difference</a:t>
                </a:r>
                <a:r>
                  <a:rPr lang="de-DE" sz="2400" dirty="0"/>
                  <a:t>: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𝑑𝑦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𝑑𝑡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≈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+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𝑇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𝑇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𝑘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+1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𝑘</m:t>
                            </m:r>
                          </m:e>
                        </m:d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𝑇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Consider</a:t>
                </a:r>
                <a:r>
                  <a:rPr lang="de-DE" sz="2400" dirty="0"/>
                  <a:t> first-order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example</a:t>
                </a:r>
                <a:r>
                  <a:rPr lang="de-DE" sz="2400" dirty="0"/>
                  <a:t>):  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𝑘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+1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𝑘</m:t>
                            </m:r>
                          </m:e>
                        </m:d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𝑇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𝑘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sz="2400" dirty="0">
                    <a:ea typeface="Cambria Math" panose="02040503050406030204" pitchFamily="18" charset="0"/>
                    <a:sym typeface="Wingdings" pitchFamily="2" charset="2"/>
                  </a:rPr>
                  <a:t>   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𝑘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+1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1−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𝑇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𝑘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𝑇𝑢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sz="2400" dirty="0"/>
                  <a:t>     (explicit </a:t>
                </a:r>
                <a:r>
                  <a:rPr lang="de-DE" sz="2400" dirty="0" err="1"/>
                  <a:t>calculation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b="0" dirty="0">
                    <a:ea typeface="Cambria Math" panose="02040503050406030204" pitchFamily="18" charset="0"/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𝑧𝑌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𝑧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1−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𝑇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𝑧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𝑇𝑈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𝑧</m:t>
                        </m:r>
                      </m:e>
                    </m:d>
                  </m:oMath>
                </a14:m>
                <a:r>
                  <a:rPr lang="de-DE" sz="2400" b="0" dirty="0">
                    <a:sym typeface="Wingdings" pitchFamily="2" charset="2"/>
                  </a:rPr>
                  <a:t>     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−(1−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Compare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−(1−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de-DE" sz="2400" dirty="0"/>
                  <a:t>   with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de-DE" sz="2400" dirty="0"/>
                  <a:t>   </a:t>
                </a:r>
                <a:r>
                  <a:rPr lang="de-DE" sz="2400" dirty="0"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A61502FF-F73D-C978-5092-8BCC6312CA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93824" cy="4351338"/>
              </a:xfrm>
              <a:blipFill>
                <a:blip r:embed="rId2"/>
                <a:stretch>
                  <a:fillRect l="-686" t="-581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923C545-BAD5-A841-6B73-6991DB8BD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90473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A7F8DE-CF5F-2F1E-0945-3168CB43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Forward Euler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10AC651-4ADB-CB27-8745-B7F22B02E9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Compare </a:t>
                </a:r>
                <a:r>
                  <a:rPr lang="de-DE" dirty="0" err="1"/>
                  <a:t>with</a:t>
                </a:r>
                <a:r>
                  <a:rPr lang="de-DE" dirty="0"/>
                  <a:t> ZOH </a:t>
                </a:r>
                <a:r>
                  <a:rPr lang="de-DE" dirty="0" err="1"/>
                  <a:t>for</a:t>
                </a:r>
                <a:r>
                  <a:rPr lang="de-DE" dirty="0"/>
                  <a:t> first-order </a:t>
                </a:r>
                <a:r>
                  <a:rPr lang="de-DE" dirty="0" err="1"/>
                  <a:t>system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ZOH: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den>
                    </m:f>
                  </m:oMath>
                </a14:m>
                <a:r>
                  <a:rPr lang="de-DE" dirty="0"/>
                  <a:t>		Euler: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−(1−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Euler ≈ ZOH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sampling</a:t>
                </a:r>
                <a:r>
                  <a:rPr lang="de-DE" dirty="0"/>
                  <a:t> time: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dirty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de-DE" dirty="0">
                        <a:latin typeface="Cambria Math" panose="02040503050406030204" pitchFamily="18" charset="0"/>
                      </a:rPr>
                      <m:t>1−</m:t>
                    </m:r>
                    <m:r>
                      <m:rPr>
                        <m:sty m:val="p"/>
                      </m:rPr>
                      <a:rPr lang="de-DE" dirty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Consider</a:t>
                </a:r>
                <a:r>
                  <a:rPr lang="de-DE" dirty="0"/>
                  <a:t> </a:t>
                </a:r>
                <a:r>
                  <a:rPr lang="de-DE" dirty="0" err="1"/>
                  <a:t>stable</a:t>
                </a:r>
                <a:r>
                  <a:rPr lang="de-DE" dirty="0"/>
                  <a:t> </a:t>
                </a:r>
                <a:r>
                  <a:rPr lang="de-DE" dirty="0" err="1"/>
                  <a:t>continuous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Euler </a:t>
                </a:r>
                <a:r>
                  <a:rPr lang="de-DE" dirty="0" err="1">
                    <a:sym typeface="Wingdings" pitchFamily="2" charset="2"/>
                  </a:rPr>
                  <a:t>mapping</a:t>
                </a:r>
                <a:r>
                  <a:rPr lang="de-DE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sym typeface="Wingdings" pitchFamily="2" charset="2"/>
                      </a:rPr>
                      <m:t>𝑧</m:t>
                    </m:r>
                    <m:r>
                      <a:rPr lang="de-DE" i="1">
                        <a:latin typeface="Cambria Math" panose="02040503050406030204" pitchFamily="18" charset="0"/>
                        <a:sym typeface="Wingdings" pitchFamily="2" charset="2"/>
                      </a:rPr>
                      <m:t>=1−</m:t>
                    </m:r>
                    <m:r>
                      <a:rPr lang="de-DE" i="1">
                        <a:latin typeface="Cambria Math" panose="02040503050406030204" pitchFamily="18" charset="0"/>
                        <a:sym typeface="Wingdings" pitchFamily="2" charset="2"/>
                      </a:rPr>
                      <m:t>𝑇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requires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  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sym typeface="Wingdings" pitchFamily="2" charset="2"/>
                      </a:rPr>
                      <m:t>0&lt;</m:t>
                    </m:r>
                    <m:r>
                      <a:rPr lang="de-DE" i="1">
                        <a:latin typeface="Cambria Math" panose="02040503050406030204" pitchFamily="18" charset="0"/>
                        <a:sym typeface="Wingdings" pitchFamily="2" charset="2"/>
                      </a:rPr>
                      <m:t>𝑇</m:t>
                    </m:r>
                    <m:r>
                      <a:rPr lang="de-DE" i="1">
                        <a:latin typeface="Cambria Math" panose="02040503050406030204" pitchFamily="18" charset="0"/>
                        <a:sym typeface="Wingdings" pitchFamily="2" charset="2"/>
                      </a:rPr>
                      <m:t>&lt;2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Euler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make</a:t>
                </a:r>
                <a:r>
                  <a:rPr lang="de-DE" dirty="0"/>
                  <a:t> a </a:t>
                </a:r>
                <a:r>
                  <a:rPr lang="de-DE" dirty="0" err="1"/>
                  <a:t>stable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(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, not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physical</a:t>
                </a:r>
                <a:r>
                  <a:rPr lang="de-DE" dirty="0"/>
                  <a:t> </a:t>
                </a:r>
                <a:r>
                  <a:rPr lang="de-DE" dirty="0" err="1"/>
                  <a:t>process</a:t>
                </a:r>
                <a:r>
                  <a:rPr lang="de-DE" dirty="0"/>
                  <a:t>!) </a:t>
                </a: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sym typeface="Wingdings" pitchFamily="2" charset="2"/>
                      </a:rPr>
                      <m:t>𝑇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too</a:t>
                </a:r>
                <a:r>
                  <a:rPr lang="de-DE" dirty="0"/>
                  <a:t> large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10AC651-4ADB-CB27-8745-B7F22B02E9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 r="-120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7BC145-6539-93D9-C74D-D8A3C1EEA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05977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09FDD90C-73E8-7D56-1631-10CE989DE7F8}"/>
              </a:ext>
            </a:extLst>
          </p:cNvPr>
          <p:cNvSpPr/>
          <p:nvPr/>
        </p:nvSpPr>
        <p:spPr>
          <a:xfrm>
            <a:off x="1595718" y="1622614"/>
            <a:ext cx="1685364" cy="10309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0AC9EB8-E9B3-251E-BE78-E4D38AB67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Backward</a:t>
            </a:r>
            <a:r>
              <a:rPr lang="de-DE" dirty="0"/>
              <a:t> Euler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1FDD0BB-F10B-A81F-CD00-93CAFD5408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102789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sz="2200" dirty="0" err="1"/>
                  <a:t>Backward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difference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instead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future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slope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approximation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forward</a:t>
                </a:r>
                <a:r>
                  <a:rPr lang="de-DE" sz="2200" dirty="0"/>
                  <a:t> Euler):</a:t>
                </a:r>
                <a:endParaRPr lang="de-DE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200" dirty="0">
                    <a:sym typeface="Wingdings" pitchFamily="2" charset="2"/>
                  </a:rPr>
                  <a:t>	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accPr>
                      <m:e>
                        <m:r>
                          <a:rPr lang="de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𝑡</m:t>
                        </m:r>
                      </m:e>
                    </m:d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≈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𝑘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+1</m:t>
                            </m:r>
                          </m:e>
                        </m:d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−</m:t>
                        </m:r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𝑘</m:t>
                            </m:r>
                          </m:e>
                        </m:d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𝑇</m:t>
                        </m:r>
                      </m:den>
                    </m:f>
                  </m:oMath>
                </a14:m>
                <a:r>
                  <a:rPr lang="de-DE" sz="2200" dirty="0">
                    <a:sym typeface="Wingdings" pitchFamily="2" charset="2"/>
                  </a:rPr>
                  <a:t>     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𝑡</m:t>
                        </m:r>
                      </m:e>
                    </m:d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𝑘</m:t>
                            </m:r>
                          </m:e>
                        </m:d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−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𝑘</m:t>
                            </m:r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𝑇</m:t>
                        </m:r>
                      </m:den>
                    </m:f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/>
                  <a:t>First-order </a:t>
                </a:r>
                <a:r>
                  <a:rPr lang="de-DE" sz="2200" dirty="0" err="1"/>
                  <a:t>system</a:t>
                </a:r>
                <a:r>
                  <a:rPr lang="de-DE" sz="2200" dirty="0"/>
                  <a:t>: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𝑘</m:t>
                            </m:r>
                          </m:e>
                        </m:d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−</m:t>
                        </m:r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𝑘</m:t>
                            </m:r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𝑇</m:t>
                        </m:r>
                      </m:den>
                    </m:f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𝑘</m:t>
                        </m:r>
                      </m:e>
                    </m:d>
                    <m:r>
                      <a:rPr lang="de-DE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sz="2200" dirty="0"/>
                  <a:t>   </a:t>
                </a:r>
                <a:r>
                  <a:rPr lang="de-DE" sz="2200" dirty="0"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+</m:t>
                        </m:r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𝑇</m:t>
                        </m:r>
                      </m:e>
                    </m:d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𝑌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𝑧</m:t>
                        </m:r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p>
                      <m:sSupPr>
                        <m:ctrlP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𝑧</m:t>
                        </m:r>
                      </m:e>
                      <m:sup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−1</m:t>
                        </m:r>
                      </m:sup>
                    </m:sSup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𝑌</m:t>
                    </m:r>
                    <m:d>
                      <m:dPr>
                        <m:ctrlP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𝑧</m:t>
                        </m:r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+</m:t>
                    </m:r>
                    <m:r>
                      <a:rPr lang="de-DE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𝑈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𝑧</m:t>
                        </m:r>
                      </m:e>
                    </m:d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d>
                          <m:d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d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p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𝑧</m:t>
                            </m:r>
                          </m:e>
                          <m:sup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−1</m:t>
                            </m:r>
                          </m:sup>
                        </m:sSup>
                      </m:den>
                    </m:f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d>
                          <m:d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d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den>
                    </m:f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>
                    <a:ea typeface="Cambria Math" panose="02040503050406030204" pitchFamily="18" charset="0"/>
                  </a:rPr>
                  <a:t>Pole </a:t>
                </a:r>
                <a:r>
                  <a:rPr lang="de-DE" sz="2200" dirty="0" err="1">
                    <a:ea typeface="Cambria Math" panose="02040503050406030204" pitchFamily="18" charset="0"/>
                  </a:rPr>
                  <a:t>location</a:t>
                </a:r>
                <a:r>
                  <a:rPr lang="de-DE" sz="2200" dirty="0">
                    <a:ea typeface="Cambria Math" panose="02040503050406030204" pitchFamily="18" charset="0"/>
                  </a:rPr>
                  <a:t> </a:t>
                </a:r>
                <a:r>
                  <a:rPr lang="de-DE" sz="2200" dirty="0" err="1">
                    <a:ea typeface="Cambria Math" panose="02040503050406030204" pitchFamily="18" charset="0"/>
                  </a:rPr>
                  <a:t>compared</a:t>
                </a:r>
                <a:r>
                  <a:rPr lang="de-DE" sz="2200" dirty="0">
                    <a:ea typeface="Cambria Math" panose="02040503050406030204" pitchFamily="18" charset="0"/>
                  </a:rPr>
                  <a:t> </a:t>
                </a:r>
                <a:r>
                  <a:rPr lang="de-DE" sz="2200" dirty="0" err="1">
                    <a:ea typeface="Cambria Math" panose="02040503050406030204" pitchFamily="18" charset="0"/>
                  </a:rPr>
                  <a:t>to</a:t>
                </a:r>
                <a:r>
                  <a:rPr lang="de-DE" sz="2200" dirty="0">
                    <a:ea typeface="Cambria Math" panose="02040503050406030204" pitchFamily="18" charset="0"/>
                  </a:rPr>
                  <a:t> ZOH: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sz="2200" dirty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de-DE" sz="2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200" b="0" i="1" dirty="0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2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de-DE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200" i="1" dirty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  <m:r>
                      <a:rPr lang="de-DE" sz="2200" b="0" i="0" dirty="0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   </a:t>
                </a:r>
                <a:r>
                  <a:rPr lang="de-DE" sz="2200" dirty="0" err="1">
                    <a:sym typeface="Wingdings" pitchFamily="2" charset="2"/>
                  </a:rPr>
                  <a:t>for</a:t>
                </a:r>
                <a:r>
                  <a:rPr lang="de-DE" sz="2200" dirty="0">
                    <a:sym typeface="Wingdings" pitchFamily="2" charset="2"/>
                  </a:rPr>
                  <a:t> all 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𝑇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&gt;0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 (</a:t>
                </a:r>
                <a:r>
                  <a:rPr lang="de-DE" sz="2200" dirty="0" err="1">
                    <a:sym typeface="Wingdings" pitchFamily="2" charset="2"/>
                  </a:rPr>
                  <a:t>always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inside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unit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circle</a:t>
                </a:r>
                <a:r>
                  <a:rPr lang="de-DE" sz="2200" dirty="0">
                    <a:sym typeface="Wingdings" pitchFamily="2" charset="2"/>
                  </a:rPr>
                  <a:t>)  </a:t>
                </a:r>
                <a:r>
                  <a:rPr lang="de-DE" sz="2200" dirty="0" err="1"/>
                  <a:t>stable</a:t>
                </a:r>
                <a:r>
                  <a:rPr lang="de-DE" sz="2200" dirty="0"/>
                  <a:t>, but </a:t>
                </a:r>
                <a:r>
                  <a:rPr lang="de-DE" sz="2200" dirty="0" err="1"/>
                  <a:t>numerical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damping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implicit</a:t>
                </a:r>
                <a:r>
                  <a:rPr lang="de-DE" sz="2200" dirty="0"/>
                  <a:t>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1FDD0BB-F10B-A81F-CD00-93CAFD5408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102789" cy="4351338"/>
              </a:xfrm>
              <a:blipFill>
                <a:blip r:embed="rId2"/>
                <a:stretch>
                  <a:fillRect l="-571" t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A9B552-86AD-FEB2-1A5D-4C25CA76D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5F1762C-2E7F-EF19-F829-620CE75A92E9}"/>
                  </a:ext>
                </a:extLst>
              </p:cNvPr>
              <p:cNvSpPr txBox="1"/>
              <p:nvPr/>
            </p:nvSpPr>
            <p:spPr>
              <a:xfrm>
                <a:off x="7016002" y="4505606"/>
                <a:ext cx="318919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Implicit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explicit </a:t>
                </a:r>
                <a:r>
                  <a:rPr lang="de-DE" dirty="0" err="1"/>
                  <a:t>calculation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+1</m:t>
                        </m:r>
                      </m:e>
                    </m:d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5F1762C-2E7F-EF19-F829-620CE75A92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6002" y="4505606"/>
                <a:ext cx="3189196" cy="646331"/>
              </a:xfrm>
              <a:prstGeom prst="rect">
                <a:avLst/>
              </a:prstGeom>
              <a:blipFill>
                <a:blip r:embed="rId3"/>
                <a:stretch>
                  <a:fillRect l="-1587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F80EEE5-A70E-00EC-8E13-4EBC71B11B13}"/>
              </a:ext>
            </a:extLst>
          </p:cNvPr>
          <p:cNvCxnSpPr>
            <a:stCxn id="7" idx="1"/>
          </p:cNvCxnSpPr>
          <p:nvPr/>
        </p:nvCxnSpPr>
        <p:spPr>
          <a:xfrm flipH="1" flipV="1">
            <a:off x="4858871" y="4249271"/>
            <a:ext cx="2157131" cy="579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0921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7B753CD8-A9F7-C947-B962-A7A3C15B225D}"/>
              </a:ext>
            </a:extLst>
          </p:cNvPr>
          <p:cNvSpPr/>
          <p:nvPr/>
        </p:nvSpPr>
        <p:spPr>
          <a:xfrm>
            <a:off x="1783978" y="1631579"/>
            <a:ext cx="1685364" cy="10309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9FFFBB7-5493-01B1-DF7E-930B30993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Tustin</a:t>
            </a:r>
            <a:r>
              <a:rPr lang="de-DE" dirty="0"/>
              <a:t> (Bilinear)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DC2B80-65D3-5892-4CF0-DAC832DAC8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sz="2200" dirty="0">
                    <a:sym typeface="Wingdings" pitchFamily="2" charset="2"/>
                  </a:rPr>
                  <a:t>Derivation:</a:t>
                </a:r>
                <a:endParaRPr lang="de-DE" sz="22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𝑠𝑇</m:t>
                        </m:r>
                      </m:sup>
                    </m:sSup>
                  </m:oMath>
                </a14:m>
                <a:r>
                  <a:rPr lang="de-DE" sz="2200" dirty="0"/>
                  <a:t>   </a:t>
                </a:r>
                <a:r>
                  <a:rPr lang="de-DE" sz="2200" dirty="0"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𝑠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𝑇</m:t>
                        </m:r>
                      </m:den>
                    </m:f>
                    <m:func>
                      <m:funcPr>
                        <m:ctrlPr>
                          <a:rPr lang="de-DE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200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ln</m:t>
                        </m:r>
                      </m:fName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𝑧</m:t>
                        </m:r>
                      </m:e>
                    </m:func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≈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𝑇</m:t>
                        </m:r>
                      </m:den>
                    </m:f>
                    <m:r>
                      <a:rPr lang="de-DE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2∙</m:t>
                    </m:r>
                    <m:d>
                      <m:dPr>
                        <m:begChr m:val="["/>
                        <m:endChr m:val="]"/>
                        <m:ctrlP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fPr>
                          <m:num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𝑧</m:t>
                            </m:r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−1</m:t>
                            </m:r>
                          </m:num>
                          <m:den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𝑧</m:t>
                            </m:r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+1</m:t>
                            </m:r>
                          </m:den>
                        </m:f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+⋯</m:t>
                        </m:r>
                      </m:e>
                    </m:d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/>
                  <a:t>First-order </a:t>
                </a:r>
                <a:r>
                  <a:rPr lang="de-DE" sz="2200" dirty="0" err="1"/>
                  <a:t>system</a:t>
                </a:r>
                <a:r>
                  <a:rPr lang="de-DE" sz="2200" dirty="0"/>
                  <a:t>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f>
                          <m:f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r>
                          <a:rPr lang="de-DE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num>
                          <m:den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d>
                          <m:dPr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d>
                          <m:dPr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den>
                    </m:f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d>
                          <m:dPr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−1+</m:t>
                        </m:r>
                        <m:f>
                          <m:f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den>
                    </m:f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d>
                          <m:d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d>
                          <m:dPr>
                            <m:ctrlPr>
                              <a:rPr lang="de-DE" sz="22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f>
                              <m:f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num>
                              <m:den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de-DE" sz="2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num>
                              <m:den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den>
                    </m:f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 err="1"/>
                  <a:t>Corresponds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bilinear </a:t>
                </a:r>
                <a:r>
                  <a:rPr lang="de-DE" sz="2200" dirty="0" err="1"/>
                  <a:t>transformation</a:t>
                </a:r>
                <a:r>
                  <a:rPr lang="de-DE" sz="2200" dirty="0"/>
                  <a:t>,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example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de-DE" sz="2200" dirty="0"/>
                  <a:t>:</a:t>
                </a:r>
              </a:p>
              <a:p>
                <a:pPr marL="0" indent="0">
                  <a:buNone/>
                </a:pPr>
                <a:r>
                  <a:rPr lang="de-DE" sz="2200" dirty="0">
                    <a:ea typeface="Cambria Math" panose="02040503050406030204" pitchFamily="18" charset="0"/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𝑘</m:t>
                        </m:r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𝑘</m:t>
                        </m:r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−1</m:t>
                        </m:r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+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𝑢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𝑘</m:t>
                            </m:r>
                          </m:e>
                        </m:d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𝑢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𝑘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−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itchFamily="2" charset="2"/>
                              </a:rPr>
                              <m:t>1</m:t>
                            </m:r>
                          </m:e>
                        </m:d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de-DE" sz="22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DC2B80-65D3-5892-4CF0-DAC832DAC8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D5E52C-843C-475B-4446-7DFD4F8F7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B9BEA0D-D501-CE38-D9F8-4CF8AEBFE306}"/>
              </a:ext>
            </a:extLst>
          </p:cNvPr>
          <p:cNvSpPr txBox="1"/>
          <p:nvPr/>
        </p:nvSpPr>
        <p:spPr>
          <a:xfrm>
            <a:off x="4229101" y="2501154"/>
            <a:ext cx="31421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Series </a:t>
            </a:r>
            <a:r>
              <a:rPr lang="de-DE" dirty="0" err="1"/>
              <a:t>development</a:t>
            </a:r>
            <a:r>
              <a:rPr lang="de-DE" dirty="0"/>
              <a:t> and </a:t>
            </a:r>
            <a:r>
              <a:rPr lang="de-DE" dirty="0" err="1"/>
              <a:t>termination</a:t>
            </a:r>
            <a:r>
              <a:rPr lang="de-DE" dirty="0"/>
              <a:t> after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first</a:t>
            </a:r>
            <a:r>
              <a:rPr lang="de-DE" dirty="0"/>
              <a:t> </a:t>
            </a:r>
            <a:r>
              <a:rPr lang="de-DE" dirty="0" err="1"/>
              <a:t>term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DEC67B0-EC7B-127A-DC9D-078A285C960F}"/>
              </a:ext>
            </a:extLst>
          </p:cNvPr>
          <p:cNvCxnSpPr/>
          <p:nvPr/>
        </p:nvCxnSpPr>
        <p:spPr>
          <a:xfrm flipH="1">
            <a:off x="3765176" y="2814917"/>
            <a:ext cx="457200" cy="779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D44913B-5FAF-A52C-647C-D3FDAB3BC8D8}"/>
              </a:ext>
            </a:extLst>
          </p:cNvPr>
          <p:cNvSpPr txBox="1"/>
          <p:nvPr/>
        </p:nvSpPr>
        <p:spPr>
          <a:xfrm>
            <a:off x="8485094" y="1690688"/>
            <a:ext cx="1808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1800" dirty="0"/>
              <a:t>Maps </a:t>
            </a:r>
            <a:r>
              <a:rPr lang="de-DE" sz="1800" dirty="0" err="1"/>
              <a:t>entire</a:t>
            </a:r>
            <a:r>
              <a:rPr lang="de-DE" sz="1800" dirty="0"/>
              <a:t> LHP </a:t>
            </a:r>
            <a:r>
              <a:rPr lang="de-DE" sz="1800" dirty="0" err="1"/>
              <a:t>inside</a:t>
            </a:r>
            <a:r>
              <a:rPr lang="de-DE" sz="1800" dirty="0"/>
              <a:t> </a:t>
            </a:r>
            <a:r>
              <a:rPr lang="de-DE" sz="1800" dirty="0" err="1"/>
              <a:t>unit</a:t>
            </a:r>
            <a:r>
              <a:rPr lang="de-DE" sz="1800" dirty="0"/>
              <a:t> </a:t>
            </a:r>
            <a:r>
              <a:rPr lang="de-DE" sz="1800" dirty="0" err="1"/>
              <a:t>circle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9997818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65F0A0-A42C-3D79-A55E-025579828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8F5954-4206-7552-2B67-672815269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0E612E8-221D-70BC-DF1F-056028EC50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13298"/>
            <a:ext cx="6116069" cy="454305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5CDB00EC-9FF3-05E0-55C1-8EAD93B3FC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125" y="1690688"/>
            <a:ext cx="4622675" cy="4556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9208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7BFA6C-0A38-374F-945C-AC6224925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Implementation </a:t>
            </a:r>
            <a:r>
              <a:rPr lang="de-DE" dirty="0" err="1"/>
              <a:t>Issues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528764C-E616-37B1-6C5F-EC8409FD45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sz="2600" dirty="0"/>
                  <a:t>Quantization: finite </a:t>
                </a:r>
                <a:r>
                  <a:rPr lang="de-DE" sz="2600" dirty="0" err="1"/>
                  <a:t>precision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rounding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r>
                  <a:rPr lang="de-DE" sz="2600" dirty="0" err="1"/>
                  <a:t>Computation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delay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controller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takes</a:t>
                </a:r>
                <a:r>
                  <a:rPr lang="de-DE" sz="2600" dirty="0"/>
                  <a:t> time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compute</a:t>
                </a:r>
                <a:r>
                  <a:rPr lang="de-DE" sz="2600" dirty="0"/>
                  <a:t>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m</a:t>
                </a:r>
                <a:r>
                  <a:rPr lang="de-DE" sz="2600" dirty="0" err="1"/>
                  <a:t>ust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compute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sampling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period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r>
                  <a:rPr lang="de-DE" sz="2600" dirty="0"/>
                  <a:t>Sampling time trade-offs:</a:t>
                </a:r>
              </a:p>
              <a:p>
                <a:pPr lvl="1"/>
                <a:r>
                  <a:rPr lang="de-DE" sz="2600" dirty="0"/>
                  <a:t>Small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>
                    <a:sym typeface="Wingdings" pitchFamily="2" charset="2"/>
                  </a:rPr>
                  <a:t>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accuracy</a:t>
                </a:r>
                <a:r>
                  <a:rPr lang="de-DE" sz="2600" dirty="0"/>
                  <a:t> ↑, </a:t>
                </a:r>
                <a:r>
                  <a:rPr lang="de-DE" sz="2600" dirty="0" err="1"/>
                  <a:t>computation</a:t>
                </a:r>
                <a:r>
                  <a:rPr lang="de-DE" sz="2600" dirty="0"/>
                  <a:t> ↑</a:t>
                </a:r>
              </a:p>
              <a:p>
                <a:pPr lvl="1"/>
                <a:r>
                  <a:rPr lang="de-DE" sz="2600" dirty="0"/>
                  <a:t>Large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>
                    <a:sym typeface="Wingdings" pitchFamily="2" charset="2"/>
                  </a:rPr>
                  <a:t>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accuracy</a:t>
                </a:r>
                <a:r>
                  <a:rPr lang="de-DE" sz="2600" dirty="0"/>
                  <a:t> ↓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528764C-E616-37B1-6C5F-EC8409FD45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r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66F0F8-6AC5-36AB-811E-3A7AD015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74161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28A614-DFBF-9C8B-344A-5180371F0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-Time PID Tuning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F5456DF-6701-1B36-6F40-82DE65498C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sz="3100" dirty="0"/>
                  <a:t>PID </a:t>
                </a:r>
                <a:r>
                  <a:rPr lang="de-DE" sz="3100" dirty="0" err="1"/>
                  <a:t>controller</a:t>
                </a:r>
                <a:r>
                  <a:rPr lang="de-DE" sz="3100" dirty="0"/>
                  <a:t> (</a:t>
                </a:r>
                <a:r>
                  <a:rPr lang="de-DE" sz="3100" dirty="0" err="1"/>
                  <a:t>continuous</a:t>
                </a:r>
                <a:r>
                  <a:rPr lang="de-DE" sz="3100" dirty="0"/>
                  <a:t>-time):</a:t>
                </a:r>
              </a:p>
              <a:p>
                <a:pPr marL="0" indent="0">
                  <a:buNone/>
                </a:pPr>
                <a:r>
                  <a:rPr lang="de-DE" sz="3100" b="0" dirty="0"/>
                  <a:t>	</a:t>
                </a:r>
                <a14:m>
                  <m:oMath xmlns:m="http://schemas.openxmlformats.org/officeDocument/2006/math">
                    <m:r>
                      <a:rPr lang="de-DE" sz="31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3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1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31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3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31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31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31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3100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de-DE" sz="3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1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31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3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31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3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3100" b="0" i="1" smtClean="0"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sz="31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sz="31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de-DE" sz="3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1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3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31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  <m:r>
                          <a:rPr lang="de-DE" sz="31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3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31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de-DE" sz="31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r>
                          <a:rPr lang="de-DE" sz="3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de-DE" sz="31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3100" b="0" i="1" smtClean="0">
                                <a:latin typeface="Cambria Math" panose="02040503050406030204" pitchFamily="18" charset="0"/>
                              </a:rPr>
                              <m:t>𝑑𝑒</m:t>
                            </m:r>
                            <m:d>
                              <m:dPr>
                                <m:ctrlPr>
                                  <a:rPr lang="de-DE" sz="3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31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num>
                          <m:den>
                            <m:r>
                              <a:rPr lang="de-DE" sz="3100" b="0" i="1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nary>
                  </m:oMath>
                </a14:m>
                <a:endParaRPr lang="de-DE" sz="31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sz="3100" dirty="0"/>
                  <a:t>In </a:t>
                </a:r>
                <a:r>
                  <a:rPr lang="de-DE" sz="3100" dirty="0" err="1"/>
                  <a:t>discrete</a:t>
                </a:r>
                <a:r>
                  <a:rPr lang="de-DE" sz="3100" dirty="0"/>
                  <a:t>-time:</a:t>
                </a:r>
              </a:p>
              <a:p>
                <a:pPr marL="0" indent="0">
                  <a:buNone/>
                </a:pPr>
                <a:r>
                  <a:rPr lang="de-DE" sz="3100" dirty="0"/>
                  <a:t>	</a:t>
                </a:r>
                <a14:m>
                  <m:oMath xmlns:m="http://schemas.openxmlformats.org/officeDocument/2006/math">
                    <m:r>
                      <a:rPr lang="de-DE" sz="31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31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1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31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3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31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31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31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3100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begChr m:val="["/>
                        <m:endChr m:val="]"/>
                        <m:ctrlPr>
                          <a:rPr lang="de-DE" sz="31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1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31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3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31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31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31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31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3100" i="1" smtClean="0"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de-DE" sz="310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sz="3100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31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1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  <m:r>
                      <a:rPr lang="de-DE" sz="31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3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31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310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sz="3100" b="0" i="1" smtClean="0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3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3100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31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1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de-DE" sz="31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3100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31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1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sz="31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de-DE" sz="31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de-DE" sz="31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Key </a:t>
                </a:r>
                <a:r>
                  <a:rPr lang="de-DE" dirty="0" err="1"/>
                  <a:t>differences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continuous</a:t>
                </a:r>
                <a:r>
                  <a:rPr lang="de-DE" dirty="0"/>
                  <a:t> PID:</a:t>
                </a:r>
              </a:p>
              <a:p>
                <a:r>
                  <a:rPr lang="de-DE" dirty="0"/>
                  <a:t>Signals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sampled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𝑘𝑇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r>
                  <a:rPr lang="de-DE" dirty="0"/>
                  <a:t>Integration </a:t>
                </a:r>
                <a:r>
                  <a:rPr lang="de-DE" dirty="0" err="1"/>
                  <a:t>becomes</a:t>
                </a:r>
                <a:r>
                  <a:rPr lang="de-DE" dirty="0"/>
                  <a:t> </a:t>
                </a:r>
                <a:r>
                  <a:rPr lang="de-DE" dirty="0" err="1"/>
                  <a:t>summation</a:t>
                </a:r>
                <a:endParaRPr lang="de-DE" dirty="0"/>
              </a:p>
              <a:p>
                <a:r>
                  <a:rPr lang="de-DE" dirty="0"/>
                  <a:t>Derivative </a:t>
                </a:r>
                <a:r>
                  <a:rPr lang="de-DE" dirty="0" err="1"/>
                  <a:t>becomes</a:t>
                </a:r>
                <a:r>
                  <a:rPr lang="de-DE" dirty="0"/>
                  <a:t> </a:t>
                </a:r>
                <a:r>
                  <a:rPr lang="de-DE" dirty="0" err="1"/>
                  <a:t>difference</a:t>
                </a:r>
                <a:endParaRPr lang="de-DE" dirty="0"/>
              </a:p>
              <a:p>
                <a:r>
                  <a:rPr lang="de-DE" dirty="0" err="1"/>
                  <a:t>Numerical</a:t>
                </a:r>
                <a:r>
                  <a:rPr lang="de-DE" dirty="0"/>
                  <a:t> </a:t>
                </a:r>
                <a:r>
                  <a:rPr lang="de-DE" dirty="0" err="1"/>
                  <a:t>approximation</a:t>
                </a:r>
                <a:r>
                  <a:rPr lang="de-DE" dirty="0"/>
                  <a:t> </a:t>
                </a:r>
                <a:r>
                  <a:rPr lang="de-DE" dirty="0" err="1"/>
                  <a:t>required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F5456DF-6701-1B36-6F40-82DE65498C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8721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4A1D167-F509-C713-3874-CD3180465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57877BA-459C-E5F3-9D20-709FBCF44D38}"/>
              </a:ext>
            </a:extLst>
          </p:cNvPr>
          <p:cNvSpPr txBox="1"/>
          <p:nvPr/>
        </p:nvSpPr>
        <p:spPr>
          <a:xfrm>
            <a:off x="9045388" y="3429000"/>
            <a:ext cx="1498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Position form</a:t>
            </a:r>
          </a:p>
        </p:txBody>
      </p:sp>
    </p:spTree>
    <p:extLst>
      <p:ext uri="{BB962C8B-B14F-4D97-AF65-F5344CB8AC3E}">
        <p14:creationId xmlns:p14="http://schemas.microsoft.com/office/powerpoint/2010/main" val="2660186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7752F5-39E6-239A-1B9B-1E3E2DD07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Incremental</a:t>
            </a:r>
            <a:r>
              <a:rPr lang="de-DE" dirty="0"/>
              <a:t>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8EC46D4-7117-550C-0243-7D8BCACAD4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Position form </a:t>
                </a:r>
                <a:r>
                  <a:rPr lang="de-DE" sz="2400" dirty="0" err="1"/>
                  <a:t>uses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full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accumulates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, sensitive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issues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Idea: </a:t>
                </a:r>
                <a:r>
                  <a:rPr lang="de-DE" sz="2400" dirty="0" err="1"/>
                  <a:t>use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e>
                          </m:d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e>
                        </m:d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8EC46D4-7117-550C-0243-7D8BCACAD4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r="-724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AFD1CC-9D27-3385-AD60-BB85A5D9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085A351-02B3-EC19-C255-E026FA398A28}"/>
              </a:ext>
            </a:extLst>
          </p:cNvPr>
          <p:cNvSpPr txBox="1"/>
          <p:nvPr/>
        </p:nvSpPr>
        <p:spPr>
          <a:xfrm>
            <a:off x="5755397" y="5435659"/>
            <a:ext cx="586756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No</a:t>
            </a:r>
            <a:r>
              <a:rPr lang="de-DE" sz="2400" dirty="0"/>
              <a:t> explicit </a:t>
            </a:r>
            <a:r>
              <a:rPr lang="de-DE" sz="2400" dirty="0" err="1"/>
              <a:t>sum</a:t>
            </a:r>
            <a:endParaRPr lang="de-DE" sz="2400" dirty="0"/>
          </a:p>
          <a:p>
            <a:r>
              <a:rPr lang="de-DE" sz="2400" dirty="0"/>
              <a:t>Control </a:t>
            </a:r>
            <a:r>
              <a:rPr lang="de-DE" sz="2400" dirty="0" err="1"/>
              <a:t>updates</a:t>
            </a:r>
            <a:r>
              <a:rPr lang="de-DE" sz="2400" dirty="0"/>
              <a:t> </a:t>
            </a:r>
            <a:r>
              <a:rPr lang="de-DE" sz="2400" dirty="0" err="1"/>
              <a:t>instead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absolute </a:t>
            </a:r>
            <a:r>
              <a:rPr lang="de-DE" sz="2400" dirty="0" err="1"/>
              <a:t>values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363610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CDECDA-2406-2E74-EE61-5AE61F4E9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D33701-E2B9-DF80-1CA2-467160A2B0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Continuous PID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d>
                        <m:d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Discrete</a:t>
                </a:r>
                <a:r>
                  <a:rPr lang="de-DE" sz="2600" dirty="0"/>
                  <a:t> PID via </a:t>
                </a:r>
                <a:r>
                  <a:rPr lang="de-DE" sz="2600" dirty="0" err="1"/>
                  <a:t>Tustin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</m:t>
                        </m:r>
                        <m:f>
                          <m:f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num>
                          <m:den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e>
                    </m:d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2 </m:t>
                        </m:r>
                        <m:d>
                          <m:d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2 </m:t>
                        </m:r>
                        <m:d>
                          <m:dPr>
                            <m:ctrlPr>
                              <a:rPr lang="de-DE" sz="2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=⋯=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sSup>
                          <m:sSup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600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sz="2600" dirty="0"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m:rPr>
                        <m:nor/>
                      </m:rPr>
                      <a:rPr lang="de-DE" sz="2600" dirty="0">
                        <a:sym typeface="Wingdings" pitchFamily="2" charset="2"/>
                      </a:rPr>
                      <m:t>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m:rPr>
                        <m:nor/>
                      </m:rPr>
                      <a:rPr lang="de-DE" sz="2600" dirty="0">
                        <a:sym typeface="Wingdings" pitchFamily="2" charset="2"/>
                      </a:rPr>
                      <m:t>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>
                  <a:sym typeface="Wingdings" pitchFamily="2" charset="2"/>
                </a:endParaRPr>
              </a:p>
              <a:p>
                <a:pPr>
                  <a:buFont typeface="Wingdings" pitchFamily="2" charset="2"/>
                  <a:buChar char="à"/>
                </a:pPr>
                <a:r>
                  <a:rPr lang="de-DE" sz="2600" dirty="0"/>
                  <a:t> 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sz="2600" dirty="0"/>
                  <a:t> 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</m:oMath>
                </a14:m>
                <a:endParaRPr lang="de-DE" sz="26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D33701-E2B9-DF80-1CA2-467160A2B0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86287A-4910-3E0F-D0C8-26C85559E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1E5354BE-DC14-CA0B-4CA9-C250099D7C6F}"/>
                  </a:ext>
                </a:extLst>
              </p:cNvPr>
              <p:cNvSpPr txBox="1"/>
              <p:nvPr/>
            </p:nvSpPr>
            <p:spPr>
              <a:xfrm>
                <a:off x="8795593" y="2200835"/>
                <a:ext cx="2373214" cy="15547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1E5354BE-DC14-CA0B-4CA9-C250099D7C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5593" y="2200835"/>
                <a:ext cx="2373214" cy="1554785"/>
              </a:xfrm>
              <a:prstGeom prst="rect">
                <a:avLst/>
              </a:prstGeom>
              <a:blipFill>
                <a:blip r:embed="rId3"/>
                <a:stretch>
                  <a:fillRect l="-3191" t="-4065" b="-40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A6AC7C78-79F6-E2AF-F410-85D145B7E7E8}"/>
                  </a:ext>
                </a:extLst>
              </p:cNvPr>
              <p:cNvSpPr txBox="1"/>
              <p:nvPr/>
            </p:nvSpPr>
            <p:spPr>
              <a:xfrm>
                <a:off x="9735671" y="5204012"/>
                <a:ext cx="10393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A6AC7C78-79F6-E2AF-F410-85D145B7E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5671" y="5204012"/>
                <a:ext cx="1039387" cy="276999"/>
              </a:xfrm>
              <a:prstGeom prst="rect">
                <a:avLst/>
              </a:prstGeom>
              <a:blipFill>
                <a:blip r:embed="rId4"/>
                <a:stretch>
                  <a:fillRect l="-4819" r="-4819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16920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CFB283-A90C-5969-A543-57A40A6F5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 </a:t>
            </a: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Discrete</a:t>
            </a:r>
            <a:r>
              <a:rPr lang="de-DE" dirty="0"/>
              <a:t>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22D7FB4-3A6F-8841-12EA-F6B7DD8EF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Option 1: Tune </a:t>
            </a:r>
            <a:r>
              <a:rPr lang="de-DE" dirty="0" err="1"/>
              <a:t>directly</a:t>
            </a:r>
            <a:r>
              <a:rPr lang="de-DE" dirty="0"/>
              <a:t> in </a:t>
            </a:r>
            <a:r>
              <a:rPr lang="de-DE" dirty="0" err="1"/>
              <a:t>discrete</a:t>
            </a:r>
            <a:r>
              <a:rPr lang="de-DE" dirty="0"/>
              <a:t>-time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dirty="0"/>
              <a:t>Option 2: Tune </a:t>
            </a:r>
            <a:r>
              <a:rPr lang="de-DE" dirty="0" err="1"/>
              <a:t>continuous</a:t>
            </a:r>
            <a:r>
              <a:rPr lang="de-DE" dirty="0"/>
              <a:t> PID → </a:t>
            </a:r>
            <a:r>
              <a:rPr lang="de-DE" dirty="0" err="1"/>
              <a:t>discretize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Most </a:t>
            </a:r>
            <a:r>
              <a:rPr lang="de-DE" dirty="0" err="1"/>
              <a:t>common</a:t>
            </a:r>
            <a:r>
              <a:rPr lang="de-DE" dirty="0"/>
              <a:t>: </a:t>
            </a:r>
            <a:r>
              <a:rPr lang="de-DE" dirty="0" err="1"/>
              <a:t>second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:</a:t>
            </a:r>
          </a:p>
          <a:p>
            <a:r>
              <a:rPr lang="de-DE" dirty="0"/>
              <a:t>Ziegler–Nichols</a:t>
            </a:r>
          </a:p>
          <a:p>
            <a:r>
              <a:rPr lang="de-DE" dirty="0" err="1"/>
              <a:t>Convert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discrete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Tustin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5C0049F-0906-C168-E076-42492A2B2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6150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D97428-73F5-A4DF-EF0D-8818F1A5A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Filtered</a:t>
            </a:r>
            <a:r>
              <a:rPr lang="de-DE" dirty="0"/>
              <a:t> Derivative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84BE9FB-8933-1543-BE13-6F3017E182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Problem: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/>
                  <a:t> amplifies </a:t>
                </a:r>
                <a:r>
                  <a:rPr lang="de-DE" dirty="0" err="1"/>
                  <a:t>noise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1" dirty="0">
                    <a:sym typeface="Wingdings" pitchFamily="2" charset="2"/>
                  </a:rPr>
                  <a:t> </a:t>
                </a:r>
                <a:r>
                  <a:rPr lang="de-DE" dirty="0"/>
                  <a:t>Use: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Then</a:t>
                </a:r>
                <a:r>
                  <a:rPr lang="de-DE" dirty="0"/>
                  <a:t> </a:t>
                </a:r>
                <a:r>
                  <a:rPr lang="de-DE" dirty="0" err="1"/>
                  <a:t>apply</a:t>
                </a:r>
                <a:r>
                  <a:rPr lang="de-DE" dirty="0"/>
                  <a:t> </a:t>
                </a:r>
                <a:r>
                  <a:rPr lang="de-DE" dirty="0" err="1"/>
                  <a:t>Tustin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discrete</a:t>
                </a:r>
                <a:r>
                  <a:rPr lang="de-DE" dirty="0"/>
                  <a:t>-time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84BE9FB-8933-1543-BE13-6F3017E182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276F7E-4692-4B15-7480-A739D2EE6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56131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208CCB-605E-513B-1BC3-36C369993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7F2BDD-E451-7A8E-F095-CE64538B4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Digital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essential in modern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Sampling </a:t>
            </a:r>
            <a:r>
              <a:rPr lang="de-DE" dirty="0" err="1"/>
              <a:t>introduces</a:t>
            </a:r>
            <a:r>
              <a:rPr lang="de-DE" dirty="0"/>
              <a:t> </a:t>
            </a:r>
            <a:r>
              <a:rPr lang="de-DE" dirty="0" err="1"/>
              <a:t>constraints</a:t>
            </a:r>
            <a:endParaRPr lang="de-DE" dirty="0"/>
          </a:p>
          <a:p>
            <a:r>
              <a:rPr lang="de-DE" dirty="0"/>
              <a:t>ZOH </a:t>
            </a:r>
            <a:r>
              <a:rPr lang="de-DE" dirty="0" err="1"/>
              <a:t>connects</a:t>
            </a:r>
            <a:r>
              <a:rPr lang="de-DE" dirty="0"/>
              <a:t> </a:t>
            </a:r>
            <a:r>
              <a:rPr lang="de-DE" dirty="0" err="1"/>
              <a:t>discrete</a:t>
            </a:r>
            <a:r>
              <a:rPr lang="de-DE" dirty="0"/>
              <a:t> and </a:t>
            </a:r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worlds</a:t>
            </a:r>
            <a:endParaRPr lang="de-DE" dirty="0"/>
          </a:p>
          <a:p>
            <a:r>
              <a:rPr lang="de-DE" dirty="0" err="1"/>
              <a:t>z-transform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</a:t>
            </a:r>
            <a:r>
              <a:rPr lang="de-DE" dirty="0" err="1"/>
              <a:t>tool</a:t>
            </a:r>
            <a:endParaRPr lang="de-DE" dirty="0"/>
          </a:p>
          <a:p>
            <a:r>
              <a:rPr lang="de-DE" dirty="0" err="1"/>
              <a:t>Discretization</a:t>
            </a:r>
            <a:r>
              <a:rPr lang="de-DE" dirty="0"/>
              <a:t> </a:t>
            </a:r>
            <a:r>
              <a:rPr lang="de-DE" dirty="0" err="1"/>
              <a:t>method</a:t>
            </a:r>
            <a:r>
              <a:rPr lang="de-DE" dirty="0"/>
              <a:t> </a:t>
            </a:r>
            <a:r>
              <a:rPr lang="de-DE" dirty="0" err="1"/>
              <a:t>important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controller</a:t>
            </a:r>
            <a:r>
              <a:rPr lang="de-DE" dirty="0"/>
              <a:t> design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27C285-2CA8-7C1D-7B48-526D96B9D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900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2007</Words>
  <Application>Microsoft Macintosh PowerPoint</Application>
  <PresentationFormat>Breitbild</PresentationFormat>
  <Paragraphs>384</Paragraphs>
  <Slides>39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39</vt:i4>
      </vt:variant>
    </vt:vector>
  </HeadingPairs>
  <TitlesOfParts>
    <vt:vector size="45" baseType="lpstr">
      <vt:lpstr>Aptos</vt:lpstr>
      <vt:lpstr>Aptos Display</vt:lpstr>
      <vt:lpstr>Arial</vt:lpstr>
      <vt:lpstr>Cambria Math</vt:lpstr>
      <vt:lpstr>Wingdings</vt:lpstr>
      <vt:lpstr>Office Theme</vt:lpstr>
      <vt:lpstr>Discrete-time Controllers</vt:lpstr>
      <vt:lpstr>Course Schedule</vt:lpstr>
      <vt:lpstr>Discrete-time Controllers</vt:lpstr>
      <vt:lpstr>Why Digital Control?</vt:lpstr>
      <vt:lpstr>Continuous vs Digital Control</vt:lpstr>
      <vt:lpstr>PowerPoint-Präsentation</vt:lpstr>
      <vt:lpstr>Sampling</vt:lpstr>
      <vt:lpstr>Undersampling</vt:lpstr>
      <vt:lpstr>Example: Moiré Effect in Digital Images</vt:lpstr>
      <vt:lpstr>Nyquist-Shannon Sampling Theorem</vt:lpstr>
      <vt:lpstr>Anti-Aliasing Filter</vt:lpstr>
      <vt:lpstr>Zero-Order Hold (ZOH)</vt:lpstr>
      <vt:lpstr>From Differential to Difference Equations</vt:lpstr>
      <vt:lpstr>Example: First-Order System</vt:lpstr>
      <vt:lpstr>PowerPoint-Präsentation</vt:lpstr>
      <vt:lpstr>Difference Equations</vt:lpstr>
      <vt:lpstr>Motivation for z-Transform</vt:lpstr>
      <vt:lpstr>z-Transform Definition</vt:lpstr>
      <vt:lpstr>Time Shift Property</vt:lpstr>
      <vt:lpstr>z-Transfer Functions</vt:lpstr>
      <vt:lpstr>s-Plane Mapped to z-Plane</vt:lpstr>
      <vt:lpstr>Stability in Discrete-Time Systems</vt:lpstr>
      <vt:lpstr>ZOH Equivalent Discretization</vt:lpstr>
      <vt:lpstr>ZOH Equivalent Transfer Function</vt:lpstr>
      <vt:lpstr>ZOH Discretization Example</vt:lpstr>
      <vt:lpstr>Step Response Comparison</vt:lpstr>
      <vt:lpstr>Alternative Discretization Methods</vt:lpstr>
      <vt:lpstr>Forward Euler Method</vt:lpstr>
      <vt:lpstr>Forward Euler Stability</vt:lpstr>
      <vt:lpstr>Backward Euler</vt:lpstr>
      <vt:lpstr>Tustin (Bilinear) Method</vt:lpstr>
      <vt:lpstr>Comparison</vt:lpstr>
      <vt:lpstr>Implementation Issues</vt:lpstr>
      <vt:lpstr>Discrete-Time PID Tuning</vt:lpstr>
      <vt:lpstr>Incremental Form</vt:lpstr>
      <vt:lpstr>PID Transfer Function</vt:lpstr>
      <vt:lpstr> Direct Discrete Tuning</vt:lpstr>
      <vt:lpstr>Filtered Derivative</vt:lpstr>
      <vt:lpstr>Summary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233</cp:revision>
  <dcterms:created xsi:type="dcterms:W3CDTF">2025-01-08T09:27:30Z</dcterms:created>
  <dcterms:modified xsi:type="dcterms:W3CDTF">2026-04-02T21:49:55Z</dcterms:modified>
</cp:coreProperties>
</file>
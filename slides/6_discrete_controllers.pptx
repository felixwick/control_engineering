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1"/>
  </p:notesMasterIdLst>
  <p:sldIdLst>
    <p:sldId id="256" r:id="rId2"/>
    <p:sldId id="265" r:id="rId3"/>
    <p:sldId id="266" r:id="rId4"/>
    <p:sldId id="267" r:id="rId5"/>
    <p:sldId id="275" r:id="rId6"/>
    <p:sldId id="276" r:id="rId7"/>
    <p:sldId id="268" r:id="rId8"/>
    <p:sldId id="373" r:id="rId9"/>
    <p:sldId id="370" r:id="rId10"/>
    <p:sldId id="371" r:id="rId11"/>
    <p:sldId id="372" r:id="rId12"/>
    <p:sldId id="269" r:id="rId13"/>
    <p:sldId id="377" r:id="rId14"/>
    <p:sldId id="379" r:id="rId15"/>
    <p:sldId id="380" r:id="rId16"/>
    <p:sldId id="382" r:id="rId17"/>
    <p:sldId id="386" r:id="rId18"/>
    <p:sldId id="383" r:id="rId19"/>
    <p:sldId id="384" r:id="rId20"/>
    <p:sldId id="271" r:id="rId21"/>
    <p:sldId id="388" r:id="rId22"/>
    <p:sldId id="385" r:id="rId23"/>
    <p:sldId id="405" r:id="rId24"/>
    <p:sldId id="374" r:id="rId25"/>
    <p:sldId id="375" r:id="rId26"/>
    <p:sldId id="387" r:id="rId27"/>
    <p:sldId id="390" r:id="rId28"/>
    <p:sldId id="272" r:id="rId29"/>
    <p:sldId id="391" r:id="rId30"/>
    <p:sldId id="393" r:id="rId31"/>
    <p:sldId id="273" r:id="rId32"/>
    <p:sldId id="395" r:id="rId33"/>
    <p:sldId id="396" r:id="rId34"/>
    <p:sldId id="398" r:id="rId35"/>
    <p:sldId id="274" r:id="rId36"/>
    <p:sldId id="401" r:id="rId37"/>
    <p:sldId id="402" r:id="rId38"/>
    <p:sldId id="403" r:id="rId39"/>
    <p:sldId id="399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4F59F2E-701A-4175-A64C-D0A9AC6FD62F}" v="178" dt="2025-03-13T14:52:19.3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40"/>
    <p:restoredTop sz="95028" autoAdjust="0"/>
  </p:normalViewPr>
  <p:slideViewPr>
    <p:cSldViewPr snapToGrid="0">
      <p:cViewPr varScale="1">
        <p:scale>
          <a:sx n="140" d="100"/>
          <a:sy n="140" d="100"/>
        </p:scale>
        <p:origin x="216" y="24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47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microsoft.com/office/2016/11/relationships/changesInfo" Target="changesInfos/changesInfo1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ick, Felix" userId="85efb633-acf6-425d-a271-4f136bfa2fb0" providerId="ADAL" clId="{64F59F2E-701A-4175-A64C-D0A9AC6FD62F}"/>
    <pc:docChg chg="undo redo custSel addSld delSld modSld sldOrd">
      <pc:chgData name="Wick, Felix" userId="85efb633-acf6-425d-a271-4f136bfa2fb0" providerId="ADAL" clId="{64F59F2E-701A-4175-A64C-D0A9AC6FD62F}" dt="2025-03-18T21:58:08.602" v="7865" actId="20577"/>
      <pc:docMkLst>
        <pc:docMk/>
      </pc:docMkLst>
      <pc:sldChg chg="modSp mod">
        <pc:chgData name="Wick, Felix" userId="85efb633-acf6-425d-a271-4f136bfa2fb0" providerId="ADAL" clId="{64F59F2E-701A-4175-A64C-D0A9AC6FD62F}" dt="2025-01-11T15:55:30.554" v="12" actId="20577"/>
        <pc:sldMkLst>
          <pc:docMk/>
          <pc:sldMk cId="2303947443" sldId="256"/>
        </pc:sldMkLst>
        <pc:spChg chg="mod">
          <ac:chgData name="Wick, Felix" userId="85efb633-acf6-425d-a271-4f136bfa2fb0" providerId="ADAL" clId="{64F59F2E-701A-4175-A64C-D0A9AC6FD62F}" dt="2025-01-11T15:55:30.554" v="12" actId="20577"/>
          <ac:spMkLst>
            <pc:docMk/>
            <pc:sldMk cId="2303947443" sldId="256"/>
            <ac:spMk id="2" creationId="{F698641C-BAC0-4155-84D5-F4B73D88F27B}"/>
          </ac:spMkLst>
        </pc:spChg>
      </pc:sldChg>
      <pc:sldChg chg="delSp modSp del mod">
        <pc:chgData name="Wick, Felix" userId="85efb633-acf6-425d-a271-4f136bfa2fb0" providerId="ADAL" clId="{64F59F2E-701A-4175-A64C-D0A9AC6FD62F}" dt="2025-01-11T15:59:29.377" v="288" actId="47"/>
        <pc:sldMkLst>
          <pc:docMk/>
          <pc:sldMk cId="532403847" sldId="258"/>
        </pc:sldMkLst>
      </pc:sldChg>
      <pc:sldChg chg="modSp mod">
        <pc:chgData name="Wick, Felix" userId="85efb633-acf6-425d-a271-4f136bfa2fb0" providerId="ADAL" clId="{64F59F2E-701A-4175-A64C-D0A9AC6FD62F}" dt="2025-02-25T14:39:28.114" v="4429" actId="20577"/>
        <pc:sldMkLst>
          <pc:docMk/>
          <pc:sldMk cId="3227613796" sldId="259"/>
        </pc:sldMkLst>
        <pc:spChg chg="mod">
          <ac:chgData name="Wick, Felix" userId="85efb633-acf6-425d-a271-4f136bfa2fb0" providerId="ADAL" clId="{64F59F2E-701A-4175-A64C-D0A9AC6FD62F}" dt="2025-02-25T14:39:28.114" v="4429" actId="20577"/>
          <ac:spMkLst>
            <pc:docMk/>
            <pc:sldMk cId="3227613796" sldId="259"/>
            <ac:spMk id="2" creationId="{D19A2E5C-5FD4-F085-4DAA-7404FBAAA90F}"/>
          </ac:spMkLst>
        </pc:spChg>
      </pc:sldChg>
      <pc:sldChg chg="modSp del mod">
        <pc:chgData name="Wick, Felix" userId="85efb633-acf6-425d-a271-4f136bfa2fb0" providerId="ADAL" clId="{64F59F2E-701A-4175-A64C-D0A9AC6FD62F}" dt="2025-02-27T21:48:52.912" v="4719" actId="47"/>
        <pc:sldMkLst>
          <pc:docMk/>
          <pc:sldMk cId="2989276016" sldId="260"/>
        </pc:sldMkLst>
      </pc:sldChg>
      <pc:sldChg chg="modSp del mod">
        <pc:chgData name="Wick, Felix" userId="85efb633-acf6-425d-a271-4f136bfa2fb0" providerId="ADAL" clId="{64F59F2E-701A-4175-A64C-D0A9AC6FD62F}" dt="2025-02-27T21:49:44.119" v="4720" actId="47"/>
        <pc:sldMkLst>
          <pc:docMk/>
          <pc:sldMk cId="3084296972" sldId="261"/>
        </pc:sldMkLst>
      </pc:sldChg>
      <pc:sldChg chg="addSp delSp modSp del mod">
        <pc:chgData name="Wick, Felix" userId="85efb633-acf6-425d-a271-4f136bfa2fb0" providerId="ADAL" clId="{64F59F2E-701A-4175-A64C-D0A9AC6FD62F}" dt="2025-02-27T22:12:12.283" v="4774" actId="47"/>
        <pc:sldMkLst>
          <pc:docMk/>
          <pc:sldMk cId="3879865430" sldId="263"/>
        </pc:sldMkLst>
      </pc:sldChg>
      <pc:sldChg chg="del">
        <pc:chgData name="Wick, Felix" userId="85efb633-acf6-425d-a271-4f136bfa2fb0" providerId="ADAL" clId="{64F59F2E-701A-4175-A64C-D0A9AC6FD62F}" dt="2025-01-13T13:58:11.553" v="705" actId="47"/>
        <pc:sldMkLst>
          <pc:docMk/>
          <pc:sldMk cId="1504602858" sldId="264"/>
        </pc:sldMkLst>
      </pc:sldChg>
      <pc:sldChg chg="addSp delSp modSp new mod ord modClrScheme chgLayout">
        <pc:chgData name="Wick, Felix" userId="85efb633-acf6-425d-a271-4f136bfa2fb0" providerId="ADAL" clId="{64F59F2E-701A-4175-A64C-D0A9AC6FD62F}" dt="2025-03-18T21:58:08.602" v="7865" actId="20577"/>
        <pc:sldMkLst>
          <pc:docMk/>
          <pc:sldMk cId="310336692" sldId="265"/>
        </pc:sldMkLst>
        <pc:spChg chg="add mod ord">
          <ac:chgData name="Wick, Felix" userId="85efb633-acf6-425d-a271-4f136bfa2fb0" providerId="ADAL" clId="{64F59F2E-701A-4175-A64C-D0A9AC6FD62F}" dt="2025-03-13T14:46:43.032" v="7444" actId="20577"/>
          <ac:spMkLst>
            <pc:docMk/>
            <pc:sldMk cId="310336692" sldId="265"/>
            <ac:spMk id="2" creationId="{9E6F3DDA-AA1C-74F2-B6BC-5D82FAA8ECEA}"/>
          </ac:spMkLst>
        </pc:spChg>
        <pc:spChg chg="mod ord">
          <ac:chgData name="Wick, Felix" userId="85efb633-acf6-425d-a271-4f136bfa2fb0" providerId="ADAL" clId="{64F59F2E-701A-4175-A64C-D0A9AC6FD62F}" dt="2025-03-01T21:02:42.586" v="5242" actId="700"/>
          <ac:spMkLst>
            <pc:docMk/>
            <pc:sldMk cId="310336692" sldId="265"/>
            <ac:spMk id="3" creationId="{A0664D44-83AC-6A7A-17E0-C1AE2ED18FF5}"/>
          </ac:spMkLst>
        </pc:spChg>
        <pc:spChg chg="add mod ord">
          <ac:chgData name="Wick, Felix" userId="85efb633-acf6-425d-a271-4f136bfa2fb0" providerId="ADAL" clId="{64F59F2E-701A-4175-A64C-D0A9AC6FD62F}" dt="2025-03-01T21:02:42.586" v="5242" actId="700"/>
          <ac:spMkLst>
            <pc:docMk/>
            <pc:sldMk cId="310336692" sldId="265"/>
            <ac:spMk id="4" creationId="{080AD447-446B-E09E-6F4A-522C1DBB462E}"/>
          </ac:spMkLst>
        </pc:spChg>
        <pc:spChg chg="add mod ord">
          <ac:chgData name="Wick, Felix" userId="85efb633-acf6-425d-a271-4f136bfa2fb0" providerId="ADAL" clId="{64F59F2E-701A-4175-A64C-D0A9AC6FD62F}" dt="2025-03-18T21:58:08.602" v="7865" actId="20577"/>
          <ac:spMkLst>
            <pc:docMk/>
            <pc:sldMk cId="310336692" sldId="265"/>
            <ac:spMk id="5" creationId="{36CB8FEE-6184-4A56-893A-894FD7378451}"/>
          </ac:spMkLst>
        </pc:spChg>
      </pc:sldChg>
      <pc:sldChg chg="addSp modSp mod modClrScheme chgLayout">
        <pc:chgData name="Wick, Felix" userId="85efb633-acf6-425d-a271-4f136bfa2fb0" providerId="ADAL" clId="{64F59F2E-701A-4175-A64C-D0A9AC6FD62F}" dt="2025-03-02T20:22:55.225" v="7118" actId="113"/>
        <pc:sldMkLst>
          <pc:docMk/>
          <pc:sldMk cId="3544795835" sldId="270"/>
        </pc:sldMkLst>
        <pc:spChg chg="mod ord">
          <ac:chgData name="Wick, Felix" userId="85efb633-acf6-425d-a271-4f136bfa2fb0" providerId="ADAL" clId="{64F59F2E-701A-4175-A64C-D0A9AC6FD62F}" dt="2025-03-02T20:18:52.071" v="7037" actId="700"/>
          <ac:spMkLst>
            <pc:docMk/>
            <pc:sldMk cId="3544795835" sldId="270"/>
            <ac:spMk id="2" creationId="{5CFF9571-C6ED-CFC8-29FD-1B24BD4B2A10}"/>
          </ac:spMkLst>
        </pc:spChg>
        <pc:spChg chg="mod ord">
          <ac:chgData name="Wick, Felix" userId="85efb633-acf6-425d-a271-4f136bfa2fb0" providerId="ADAL" clId="{64F59F2E-701A-4175-A64C-D0A9AC6FD62F}" dt="2025-03-02T20:22:52.794" v="7117" actId="113"/>
          <ac:spMkLst>
            <pc:docMk/>
            <pc:sldMk cId="3544795835" sldId="270"/>
            <ac:spMk id="3" creationId="{33BBB58C-563A-AD3B-2A93-23C918781FCA}"/>
          </ac:spMkLst>
        </pc:spChg>
        <pc:spChg chg="mod ord">
          <ac:chgData name="Wick, Felix" userId="85efb633-acf6-425d-a271-4f136bfa2fb0" providerId="ADAL" clId="{64F59F2E-701A-4175-A64C-D0A9AC6FD62F}" dt="2025-03-02T20:18:52.071" v="7037" actId="700"/>
          <ac:spMkLst>
            <pc:docMk/>
            <pc:sldMk cId="3544795835" sldId="270"/>
            <ac:spMk id="4" creationId="{575B97E4-48D3-5CA3-B6B2-3BC5DD71690F}"/>
          </ac:spMkLst>
        </pc:spChg>
        <pc:spChg chg="add mod">
          <ac:chgData name="Wick, Felix" userId="85efb633-acf6-425d-a271-4f136bfa2fb0" providerId="ADAL" clId="{64F59F2E-701A-4175-A64C-D0A9AC6FD62F}" dt="2025-03-02T20:20:47.149" v="7107" actId="1076"/>
          <ac:spMkLst>
            <pc:docMk/>
            <pc:sldMk cId="3544795835" sldId="270"/>
            <ac:spMk id="7" creationId="{DF8A9556-CB38-5619-CC52-7BD00B11B476}"/>
          </ac:spMkLst>
        </pc:spChg>
        <pc:spChg chg="add mod">
          <ac:chgData name="Wick, Felix" userId="85efb633-acf6-425d-a271-4f136bfa2fb0" providerId="ADAL" clId="{64F59F2E-701A-4175-A64C-D0A9AC6FD62F}" dt="2025-03-02T20:21:04.393" v="7109" actId="1076"/>
          <ac:spMkLst>
            <pc:docMk/>
            <pc:sldMk cId="3544795835" sldId="270"/>
            <ac:spMk id="8" creationId="{06772F38-26BF-8A94-8631-751A406D153E}"/>
          </ac:spMkLst>
        </pc:spChg>
        <pc:spChg chg="add mod ord">
          <ac:chgData name="Wick, Felix" userId="85efb633-acf6-425d-a271-4f136bfa2fb0" providerId="ADAL" clId="{64F59F2E-701A-4175-A64C-D0A9AC6FD62F}" dt="2025-03-02T20:22:55.225" v="7118" actId="113"/>
          <ac:spMkLst>
            <pc:docMk/>
            <pc:sldMk cId="3544795835" sldId="270"/>
            <ac:spMk id="10" creationId="{CD7DF3A1-48C2-8A99-A46A-DED1F4ED5BA1}"/>
          </ac:spMkLst>
        </pc:spChg>
        <pc:picChg chg="mod">
          <ac:chgData name="Wick, Felix" userId="85efb633-acf6-425d-a271-4f136bfa2fb0" providerId="ADAL" clId="{64F59F2E-701A-4175-A64C-D0A9AC6FD62F}" dt="2025-03-02T20:20:47.149" v="7107" actId="1076"/>
          <ac:picMkLst>
            <pc:docMk/>
            <pc:sldMk cId="3544795835" sldId="270"/>
            <ac:picMk id="5" creationId="{FD58764D-2B67-728C-787A-C6B642EBCFD8}"/>
          </ac:picMkLst>
        </pc:picChg>
        <pc:picChg chg="mod">
          <ac:chgData name="Wick, Felix" userId="85efb633-acf6-425d-a271-4f136bfa2fb0" providerId="ADAL" clId="{64F59F2E-701A-4175-A64C-D0A9AC6FD62F}" dt="2025-03-02T20:22:40.037" v="7114" actId="1076"/>
          <ac:picMkLst>
            <pc:docMk/>
            <pc:sldMk cId="3544795835" sldId="270"/>
            <ac:picMk id="6" creationId="{9C0D363E-EF7C-EEF1-BD05-D7980098DD5A}"/>
          </ac:picMkLst>
        </pc:picChg>
        <pc:picChg chg="add mod">
          <ac:chgData name="Wick, Felix" userId="85efb633-acf6-425d-a271-4f136bfa2fb0" providerId="ADAL" clId="{64F59F2E-701A-4175-A64C-D0A9AC6FD62F}" dt="2025-03-02T20:21:04.393" v="7109" actId="1076"/>
          <ac:picMkLst>
            <pc:docMk/>
            <pc:sldMk cId="3544795835" sldId="270"/>
            <ac:picMk id="1028" creationId="{D6FB989F-F436-74B9-405A-7294609108C0}"/>
          </ac:picMkLst>
        </pc:picChg>
        <pc:picChg chg="add mod">
          <ac:chgData name="Wick, Felix" userId="85efb633-acf6-425d-a271-4f136bfa2fb0" providerId="ADAL" clId="{64F59F2E-701A-4175-A64C-D0A9AC6FD62F}" dt="2025-03-02T20:22:47.567" v="7116" actId="1076"/>
          <ac:picMkLst>
            <pc:docMk/>
            <pc:sldMk cId="3544795835" sldId="270"/>
            <ac:picMk id="1030" creationId="{78D57E94-E485-4288-6FCE-568DF7CFD6AF}"/>
          </ac:picMkLst>
        </pc:picChg>
      </pc:sldChg>
      <pc:sldChg chg="modSp mod">
        <pc:chgData name="Wick, Felix" userId="85efb633-acf6-425d-a271-4f136bfa2fb0" providerId="ADAL" clId="{64F59F2E-701A-4175-A64C-D0A9AC6FD62F}" dt="2025-01-28T11:27:42.599" v="1289" actId="20577"/>
        <pc:sldMkLst>
          <pc:docMk/>
          <pc:sldMk cId="793683279" sldId="272"/>
        </pc:sldMkLst>
        <pc:spChg chg="mod">
          <ac:chgData name="Wick, Felix" userId="85efb633-acf6-425d-a271-4f136bfa2fb0" providerId="ADAL" clId="{64F59F2E-701A-4175-A64C-D0A9AC6FD62F}" dt="2025-01-28T11:27:42.599" v="1289" actId="20577"/>
          <ac:spMkLst>
            <pc:docMk/>
            <pc:sldMk cId="793683279" sldId="272"/>
            <ac:spMk id="3" creationId="{111AFC3B-A5E8-E02B-3B57-552EF4E575D2}"/>
          </ac:spMkLst>
        </pc:spChg>
      </pc:sldChg>
      <pc:sldChg chg="addSp delSp modSp new del mod modClrScheme chgLayout">
        <pc:chgData name="Wick, Felix" userId="85efb633-acf6-425d-a271-4f136bfa2fb0" providerId="ADAL" clId="{64F59F2E-701A-4175-A64C-D0A9AC6FD62F}" dt="2025-02-27T22:09:02.239" v="4773" actId="47"/>
        <pc:sldMkLst>
          <pc:docMk/>
          <pc:sldMk cId="2771831494" sldId="273"/>
        </pc:sldMkLst>
      </pc:sldChg>
      <pc:sldChg chg="del">
        <pc:chgData name="Wick, Felix" userId="85efb633-acf6-425d-a271-4f136bfa2fb0" providerId="ADAL" clId="{64F59F2E-701A-4175-A64C-D0A9AC6FD62F}" dt="2025-02-27T21:48:46.286" v="4718" actId="47"/>
        <pc:sldMkLst>
          <pc:docMk/>
          <pc:sldMk cId="1504602858" sldId="274"/>
        </pc:sldMkLst>
      </pc:sldChg>
      <pc:sldChg chg="delSp modSp add del mod">
        <pc:chgData name="Wick, Felix" userId="85efb633-acf6-425d-a271-4f136bfa2fb0" providerId="ADAL" clId="{64F59F2E-701A-4175-A64C-D0A9AC6FD62F}" dt="2025-03-13T14:52:32.226" v="7519"/>
        <pc:sldMkLst>
          <pc:docMk/>
          <pc:sldMk cId="28529905" sldId="275"/>
        </pc:sldMkLst>
        <pc:spChg chg="mod">
          <ac:chgData name="Wick, Felix" userId="85efb633-acf6-425d-a271-4f136bfa2fb0" providerId="ADAL" clId="{64F59F2E-701A-4175-A64C-D0A9AC6FD62F}" dt="2025-03-13T14:52:32.226" v="7519"/>
          <ac:spMkLst>
            <pc:docMk/>
            <pc:sldMk cId="28529905" sldId="275"/>
            <ac:spMk id="5" creationId="{E07385CB-D725-C163-7B63-8CCA18A2E90E}"/>
          </ac:spMkLst>
        </pc:spChg>
      </pc:sldChg>
      <pc:sldChg chg="ord">
        <pc:chgData name="Wick, Felix" userId="85efb633-acf6-425d-a271-4f136bfa2fb0" providerId="ADAL" clId="{64F59F2E-701A-4175-A64C-D0A9AC6FD62F}" dt="2025-03-01T21:21:15.608" v="5784"/>
        <pc:sldMkLst>
          <pc:docMk/>
          <pc:sldMk cId="1504602858" sldId="277"/>
        </pc:sldMkLst>
      </pc:sldChg>
      <pc:sldChg chg="del">
        <pc:chgData name="Wick, Felix" userId="85efb633-acf6-425d-a271-4f136bfa2fb0" providerId="ADAL" clId="{64F59F2E-701A-4175-A64C-D0A9AC6FD62F}" dt="2025-03-13T14:52:36.426" v="7520" actId="47"/>
        <pc:sldMkLst>
          <pc:docMk/>
          <pc:sldMk cId="61419988" sldId="27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6E0FD1-891F-4B1E-916D-E9B585160BB8}" type="datetimeFigureOut">
              <a:rPr lang="en-GB" smtClean="0"/>
              <a:t>01/04/2026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C76E5F-9D68-4973-8A2A-59949176DA9A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30572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2AD05-B4BB-840D-5044-DA9C798A97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9A7B47-AB1A-4CDD-9144-EE000976B8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BF8C95-BBF9-31D1-0ADC-C8AB370E0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C3F22-27B2-44E3-9C5F-D08126455F6F}" type="datetime1">
              <a:rPr lang="en-GB" smtClean="0"/>
              <a:t>01/04/2026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C10D86-4DAB-EC0A-AB86-60CC82054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9AE665-34F4-8BF5-6B4D-509F026F4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18649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CC6E7-920C-E54D-5199-F32C32EBC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A0735A-AC30-5DB9-385E-9410CD353E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A63D1-8AAD-A89C-781E-A7DCD49CF6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5ED7B-FEAD-4734-819F-93EF4B0EA908}" type="datetime1">
              <a:rPr lang="en-GB" smtClean="0"/>
              <a:t>01/04/2026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5E6A99-2E8C-3768-5C28-3740DFA86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A99DA9-9DF3-F3CB-C047-01F3E0315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78677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178B1-DC4C-C72D-A4CD-2071F7D207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68F496-2872-EA37-A28F-F61DA15D83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43CD11-8172-4EA7-A05A-3E9BED2431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5D4B4-C926-4B45-8815-1ED8911179A2}" type="datetime1">
              <a:rPr lang="en-GB" smtClean="0"/>
              <a:t>01/04/2026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74FC75-D902-977C-06B6-D053E6FA8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51B89A-2DD6-EBD2-E8D5-67D7A3120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7448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548EF-DE77-786B-3AB0-B8EE80AE0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10666-C3AD-A843-F133-FC4D90F814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4FF850-9497-0370-2422-7DCC4D0224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EE3548-F4EA-A9B5-F070-FA4BA4A831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5210A-0E37-4935-93AF-69F21A5F712F}" type="datetime1">
              <a:rPr lang="en-GB" smtClean="0"/>
              <a:t>01/04/2026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AFAA4D-1024-F35F-4351-831E1814D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8F5DF7-B945-53CA-C385-BF5C6A715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79075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75B77-D383-D322-AEC0-72CA37199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1F7C1F-D865-CA91-C666-FFCCC4FC3D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AB659D-F2AF-E840-A39C-B6D4CD3AF2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1F6025-6FB4-DA3E-9136-B086A61682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BDF3B27-FE38-C9E0-63E8-5B78CE540A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4CDAD08-3AA3-354B-C68E-3E3F0AF87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A6B2F-436C-4691-80E8-9C890E000E9D}" type="datetime1">
              <a:rPr lang="en-GB" smtClean="0"/>
              <a:t>01/04/2026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27264E2-C174-553A-038E-6567A52DB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91666C-2E1A-1181-C70B-FBB28F188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37581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D917D-EEC5-D75C-55B7-5A81063FC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E150BF-302E-AA68-42DC-74C1EA7951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85F4C-D74B-496F-8D21-97E3549C783B}" type="datetime1">
              <a:rPr lang="en-GB" smtClean="0"/>
              <a:t>01/04/2026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426D10-ABD1-7C54-CE39-7A4A134BC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A02836-662F-47B1-7567-2A2E60B63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9306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5FEEF3-64F0-021E-129C-EAA067060B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DCB32-C241-4703-A832-4EB47BD54E83}" type="datetime1">
              <a:rPr lang="en-GB" smtClean="0"/>
              <a:t>01/04/2026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21C624-8D17-C8D8-65E3-79B11B01E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02005F-03E9-EF5B-B297-EAE94026C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56018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EE13F-1C85-75C1-BBD6-4EF64924CE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49CB5E-861F-9C33-823E-EB2694F540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4C4F26-7C81-22B3-04D5-743643DB28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18B1A3-9313-9165-A328-DEAB1821F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150FF-BE95-4D25-A16A-E368A81CBF24}" type="datetime1">
              <a:rPr lang="en-GB" smtClean="0"/>
              <a:t>01/04/2026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8EB9C9-316A-42D2-382C-3E7DEC4B1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C8CFB8-8FF5-B166-EBF9-B76498969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83184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5D41C-CF05-2F89-F8FC-DD0931ED8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4FCDE16-0F20-1107-A39C-71B8B6D953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7E2599-3F89-F92C-ECD5-CBFC03AB17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FB60AC-D043-8272-AE6A-A8E5B8A37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5DB4B-B349-43C9-A424-BADA723AD9F1}" type="datetime1">
              <a:rPr lang="en-GB" smtClean="0"/>
              <a:t>01/04/2026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A03EE6-D895-561C-441A-604E38A6D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A47F20-FBD8-886E-EF9A-D8AE8BFE3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13450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D2C68-3E4B-7070-3BF2-3E61A775A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431E10-D2DD-0D8A-398F-957702B05E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6A0762-E24E-EA37-D3D6-85FD301DEE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03846-7BF6-4FB6-A921-FF3379ADBD4C}" type="datetime1">
              <a:rPr lang="en-GB" smtClean="0"/>
              <a:t>01/04/2026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A92B9B-8389-F8AB-7C9B-4AB887B7E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EE1FF1-A4E8-24D9-9253-6DA02F950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0173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847842B-C168-F0E3-41CF-EC817DFD50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8C9306-7BEA-9A58-247B-5E8D728C01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935EBA-2B35-51D8-8564-DAEC993B22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1B91A-3FD0-4144-9C84-63E9688ED2FE}" type="datetime1">
              <a:rPr lang="en-GB" smtClean="0"/>
              <a:t>01/04/2026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58BC42-D6BF-B47B-F3DA-FF0EA29DD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9BF052-4BB9-5153-7BEC-9BA52B390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36262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1F56395-FA5B-DEC3-329C-4DAB946C5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A7CDC4-8C08-2251-4B6D-A6B1DDA575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63D46B-F1E1-9A5A-E16C-D9E3E18E1F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632426-0A0C-405F-A3D0-2D11AA44702A}" type="datetime1">
              <a:rPr lang="en-GB" smtClean="0"/>
              <a:t>01/04/2026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B9336A-4601-EB96-28AF-D2D6216602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74CCC3-F2F7-6EBE-2376-34F7F60C1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39891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0.png"/><Relationship Id="rId2" Type="http://schemas.openxmlformats.org/officeDocument/2006/relationships/image" Target="../media/image29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14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8641C-BAC0-4155-84D5-F4B73D88F27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de-DE" dirty="0" err="1"/>
              <a:t>Discrete</a:t>
            </a:r>
            <a:r>
              <a:rPr lang="de-DE" dirty="0"/>
              <a:t>-time Controllers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B6519B-0EF3-5498-C5EB-DE1F3784111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Control Engineering</a:t>
            </a:r>
          </a:p>
        </p:txBody>
      </p:sp>
    </p:spTree>
    <p:extLst>
      <p:ext uri="{BB962C8B-B14F-4D97-AF65-F5344CB8AC3E}">
        <p14:creationId xmlns:p14="http://schemas.microsoft.com/office/powerpoint/2010/main" val="23039474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80AD447-446B-E09E-6F4A-522C1DBB4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Course Schedule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CF502483-E45D-7D7D-D169-ACA4F8327D2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de-DE" dirty="0"/>
              <a:t>Systems</a:t>
            </a:r>
          </a:p>
          <a:p>
            <a:pPr marL="514350" indent="-514350">
              <a:buFont typeface="+mj-lt"/>
              <a:buAutoNum type="arabicPeriod"/>
            </a:pPr>
            <a:endParaRPr lang="de-DE" dirty="0"/>
          </a:p>
          <a:p>
            <a:pPr marL="514350" indent="-514350">
              <a:buFont typeface="+mj-lt"/>
              <a:buAutoNum type="arabicPeriod"/>
            </a:pPr>
            <a:r>
              <a:rPr lang="de-DE" dirty="0" err="1"/>
              <a:t>Continuous</a:t>
            </a:r>
            <a:r>
              <a:rPr lang="de-DE" dirty="0"/>
              <a:t>-time Controllers</a:t>
            </a:r>
          </a:p>
          <a:p>
            <a:pPr marL="514350" indent="-514350">
              <a:buFont typeface="+mj-lt"/>
              <a:buAutoNum type="arabicPeriod"/>
            </a:pPr>
            <a:endParaRPr lang="de-DE" dirty="0"/>
          </a:p>
          <a:p>
            <a:pPr marL="514350" indent="-514350">
              <a:buFont typeface="+mj-lt"/>
              <a:buAutoNum type="arabicPeriod"/>
            </a:pPr>
            <a:r>
              <a:rPr lang="de-DE" dirty="0"/>
              <a:t>Laplace Domain</a:t>
            </a:r>
          </a:p>
          <a:p>
            <a:pPr marL="514350" indent="-514350">
              <a:buFont typeface="+mj-lt"/>
              <a:buAutoNum type="arabicPeriod"/>
            </a:pPr>
            <a:endParaRPr lang="de-DE" dirty="0"/>
          </a:p>
          <a:p>
            <a:pPr marL="514350" indent="-514350">
              <a:buFont typeface="+mj-lt"/>
              <a:buAutoNum type="arabicPeriod"/>
            </a:pPr>
            <a:r>
              <a:rPr lang="de-DE" dirty="0"/>
              <a:t>Poles/Zeros &amp; </a:t>
            </a:r>
            <a:r>
              <a:rPr lang="de-DE" dirty="0" err="1"/>
              <a:t>Stability</a:t>
            </a:r>
            <a:endParaRPr lang="de-DE" dirty="0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B671907E-FFFA-73EF-8E7D-4AB4EBDD957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5"/>
            </a:pPr>
            <a:r>
              <a:rPr lang="de-DE" dirty="0"/>
              <a:t>Controller Design</a:t>
            </a:r>
          </a:p>
          <a:p>
            <a:pPr marL="514350" indent="-514350">
              <a:buFont typeface="+mj-lt"/>
              <a:buAutoNum type="arabicPeriod" startAt="5"/>
            </a:pPr>
            <a:endParaRPr lang="de-DE" dirty="0"/>
          </a:p>
          <a:p>
            <a:pPr marL="514350" indent="-514350">
              <a:buFont typeface="+mj-lt"/>
              <a:buAutoNum type="arabicPeriod" startAt="5"/>
            </a:pPr>
            <a:r>
              <a:rPr lang="de-DE" dirty="0" err="1"/>
              <a:t>Discrete</a:t>
            </a:r>
            <a:r>
              <a:rPr lang="de-DE" dirty="0"/>
              <a:t>-time Controllers</a:t>
            </a:r>
          </a:p>
          <a:p>
            <a:pPr marL="514350" indent="-514350">
              <a:buFont typeface="+mj-lt"/>
              <a:buAutoNum type="arabicPeriod" startAt="5"/>
            </a:pPr>
            <a:endParaRPr lang="de-DE" dirty="0"/>
          </a:p>
          <a:p>
            <a:pPr marL="514350" indent="-514350">
              <a:buFont typeface="+mj-lt"/>
              <a:buAutoNum type="arabicPeriod" startAt="5"/>
            </a:pPr>
            <a:r>
              <a:rPr lang="de-DE" dirty="0"/>
              <a:t>State Space </a:t>
            </a:r>
            <a:r>
              <a:rPr lang="de-DE" dirty="0" err="1"/>
              <a:t>Representation</a:t>
            </a:r>
            <a:endParaRPr lang="de-DE" dirty="0"/>
          </a:p>
          <a:p>
            <a:pPr marL="514350" indent="-514350">
              <a:buFont typeface="+mj-lt"/>
              <a:buAutoNum type="arabicPeriod" startAt="5"/>
            </a:pPr>
            <a:endParaRPr lang="de-DE" dirty="0"/>
          </a:p>
          <a:p>
            <a:pPr marL="514350" indent="-514350">
              <a:buFont typeface="+mj-lt"/>
              <a:buAutoNum type="arabicPeriod" startAt="5"/>
            </a:pPr>
            <a:r>
              <a:rPr lang="de-DE" dirty="0" err="1"/>
              <a:t>Advanced</a:t>
            </a:r>
            <a:r>
              <a:rPr lang="de-DE" dirty="0"/>
              <a:t> Control Methods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0664D44-83AC-6A7A-17E0-C1AE2ED18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03366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E92B2E04-27B7-8A9A-6143-C8831F8340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Discrete</a:t>
            </a:r>
            <a:r>
              <a:rPr lang="de-DE" dirty="0"/>
              <a:t>-time Controllers</a:t>
            </a:r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8B599745-405B-0FFD-67CC-A4CA1E6684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Digital </a:t>
            </a:r>
            <a:r>
              <a:rPr lang="de-DE" dirty="0" err="1"/>
              <a:t>controllers</a:t>
            </a:r>
            <a:endParaRPr lang="de-DE" dirty="0"/>
          </a:p>
          <a:p>
            <a:r>
              <a:rPr lang="de-DE" dirty="0"/>
              <a:t>Sampling &amp; Zero-Order Hold</a:t>
            </a:r>
          </a:p>
          <a:p>
            <a:r>
              <a:rPr lang="de-DE" dirty="0" err="1"/>
              <a:t>Discrete</a:t>
            </a:r>
            <a:r>
              <a:rPr lang="de-DE" dirty="0"/>
              <a:t>-time </a:t>
            </a:r>
            <a:r>
              <a:rPr lang="de-DE" dirty="0" err="1"/>
              <a:t>modeling</a:t>
            </a:r>
            <a:endParaRPr lang="de-DE" dirty="0"/>
          </a:p>
          <a:p>
            <a:r>
              <a:rPr lang="de-DE" dirty="0" err="1"/>
              <a:t>z</a:t>
            </a:r>
            <a:r>
              <a:rPr lang="de-DE" dirty="0"/>
              <a:t>-transfer </a:t>
            </a:r>
            <a:r>
              <a:rPr lang="de-DE" dirty="0" err="1"/>
              <a:t>functions</a:t>
            </a:r>
            <a:endParaRPr lang="de-DE" dirty="0"/>
          </a:p>
          <a:p>
            <a:r>
              <a:rPr lang="de-DE" dirty="0" err="1"/>
              <a:t>Discretization</a:t>
            </a:r>
            <a:r>
              <a:rPr lang="de-DE" dirty="0"/>
              <a:t> </a:t>
            </a:r>
            <a:r>
              <a:rPr lang="de-DE" dirty="0" err="1"/>
              <a:t>methods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22405FE-CC14-5A9E-E6BC-374EBECB4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41339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9B815CB-9B3A-95F8-AEEF-789EBD9B8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Why</a:t>
            </a:r>
            <a:r>
              <a:rPr lang="de-DE" dirty="0"/>
              <a:t> Digital Control?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D0B1ED3-1DF7-9213-36EE-664A9A2E28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de-DE" dirty="0"/>
              <a:t>Most modern </a:t>
            </a:r>
            <a:r>
              <a:rPr lang="de-DE" dirty="0" err="1"/>
              <a:t>controllers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implemented</a:t>
            </a:r>
            <a:r>
              <a:rPr lang="de-DE" dirty="0"/>
              <a:t> on:</a:t>
            </a:r>
          </a:p>
          <a:p>
            <a:pPr lvl="1"/>
            <a:r>
              <a:rPr lang="de-DE" dirty="0"/>
              <a:t>Microcontrollers</a:t>
            </a:r>
          </a:p>
          <a:p>
            <a:pPr lvl="1"/>
            <a:r>
              <a:rPr lang="de-DE" dirty="0"/>
              <a:t>DSPs (Digital Signal </a:t>
            </a:r>
            <a:r>
              <a:rPr lang="de-DE" dirty="0" err="1"/>
              <a:t>Processor</a:t>
            </a:r>
            <a:r>
              <a:rPr lang="de-DE" dirty="0"/>
              <a:t>)</a:t>
            </a:r>
          </a:p>
          <a:p>
            <a:pPr lvl="1"/>
            <a:r>
              <a:rPr lang="de-DE" dirty="0"/>
              <a:t>Computers</a:t>
            </a:r>
          </a:p>
          <a:p>
            <a:pPr marL="0" indent="0">
              <a:buNone/>
            </a:pPr>
            <a:r>
              <a:rPr lang="de-DE" dirty="0"/>
              <a:t>Advantages:</a:t>
            </a:r>
          </a:p>
          <a:p>
            <a:pPr lvl="1"/>
            <a:r>
              <a:rPr lang="de-DE" dirty="0" err="1"/>
              <a:t>Flexibility</a:t>
            </a:r>
            <a:r>
              <a:rPr lang="de-DE" dirty="0"/>
              <a:t> (</a:t>
            </a:r>
            <a:r>
              <a:rPr lang="de-DE" dirty="0" err="1"/>
              <a:t>software</a:t>
            </a:r>
            <a:r>
              <a:rPr lang="de-DE" dirty="0"/>
              <a:t> </a:t>
            </a:r>
            <a:r>
              <a:rPr lang="de-DE" dirty="0" err="1"/>
              <a:t>changes</a:t>
            </a:r>
            <a:r>
              <a:rPr lang="de-DE" dirty="0"/>
              <a:t>)</a:t>
            </a:r>
          </a:p>
          <a:p>
            <a:pPr lvl="1"/>
            <a:r>
              <a:rPr lang="de-DE" dirty="0" err="1"/>
              <a:t>Cost</a:t>
            </a:r>
            <a:r>
              <a:rPr lang="de-DE" dirty="0"/>
              <a:t> </a:t>
            </a:r>
            <a:r>
              <a:rPr lang="de-DE" dirty="0" err="1"/>
              <a:t>efficiency</a:t>
            </a:r>
            <a:endParaRPr lang="de-DE" dirty="0"/>
          </a:p>
          <a:p>
            <a:pPr lvl="1"/>
            <a:r>
              <a:rPr lang="de-DE" dirty="0" err="1"/>
              <a:t>Advanced</a:t>
            </a:r>
            <a:r>
              <a:rPr lang="de-DE" dirty="0"/>
              <a:t> </a:t>
            </a:r>
            <a:r>
              <a:rPr lang="de-DE" dirty="0" err="1"/>
              <a:t>algorithms</a:t>
            </a:r>
            <a:r>
              <a:rPr lang="de-DE" dirty="0"/>
              <a:t> possible</a:t>
            </a:r>
          </a:p>
          <a:p>
            <a:pPr marL="0" indent="0">
              <a:buNone/>
            </a:pPr>
            <a:r>
              <a:rPr lang="de-DE" dirty="0" err="1"/>
              <a:t>Disadvantages</a:t>
            </a:r>
            <a:r>
              <a:rPr lang="de-DE" dirty="0"/>
              <a:t>:</a:t>
            </a:r>
          </a:p>
          <a:p>
            <a:pPr lvl="1"/>
            <a:r>
              <a:rPr lang="de-DE" dirty="0"/>
              <a:t>Sampling </a:t>
            </a:r>
            <a:r>
              <a:rPr lang="de-DE" dirty="0" err="1"/>
              <a:t>effects</a:t>
            </a:r>
            <a:endParaRPr lang="de-DE" dirty="0"/>
          </a:p>
          <a:p>
            <a:pPr lvl="1"/>
            <a:r>
              <a:rPr lang="de-DE" dirty="0" err="1"/>
              <a:t>Quantization</a:t>
            </a:r>
            <a:endParaRPr lang="de-DE" dirty="0"/>
          </a:p>
          <a:p>
            <a:pPr lvl="1"/>
            <a:r>
              <a:rPr lang="de-DE" dirty="0"/>
              <a:t>Delays (</a:t>
            </a:r>
            <a:r>
              <a:rPr lang="de-DE" dirty="0" err="1"/>
              <a:t>latency</a:t>
            </a:r>
            <a:r>
              <a:rPr lang="de-DE" dirty="0"/>
              <a:t>)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FE5F975-800C-923F-C0D1-904DD82BC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08549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32CEE5-807F-7A24-5941-092A4E479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Continuous</a:t>
            </a:r>
            <a:r>
              <a:rPr lang="de-DE" dirty="0"/>
              <a:t> </a:t>
            </a:r>
            <a:r>
              <a:rPr lang="de-DE" dirty="0" err="1"/>
              <a:t>vs</a:t>
            </a:r>
            <a:r>
              <a:rPr lang="de-DE" dirty="0"/>
              <a:t> Digital Control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32B02182-42C5-8A09-2F3F-C2232DC6E96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de-DE" dirty="0"/>
                  <a:t>Continuous-time:</a:t>
                </a:r>
              </a:p>
              <a:p>
                <a:r>
                  <a:rPr lang="de-DE" dirty="0"/>
                  <a:t>Signals </a:t>
                </a:r>
                <a:r>
                  <a:rPr lang="de-DE" dirty="0" err="1"/>
                  <a:t>defined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r>
                      <a:rPr lang="de-DE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∈ </m:t>
                    </m:r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endParaRPr lang="de-DE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de-DE" dirty="0"/>
                  <a:t>Differential </a:t>
                </a:r>
                <a:r>
                  <a:rPr lang="de-DE" dirty="0" err="1"/>
                  <a:t>equations</a:t>
                </a:r>
                <a:br>
                  <a:rPr lang="de-DE" dirty="0"/>
                </a:br>
                <a:endParaRPr lang="de-DE" dirty="0"/>
              </a:p>
              <a:p>
                <a:pPr marL="0" indent="0">
                  <a:buNone/>
                </a:pPr>
                <a:r>
                  <a:rPr lang="de-DE" dirty="0"/>
                  <a:t>Digital (</a:t>
                </a:r>
                <a:r>
                  <a:rPr lang="de-DE" dirty="0" err="1"/>
                  <a:t>discrete</a:t>
                </a:r>
                <a:r>
                  <a:rPr lang="de-DE" dirty="0"/>
                  <a:t>-time):</a:t>
                </a:r>
              </a:p>
              <a:p>
                <a:r>
                  <a:rPr lang="de-DE" dirty="0"/>
                  <a:t>Signals </a:t>
                </a:r>
                <a:r>
                  <a:rPr lang="de-DE" dirty="0" err="1"/>
                  <a:t>defined</a:t>
                </a:r>
                <a:r>
                  <a:rPr lang="de-DE" dirty="0"/>
                  <a:t> at 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𝑘𝑇</m:t>
                    </m:r>
                  </m:oMath>
                </a14:m>
                <a:endParaRPr lang="de-DE" dirty="0"/>
              </a:p>
              <a:p>
                <a:r>
                  <a:rPr lang="de-DE" dirty="0"/>
                  <a:t>Difference </a:t>
                </a:r>
                <a:r>
                  <a:rPr lang="de-DE" dirty="0" err="1"/>
                  <a:t>equations</a:t>
                </a:r>
                <a:br>
                  <a:rPr lang="de-DE" dirty="0"/>
                </a:br>
                <a:endParaRPr lang="de-DE" dirty="0"/>
              </a:p>
              <a:p>
                <a:pPr marL="0" indent="0">
                  <a:buNone/>
                </a:pPr>
                <a:r>
                  <a:rPr lang="de-DE" dirty="0"/>
                  <a:t>Key </a:t>
                </a:r>
                <a:r>
                  <a:rPr lang="de-DE" dirty="0" err="1"/>
                  <a:t>idea</a:t>
                </a:r>
                <a:r>
                  <a:rPr lang="de-DE" dirty="0"/>
                  <a:t>: </a:t>
                </a:r>
                <a:r>
                  <a:rPr lang="de-DE" dirty="0" err="1"/>
                  <a:t>approximation</a:t>
                </a:r>
                <a:r>
                  <a:rPr lang="de-DE" dirty="0"/>
                  <a:t> </a:t>
                </a:r>
                <a:r>
                  <a:rPr lang="de-DE" dirty="0" err="1"/>
                  <a:t>of</a:t>
                </a:r>
                <a:r>
                  <a:rPr lang="de-DE" dirty="0"/>
                  <a:t> </a:t>
                </a:r>
                <a:r>
                  <a:rPr lang="de-DE" dirty="0" err="1"/>
                  <a:t>continuous</a:t>
                </a:r>
                <a:r>
                  <a:rPr lang="de-DE" dirty="0"/>
                  <a:t> </a:t>
                </a:r>
                <a:r>
                  <a:rPr lang="de-DE" dirty="0" err="1"/>
                  <a:t>systems</a:t>
                </a:r>
                <a:r>
                  <a:rPr lang="de-DE" dirty="0"/>
                  <a:t> </a:t>
                </a:r>
                <a:r>
                  <a:rPr lang="de-DE" dirty="0" err="1"/>
                  <a:t>using</a:t>
                </a:r>
                <a:r>
                  <a:rPr lang="de-DE" dirty="0"/>
                  <a:t> </a:t>
                </a:r>
                <a:r>
                  <a:rPr lang="de-DE" dirty="0" err="1"/>
                  <a:t>sampled</a:t>
                </a:r>
                <a:r>
                  <a:rPr lang="de-DE" dirty="0"/>
                  <a:t> </a:t>
                </a:r>
                <a:r>
                  <a:rPr lang="de-DE" dirty="0" err="1"/>
                  <a:t>data</a:t>
                </a:r>
                <a:endParaRPr lang="de-DE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32B02182-42C5-8A09-2F3F-C2232DC6E96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 r="-603" b="-319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E8DE643-EE4D-16D9-01F0-A5D12473C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36747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rafik 16">
            <a:extLst>
              <a:ext uri="{FF2B5EF4-FFF2-40B4-BE49-F238E27FC236}">
                <a16:creationId xmlns:a16="http://schemas.microsoft.com/office/drawing/2014/main" id="{8909347D-4D00-308C-BF8B-7A79F13B1B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2667000" y="-1423468"/>
            <a:ext cx="6858000" cy="9704936"/>
          </a:xfrm>
          <a:prstGeom prst="rect">
            <a:avLst/>
          </a:prstGeom>
        </p:spPr>
      </p:pic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F0AC909-688A-7BAF-A7D1-8993F9810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6</a:t>
            </a:fld>
            <a:endParaRPr lang="en-GB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C22B8CB9-A9B1-B1AD-2B8A-0EB3E995B833}"/>
              </a:ext>
            </a:extLst>
          </p:cNvPr>
          <p:cNvSpPr txBox="1"/>
          <p:nvPr/>
        </p:nvSpPr>
        <p:spPr>
          <a:xfrm>
            <a:off x="1463137" y="5327273"/>
            <a:ext cx="9485331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600" dirty="0"/>
              <a:t>Idea:</a:t>
            </a:r>
          </a:p>
          <a:p>
            <a:r>
              <a:rPr lang="de-DE" sz="2600" dirty="0" err="1"/>
              <a:t>controlling</a:t>
            </a:r>
            <a:r>
              <a:rPr lang="de-DE" sz="2600" dirty="0"/>
              <a:t> a </a:t>
            </a:r>
            <a:r>
              <a:rPr lang="de-DE" sz="2600" dirty="0" err="1"/>
              <a:t>continuous</a:t>
            </a:r>
            <a:r>
              <a:rPr lang="de-DE" sz="2600" dirty="0"/>
              <a:t> </a:t>
            </a:r>
            <a:r>
              <a:rPr lang="de-DE" sz="2600" dirty="0" err="1"/>
              <a:t>physical</a:t>
            </a:r>
            <a:r>
              <a:rPr lang="de-DE" sz="2600" dirty="0"/>
              <a:t> </a:t>
            </a:r>
            <a:r>
              <a:rPr lang="de-DE" sz="2600" dirty="0" err="1"/>
              <a:t>system</a:t>
            </a:r>
            <a:r>
              <a:rPr lang="de-DE" sz="2600" dirty="0"/>
              <a:t> </a:t>
            </a:r>
            <a:r>
              <a:rPr lang="de-DE" sz="2600" dirty="0" err="1"/>
              <a:t>using</a:t>
            </a:r>
            <a:r>
              <a:rPr lang="de-DE" sz="2600" dirty="0"/>
              <a:t> a digital </a:t>
            </a:r>
            <a:r>
              <a:rPr lang="de-DE" sz="2600" dirty="0" err="1"/>
              <a:t>computer</a:t>
            </a:r>
            <a:endParaRPr lang="de-DE" sz="2600" dirty="0"/>
          </a:p>
        </p:txBody>
      </p:sp>
    </p:spTree>
    <p:extLst>
      <p:ext uri="{BB962C8B-B14F-4D97-AF65-F5344CB8AC3E}">
        <p14:creationId xmlns:p14="http://schemas.microsoft.com/office/powerpoint/2010/main" val="30880821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B5483B4-2097-BA9C-BEEC-5D77C96D8B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Sampling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A3660A92-BBD5-B430-333F-20D223BE666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de-DE" dirty="0"/>
                  <a:t>Signals </a:t>
                </a:r>
                <a:r>
                  <a:rPr lang="de-DE" dirty="0" err="1"/>
                  <a:t>measured</a:t>
                </a:r>
                <a:r>
                  <a:rPr lang="de-DE" dirty="0"/>
                  <a:t> at </a:t>
                </a:r>
                <a:r>
                  <a:rPr lang="de-DE" dirty="0" err="1"/>
                  <a:t>discrete</a:t>
                </a:r>
                <a:r>
                  <a:rPr lang="de-DE" dirty="0"/>
                  <a:t> </a:t>
                </a:r>
                <a:r>
                  <a:rPr lang="de-DE" dirty="0" err="1"/>
                  <a:t>times</a:t>
                </a:r>
                <a:r>
                  <a:rPr lang="de-DE" dirty="0"/>
                  <a:t> </a:t>
                </a:r>
                <a:r>
                  <a:rPr lang="de-DE" dirty="0" err="1"/>
                  <a:t>only</a:t>
                </a:r>
                <a:endParaRPr lang="de-DE" dirty="0"/>
              </a:p>
              <a:p>
                <a:pPr marL="0" indent="0">
                  <a:buNone/>
                </a:pPr>
                <a:r>
                  <a:rPr lang="de-DE" b="0" dirty="0"/>
                  <a:t>	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de-DE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𝑘𝑇</m:t>
                        </m:r>
                      </m:e>
                    </m:d>
                  </m:oMath>
                </a14:m>
                <a:br>
                  <a:rPr lang="de-DE" dirty="0"/>
                </a:br>
                <a:endParaRPr lang="de-DE" dirty="0"/>
              </a:p>
              <a:p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de-DE" dirty="0"/>
                  <a:t>: sampling </a:t>
                </a:r>
                <a:r>
                  <a:rPr lang="de-DE" dirty="0" err="1"/>
                  <a:t>period</a:t>
                </a:r>
                <a:endParaRPr lang="de-DE" dirty="0"/>
              </a:p>
              <a:p>
                <a14:m>
                  <m:oMath xmlns:m="http://schemas.openxmlformats.org/officeDocument/2006/math">
                    <m:r>
                      <a:rPr lang="de-DE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de-DE" dirty="0"/>
                  <a:t>: integer </a:t>
                </a:r>
                <a:r>
                  <a:rPr lang="de-DE" dirty="0" err="1"/>
                  <a:t>index</a:t>
                </a:r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r>
                  <a:rPr lang="de-DE" dirty="0" err="1"/>
                  <a:t>Example</a:t>
                </a:r>
                <a:r>
                  <a:rPr lang="de-DE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de-DE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func>
                    </m:oMath>
                  </m:oMathPara>
                </a14:m>
                <a:endParaRPr lang="de-DE" dirty="0">
                  <a:sym typeface="Wingdings" pitchFamily="2" charset="2"/>
                </a:endParaRPr>
              </a:p>
              <a:p>
                <a:pPr marL="0" indent="0">
                  <a:buNone/>
                </a:pPr>
                <a:r>
                  <a:rPr lang="de-DE" dirty="0">
                    <a:sym typeface="Wingdings" pitchFamily="2" charset="2"/>
                  </a:rPr>
                  <a:t> 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de-DE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d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𝑘</m:t>
                        </m:r>
                      </m:e>
                    </m:d>
                    <m:r>
                      <a:rPr lang="de-DE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=</m:t>
                    </m:r>
                    <m:func>
                      <m:funcPr>
                        <m:ctrlPr>
                          <a:rPr lang="de-DE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de-DE" b="0" i="0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sin</m:t>
                        </m:r>
                      </m:fName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𝑘𝑇</m:t>
                        </m:r>
                      </m:e>
                    </m:func>
                  </m:oMath>
                </a14:m>
                <a:endParaRPr lang="de-DE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A3660A92-BBD5-B430-333F-20D223BE666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 b="-261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DDAB374-386D-E2FC-9168-D2BABD3E0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7</a:t>
            </a:fld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BF3A6A00-84CF-9E4A-36D1-D7BC82B18CA4}"/>
                  </a:ext>
                </a:extLst>
              </p:cNvPr>
              <p:cNvSpPr txBox="1"/>
              <p:nvPr/>
            </p:nvSpPr>
            <p:spPr>
              <a:xfrm>
                <a:off x="8237677" y="1690688"/>
                <a:ext cx="2928085" cy="187487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:r>
                  <a:rPr lang="de-DE" sz="2400" dirty="0"/>
                  <a:t>Sampling </a:t>
                </a:r>
                <a:r>
                  <a:rPr lang="de-DE" sz="2400" dirty="0" err="1"/>
                  <a:t>frequency</a:t>
                </a:r>
                <a:r>
                  <a:rPr lang="de-DE" sz="2400" dirty="0"/>
                  <a:t>:</a:t>
                </a:r>
              </a:p>
              <a:p>
                <a:pPr marL="0" indent="0">
                  <a:buNone/>
                </a:pPr>
                <a:r>
                  <a:rPr lang="de-DE" sz="2400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DE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den>
                    </m:f>
                  </m:oMath>
                </a14:m>
                <a:endParaRPr lang="de-DE" sz="2400" dirty="0"/>
              </a:p>
              <a:p>
                <a:pPr marL="0" indent="0">
                  <a:buNone/>
                </a:pPr>
                <a:r>
                  <a:rPr lang="de-DE" sz="2400" dirty="0"/>
                  <a:t>Angular </a:t>
                </a:r>
                <a:r>
                  <a:rPr lang="de-DE" sz="2400" dirty="0" err="1"/>
                  <a:t>frequency</a:t>
                </a:r>
                <a:r>
                  <a:rPr lang="de-DE" sz="2400" dirty="0"/>
                  <a:t>:</a:t>
                </a:r>
              </a:p>
              <a:p>
                <a:pPr marL="0" indent="0">
                  <a:buNone/>
                </a:pPr>
                <a:r>
                  <a:rPr lang="de-DE" sz="2400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DE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de-DE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den>
                    </m:f>
                  </m:oMath>
                </a14:m>
                <a:endParaRPr lang="de-DE" sz="2400" dirty="0"/>
              </a:p>
            </p:txBody>
          </p:sp>
        </mc:Choice>
        <mc:Fallback xmlns=""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BF3A6A00-84CF-9E4A-36D1-D7BC82B18C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7677" y="1690688"/>
                <a:ext cx="2928085" cy="1874872"/>
              </a:xfrm>
              <a:prstGeom prst="rect">
                <a:avLst/>
              </a:prstGeom>
              <a:blipFill>
                <a:blip r:embed="rId3"/>
                <a:stretch>
                  <a:fillRect l="-3017" t="-2000" r="-172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4" descr="A graph showing the value of a number of points&#10;&#10;Description automatically generated with medium confidence">
            <a:extLst>
              <a:ext uri="{FF2B5EF4-FFF2-40B4-BE49-F238E27FC236}">
                <a16:creationId xmlns:a16="http://schemas.microsoft.com/office/drawing/2014/main" id="{699A288C-8C01-BC40-80FA-EF6530A4488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1011" y="4246477"/>
            <a:ext cx="8520989" cy="2109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45247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5D1BC4F-E23A-2459-8ACC-3C8FF7ED1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Undersampling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D709FC-BE27-8A31-C26C-ACBD68ADD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39741-2FC0-4C84-9528-80AA7942A7E5}" type="slidenum">
              <a:rPr lang="en-GB" smtClean="0"/>
              <a:t>8</a:t>
            </a:fld>
            <a:endParaRPr lang="en-GB"/>
          </a:p>
        </p:txBody>
      </p:sp>
      <p:pic>
        <p:nvPicPr>
          <p:cNvPr id="7" name="Picture 6" descr="A graph of a function&#10;&#10;Description automatically generated">
            <a:extLst>
              <a:ext uri="{FF2B5EF4-FFF2-40B4-BE49-F238E27FC236}">
                <a16:creationId xmlns:a16="http://schemas.microsoft.com/office/drawing/2014/main" id="{1DB9E0ED-7D85-9AF7-2F44-EF56D25BE1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4548" y="2092913"/>
            <a:ext cx="9062903" cy="230168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7667735-E3DF-6CA7-963C-0E291E42063D}"/>
              </a:ext>
            </a:extLst>
          </p:cNvPr>
          <p:cNvSpPr txBox="1"/>
          <p:nvPr/>
        </p:nvSpPr>
        <p:spPr>
          <a:xfrm>
            <a:off x="692180" y="5113866"/>
            <a:ext cx="10807639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sz="2800" b="1" dirty="0"/>
              <a:t>Aliasing</a:t>
            </a:r>
            <a:r>
              <a:rPr lang="en-GB" sz="2800" dirty="0"/>
              <a:t>: higher-frequency signal disguised as one of lower frequency</a:t>
            </a:r>
          </a:p>
        </p:txBody>
      </p:sp>
    </p:spTree>
    <p:extLst>
      <p:ext uri="{BB962C8B-B14F-4D97-AF65-F5344CB8AC3E}">
        <p14:creationId xmlns:p14="http://schemas.microsoft.com/office/powerpoint/2010/main" val="29279692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40C83E-F9AD-8B64-8DB6-EF5840B7B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Example: Moir</a:t>
            </a:r>
            <a:r>
              <a:rPr lang="en-GB" dirty="0">
                <a:latin typeface="Aptos" panose="020B0004020202020204" pitchFamily="34" charset="0"/>
              </a:rPr>
              <a:t>é Effect in </a:t>
            </a:r>
            <a:r>
              <a:rPr lang="en-GB" dirty="0"/>
              <a:t>Digital Images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297FFF9-A216-16C4-BF48-C74702DCB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39741-2FC0-4C84-9528-80AA7942A7E5}" type="slidenum">
              <a:rPr lang="en-GB" smtClean="0"/>
              <a:t>9</a:t>
            </a:fld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4DCE54-5237-0AB2-4DD5-67A477FB5EED}"/>
              </a:ext>
            </a:extLst>
          </p:cNvPr>
          <p:cNvSpPr txBox="1"/>
          <p:nvPr/>
        </p:nvSpPr>
        <p:spPr>
          <a:xfrm>
            <a:off x="6172200" y="2096594"/>
            <a:ext cx="5580056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Aliasing in digital images often manifests itself as ringing patterns</a:t>
            </a:r>
          </a:p>
          <a:p>
            <a:endParaRPr lang="en-GB" sz="2800" dirty="0"/>
          </a:p>
          <a:p>
            <a:endParaRPr lang="en-GB" sz="2800" dirty="0"/>
          </a:p>
          <a:p>
            <a:endParaRPr lang="en-GB" sz="2800" dirty="0"/>
          </a:p>
          <a:p>
            <a:r>
              <a:rPr lang="en-GB" sz="2400" dirty="0"/>
              <a:t>Temporal aliasing can be observed as wagon-wheel effect (apparent backward motion) in image sequences (video): frame rate too low with respect to speed of wheel rotation</a:t>
            </a:r>
          </a:p>
        </p:txBody>
      </p:sp>
      <p:pic>
        <p:nvPicPr>
          <p:cNvPr id="8" name="Picture 7" descr="A collage of a person's suit&#10;&#10;Description automatically generated">
            <a:extLst>
              <a:ext uri="{FF2B5EF4-FFF2-40B4-BE49-F238E27FC236}">
                <a16:creationId xmlns:a16="http://schemas.microsoft.com/office/drawing/2014/main" id="{EBB72632-C097-BE4B-AF92-4F0825F31F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597060"/>
            <a:ext cx="4859346" cy="4852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84788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78B2D-FEC5-9F50-CB03-F4BF2987F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Nyquist</a:t>
            </a:r>
            <a:r>
              <a:rPr lang="de-DE" dirty="0"/>
              <a:t>-Shannon Sampling Theorem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47F923C-A548-8982-8790-580733C2DA7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5856775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de-DE" sz="2600" dirty="0"/>
                  <a:t>N</a:t>
                </a:r>
                <a:r>
                  <a:rPr lang="de-DE" sz="2600" dirty="0" err="1"/>
                  <a:t>o</a:t>
                </a:r>
                <a:r>
                  <a:rPr lang="de-DE" sz="2600" dirty="0"/>
                  <a:t> </a:t>
                </a:r>
                <a:r>
                  <a:rPr lang="de-DE" sz="2600" dirty="0" err="1"/>
                  <a:t>aliasing</a:t>
                </a:r>
                <a:r>
                  <a:rPr lang="de-DE" sz="2600" dirty="0"/>
                  <a:t> (</a:t>
                </a:r>
                <a:r>
                  <a:rPr lang="de-DE" sz="2600" dirty="0" err="1"/>
                  <a:t>continuous</a:t>
                </a:r>
                <a:r>
                  <a:rPr lang="de-DE" sz="2600" dirty="0"/>
                  <a:t> </a:t>
                </a:r>
                <a:r>
                  <a:rPr lang="de-DE" sz="2600" dirty="0" err="1"/>
                  <a:t>signal</a:t>
                </a:r>
                <a:r>
                  <a:rPr lang="de-DE" sz="2600" dirty="0"/>
                  <a:t> </a:t>
                </a:r>
                <a:r>
                  <a:rPr lang="de-DE" sz="2600" dirty="0" err="1"/>
                  <a:t>can</a:t>
                </a:r>
                <a:r>
                  <a:rPr lang="de-DE" sz="2600" dirty="0"/>
                  <a:t> </a:t>
                </a:r>
                <a:r>
                  <a:rPr lang="de-DE" sz="2600" dirty="0" err="1"/>
                  <a:t>be</a:t>
                </a:r>
                <a:r>
                  <a:rPr lang="de-DE" sz="2600" dirty="0"/>
                  <a:t> </a:t>
                </a:r>
                <a:r>
                  <a:rPr lang="de-DE" sz="2600" dirty="0" err="1"/>
                  <a:t>recovered</a:t>
                </a:r>
                <a:r>
                  <a:rPr lang="de-DE" sz="2600" dirty="0"/>
                  <a:t> </a:t>
                </a:r>
                <a:r>
                  <a:rPr lang="de-DE" sz="2600" dirty="0" err="1"/>
                  <a:t>from</a:t>
                </a:r>
                <a:r>
                  <a:rPr lang="de-DE" sz="2600" dirty="0"/>
                  <a:t> </a:t>
                </a:r>
                <a:r>
                  <a:rPr lang="de-DE" sz="2600" dirty="0" err="1"/>
                  <a:t>its</a:t>
                </a:r>
                <a:r>
                  <a:rPr lang="de-DE" sz="2600" dirty="0"/>
                  <a:t> </a:t>
                </a:r>
                <a:r>
                  <a:rPr lang="de-DE" sz="2600" dirty="0" err="1"/>
                  <a:t>samples</a:t>
                </a:r>
                <a:r>
                  <a:rPr lang="de-DE" sz="2600" dirty="0"/>
                  <a:t>) </a:t>
                </a:r>
                <a:r>
                  <a:rPr lang="de-DE" sz="2600" dirty="0" err="1"/>
                  <a:t>if</a:t>
                </a:r>
                <a:r>
                  <a:rPr lang="de-DE" sz="2600" dirty="0"/>
                  <a:t>:</a:t>
                </a:r>
              </a:p>
              <a:p>
                <a:pPr marL="0" indent="0">
                  <a:buNone/>
                </a:pPr>
                <a:r>
                  <a:rPr lang="de-DE" sz="2600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60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de-DE" sz="26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de-DE" sz="2600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de-DE" sz="2600" i="1">
                        <a:latin typeface="Cambria Math" panose="02040503050406030204" pitchFamily="18" charset="0"/>
                      </a:rPr>
                      <m:t>2</m:t>
                    </m:r>
                    <m:sSub>
                      <m:sSubPr>
                        <m:ctrlPr>
                          <a:rPr lang="de-DE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6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DE" sz="2600" i="1">
                            <a:latin typeface="Cambria Math" panose="02040503050406030204" pitchFamily="18" charset="0"/>
                          </a:rPr>
                          <m:t>max</m:t>
                        </m:r>
                      </m:sub>
                    </m:sSub>
                  </m:oMath>
                </a14:m>
                <a:endParaRPr lang="en-GB" sz="2600" dirty="0"/>
              </a:p>
              <a:p>
                <a:pPr marL="0" indent="0">
                  <a:buNone/>
                </a:pPr>
                <a:endParaRPr lang="en-GB" sz="2600" dirty="0"/>
              </a:p>
              <a:p>
                <a:pPr marL="0" indent="0">
                  <a:buNone/>
                </a:pPr>
                <a:endParaRPr lang="de-DE" sz="2600" dirty="0">
                  <a:sym typeface="Wingdings" pitchFamily="2" charset="2"/>
                </a:endParaRPr>
              </a:p>
              <a:p>
                <a:pPr marL="0" indent="0">
                  <a:buNone/>
                </a:pPr>
                <a:r>
                  <a:rPr lang="de-DE" sz="2600" dirty="0">
                    <a:sym typeface="Wingdings" pitchFamily="2" charset="2"/>
                  </a:rPr>
                  <a:t> </a:t>
                </a:r>
                <a:r>
                  <a:rPr lang="de-DE" sz="2600" dirty="0" err="1"/>
                  <a:t>Must</a:t>
                </a:r>
                <a:r>
                  <a:rPr lang="de-DE" sz="2600" dirty="0"/>
                  <a:t> sample at least </a:t>
                </a:r>
                <a:r>
                  <a:rPr lang="de-DE" sz="2600" dirty="0" err="1"/>
                  <a:t>twice</a:t>
                </a:r>
                <a:r>
                  <a:rPr lang="de-DE" sz="2600" dirty="0"/>
                  <a:t> </a:t>
                </a:r>
                <a:r>
                  <a:rPr lang="de-DE" sz="2600" dirty="0" err="1"/>
                  <a:t>the</a:t>
                </a:r>
                <a:r>
                  <a:rPr lang="de-DE" sz="2600" dirty="0"/>
                  <a:t> </a:t>
                </a:r>
                <a:r>
                  <a:rPr lang="de-DE" sz="2600" dirty="0" err="1"/>
                  <a:t>highest</a:t>
                </a:r>
                <a:r>
                  <a:rPr lang="de-DE" sz="2600" dirty="0"/>
                  <a:t> </a:t>
                </a:r>
                <a:r>
                  <a:rPr lang="de-DE" sz="2600" dirty="0" err="1"/>
                  <a:t>signal</a:t>
                </a:r>
                <a:r>
                  <a:rPr lang="de-DE" sz="2600" dirty="0"/>
                  <a:t> </a:t>
                </a:r>
                <a:r>
                  <a:rPr lang="de-DE" sz="2600" dirty="0" err="1"/>
                  <a:t>frequency</a:t>
                </a:r>
                <a:endParaRPr lang="de-DE" sz="26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47F923C-A548-8982-8790-580733C2DA7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5856775" cy="4351338"/>
              </a:xfrm>
              <a:blipFill>
                <a:blip r:embed="rId2"/>
                <a:stretch>
                  <a:fillRect l="-1948" t="-203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A8F9FC-CDB0-CDC7-A913-124CC9522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39741-2FC0-4C84-9528-80AA7942A7E5}" type="slidenum">
              <a:rPr lang="en-GB" smtClean="0"/>
              <a:t>10</a:t>
            </a:fld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D61AFFE-F774-D983-3686-F1CC5EBCAB91}"/>
                  </a:ext>
                </a:extLst>
              </p:cNvPr>
              <p:cNvSpPr txBox="1"/>
              <p:nvPr/>
            </p:nvSpPr>
            <p:spPr>
              <a:xfrm>
                <a:off x="8610600" y="1766583"/>
                <a:ext cx="897467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lin"/>
                          <m:ctrlPr>
                            <a:rPr lang="en-GB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GB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GB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max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GB" sz="22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D61AFFE-F774-D983-3686-F1CC5EBCAB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0600" y="1766583"/>
                <a:ext cx="897467" cy="430887"/>
              </a:xfrm>
              <a:prstGeom prst="rect">
                <a:avLst/>
              </a:prstGeom>
              <a:blipFill>
                <a:blip r:embed="rId3"/>
                <a:stretch>
                  <a:fillRect l="-29577" t="-126471" r="-8451" b="-19117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8A402A5-88F6-4F98-0FB4-B0F64A0E15EE}"/>
                  </a:ext>
                </a:extLst>
              </p:cNvPr>
              <p:cNvSpPr txBox="1"/>
              <p:nvPr/>
            </p:nvSpPr>
            <p:spPr>
              <a:xfrm>
                <a:off x="838200" y="5316553"/>
                <a:ext cx="5499100" cy="126117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n-GB" sz="2400" dirty="0"/>
                  <a:t>Digital images: no aliasing if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m:rPr>
                            <m:nor/>
                          </m:rPr>
                          <a:rPr lang="en-GB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max</m:t>
                        </m:r>
                      </m:sub>
                    </m:sSub>
                  </m:oMath>
                </a14:m>
                <a:r>
                  <a:rPr lang="en-GB" sz="2400" dirty="0"/>
                  <a:t>,</a:t>
                </a:r>
              </a:p>
              <a:p>
                <a:r>
                  <a:rPr lang="en-GB" sz="2400" dirty="0"/>
                  <a:t>with number of pixels </a:t>
                </a:r>
                <a14:m>
                  <m:oMath xmlns:m="http://schemas.openxmlformats.org/officeDocument/2006/math">
                    <m:r>
                      <a:rPr lang="en-GB" sz="240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endParaRPr lang="en-GB" sz="2400" dirty="0"/>
              </a:p>
              <a:p>
                <a:r>
                  <a:rPr lang="en-GB" dirty="0"/>
                  <a:t>(second dimension accordingly)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8A402A5-88F6-4F98-0FB4-B0F64A0E15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5316553"/>
                <a:ext cx="5499100" cy="1261179"/>
              </a:xfrm>
              <a:prstGeom prst="rect">
                <a:avLst/>
              </a:prstGeom>
              <a:blipFill>
                <a:blip r:embed="rId4"/>
                <a:stretch>
                  <a:fillRect l="-1609" b="-5941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feld 4">
                <a:extLst>
                  <a:ext uri="{FF2B5EF4-FFF2-40B4-BE49-F238E27FC236}">
                    <a16:creationId xmlns:a16="http://schemas.microsoft.com/office/drawing/2014/main" id="{E176C1AC-1849-EC2F-C549-968CCCE37DA0}"/>
                  </a:ext>
                </a:extLst>
              </p:cNvPr>
              <p:cNvSpPr txBox="1"/>
              <p:nvPr/>
            </p:nvSpPr>
            <p:spPr>
              <a:xfrm>
                <a:off x="10361762" y="3858438"/>
                <a:ext cx="1727130" cy="11263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de-DE" sz="2200" dirty="0"/>
                  <a:t>Aliasing </a:t>
                </a:r>
                <a:r>
                  <a:rPr lang="de-DE" sz="2200" dirty="0" err="1"/>
                  <a:t>for</a:t>
                </a:r>
                <a:r>
                  <a:rPr lang="de-DE" sz="2200" dirty="0"/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de-DE" sz="2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2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de-DE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22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de-DE" sz="220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sub>
                          </m:sSub>
                        </m:den>
                      </m:f>
                      <m:r>
                        <a:rPr lang="de-DE" sz="2200" b="0" i="1" smtClean="0">
                          <a:latin typeface="Cambria Math" panose="02040503050406030204" pitchFamily="18" charset="0"/>
                        </a:rPr>
                        <m:t>&lt;2</m:t>
                      </m:r>
                      <m:r>
                        <a:rPr lang="de-DE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de-DE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de-DE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22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de-DE" sz="22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de-DE" sz="22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Textfeld 4">
                <a:extLst>
                  <a:ext uri="{FF2B5EF4-FFF2-40B4-BE49-F238E27FC236}">
                    <a16:creationId xmlns:a16="http://schemas.microsoft.com/office/drawing/2014/main" id="{E176C1AC-1849-EC2F-C549-968CCCE37D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61762" y="3858438"/>
                <a:ext cx="1727130" cy="1126334"/>
              </a:xfrm>
              <a:prstGeom prst="rect">
                <a:avLst/>
              </a:prstGeom>
              <a:blipFill>
                <a:blip r:embed="rId5"/>
                <a:stretch>
                  <a:fillRect l="-5147" t="-3333" b="-66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Grafik 7">
            <a:extLst>
              <a:ext uri="{FF2B5EF4-FFF2-40B4-BE49-F238E27FC236}">
                <a16:creationId xmlns:a16="http://schemas.microsoft.com/office/drawing/2014/main" id="{9E47D6D7-58AA-A7B5-9E6D-9F73D9E8F36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47933" y="2486860"/>
            <a:ext cx="3125334" cy="4036027"/>
          </a:xfrm>
          <a:prstGeom prst="rect">
            <a:avLst/>
          </a:prstGeom>
        </p:spPr>
      </p:pic>
      <p:sp>
        <p:nvSpPr>
          <p:cNvPr id="13" name="Geschweifte Klammer rechts 12">
            <a:extLst>
              <a:ext uri="{FF2B5EF4-FFF2-40B4-BE49-F238E27FC236}">
                <a16:creationId xmlns:a16="http://schemas.microsoft.com/office/drawing/2014/main" id="{8FCD3738-0D69-935D-F255-C6D2CF781C22}"/>
              </a:ext>
            </a:extLst>
          </p:cNvPr>
          <p:cNvSpPr/>
          <p:nvPr/>
        </p:nvSpPr>
        <p:spPr>
          <a:xfrm rot="16200000">
            <a:off x="8756669" y="1931482"/>
            <a:ext cx="289394" cy="754782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Geschweifte Klammer rechts 14">
            <a:extLst>
              <a:ext uri="{FF2B5EF4-FFF2-40B4-BE49-F238E27FC236}">
                <a16:creationId xmlns:a16="http://schemas.microsoft.com/office/drawing/2014/main" id="{8273E3F7-BF3D-6E96-90F8-71F02480FDC2}"/>
              </a:ext>
            </a:extLst>
          </p:cNvPr>
          <p:cNvSpPr/>
          <p:nvPr/>
        </p:nvSpPr>
        <p:spPr>
          <a:xfrm rot="16200000">
            <a:off x="8539457" y="3847840"/>
            <a:ext cx="144697" cy="448378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8" name="Gerade Verbindung mit Pfeil 17">
            <a:extLst>
              <a:ext uri="{FF2B5EF4-FFF2-40B4-BE49-F238E27FC236}">
                <a16:creationId xmlns:a16="http://schemas.microsoft.com/office/drawing/2014/main" id="{9B24D523-39B7-36F3-7757-5BD430DDD8B7}"/>
              </a:ext>
            </a:extLst>
          </p:cNvPr>
          <p:cNvCxnSpPr>
            <a:cxnSpLocks/>
            <a:stCxn id="13" idx="1"/>
          </p:cNvCxnSpPr>
          <p:nvPr/>
        </p:nvCxnSpPr>
        <p:spPr>
          <a:xfrm flipH="1">
            <a:off x="8610600" y="2164176"/>
            <a:ext cx="290766" cy="18355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Geschweifte Klammer rechts 18">
            <a:extLst>
              <a:ext uri="{FF2B5EF4-FFF2-40B4-BE49-F238E27FC236}">
                <a16:creationId xmlns:a16="http://schemas.microsoft.com/office/drawing/2014/main" id="{07B63BF9-16EB-0C89-4BA2-BEE3FA742487}"/>
              </a:ext>
            </a:extLst>
          </p:cNvPr>
          <p:cNvSpPr/>
          <p:nvPr/>
        </p:nvSpPr>
        <p:spPr>
          <a:xfrm rot="16200000">
            <a:off x="7015413" y="2215945"/>
            <a:ext cx="322682" cy="219141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8">
                <a:extLst>
                  <a:ext uri="{FF2B5EF4-FFF2-40B4-BE49-F238E27FC236}">
                    <a16:creationId xmlns:a16="http://schemas.microsoft.com/office/drawing/2014/main" id="{65E637F5-1BC4-447E-0D83-E76413BCA59C}"/>
                  </a:ext>
                </a:extLst>
              </p:cNvPr>
              <p:cNvSpPr txBox="1"/>
              <p:nvPr/>
            </p:nvSpPr>
            <p:spPr>
              <a:xfrm>
                <a:off x="6837591" y="1733285"/>
                <a:ext cx="897467" cy="4402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lin"/>
                          <m:ctrlPr>
                            <a:rPr lang="en-GB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de-DE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24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de-DE" sz="24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GB" sz="2200" dirty="0"/>
              </a:p>
            </p:txBody>
          </p:sp>
        </mc:Choice>
        <mc:Fallback xmlns="">
          <p:sp>
            <p:nvSpPr>
              <p:cNvPr id="21" name="TextBox 8">
                <a:extLst>
                  <a:ext uri="{FF2B5EF4-FFF2-40B4-BE49-F238E27FC236}">
                    <a16:creationId xmlns:a16="http://schemas.microsoft.com/office/drawing/2014/main" id="{65E637F5-1BC4-447E-0D83-E76413BCA5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7591" y="1733285"/>
                <a:ext cx="897467" cy="440249"/>
              </a:xfrm>
              <a:prstGeom prst="rect">
                <a:avLst/>
              </a:prstGeom>
              <a:blipFill>
                <a:blip r:embed="rId7"/>
                <a:stretch>
                  <a:fillRect l="-19444" t="-116667" b="-1750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feld 23">
            <a:extLst>
              <a:ext uri="{FF2B5EF4-FFF2-40B4-BE49-F238E27FC236}">
                <a16:creationId xmlns:a16="http://schemas.microsoft.com/office/drawing/2014/main" id="{A41CB799-3375-4115-442A-E8E366C83174}"/>
              </a:ext>
            </a:extLst>
          </p:cNvPr>
          <p:cNvSpPr txBox="1"/>
          <p:nvPr/>
        </p:nvSpPr>
        <p:spPr>
          <a:xfrm>
            <a:off x="2461660" y="3367173"/>
            <a:ext cx="20044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 err="1">
                <a:sym typeface="Wingdings" pitchFamily="2" charset="2"/>
              </a:rPr>
              <a:t>Nyquist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frequency</a:t>
            </a:r>
            <a:endParaRPr lang="de-DE" dirty="0"/>
          </a:p>
        </p:txBody>
      </p:sp>
      <p:sp>
        <p:nvSpPr>
          <p:cNvPr id="25" name="Geschweifte Klammer rechts 24">
            <a:extLst>
              <a:ext uri="{FF2B5EF4-FFF2-40B4-BE49-F238E27FC236}">
                <a16:creationId xmlns:a16="http://schemas.microsoft.com/office/drawing/2014/main" id="{C880C01D-740D-51E7-F5CB-E7A73F2C4662}"/>
              </a:ext>
            </a:extLst>
          </p:cNvPr>
          <p:cNvSpPr/>
          <p:nvPr/>
        </p:nvSpPr>
        <p:spPr>
          <a:xfrm rot="5400000">
            <a:off x="2772629" y="2838336"/>
            <a:ext cx="304495" cy="791679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846930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2028F58-516B-15F4-5B86-734255C85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Anti-Aliasing Filter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D97DBC9-5210-B4E9-34B9-C7192026AD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/>
              <a:t>Solution: </a:t>
            </a:r>
            <a:r>
              <a:rPr lang="de-DE" dirty="0" err="1"/>
              <a:t>use</a:t>
            </a:r>
            <a:r>
              <a:rPr lang="de-DE" dirty="0"/>
              <a:t> a </a:t>
            </a:r>
            <a:r>
              <a:rPr lang="de-DE" dirty="0" err="1"/>
              <a:t>low</a:t>
            </a:r>
            <a:r>
              <a:rPr lang="de-DE" dirty="0"/>
              <a:t>-pass </a:t>
            </a:r>
            <a:r>
              <a:rPr lang="de-DE" dirty="0" err="1"/>
              <a:t>filter</a:t>
            </a:r>
            <a:r>
              <a:rPr lang="de-DE" dirty="0"/>
              <a:t> (</a:t>
            </a:r>
            <a:r>
              <a:rPr lang="de-DE" dirty="0" err="1"/>
              <a:t>smoothing</a:t>
            </a:r>
            <a:r>
              <a:rPr lang="de-DE" dirty="0"/>
              <a:t>) </a:t>
            </a:r>
            <a:r>
              <a:rPr lang="de-DE" dirty="0" err="1"/>
              <a:t>before</a:t>
            </a:r>
            <a:r>
              <a:rPr lang="de-DE" dirty="0"/>
              <a:t> </a:t>
            </a:r>
            <a:r>
              <a:rPr lang="de-DE" dirty="0" err="1"/>
              <a:t>sampling</a:t>
            </a:r>
            <a:endParaRPr lang="de-DE" dirty="0"/>
          </a:p>
          <a:p>
            <a:pPr marL="0" indent="0">
              <a:buNone/>
            </a:pPr>
            <a:r>
              <a:rPr lang="de-DE" dirty="0">
                <a:sym typeface="Wingdings" pitchFamily="2" charset="2"/>
              </a:rPr>
              <a:t> </a:t>
            </a:r>
            <a:r>
              <a:rPr lang="de-DE" dirty="0" err="1">
                <a:sym typeface="Wingdings" pitchFamily="2" charset="2"/>
              </a:rPr>
              <a:t>remove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signal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frequencies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above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Nyquist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frequency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9F73092-F3E4-B46E-D83B-903FE4BC5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11</a:t>
            </a:fld>
            <a:endParaRPr lang="en-GB"/>
          </a:p>
        </p:txBody>
      </p:sp>
      <p:pic>
        <p:nvPicPr>
          <p:cNvPr id="5" name="Picture 5" descr="A black and white checkered surface&#10;&#10;Description automatically generated">
            <a:extLst>
              <a:ext uri="{FF2B5EF4-FFF2-40B4-BE49-F238E27FC236}">
                <a16:creationId xmlns:a16="http://schemas.microsoft.com/office/drawing/2014/main" id="{E358579F-8E79-FB43-AE49-241B26F1DE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171278"/>
            <a:ext cx="8348241" cy="3381070"/>
          </a:xfrm>
          <a:prstGeom prst="rect">
            <a:avLst/>
          </a:prstGeom>
        </p:spPr>
      </p:pic>
      <p:sp>
        <p:nvSpPr>
          <p:cNvPr id="6" name="TextBox 6">
            <a:extLst>
              <a:ext uri="{FF2B5EF4-FFF2-40B4-BE49-F238E27FC236}">
                <a16:creationId xmlns:a16="http://schemas.microsoft.com/office/drawing/2014/main" id="{FCBC3B24-2808-754B-939F-C0137ADCDC02}"/>
              </a:ext>
            </a:extLst>
          </p:cNvPr>
          <p:cNvSpPr txBox="1"/>
          <p:nvPr/>
        </p:nvSpPr>
        <p:spPr>
          <a:xfrm>
            <a:off x="9186441" y="4026409"/>
            <a:ext cx="216735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200" dirty="0"/>
              <a:t>average of black and white</a:t>
            </a:r>
            <a:endParaRPr lang="en-GB" sz="2200" dirty="0"/>
          </a:p>
        </p:txBody>
      </p:sp>
    </p:spTree>
    <p:extLst>
      <p:ext uri="{BB962C8B-B14F-4D97-AF65-F5344CB8AC3E}">
        <p14:creationId xmlns:p14="http://schemas.microsoft.com/office/powerpoint/2010/main" val="1733227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541EB34-91F7-7AA8-187C-D2604A3480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Zero-Order Hold (ZOH)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49E8EFF3-CC02-00AB-EB73-26424F6867D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5829098" cy="4351338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de-DE" sz="2400" dirty="0"/>
                  <a:t>Holds </a:t>
                </a:r>
                <a:r>
                  <a:rPr lang="de-DE" sz="2400" dirty="0" err="1"/>
                  <a:t>input</a:t>
                </a:r>
                <a:r>
                  <a:rPr lang="de-DE" sz="2400" dirty="0"/>
                  <a:t> </a:t>
                </a:r>
                <a:r>
                  <a:rPr lang="de-DE" sz="2400" dirty="0" err="1"/>
                  <a:t>constant</a:t>
                </a:r>
                <a:r>
                  <a:rPr lang="de-DE" sz="2400" dirty="0"/>
                  <a:t> </a:t>
                </a:r>
                <a:r>
                  <a:rPr lang="de-DE" sz="2400" dirty="0" err="1"/>
                  <a:t>between</a:t>
                </a:r>
                <a:r>
                  <a:rPr lang="de-DE" sz="2400" dirty="0"/>
                  <a:t> </a:t>
                </a:r>
                <a:r>
                  <a:rPr lang="de-DE" sz="2400" dirty="0" err="1"/>
                  <a:t>samples</a:t>
                </a:r>
                <a:endParaRPr lang="de-DE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de-DE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begChr m:val="["/>
                          <m:endChr m:val="]"/>
                          <m:ctrlPr>
                            <a:rPr lang="de-DE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de-DE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∈[</m:t>
                      </m:r>
                      <m:r>
                        <a:rPr lang="de-DE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𝑘𝑇</m:t>
                      </m:r>
                      <m:r>
                        <a:rPr lang="de-DE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d>
                        <m:dPr>
                          <m:ctrlPr>
                            <a:rPr lang="de-DE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de-DE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de-DE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𝑇</m:t>
                      </m:r>
                      <m:r>
                        <a:rPr lang="de-DE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de-DE" sz="2400" dirty="0"/>
              </a:p>
              <a:p>
                <a:pPr marL="0" indent="0">
                  <a:buNone/>
                </a:pPr>
                <a:endParaRPr lang="de-DE" sz="2400" dirty="0"/>
              </a:p>
              <a:p>
                <a:pPr marL="0" indent="0">
                  <a:buNone/>
                </a:pPr>
                <a:r>
                  <a:rPr lang="de-DE" sz="2400" dirty="0"/>
                  <a:t>Real </a:t>
                </a:r>
                <a:r>
                  <a:rPr lang="de-DE" sz="2400" dirty="0" err="1"/>
                  <a:t>actuators</a:t>
                </a:r>
                <a:r>
                  <a:rPr lang="de-DE" sz="2400" dirty="0"/>
                  <a:t> </a:t>
                </a:r>
                <a:r>
                  <a:rPr lang="de-DE" sz="2400" dirty="0" err="1"/>
                  <a:t>receive</a:t>
                </a:r>
                <a:r>
                  <a:rPr lang="de-DE" sz="2400" dirty="0"/>
                  <a:t> </a:t>
                </a:r>
                <a:r>
                  <a:rPr lang="de-DE" sz="2400" dirty="0" err="1"/>
                  <a:t>continuous</a:t>
                </a:r>
                <a:r>
                  <a:rPr lang="de-DE" sz="2400" dirty="0"/>
                  <a:t> </a:t>
                </a:r>
                <a:r>
                  <a:rPr lang="de-DE" sz="2400" dirty="0" err="1"/>
                  <a:t>signals</a:t>
                </a:r>
                <a:endParaRPr lang="de-DE" sz="2400" dirty="0"/>
              </a:p>
              <a:p>
                <a:pPr marL="0" indent="0">
                  <a:buNone/>
                </a:pPr>
                <a:r>
                  <a:rPr lang="de-DE" sz="2400" dirty="0">
                    <a:sym typeface="Wingdings" pitchFamily="2" charset="2"/>
                  </a:rPr>
                  <a:t> d</a:t>
                </a:r>
                <a:r>
                  <a:rPr lang="de-DE" sz="2400" dirty="0"/>
                  <a:t>igital </a:t>
                </a:r>
                <a:r>
                  <a:rPr lang="de-DE" sz="2400" dirty="0" err="1"/>
                  <a:t>output</a:t>
                </a:r>
                <a:r>
                  <a:rPr lang="de-DE" sz="2400" dirty="0"/>
                  <a:t> </a:t>
                </a:r>
                <a:r>
                  <a:rPr lang="de-DE" sz="2400" dirty="0" err="1"/>
                  <a:t>must</a:t>
                </a:r>
                <a:r>
                  <a:rPr lang="de-DE" sz="2400" dirty="0"/>
                  <a:t> </a:t>
                </a:r>
                <a:r>
                  <a:rPr lang="de-DE" sz="2400" dirty="0" err="1"/>
                  <a:t>be</a:t>
                </a:r>
                <a:r>
                  <a:rPr lang="de-DE" sz="2400" dirty="0"/>
                  <a:t> </a:t>
                </a:r>
                <a:r>
                  <a:rPr lang="de-DE" sz="2400" dirty="0" err="1"/>
                  <a:t>converted</a:t>
                </a:r>
                <a:endParaRPr lang="de-DE" sz="2400" dirty="0"/>
              </a:p>
              <a:p>
                <a:pPr marL="0" indent="0">
                  <a:buNone/>
                </a:pPr>
                <a:r>
                  <a:rPr lang="de-DE" sz="2400" dirty="0"/>
                  <a:t>ZOH </a:t>
                </a:r>
                <a:r>
                  <a:rPr lang="de-DE" sz="2400" dirty="0" err="1"/>
                  <a:t>models</a:t>
                </a:r>
                <a:r>
                  <a:rPr lang="de-DE" sz="2400" dirty="0"/>
                  <a:t> Digital-</a:t>
                </a:r>
                <a:r>
                  <a:rPr lang="de-DE" sz="2400" dirty="0" err="1"/>
                  <a:t>to</a:t>
                </a:r>
                <a:r>
                  <a:rPr lang="de-DE" sz="2400" dirty="0"/>
                  <a:t>-Analog Converter (DAC) </a:t>
                </a:r>
                <a:r>
                  <a:rPr lang="de-DE" sz="2400" dirty="0" err="1"/>
                  <a:t>behavior</a:t>
                </a:r>
                <a:endParaRPr lang="de-DE" sz="2400" dirty="0"/>
              </a:p>
              <a:p>
                <a:pPr marL="0" indent="0">
                  <a:buNone/>
                </a:pPr>
                <a:endParaRPr lang="de-DE" sz="2400" dirty="0"/>
              </a:p>
              <a:p>
                <a:pPr marL="0" indent="0">
                  <a:buNone/>
                </a:pPr>
                <a:r>
                  <a:rPr lang="de-DE" sz="2400" dirty="0"/>
                  <a:t>ZOH </a:t>
                </a:r>
                <a:r>
                  <a:rPr lang="de-DE" sz="2400" dirty="0" err="1"/>
                  <a:t>introduces</a:t>
                </a:r>
                <a:r>
                  <a:rPr lang="de-DE" sz="2400" dirty="0"/>
                  <a:t>:</a:t>
                </a:r>
              </a:p>
              <a:p>
                <a:r>
                  <a:rPr lang="de-DE" sz="2400" dirty="0"/>
                  <a:t>Delay</a:t>
                </a:r>
              </a:p>
              <a:p>
                <a:r>
                  <a:rPr lang="de-DE" sz="2400" dirty="0"/>
                  <a:t>Approximation </a:t>
                </a:r>
                <a:r>
                  <a:rPr lang="de-DE" sz="2400" dirty="0" err="1"/>
                  <a:t>error</a:t>
                </a:r>
                <a:endParaRPr lang="de-DE" sz="2400" dirty="0"/>
              </a:p>
            </p:txBody>
          </p:sp>
        </mc:Choice>
        <mc:Fallback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49E8EFF3-CC02-00AB-EB73-26424F6867D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5829098" cy="4351338"/>
              </a:xfrm>
              <a:blipFill>
                <a:blip r:embed="rId2"/>
                <a:stretch>
                  <a:fillRect l="-1739" t="-2035" b="-1191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9466D5C-63DE-4B7F-96EA-005E8F82C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12</a:t>
            </a:fld>
            <a:endParaRPr lang="en-GB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9AB56C75-E433-AEF0-7527-91F3DB278F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7298" y="1825625"/>
            <a:ext cx="5430876" cy="31099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937379CA-4263-A0F9-70BC-4725DDD80B3F}"/>
              </a:ext>
            </a:extLst>
          </p:cNvPr>
          <p:cNvSpPr txBox="1"/>
          <p:nvPr/>
        </p:nvSpPr>
        <p:spPr>
          <a:xfrm>
            <a:off x="7579241" y="5415149"/>
            <a:ext cx="37745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/>
              <a:t>Signals </a:t>
            </a:r>
            <a:r>
              <a:rPr lang="de-DE" sz="2400" dirty="0" err="1"/>
              <a:t>are</a:t>
            </a:r>
            <a:r>
              <a:rPr lang="de-DE" sz="2400" dirty="0"/>
              <a:t> </a:t>
            </a:r>
            <a:r>
              <a:rPr lang="de-DE" sz="2400" dirty="0" err="1"/>
              <a:t>now</a:t>
            </a:r>
            <a:r>
              <a:rPr lang="de-DE" sz="2400" dirty="0"/>
              <a:t> </a:t>
            </a:r>
            <a:r>
              <a:rPr lang="de-DE" sz="2400" dirty="0" err="1"/>
              <a:t>sequences</a:t>
            </a:r>
            <a:endParaRPr lang="de-DE" sz="2400" dirty="0"/>
          </a:p>
        </p:txBody>
      </p:sp>
    </p:spTree>
    <p:extLst>
      <p:ext uri="{BB962C8B-B14F-4D97-AF65-F5344CB8AC3E}">
        <p14:creationId xmlns:p14="http://schemas.microsoft.com/office/powerpoint/2010/main" val="10658096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8790550-A78E-E662-C286-0A4703645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From</a:t>
            </a:r>
            <a:r>
              <a:rPr lang="de-DE" dirty="0"/>
              <a:t> Differential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Difference</a:t>
            </a:r>
            <a:r>
              <a:rPr lang="de-DE" dirty="0"/>
              <a:t> </a:t>
            </a:r>
            <a:r>
              <a:rPr lang="de-DE" dirty="0" err="1"/>
              <a:t>Equations</a:t>
            </a:r>
            <a:endParaRPr lang="de-DE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F3C6EA2B-2FFC-A758-76FA-03DAE99A40F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de-DE" dirty="0"/>
                  <a:t>Continuous-time </a:t>
                </a:r>
                <a:r>
                  <a:rPr lang="de-DE" dirty="0" err="1"/>
                  <a:t>systems</a:t>
                </a:r>
                <a:r>
                  <a:rPr lang="de-DE" dirty="0"/>
                  <a:t>: differential </a:t>
                </a:r>
                <a:r>
                  <a:rPr lang="de-DE" dirty="0" err="1"/>
                  <a:t>equations</a:t>
                </a:r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r>
                  <a:rPr lang="de-DE" dirty="0" err="1"/>
                  <a:t>Discrete</a:t>
                </a:r>
                <a:r>
                  <a:rPr lang="de-DE" dirty="0"/>
                  <a:t>-time </a:t>
                </a:r>
                <a:r>
                  <a:rPr lang="de-DE" dirty="0" err="1"/>
                  <a:t>systems</a:t>
                </a:r>
                <a:r>
                  <a:rPr lang="de-DE" dirty="0"/>
                  <a:t> (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𝑘𝑇</m:t>
                    </m:r>
                  </m:oMath>
                </a14:m>
                <a:r>
                  <a:rPr lang="de-DE" dirty="0"/>
                  <a:t>): </a:t>
                </a:r>
                <a:r>
                  <a:rPr lang="de-DE" dirty="0" err="1"/>
                  <a:t>difference</a:t>
                </a:r>
                <a:r>
                  <a:rPr lang="de-DE" dirty="0"/>
                  <a:t> </a:t>
                </a:r>
                <a:r>
                  <a:rPr lang="de-DE" dirty="0" err="1"/>
                  <a:t>equations</a:t>
                </a:r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r>
                  <a:rPr lang="de-DE" dirty="0"/>
                  <a:t>Sampling a </a:t>
                </a:r>
                <a:r>
                  <a:rPr lang="de-DE" dirty="0" err="1"/>
                  <a:t>continuous</a:t>
                </a:r>
                <a:r>
                  <a:rPr lang="de-DE" dirty="0"/>
                  <a:t>-time </a:t>
                </a:r>
                <a:r>
                  <a:rPr lang="de-DE" dirty="0" err="1"/>
                  <a:t>system</a:t>
                </a:r>
                <a:r>
                  <a:rPr lang="de-DE" dirty="0"/>
                  <a:t> </a:t>
                </a:r>
                <a:r>
                  <a:rPr lang="de-DE" dirty="0" err="1"/>
                  <a:t>leads</a:t>
                </a:r>
                <a:r>
                  <a:rPr lang="de-DE" dirty="0"/>
                  <a:t> </a:t>
                </a:r>
                <a:r>
                  <a:rPr lang="de-DE" dirty="0" err="1"/>
                  <a:t>to</a:t>
                </a:r>
                <a:r>
                  <a:rPr lang="de-DE" dirty="0"/>
                  <a:t> a </a:t>
                </a:r>
                <a:r>
                  <a:rPr lang="de-DE" dirty="0" err="1"/>
                  <a:t>difference</a:t>
                </a:r>
                <a:r>
                  <a:rPr lang="de-DE" dirty="0"/>
                  <a:t> </a:t>
                </a:r>
                <a:r>
                  <a:rPr lang="de-DE" dirty="0" err="1"/>
                  <a:t>equation</a:t>
                </a:r>
                <a:r>
                  <a:rPr lang="de-DE" dirty="0"/>
                  <a:t>:</a:t>
                </a:r>
              </a:p>
              <a:p>
                <a:r>
                  <a:rPr lang="de-DE" dirty="0"/>
                  <a:t>Start </a:t>
                </a:r>
                <a:r>
                  <a:rPr lang="de-DE" dirty="0" err="1"/>
                  <a:t>with</a:t>
                </a:r>
                <a:r>
                  <a:rPr lang="de-DE" dirty="0"/>
                  <a:t> differential </a:t>
                </a:r>
                <a:r>
                  <a:rPr lang="de-DE" dirty="0" err="1"/>
                  <a:t>equation</a:t>
                </a:r>
                <a:endParaRPr lang="de-DE" dirty="0"/>
              </a:p>
              <a:p>
                <a:r>
                  <a:rPr lang="de-DE" dirty="0" err="1"/>
                  <a:t>Solve</a:t>
                </a:r>
                <a:r>
                  <a:rPr lang="de-DE" dirty="0"/>
                  <a:t> </a:t>
                </a:r>
                <a:r>
                  <a:rPr lang="de-DE" dirty="0" err="1"/>
                  <a:t>over</a:t>
                </a:r>
                <a:r>
                  <a:rPr lang="de-DE" dirty="0"/>
                  <a:t> </a:t>
                </a:r>
                <a:r>
                  <a:rPr lang="de-DE" dirty="0" err="1"/>
                  <a:t>one</a:t>
                </a:r>
                <a:r>
                  <a:rPr lang="de-DE" dirty="0"/>
                  <a:t> </a:t>
                </a:r>
                <a:r>
                  <a:rPr lang="de-DE" dirty="0" err="1"/>
                  <a:t>sampling</a:t>
                </a:r>
                <a:r>
                  <a:rPr lang="de-DE" dirty="0"/>
                  <a:t> </a:t>
                </a:r>
                <a:r>
                  <a:rPr lang="de-DE" dirty="0" err="1"/>
                  <a:t>interval</a:t>
                </a:r>
                <a:endParaRPr lang="de-DE" dirty="0"/>
              </a:p>
              <a:p>
                <a:r>
                  <a:rPr lang="de-DE" dirty="0" err="1"/>
                  <a:t>Evaluate</a:t>
                </a:r>
                <a:r>
                  <a:rPr lang="de-DE" dirty="0"/>
                  <a:t> at </a:t>
                </a:r>
                <a:r>
                  <a:rPr lang="de-DE" dirty="0" err="1"/>
                  <a:t>next</a:t>
                </a:r>
                <a:r>
                  <a:rPr lang="de-DE" dirty="0"/>
                  <a:t> sample</a:t>
                </a:r>
              </a:p>
            </p:txBody>
          </p:sp>
        </mc:Choice>
        <mc:Fallback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F3C6EA2B-2FFC-A758-76FA-03DAE99A40F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057A029-C8C9-21BF-B915-36D436FD5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46510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F71765F-089D-FEEB-61CF-394A971E55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Example</a:t>
            </a:r>
            <a:r>
              <a:rPr lang="de-DE" dirty="0"/>
              <a:t>: First-Order System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1C1B609B-4CC0-3084-F0AC-71B8E882E3C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de-DE" dirty="0"/>
                  <a:t>	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d>
                      <m:d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de-DE" i="1">
                        <a:latin typeface="Cambria Math" panose="02040503050406030204" pitchFamily="18" charset="0"/>
                      </a:rPr>
                      <m:t>=−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de-DE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de-DE" dirty="0"/>
                  <a:t>     with initial </a:t>
                </a:r>
                <a:r>
                  <a:rPr lang="de-DE" dirty="0" err="1"/>
                  <a:t>condition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(0)</m:t>
                    </m:r>
                  </m:oMath>
                </a14:m>
                <a:endParaRPr lang="de-DE" dirty="0"/>
              </a:p>
              <a:p>
                <a:pPr marL="0" indent="0">
                  <a:buNone/>
                </a:pPr>
                <a:r>
                  <a:rPr lang="de-DE" dirty="0"/>
                  <a:t>Constant </a:t>
                </a:r>
                <a:r>
                  <a:rPr lang="de-DE" dirty="0" err="1"/>
                  <a:t>input</a:t>
                </a:r>
                <a:r>
                  <a:rPr lang="de-DE" dirty="0"/>
                  <a:t>  (ZOH):</a:t>
                </a:r>
              </a:p>
              <a:p>
                <a:pPr marL="0" indent="0">
                  <a:buNone/>
                </a:pPr>
                <a:r>
                  <a:rPr lang="de-DE" dirty="0"/>
                  <a:t>	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d>
                      <m:d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de-DE" i="1">
                        <a:latin typeface="Cambria Math" panose="02040503050406030204" pitchFamily="18" charset="0"/>
                      </a:rPr>
                      <m:t>=−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de-DE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begChr m:val="["/>
                        <m:endChr m:val="]"/>
                        <m:ctrlPr>
                          <a:rPr lang="de-DE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endParaRPr lang="de-DE" dirty="0"/>
              </a:p>
              <a:p>
                <a:pPr marL="0" indent="0">
                  <a:buNone/>
                </a:pPr>
                <a:r>
                  <a:rPr lang="de-DE" dirty="0" err="1"/>
                  <a:t>Homogenous</a:t>
                </a:r>
                <a:r>
                  <a:rPr lang="de-DE" dirty="0"/>
                  <a:t> </a:t>
                </a:r>
                <a:r>
                  <a:rPr lang="de-DE" dirty="0" err="1"/>
                  <a:t>solution</a:t>
                </a:r>
                <a:r>
                  <a:rPr lang="de-DE" dirty="0"/>
                  <a:t>: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d>
                      <m:d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de-DE" i="1">
                        <a:latin typeface="Cambria Math" panose="02040503050406030204" pitchFamily="18" charset="0"/>
                      </a:rPr>
                      <m:t>=−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endParaRPr lang="de-DE" dirty="0"/>
              </a:p>
              <a:p>
                <a:pPr marL="0" indent="0">
                  <a:buNone/>
                </a:pPr>
                <a:r>
                  <a:rPr lang="de-DE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de-DE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)=</m:t>
                    </m:r>
                    <m:sSup>
                      <m:sSup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de-DE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endParaRPr lang="de-DE" dirty="0"/>
              </a:p>
              <a:p>
                <a:pPr marL="0" indent="0">
                  <a:buNone/>
                </a:pPr>
                <a:r>
                  <a:rPr lang="de-DE" dirty="0" err="1"/>
                  <a:t>Particular</a:t>
                </a:r>
                <a:r>
                  <a:rPr lang="de-DE" dirty="0"/>
                  <a:t> </a:t>
                </a:r>
                <a:r>
                  <a:rPr lang="de-DE" dirty="0" err="1"/>
                  <a:t>solution</a:t>
                </a:r>
                <a:r>
                  <a:rPr lang="de-DE" dirty="0"/>
                  <a:t>: </a:t>
                </a:r>
                <a:r>
                  <a:rPr lang="de-DE" dirty="0" err="1"/>
                  <a:t>try</a:t>
                </a:r>
                <a:r>
                  <a:rPr lang="de-DE" dirty="0"/>
                  <a:t> </a:t>
                </a:r>
                <a:r>
                  <a:rPr lang="de-DE" dirty="0" err="1"/>
                  <a:t>constant</a:t>
                </a:r>
                <a:r>
                  <a:rPr lang="de-DE" dirty="0"/>
                  <a:t> </a:t>
                </a:r>
                <a:r>
                  <a:rPr lang="de-DE" dirty="0" err="1"/>
                  <a:t>solution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de-DE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)=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de-DE" dirty="0"/>
                  <a:t> (</a:t>
                </a:r>
                <a:r>
                  <a:rPr lang="de-DE" dirty="0" err="1"/>
                  <a:t>constant</a:t>
                </a:r>
                <a:r>
                  <a:rPr lang="de-DE" dirty="0"/>
                  <a:t> </a:t>
                </a:r>
                <a:r>
                  <a:rPr lang="de-DE" dirty="0" err="1"/>
                  <a:t>input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begChr m:val="["/>
                        <m:endChr m:val="]"/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r>
                  <a:rPr lang="de-DE" dirty="0"/>
                  <a:t>)</a:t>
                </a:r>
              </a:p>
              <a:p>
                <a:pPr marL="0" indent="0">
                  <a:buNone/>
                </a:pPr>
                <a:r>
                  <a:rPr lang="de-DE" b="0" dirty="0"/>
                  <a:t>	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0=−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begChr m:val="["/>
                        <m:endChr m:val="]"/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r>
                  <a:rPr lang="de-DE" dirty="0"/>
                  <a:t>	</a:t>
                </a:r>
                <a:r>
                  <a:rPr lang="de-DE" dirty="0">
                    <a:sym typeface="Wingdings" pitchFamily="2" charset="2"/>
                  </a:rPr>
                  <a:t>	</a:t>
                </a:r>
                <a14:m>
                  <m:oMath xmlns:m="http://schemas.openxmlformats.org/officeDocument/2006/math">
                    <m:r>
                      <a:rPr lang="de-DE" b="0" i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de-DE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de-DE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)=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begChr m:val="["/>
                        <m:endChr m:val="]"/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endParaRPr lang="de-DE" dirty="0"/>
              </a:p>
              <a:p>
                <a:pPr marL="0" indent="0">
                  <a:buNone/>
                </a:pPr>
                <a:r>
                  <a:rPr lang="de-DE" dirty="0"/>
                  <a:t>General </a:t>
                </a:r>
                <a:r>
                  <a:rPr lang="de-DE" dirty="0" err="1"/>
                  <a:t>solution</a:t>
                </a:r>
                <a:r>
                  <a:rPr lang="de-DE" dirty="0"/>
                  <a:t>: </a:t>
                </a:r>
              </a:p>
              <a:p>
                <a:pPr marL="0" indent="0">
                  <a:buNone/>
                </a:pPr>
                <a:r>
                  <a:rPr lang="de-DE" dirty="0"/>
                  <a:t>	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de-DE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d>
                      <m:d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de-DE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d>
                      <m:d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de-DE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de-DE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de-DE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begChr m:val="["/>
                        <m:endChr m:val="]"/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endParaRPr lang="de-DE" dirty="0"/>
              </a:p>
            </p:txBody>
          </p:sp>
        </mc:Choice>
        <mc:Fallback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1C1B609B-4CC0-3084-F0AC-71B8E882E3C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61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577DBE6-AC22-1207-7959-601A742F8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95926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49AB735E-50BB-DEE3-8824-3FBD347866C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577515"/>
                <a:ext cx="10515600" cy="5599447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de-DE" sz="2600" dirty="0"/>
                  <a:t>Initial </a:t>
                </a:r>
                <a:r>
                  <a:rPr lang="de-DE" sz="2600" dirty="0" err="1"/>
                  <a:t>condition</a:t>
                </a:r>
                <a:r>
                  <a:rPr lang="de-DE" sz="2600" dirty="0"/>
                  <a:t>: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de-DE" sz="2600" b="0" i="1" smtClean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de-DE" sz="2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de-DE" sz="2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sz="2600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de-DE" sz="26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de-DE" sz="2600" i="1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begChr m:val="["/>
                        <m:endChr m:val="]"/>
                        <m:ctrlPr>
                          <a:rPr lang="de-DE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6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r>
                  <a:rPr lang="de-DE" sz="2600" dirty="0"/>
                  <a:t>	</a:t>
                </a:r>
                <a:r>
                  <a:rPr lang="de-DE" sz="2600" dirty="0">
                    <a:sym typeface="Wingdings" pitchFamily="2" charset="2"/>
                  </a:rPr>
                  <a:t>	</a:t>
                </a:r>
                <a14:m>
                  <m:oMath xmlns:m="http://schemas.openxmlformats.org/officeDocument/2006/math">
                    <m:r>
                      <a:rPr lang="de-DE" sz="2600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𝐶</m:t>
                    </m:r>
                    <m:r>
                      <a:rPr lang="de-DE" sz="2600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=</m:t>
                    </m:r>
                    <m:r>
                      <a:rPr lang="de-DE" sz="2600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𝑦</m:t>
                    </m:r>
                    <m:d>
                      <m:dPr>
                        <m:ctrlPr>
                          <a:rPr lang="de-DE" sz="26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dPr>
                      <m:e>
                        <m:r>
                          <a:rPr lang="de-DE" sz="26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0</m:t>
                        </m:r>
                      </m:e>
                    </m:d>
                    <m:r>
                      <a:rPr lang="de-DE" sz="2600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−</m:t>
                    </m:r>
                    <m:r>
                      <a:rPr lang="de-DE" sz="2600" i="1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begChr m:val="["/>
                        <m:endChr m:val="]"/>
                        <m:ctrlPr>
                          <a:rPr lang="de-DE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6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endParaRPr lang="de-DE" sz="2600" dirty="0"/>
              </a:p>
              <a:p>
                <a:pPr marL="0" indent="0">
                  <a:buNone/>
                </a:pPr>
                <a:endParaRPr lang="de-DE" sz="2600" dirty="0"/>
              </a:p>
              <a:p>
                <a:pPr marL="0" indent="0">
                  <a:buNone/>
                </a:pPr>
                <a:r>
                  <a:rPr lang="de-DE" sz="2600" dirty="0">
                    <a:sym typeface="Wingdings" pitchFamily="2" charset="2"/>
                  </a:rPr>
                  <a:t></a:t>
                </a:r>
                <a:r>
                  <a:rPr lang="de-DE" sz="2600" dirty="0"/>
                  <a:t>	</a:t>
                </a:r>
                <a14:m>
                  <m:oMath xmlns:m="http://schemas.openxmlformats.org/officeDocument/2006/math">
                    <m:r>
                      <a:rPr lang="de-DE" sz="26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de-DE" sz="26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de-DE" sz="26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de-DE" sz="2600" i="1">
                        <a:latin typeface="Cambria Math" panose="02040503050406030204" pitchFamily="18" charset="0"/>
                      </a:rPr>
                      <m:t>)=</m:t>
                    </m:r>
                    <m:d>
                      <m:dPr>
                        <m:ctrlPr>
                          <a:rPr lang="de-DE" sz="26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600" i="1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𝑦</m:t>
                        </m:r>
                        <m:d>
                          <m:dPr>
                            <m:ctrlPr>
                              <a:rPr lang="de-DE" sz="2600" i="1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</m:ctrlPr>
                          </m:dPr>
                          <m:e>
                            <m:r>
                              <a:rPr lang="de-DE" sz="2600" i="1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0</m:t>
                            </m:r>
                          </m:e>
                        </m:d>
                        <m:r>
                          <a:rPr lang="de-DE" sz="2600" i="1">
                            <a:latin typeface="Cambria Math" panose="02040503050406030204" pitchFamily="18" charset="0"/>
                            <a:sym typeface="Wingdings" pitchFamily="2" charset="2"/>
                          </a:rPr>
                          <m:t>−</m:t>
                        </m:r>
                        <m:r>
                          <a:rPr lang="de-DE" sz="2600" i="1">
                            <a:latin typeface="Cambria Math" panose="02040503050406030204" pitchFamily="18" charset="0"/>
                          </a:rPr>
                          <m:t>𝑢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de-DE" sz="2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sz="26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e>
                    </m:d>
                    <m:sSup>
                      <m:sSupPr>
                        <m:ctrlPr>
                          <a:rPr lang="de-DE" sz="2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sz="26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de-DE" sz="26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de-DE" sz="2600" i="1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de-DE" sz="26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de-DE" sz="2600" i="1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begChr m:val="["/>
                        <m:endChr m:val="]"/>
                        <m:ctrlPr>
                          <a:rPr lang="de-DE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6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endParaRPr lang="de-DE" sz="2600" dirty="0"/>
              </a:p>
              <a:p>
                <a:pPr marL="0" indent="0">
                  <a:buNone/>
                </a:pPr>
                <a:endParaRPr lang="de-DE" sz="2600" dirty="0"/>
              </a:p>
              <a:p>
                <a:pPr marL="0" indent="0">
                  <a:buNone/>
                </a:pPr>
                <a:endParaRPr lang="de-DE" sz="2600" dirty="0"/>
              </a:p>
              <a:p>
                <a:pPr marL="0" indent="0">
                  <a:buNone/>
                </a:pPr>
                <a:r>
                  <a:rPr lang="de-DE" sz="2600" dirty="0">
                    <a:sym typeface="Wingdings" pitchFamily="2" charset="2"/>
                  </a:rPr>
                  <a:t></a:t>
                </a:r>
                <a:r>
                  <a:rPr lang="de-DE" sz="2600" dirty="0"/>
                  <a:t>	</a:t>
                </a:r>
                <a14:m>
                  <m:oMath xmlns:m="http://schemas.openxmlformats.org/officeDocument/2006/math">
                    <m:r>
                      <a:rPr lang="de-DE" sz="26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de-DE" sz="26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de-DE" sz="26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de-DE" sz="2600" i="1">
                        <a:latin typeface="Cambria Math" panose="02040503050406030204" pitchFamily="18" charset="0"/>
                      </a:rPr>
                      <m:t>)=</m:t>
                    </m:r>
                    <m:sSup>
                      <m:sSupPr>
                        <m:ctrlPr>
                          <a:rPr lang="de-DE" sz="2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sz="26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de-DE" sz="26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de-DE" sz="2600" i="1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de-DE" sz="26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de-DE" sz="2600" i="1">
                        <a:latin typeface="Cambria Math" panose="02040503050406030204" pitchFamily="18" charset="0"/>
                      </a:rPr>
                      <m:t>(0)+</m:t>
                    </m:r>
                    <m:d>
                      <m:dPr>
                        <m:ctrlPr>
                          <a:rPr lang="de-DE" sz="26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600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sSup>
                          <m:sSupPr>
                            <m:ctrlPr>
                              <a:rPr lang="de-DE" sz="2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sz="26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de-DE" sz="26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de-DE" sz="26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</m:e>
                    </m:d>
                    <m:r>
                      <a:rPr lang="de-DE" sz="2600" i="1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begChr m:val="["/>
                        <m:endChr m:val="]"/>
                        <m:ctrlPr>
                          <a:rPr lang="de-DE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6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endParaRPr lang="de-DE" sz="2600" dirty="0"/>
              </a:p>
              <a:p>
                <a:pPr marL="0" indent="0">
                  <a:buNone/>
                </a:pPr>
                <a:endParaRPr lang="de-DE" sz="2600" dirty="0"/>
              </a:p>
              <a:p>
                <a:pPr marL="0" indent="0">
                  <a:buNone/>
                </a:pPr>
                <a:r>
                  <a:rPr lang="de-DE" sz="2600" dirty="0"/>
                  <a:t>Sample at </a:t>
                </a:r>
                <a14:m>
                  <m:oMath xmlns:m="http://schemas.openxmlformats.org/officeDocument/2006/math">
                    <m:r>
                      <a:rPr lang="de-DE" sz="26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de-DE" sz="2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sz="2600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de-DE" sz="2600" dirty="0"/>
                  <a:t>:</a:t>
                </a:r>
              </a:p>
              <a:p>
                <a:pPr marL="0" indent="0">
                  <a:buNone/>
                </a:pPr>
                <a:r>
                  <a:rPr lang="de-DE" sz="2600" dirty="0"/>
                  <a:t>	</a:t>
                </a:r>
                <a14:m>
                  <m:oMath xmlns:m="http://schemas.openxmlformats.org/officeDocument/2006/math">
                    <m:r>
                      <a:rPr lang="de-DE" sz="26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de-DE" sz="2600" i="1">
                        <a:latin typeface="Cambria Math" panose="02040503050406030204" pitchFamily="18" charset="0"/>
                      </a:rPr>
                      <m:t>(</m:t>
                    </m:r>
                    <m:d>
                      <m:dPr>
                        <m:ctrlPr>
                          <a:rPr lang="de-DE" sz="26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6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de-DE" sz="26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de-DE" sz="26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de-DE" sz="2600" i="1">
                        <a:latin typeface="Cambria Math" panose="02040503050406030204" pitchFamily="18" charset="0"/>
                      </a:rPr>
                      <m:t>)=</m:t>
                    </m:r>
                    <m:sSup>
                      <m:sSupPr>
                        <m:ctrlPr>
                          <a:rPr lang="de-DE" sz="2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sz="26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de-DE" sz="26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de-DE" sz="26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de-DE" sz="26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de-DE" sz="26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de-DE" sz="2600" b="0" i="1" smtClean="0">
                        <a:latin typeface="Cambria Math" panose="02040503050406030204" pitchFamily="18" charset="0"/>
                      </a:rPr>
                      <m:t>𝑘𝑇</m:t>
                    </m:r>
                    <m:r>
                      <a:rPr lang="de-DE" sz="2600" i="1">
                        <a:latin typeface="Cambria Math" panose="02040503050406030204" pitchFamily="18" charset="0"/>
                      </a:rPr>
                      <m:t>)+</m:t>
                    </m:r>
                    <m:d>
                      <m:dPr>
                        <m:ctrlPr>
                          <a:rPr lang="de-DE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600" i="1">
                            <a:latin typeface="Cambria Math" panose="02040503050406030204" pitchFamily="18" charset="0"/>
                          </a:rPr>
                          <m:t>1−</m:t>
                        </m:r>
                        <m:sSup>
                          <m:sSupPr>
                            <m:ctrlPr>
                              <a:rPr lang="de-DE" sz="2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sz="26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de-DE" sz="26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de-DE" sz="26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</m:e>
                    </m:d>
                    <m:r>
                      <a:rPr lang="de-DE" sz="2600" i="1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begChr m:val="["/>
                        <m:endChr m:val="]"/>
                        <m:ctrlPr>
                          <a:rPr lang="de-DE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6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endParaRPr lang="de-DE" sz="2600" dirty="0"/>
              </a:p>
              <a:p>
                <a:pPr marL="0" indent="0">
                  <a:buNone/>
                </a:pPr>
                <a:endParaRPr lang="de-DE" sz="2600" dirty="0"/>
              </a:p>
              <a:p>
                <a:pPr marL="0" indent="0">
                  <a:buNone/>
                </a:pPr>
                <a:r>
                  <a:rPr lang="de-DE" sz="2600" dirty="0" err="1"/>
                  <a:t>Discrete</a:t>
                </a:r>
                <a:r>
                  <a:rPr lang="de-DE" sz="2600" dirty="0"/>
                  <a:t>-time </a:t>
                </a:r>
                <a:r>
                  <a:rPr lang="de-DE" sz="2600" dirty="0" err="1"/>
                  <a:t>system</a:t>
                </a:r>
                <a:r>
                  <a:rPr lang="de-DE" sz="2600" dirty="0"/>
                  <a:t>: </a:t>
                </a:r>
                <a:r>
                  <a:rPr lang="de-DE" sz="2600" dirty="0" err="1"/>
                  <a:t>difference</a:t>
                </a:r>
                <a:r>
                  <a:rPr lang="de-DE" sz="2600" dirty="0"/>
                  <a:t> </a:t>
                </a:r>
                <a:r>
                  <a:rPr lang="de-DE" sz="2600" dirty="0" err="1"/>
                  <a:t>equation</a:t>
                </a:r>
                <a:endParaRPr lang="de-DE" sz="2600" dirty="0"/>
              </a:p>
              <a:p>
                <a:pPr marL="0" indent="0">
                  <a:buNone/>
                </a:pPr>
                <a:r>
                  <a:rPr lang="de-DE" sz="2600" dirty="0"/>
                  <a:t>	</a:t>
                </a:r>
                <a14:m>
                  <m:oMath xmlns:m="http://schemas.openxmlformats.org/officeDocument/2006/math">
                    <m:r>
                      <a:rPr lang="de-DE" sz="2600" i="1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["/>
                        <m:endChr m:val="]"/>
                        <m:ctrlPr>
                          <a:rPr lang="de-DE" sz="26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6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de-DE" sz="26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de-DE" sz="26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de-DE" sz="2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sz="26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de-DE" sz="26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de-DE" sz="26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de-DE" sz="2600" i="1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["/>
                        <m:endChr m:val="]"/>
                        <m:ctrlPr>
                          <a:rPr lang="de-DE" sz="26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6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de-DE" sz="2600" i="1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de-DE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600" i="1">
                            <a:latin typeface="Cambria Math" panose="02040503050406030204" pitchFamily="18" charset="0"/>
                          </a:rPr>
                          <m:t>1−</m:t>
                        </m:r>
                        <m:sSup>
                          <m:sSupPr>
                            <m:ctrlPr>
                              <a:rPr lang="de-DE" sz="2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sz="26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de-DE" sz="26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de-DE" sz="26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</m:e>
                    </m:d>
                    <m:r>
                      <a:rPr lang="de-DE" sz="2600" i="1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begChr m:val="["/>
                        <m:endChr m:val="]"/>
                        <m:ctrlPr>
                          <a:rPr lang="de-DE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6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endParaRPr lang="de-DE" sz="2600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49AB735E-50BB-DEE3-8824-3FBD347866C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577515"/>
                <a:ext cx="10515600" cy="5599447"/>
              </a:xfrm>
              <a:blipFill>
                <a:blip r:embed="rId2"/>
                <a:stretch>
                  <a:fillRect l="-965" t="-203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DF90EAB-7E62-DA81-B216-F1074DD80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15</a:t>
            </a:fld>
            <a:endParaRPr lang="en-GB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F7A4C25C-D84B-29E0-1395-C931DEE05493}"/>
              </a:ext>
            </a:extLst>
          </p:cNvPr>
          <p:cNvSpPr txBox="1"/>
          <p:nvPr/>
        </p:nvSpPr>
        <p:spPr>
          <a:xfrm>
            <a:off x="5643847" y="2463974"/>
            <a:ext cx="15311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000" dirty="0" err="1"/>
              <a:t>steady</a:t>
            </a:r>
            <a:r>
              <a:rPr lang="de-DE" sz="2000" dirty="0"/>
              <a:t> </a:t>
            </a:r>
            <a:r>
              <a:rPr lang="de-DE" sz="2000" dirty="0" err="1"/>
              <a:t>state</a:t>
            </a:r>
            <a:endParaRPr lang="de-DE" sz="2000" dirty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DFC4202E-EC4D-D2F1-2649-7E504F152824}"/>
              </a:ext>
            </a:extLst>
          </p:cNvPr>
          <p:cNvSpPr txBox="1"/>
          <p:nvPr/>
        </p:nvSpPr>
        <p:spPr>
          <a:xfrm>
            <a:off x="3352506" y="2463974"/>
            <a:ext cx="11689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000" dirty="0"/>
              <a:t>transient</a:t>
            </a:r>
          </a:p>
        </p:txBody>
      </p: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83D71293-F78C-B6BB-B945-FE313C18BA31}"/>
              </a:ext>
            </a:extLst>
          </p:cNvPr>
          <p:cNvCxnSpPr>
            <a:cxnSpLocks/>
            <a:stCxn id="6" idx="1"/>
          </p:cNvCxnSpPr>
          <p:nvPr/>
        </p:nvCxnSpPr>
        <p:spPr>
          <a:xfrm flipH="1" flipV="1">
            <a:off x="5522142" y="2175309"/>
            <a:ext cx="121705" cy="4887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Geschweifte Klammer rechts 8">
            <a:extLst>
              <a:ext uri="{FF2B5EF4-FFF2-40B4-BE49-F238E27FC236}">
                <a16:creationId xmlns:a16="http://schemas.microsoft.com/office/drawing/2014/main" id="{95EBD66E-3ED7-AD9E-7A7F-5EC17F9CB130}"/>
              </a:ext>
            </a:extLst>
          </p:cNvPr>
          <p:cNvSpPr/>
          <p:nvPr/>
        </p:nvSpPr>
        <p:spPr>
          <a:xfrm rot="5400000">
            <a:off x="3758895" y="1244496"/>
            <a:ext cx="317633" cy="2179260"/>
          </a:xfrm>
          <a:prstGeom prst="rightBrace">
            <a:avLst>
              <a:gd name="adj1" fmla="val 8333"/>
              <a:gd name="adj2" fmla="val 48042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E31C663E-C0E2-96BB-9F46-564D8A17E871}"/>
                  </a:ext>
                </a:extLst>
              </p:cNvPr>
              <p:cNvSpPr txBox="1"/>
              <p:nvPr/>
            </p:nvSpPr>
            <p:spPr>
              <a:xfrm>
                <a:off x="7648075" y="2017698"/>
                <a:ext cx="3705725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de-DE" dirty="0"/>
                  <a:t>System </a:t>
                </a:r>
                <a:r>
                  <a:rPr lang="de-DE" dirty="0" err="1"/>
                  <a:t>moves</a:t>
                </a:r>
                <a:r>
                  <a:rPr lang="de-DE" dirty="0"/>
                  <a:t> </a:t>
                </a:r>
                <a:r>
                  <a:rPr lang="de-DE" dirty="0" err="1"/>
                  <a:t>from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lang="de-DE" dirty="0"/>
                  <a:t> to 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begChr m:val="["/>
                        <m:endChr m:val="]"/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endParaRPr lang="de-DE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de-DE" dirty="0" err="1"/>
                  <a:t>Exponential</a:t>
                </a:r>
                <a:r>
                  <a:rPr lang="de-DE" dirty="0"/>
                  <a:t> </a:t>
                </a:r>
                <a:r>
                  <a:rPr lang="de-DE" dirty="0" err="1"/>
                  <a:t>transition</a:t>
                </a:r>
                <a:endParaRPr lang="de-DE" dirty="0"/>
              </a:p>
            </p:txBody>
          </p:sp>
        </mc:Choice>
        <mc:Fallback xmlns=""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E31C663E-C0E2-96BB-9F46-564D8A17E8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8075" y="2017698"/>
                <a:ext cx="3705725" cy="646331"/>
              </a:xfrm>
              <a:prstGeom prst="rect">
                <a:avLst/>
              </a:prstGeom>
              <a:blipFill>
                <a:blip r:embed="rId3"/>
                <a:stretch>
                  <a:fillRect l="-1024" t="-3846" b="-1346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133001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EDAAE50-17F6-59E5-99D3-B54782437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Difference</a:t>
            </a:r>
            <a:r>
              <a:rPr lang="de-DE" dirty="0"/>
              <a:t> </a:t>
            </a:r>
            <a:r>
              <a:rPr lang="de-DE" dirty="0" err="1"/>
              <a:t>Equations</a:t>
            </a:r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A0D38550-2779-4710-166B-853B3C3DF3F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de-DE" dirty="0"/>
                  <a:t>First-order </a:t>
                </a:r>
                <a:r>
                  <a:rPr lang="de-DE" dirty="0" err="1"/>
                  <a:t>system</a:t>
                </a:r>
                <a:r>
                  <a:rPr lang="de-DE" dirty="0"/>
                  <a:t> </a:t>
                </a:r>
                <a:r>
                  <a:rPr lang="de-DE" dirty="0" err="1"/>
                  <a:t>template</a:t>
                </a:r>
                <a:r>
                  <a:rPr lang="de-DE" dirty="0"/>
                  <a:t>:</a:t>
                </a:r>
              </a:p>
              <a:p>
                <a:pPr marL="0" indent="0">
                  <a:buNone/>
                </a:pPr>
                <a:r>
                  <a:rPr lang="de-DE" dirty="0"/>
                  <a:t>	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["/>
                        <m:endChr m:val="]"/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de-DE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["/>
                        <m:endChr m:val="]"/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de-DE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begChr m:val="["/>
                        <m:endChr m:val="]"/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r>
                  <a:rPr lang="de-DE" dirty="0"/>
                  <a:t>Second-order </a:t>
                </a:r>
                <a:r>
                  <a:rPr lang="de-DE" dirty="0" err="1"/>
                  <a:t>system</a:t>
                </a:r>
                <a:r>
                  <a:rPr lang="de-DE" dirty="0"/>
                  <a:t> </a:t>
                </a:r>
                <a:r>
                  <a:rPr lang="de-DE" dirty="0" err="1"/>
                  <a:t>template</a:t>
                </a:r>
                <a:r>
                  <a:rPr lang="de-DE" dirty="0"/>
                  <a:t>:</a:t>
                </a:r>
              </a:p>
              <a:p>
                <a:pPr marL="0" indent="0">
                  <a:buNone/>
                </a:pPr>
                <a:r>
                  <a:rPr lang="de-DE" dirty="0"/>
                  <a:t>	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["/>
                        <m:endChr m:val="]"/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+2</m:t>
                        </m:r>
                      </m:e>
                    </m:d>
                    <m:r>
                      <a:rPr lang="de-DE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de-DE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["/>
                        <m:endChr m:val="]"/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de-DE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de-DE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["/>
                        <m:endChr m:val="]"/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de-DE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de-DE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begChr m:val="["/>
                        <m:endChr m:val="]"/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de-DE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de-DE" i="1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begChr m:val="["/>
                        <m:endChr m:val="]"/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r>
                  <a:rPr lang="de-DE" dirty="0"/>
                  <a:t>Time-</a:t>
                </a:r>
                <a:r>
                  <a:rPr lang="de-DE" dirty="0" err="1"/>
                  <a:t>shifted</a:t>
                </a:r>
                <a:r>
                  <a:rPr lang="de-DE" dirty="0"/>
                  <a:t> </a:t>
                </a:r>
                <a:r>
                  <a:rPr lang="de-DE" dirty="0" err="1"/>
                  <a:t>version</a:t>
                </a:r>
                <a:r>
                  <a:rPr lang="de-DE" dirty="0"/>
                  <a:t> </a:t>
                </a:r>
                <a:r>
                  <a:rPr lang="de-DE" dirty="0" err="1"/>
                  <a:t>to</a:t>
                </a:r>
                <a:r>
                  <a:rPr lang="de-DE" dirty="0"/>
                  <a:t> </a:t>
                </a:r>
                <a:r>
                  <a:rPr lang="de-DE" dirty="0" err="1"/>
                  <a:t>make</a:t>
                </a:r>
                <a:r>
                  <a:rPr lang="de-DE" dirty="0"/>
                  <a:t> </a:t>
                </a:r>
                <a:r>
                  <a:rPr lang="de-DE" dirty="0" err="1"/>
                  <a:t>it</a:t>
                </a:r>
                <a:r>
                  <a:rPr lang="de-DE" dirty="0"/>
                  <a:t> </a:t>
                </a:r>
                <a:r>
                  <a:rPr lang="de-DE" dirty="0" err="1"/>
                  <a:t>causal</a:t>
                </a:r>
                <a:r>
                  <a:rPr lang="de-DE" dirty="0"/>
                  <a:t> (</a:t>
                </a:r>
                <a:r>
                  <a:rPr lang="de-DE" dirty="0" err="1"/>
                  <a:t>current</a:t>
                </a:r>
                <a:r>
                  <a:rPr lang="de-DE" dirty="0"/>
                  <a:t> </a:t>
                </a:r>
                <a:r>
                  <a:rPr lang="de-DE" dirty="0" err="1"/>
                  <a:t>output</a:t>
                </a:r>
                <a:r>
                  <a:rPr lang="de-DE" dirty="0"/>
                  <a:t> </a:t>
                </a:r>
                <a:r>
                  <a:rPr lang="de-DE" dirty="0" err="1"/>
                  <a:t>from</a:t>
                </a:r>
                <a:r>
                  <a:rPr lang="de-DE" dirty="0"/>
                  <a:t> </a:t>
                </a:r>
                <a:r>
                  <a:rPr lang="de-DE" dirty="0" err="1"/>
                  <a:t>past</a:t>
                </a:r>
                <a:r>
                  <a:rPr lang="de-DE" dirty="0"/>
                  <a:t> </a:t>
                </a:r>
                <a:r>
                  <a:rPr lang="de-DE" dirty="0" err="1"/>
                  <a:t>values</a:t>
                </a:r>
                <a:r>
                  <a:rPr lang="de-DE" dirty="0"/>
                  <a:t>):</a:t>
                </a:r>
              </a:p>
              <a:p>
                <a:pPr marL="0" indent="0">
                  <a:buNone/>
                </a:pPr>
                <a:r>
                  <a:rPr lang="de-DE" dirty="0"/>
                  <a:t>	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−2</m:t>
                    </m:r>
                  </m:oMath>
                </a14:m>
                <a:endParaRPr lang="de-DE" dirty="0"/>
              </a:p>
              <a:p>
                <a:pPr marL="0" indent="0">
                  <a:buNone/>
                </a:pPr>
                <a:r>
                  <a:rPr lang="de-DE" dirty="0">
                    <a:sym typeface="Wingdings" pitchFamily="2" charset="2"/>
                  </a:rPr>
                  <a:t>	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["/>
                        <m:endChr m:val="]"/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de-DE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de-DE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["/>
                        <m:endChr m:val="]"/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de-DE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de-DE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["/>
                        <m:endChr m:val="]"/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</m:e>
                    </m:d>
                    <m:r>
                      <a:rPr lang="de-DE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de-DE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begChr m:val="["/>
                        <m:endChr m:val="]"/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de-DE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de-DE" i="1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begChr m:val="["/>
                        <m:endChr m:val="]"/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endParaRPr lang="de-DE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A0D38550-2779-4710-166B-853B3C3DF3F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348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FD3654B-765B-E231-35F8-266B90EBD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16</a:t>
            </a:fld>
            <a:endParaRPr lang="en-GB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0051C712-BDDF-EE3F-5D52-82596C1870A4}"/>
              </a:ext>
            </a:extLst>
          </p:cNvPr>
          <p:cNvSpPr txBox="1"/>
          <p:nvPr/>
        </p:nvSpPr>
        <p:spPr>
          <a:xfrm>
            <a:off x="3316705" y="2723948"/>
            <a:ext cx="1012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memory</a:t>
            </a:r>
            <a:endParaRPr lang="de-DE" dirty="0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53701B33-51DA-5DBA-E5FF-653DDB0EC264}"/>
              </a:ext>
            </a:extLst>
          </p:cNvPr>
          <p:cNvSpPr txBox="1"/>
          <p:nvPr/>
        </p:nvSpPr>
        <p:spPr>
          <a:xfrm>
            <a:off x="4600876" y="2723948"/>
            <a:ext cx="13214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input</a:t>
            </a:r>
            <a:r>
              <a:rPr lang="de-DE" dirty="0"/>
              <a:t> </a:t>
            </a:r>
            <a:r>
              <a:rPr lang="de-DE" dirty="0" err="1"/>
              <a:t>effect</a:t>
            </a:r>
            <a:endParaRPr lang="de-DE" dirty="0"/>
          </a:p>
        </p:txBody>
      </p:sp>
      <p:sp>
        <p:nvSpPr>
          <p:cNvPr id="7" name="Geschweifte Klammer rechts 6">
            <a:extLst>
              <a:ext uri="{FF2B5EF4-FFF2-40B4-BE49-F238E27FC236}">
                <a16:creationId xmlns:a16="http://schemas.microsoft.com/office/drawing/2014/main" id="{787BED0B-B839-4316-07A3-EEF5B53BD2E5}"/>
              </a:ext>
            </a:extLst>
          </p:cNvPr>
          <p:cNvSpPr/>
          <p:nvPr/>
        </p:nvSpPr>
        <p:spPr>
          <a:xfrm rot="5400000">
            <a:off x="3769308" y="2246297"/>
            <a:ext cx="216753" cy="902182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Geschweifte Klammer rechts 7">
            <a:extLst>
              <a:ext uri="{FF2B5EF4-FFF2-40B4-BE49-F238E27FC236}">
                <a16:creationId xmlns:a16="http://schemas.microsoft.com/office/drawing/2014/main" id="{A84D7A95-C453-0BC9-7A6D-5E4C061DB96B}"/>
              </a:ext>
            </a:extLst>
          </p:cNvPr>
          <p:cNvSpPr/>
          <p:nvPr/>
        </p:nvSpPr>
        <p:spPr>
          <a:xfrm rot="5400000">
            <a:off x="5047864" y="2272857"/>
            <a:ext cx="216753" cy="902182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36D37DDC-96DB-5D4C-B5BD-D9ADF81BDF68}"/>
                  </a:ext>
                </a:extLst>
              </p:cNvPr>
              <p:cNvSpPr txBox="1"/>
              <p:nvPr/>
            </p:nvSpPr>
            <p:spPr>
              <a:xfrm>
                <a:off x="7863226" y="2184880"/>
                <a:ext cx="3041583" cy="69307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de-DE" sz="22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de-DE" sz="22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de-DE" sz="2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sz="22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de-DE" sz="22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de-DE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  <m:r>
                          <a:rPr lang="de-DE" sz="22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de-DE" sz="2200" dirty="0"/>
                  <a:t> </a:t>
                </a:r>
                <a:r>
                  <a:rPr lang="de-DE" sz="2200" dirty="0" err="1"/>
                  <a:t>comes</a:t>
                </a:r>
                <a:r>
                  <a:rPr lang="de-DE" sz="2200" dirty="0"/>
                  <a:t> </a:t>
                </a:r>
                <a:r>
                  <a:rPr lang="de-DE" sz="2200" dirty="0" err="1"/>
                  <a:t>from</a:t>
                </a:r>
                <a:r>
                  <a:rPr lang="de-DE" sz="2200" dirty="0"/>
                  <a:t> </a:t>
                </a:r>
                <a:r>
                  <a:rPr lang="de-DE" sz="2200" dirty="0" err="1"/>
                  <a:t>continuous</a:t>
                </a:r>
                <a:r>
                  <a:rPr lang="de-DE" sz="2200" dirty="0"/>
                  <a:t>-time </a:t>
                </a:r>
                <a:r>
                  <a:rPr lang="de-DE" sz="2200" dirty="0" err="1"/>
                  <a:t>physics</a:t>
                </a:r>
                <a:endParaRPr lang="de-DE" sz="2200" dirty="0"/>
              </a:p>
            </p:txBody>
          </p:sp>
        </mc:Choice>
        <mc:Fallback xmlns=""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36D37DDC-96DB-5D4C-B5BD-D9ADF81BDF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63226" y="2184880"/>
                <a:ext cx="3041583" cy="693075"/>
              </a:xfrm>
              <a:prstGeom prst="rect">
                <a:avLst/>
              </a:prstGeom>
              <a:blipFill>
                <a:blip r:embed="rId3"/>
                <a:stretch>
                  <a:fillRect l="-5833" t="-7143" r="-3750" b="-2321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782836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C8B7C9-E535-7076-D584-E20BF3DD8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Motivation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z</a:t>
            </a:r>
            <a:r>
              <a:rPr lang="de-DE" dirty="0"/>
              <a:t>-Transform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619CBDA-C814-CDB4-7375-278B018856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de-DE" dirty="0"/>
              <a:t>How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solve</a:t>
            </a:r>
            <a:r>
              <a:rPr lang="de-DE" dirty="0"/>
              <a:t> </a:t>
            </a:r>
            <a:r>
              <a:rPr lang="de-DE" dirty="0" err="1"/>
              <a:t>difference</a:t>
            </a:r>
            <a:r>
              <a:rPr lang="de-DE" dirty="0"/>
              <a:t> </a:t>
            </a:r>
            <a:r>
              <a:rPr lang="de-DE" dirty="0" err="1"/>
              <a:t>equations</a:t>
            </a:r>
            <a:r>
              <a:rPr lang="de-DE" dirty="0"/>
              <a:t>?</a:t>
            </a:r>
          </a:p>
          <a:p>
            <a:r>
              <a:rPr lang="de-DE" dirty="0"/>
              <a:t>How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analyze</a:t>
            </a:r>
            <a:r>
              <a:rPr lang="de-DE" dirty="0"/>
              <a:t> </a:t>
            </a:r>
            <a:r>
              <a:rPr lang="de-DE" dirty="0" err="1"/>
              <a:t>stability</a:t>
            </a:r>
            <a:r>
              <a:rPr lang="de-DE" dirty="0"/>
              <a:t>?</a:t>
            </a:r>
          </a:p>
          <a:p>
            <a:r>
              <a:rPr lang="de-DE" dirty="0"/>
              <a:t>How </a:t>
            </a:r>
            <a:r>
              <a:rPr lang="de-DE" dirty="0" err="1"/>
              <a:t>to</a:t>
            </a:r>
            <a:r>
              <a:rPr lang="de-DE" dirty="0"/>
              <a:t> design </a:t>
            </a:r>
            <a:r>
              <a:rPr lang="de-DE" dirty="0" err="1"/>
              <a:t>controllers</a:t>
            </a:r>
            <a:r>
              <a:rPr lang="de-DE" dirty="0"/>
              <a:t>?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 err="1"/>
              <a:t>Continuous</a:t>
            </a:r>
            <a:r>
              <a:rPr lang="de-DE" dirty="0"/>
              <a:t>-time </a:t>
            </a:r>
            <a:r>
              <a:rPr lang="de-DE" dirty="0" err="1"/>
              <a:t>systems</a:t>
            </a:r>
            <a:r>
              <a:rPr lang="de-DE" dirty="0"/>
              <a:t>:</a:t>
            </a:r>
          </a:p>
          <a:p>
            <a:pPr marL="0" indent="0">
              <a:buNone/>
            </a:pPr>
            <a:r>
              <a:rPr lang="de-DE" dirty="0"/>
              <a:t>differential </a:t>
            </a:r>
            <a:r>
              <a:rPr lang="de-DE" dirty="0" err="1"/>
              <a:t>equation</a:t>
            </a:r>
            <a:r>
              <a:rPr lang="de-DE" dirty="0"/>
              <a:t> </a:t>
            </a:r>
            <a:r>
              <a:rPr lang="de-DE" dirty="0">
                <a:sym typeface="Wingdings" pitchFamily="2" charset="2"/>
              </a:rPr>
              <a:t></a:t>
            </a:r>
            <a:r>
              <a:rPr lang="de-DE" dirty="0"/>
              <a:t> Laplace </a:t>
            </a:r>
            <a:r>
              <a:rPr lang="de-DE" dirty="0" err="1"/>
              <a:t>transform</a:t>
            </a:r>
            <a:r>
              <a:rPr lang="de-DE" dirty="0"/>
              <a:t> </a:t>
            </a:r>
            <a:r>
              <a:rPr lang="de-DE" dirty="0">
                <a:sym typeface="Wingdings" pitchFamily="2" charset="2"/>
              </a:rPr>
              <a:t></a:t>
            </a:r>
            <a:r>
              <a:rPr lang="de-DE" dirty="0"/>
              <a:t> </a:t>
            </a:r>
            <a:r>
              <a:rPr lang="de-DE" dirty="0" err="1"/>
              <a:t>algebra</a:t>
            </a:r>
            <a:r>
              <a:rPr lang="de-DE" dirty="0"/>
              <a:t> (</a:t>
            </a:r>
            <a:r>
              <a:rPr lang="de-DE" dirty="0" err="1"/>
              <a:t>transfer</a:t>
            </a:r>
            <a:r>
              <a:rPr lang="de-DE" dirty="0"/>
              <a:t> </a:t>
            </a:r>
            <a:r>
              <a:rPr lang="de-DE" dirty="0" err="1"/>
              <a:t>function</a:t>
            </a:r>
            <a:r>
              <a:rPr lang="de-DE" dirty="0"/>
              <a:t>)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 err="1"/>
              <a:t>Discrete</a:t>
            </a:r>
            <a:r>
              <a:rPr lang="de-DE" dirty="0"/>
              <a:t>-time </a:t>
            </a:r>
            <a:r>
              <a:rPr lang="de-DE" dirty="0" err="1"/>
              <a:t>systems</a:t>
            </a:r>
            <a:r>
              <a:rPr lang="de-DE" dirty="0"/>
              <a:t>:</a:t>
            </a:r>
          </a:p>
          <a:p>
            <a:pPr marL="0" indent="0">
              <a:buNone/>
            </a:pPr>
            <a:r>
              <a:rPr lang="de-DE" dirty="0" err="1"/>
              <a:t>difference</a:t>
            </a:r>
            <a:r>
              <a:rPr lang="de-DE" dirty="0"/>
              <a:t> </a:t>
            </a:r>
            <a:r>
              <a:rPr lang="de-DE" dirty="0" err="1"/>
              <a:t>equation</a:t>
            </a:r>
            <a:r>
              <a:rPr lang="de-DE" dirty="0"/>
              <a:t> </a:t>
            </a:r>
            <a:r>
              <a:rPr lang="de-DE" dirty="0">
                <a:sym typeface="Wingdings" pitchFamily="2" charset="2"/>
              </a:rPr>
              <a:t> </a:t>
            </a:r>
            <a:r>
              <a:rPr lang="de-DE" dirty="0" err="1"/>
              <a:t>z-transform</a:t>
            </a:r>
            <a:r>
              <a:rPr lang="de-DE" dirty="0">
                <a:sym typeface="Wingdings" pitchFamily="2" charset="2"/>
              </a:rPr>
              <a:t>  </a:t>
            </a:r>
            <a:r>
              <a:rPr lang="de-DE" dirty="0" err="1"/>
              <a:t>algebra</a:t>
            </a:r>
            <a:r>
              <a:rPr lang="de-DE" dirty="0"/>
              <a:t> (</a:t>
            </a:r>
            <a:r>
              <a:rPr lang="de-DE" dirty="0" err="1"/>
              <a:t>z</a:t>
            </a:r>
            <a:r>
              <a:rPr lang="de-DE" dirty="0"/>
              <a:t>-transfer </a:t>
            </a:r>
            <a:r>
              <a:rPr lang="de-DE" dirty="0" err="1"/>
              <a:t>function</a:t>
            </a:r>
            <a:r>
              <a:rPr lang="de-DE" dirty="0"/>
              <a:t>)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49D0AF9-DEBC-5E26-D22C-4D0AFC242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59665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4EA3253-6AF2-4946-EFA5-9C77FCAC78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z</a:t>
            </a:r>
            <a:r>
              <a:rPr lang="de-DE" dirty="0"/>
              <a:t>-Transform Definition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2A3C9EBB-09EA-3C95-52B6-621AAD00612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de-DE" b="0" dirty="0"/>
                  <a:t>	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𝑋</m:t>
                    </m:r>
                    <m:d>
                      <m:d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de-DE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de-DE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  <m:sSup>
                          <m:sSup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e>
                    </m:nary>
                  </m:oMath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de-DE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de-DE" dirty="0"/>
                  <a:t>: </a:t>
                </a:r>
                <a:r>
                  <a:rPr lang="de-DE" dirty="0" err="1"/>
                  <a:t>discrete</a:t>
                </a:r>
                <a:r>
                  <a:rPr lang="de-DE" dirty="0"/>
                  <a:t>-time </a:t>
                </a:r>
                <a:r>
                  <a:rPr lang="de-DE" dirty="0" err="1"/>
                  <a:t>signal</a:t>
                </a:r>
                <a:endParaRPr lang="de-DE" dirty="0"/>
              </a:p>
              <a:p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de-DE" dirty="0"/>
                  <a:t>: </a:t>
                </a:r>
                <a:r>
                  <a:rPr lang="de-DE" dirty="0" err="1"/>
                  <a:t>complex</a:t>
                </a:r>
                <a:r>
                  <a:rPr lang="de-DE" dirty="0"/>
                  <a:t> variable</a:t>
                </a:r>
                <a:br>
                  <a:rPr lang="de-DE" dirty="0"/>
                </a:br>
                <a:endParaRPr lang="de-DE" dirty="0"/>
              </a:p>
              <a:p>
                <a:pPr marL="0" indent="0">
                  <a:buNone/>
                </a:pPr>
                <a:r>
                  <a:rPr lang="de-DE" dirty="0"/>
                  <a:t>Interpretation:</a:t>
                </a:r>
              </a:p>
              <a:p>
                <a:r>
                  <a:rPr lang="de-DE" dirty="0" err="1"/>
                  <a:t>Converts</a:t>
                </a:r>
                <a:r>
                  <a:rPr lang="de-DE" dirty="0"/>
                  <a:t> a </a:t>
                </a:r>
                <a:r>
                  <a:rPr lang="de-DE" dirty="0" err="1"/>
                  <a:t>sequence</a:t>
                </a:r>
                <a:r>
                  <a:rPr lang="de-DE" dirty="0"/>
                  <a:t> </a:t>
                </a:r>
                <a:r>
                  <a:rPr lang="de-DE" dirty="0" err="1"/>
                  <a:t>into</a:t>
                </a:r>
                <a:r>
                  <a:rPr lang="de-DE" dirty="0"/>
                  <a:t> a </a:t>
                </a:r>
                <a:r>
                  <a:rPr lang="de-DE" dirty="0" err="1"/>
                  <a:t>function</a:t>
                </a:r>
                <a:r>
                  <a:rPr lang="de-DE" dirty="0"/>
                  <a:t> </a:t>
                </a:r>
                <a:r>
                  <a:rPr lang="de-DE" dirty="0" err="1"/>
                  <a:t>of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r>
                      <a:rPr lang="de-DE" b="0" i="1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endParaRPr lang="de-DE" dirty="0"/>
              </a:p>
              <a:p>
                <a:r>
                  <a:rPr lang="de-DE" dirty="0" err="1"/>
                  <a:t>Discrete</a:t>
                </a:r>
                <a:r>
                  <a:rPr lang="de-DE" dirty="0"/>
                  <a:t>-time </a:t>
                </a:r>
                <a:r>
                  <a:rPr lang="de-DE" dirty="0" err="1"/>
                  <a:t>equivalent</a:t>
                </a:r>
                <a:r>
                  <a:rPr lang="de-DE" dirty="0"/>
                  <a:t> </a:t>
                </a:r>
                <a:r>
                  <a:rPr lang="de-DE" dirty="0" err="1"/>
                  <a:t>of</a:t>
                </a:r>
                <a:r>
                  <a:rPr lang="de-DE" dirty="0"/>
                  <a:t> </a:t>
                </a:r>
                <a:r>
                  <a:rPr lang="de-DE" dirty="0" err="1"/>
                  <a:t>the</a:t>
                </a:r>
                <a:r>
                  <a:rPr lang="de-DE" dirty="0"/>
                  <a:t> Laplace </a:t>
                </a:r>
                <a:r>
                  <a:rPr lang="de-DE" dirty="0" err="1"/>
                  <a:t>transform</a:t>
                </a:r>
                <a:endParaRPr lang="de-DE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2A3C9EBB-09EA-3C95-52B6-621AAD00612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1627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50FCA90-A34B-22CC-2EA9-951A01766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18</a:t>
            </a:fld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0A9EA23C-D5BF-3BA7-B8EA-A47CD394A5E3}"/>
                  </a:ext>
                </a:extLst>
              </p:cNvPr>
              <p:cNvSpPr txBox="1"/>
              <p:nvPr/>
            </p:nvSpPr>
            <p:spPr>
              <a:xfrm>
                <a:off x="7550217" y="1462633"/>
                <a:ext cx="2431983" cy="11806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de-DE" b="0" dirty="0">
                    <a:ea typeface="Cambria Math" panose="02040503050406030204" pitchFamily="18" charset="0"/>
                  </a:rPr>
                  <a:t>Laplace </a:t>
                </a:r>
                <a:r>
                  <a:rPr lang="de-DE" b="0" dirty="0" err="1">
                    <a:ea typeface="Cambria Math" panose="02040503050406030204" pitchFamily="18" charset="0"/>
                  </a:rPr>
                  <a:t>transform</a:t>
                </a:r>
                <a:r>
                  <a:rPr lang="de-DE" b="0" dirty="0">
                    <a:ea typeface="Cambria Math" panose="02040503050406030204" pitchFamily="18" charset="0"/>
                  </a:rPr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𝑋</m:t>
                      </m:r>
                      <m:d>
                        <m:dPr>
                          <m:ctrlP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de-D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d>
                            <m:dPr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sSup>
                            <m:sSupPr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𝑠𝑡</m:t>
                              </m:r>
                            </m:sup>
                          </m:sSup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0A9EA23C-D5BF-3BA7-B8EA-A47CD394A5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0217" y="1462633"/>
                <a:ext cx="2431983" cy="1180644"/>
              </a:xfrm>
              <a:prstGeom prst="rect">
                <a:avLst/>
              </a:prstGeom>
              <a:blipFill>
                <a:blip r:embed="rId3"/>
                <a:stretch>
                  <a:fillRect l="-3109" t="-61702" b="-13085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850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A18619F-A5C3-CB68-668F-FF9DFD600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Time Shift Property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EC3BFDFD-39F4-0594-39FD-6D5DD1E89B9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de-DE" dirty="0"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de-DE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𝒵</m:t>
                    </m:r>
                    <m:d>
                      <m:dPr>
                        <m:begChr m:val="{"/>
                        <m:endChr m:val="}"/>
                        <m:ctrlPr>
                          <a:rPr lang="de-DE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𝑥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e>
                    </m:d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𝑧𝑋</m:t>
                    </m:r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de-DE" dirty="0"/>
              </a:p>
              <a:p>
                <a:pPr marL="0" indent="0">
                  <a:buNone/>
                </a:pPr>
                <a:r>
                  <a:rPr lang="de-DE" dirty="0"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𝒵</m:t>
                    </m:r>
                    <m:d>
                      <m:dPr>
                        <m:begChr m:val="{"/>
                        <m:endChr m:val="}"/>
                        <m:ctrlP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𝑥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e>
                    </m:d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de-DE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de-DE" dirty="0"/>
              </a:p>
              <a:p>
                <a:pPr marL="0" indent="0">
                  <a:buNone/>
                </a:pPr>
                <a:r>
                  <a:rPr lang="de-DE" dirty="0"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𝒵</m:t>
                    </m:r>
                    <m:d>
                      <m:dPr>
                        <m:begChr m:val="{"/>
                        <m:endChr m:val="}"/>
                        <m:ctrlP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𝑥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de-DE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de-DE" dirty="0"/>
              </a:p>
              <a:p>
                <a:pPr marL="0" indent="0">
                  <a:buNone/>
                </a:pPr>
                <a:br>
                  <a:rPr lang="de-DE" dirty="0"/>
                </a:br>
                <a:r>
                  <a:rPr lang="de-DE" dirty="0">
                    <a:sym typeface="Wingdings" pitchFamily="2" charset="2"/>
                  </a:rPr>
                  <a:t> </a:t>
                </a:r>
                <a:r>
                  <a:rPr lang="de-DE" dirty="0" err="1">
                    <a:sym typeface="Wingdings" pitchFamily="2" charset="2"/>
                  </a:rPr>
                  <a:t>Shifts</a:t>
                </a:r>
                <a:r>
                  <a:rPr lang="de-DE" dirty="0">
                    <a:sym typeface="Wingdings" pitchFamily="2" charset="2"/>
                  </a:rPr>
                  <a:t> in </a:t>
                </a:r>
                <a:r>
                  <a:rPr lang="de-DE" dirty="0" err="1">
                    <a:sym typeface="Wingdings" pitchFamily="2" charset="2"/>
                  </a:rPr>
                  <a:t>d</a:t>
                </a:r>
                <a:r>
                  <a:rPr lang="de-DE" dirty="0" err="1"/>
                  <a:t>ifference</a:t>
                </a:r>
                <a:r>
                  <a:rPr lang="de-DE" dirty="0"/>
                  <a:t> </a:t>
                </a:r>
                <a:r>
                  <a:rPr lang="de-DE" dirty="0" err="1"/>
                  <a:t>equations</a:t>
                </a:r>
                <a:r>
                  <a:rPr lang="de-DE" dirty="0"/>
                  <a:t> (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["/>
                        <m:endChr m:val="]"/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de-DE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["/>
                        <m:endChr m:val="]"/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de-DE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["/>
                        <m:endChr m:val="]"/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de-DE" dirty="0"/>
                  <a:t>) </a:t>
                </a:r>
                <a:r>
                  <a:rPr lang="de-DE" dirty="0" err="1"/>
                  <a:t>become</a:t>
                </a:r>
                <a:r>
                  <a:rPr lang="de-DE" dirty="0"/>
                  <a:t> simple </a:t>
                </a:r>
                <a:r>
                  <a:rPr lang="de-DE" dirty="0" err="1"/>
                  <a:t>multiplications</a:t>
                </a:r>
                <a:r>
                  <a:rPr lang="de-DE" dirty="0"/>
                  <a:t> in </a:t>
                </a:r>
                <a:r>
                  <a:rPr lang="de-DE" dirty="0" err="1"/>
                  <a:t>the</a:t>
                </a:r>
                <a:r>
                  <a:rPr lang="de-DE" dirty="0"/>
                  <a:t> </a:t>
                </a:r>
                <a:r>
                  <a:rPr lang="de-DE" dirty="0" err="1"/>
                  <a:t>z</a:t>
                </a:r>
                <a:r>
                  <a:rPr lang="de-DE" dirty="0"/>
                  <a:t>-domain</a:t>
                </a:r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EC3BFDFD-39F4-0594-39FD-6D5DD1E89B9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r="-12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3FC9453-5896-DFDA-CDC8-CC5023950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53837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72E2459-DBE8-2A75-5BAE-0EE350A31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z</a:t>
            </a:r>
            <a:r>
              <a:rPr lang="de-DE" dirty="0"/>
              <a:t>-Transfer </a:t>
            </a:r>
            <a:r>
              <a:rPr lang="de-DE" dirty="0" err="1"/>
              <a:t>Functions</a:t>
            </a:r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B94E6248-1BA1-3AB3-8452-0EB5FBF61D1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de-DE" dirty="0" err="1"/>
                  <a:t>Example</a:t>
                </a:r>
                <a:r>
                  <a:rPr lang="de-DE" dirty="0"/>
                  <a:t>:</a:t>
                </a:r>
              </a:p>
              <a:p>
                <a:pPr marL="0" indent="0">
                  <a:buNone/>
                </a:pPr>
                <a:r>
                  <a:rPr lang="de-DE" dirty="0"/>
                  <a:t>	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["/>
                        <m:endChr m:val="]"/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de-DE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["/>
                        <m:endChr m:val="]"/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de-DE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begChr m:val="["/>
                        <m:endChr m:val="]"/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r>
                  <a:rPr lang="de-DE" dirty="0" err="1"/>
                  <a:t>Apply</a:t>
                </a:r>
                <a:r>
                  <a:rPr lang="de-DE" dirty="0"/>
                  <a:t> </a:t>
                </a:r>
                <a:r>
                  <a:rPr lang="de-DE" dirty="0" err="1"/>
                  <a:t>z-transform</a:t>
                </a:r>
                <a:r>
                  <a:rPr lang="de-DE" dirty="0"/>
                  <a:t>:</a:t>
                </a:r>
              </a:p>
              <a:p>
                <a:pPr marL="0" indent="0">
                  <a:buNone/>
                </a:pPr>
                <a:r>
                  <a:rPr lang="de-DE" b="0" dirty="0"/>
                  <a:t>	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𝑌</m:t>
                    </m:r>
                    <m:d>
                      <m:d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de-DE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𝑌</m:t>
                    </m:r>
                    <m:d>
                      <m:d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de-DE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𝑈</m:t>
                    </m:r>
                    <m:d>
                      <m:d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</m:oMath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r>
                  <a:rPr lang="de-DE" dirty="0"/>
                  <a:t>Transfer </a:t>
                </a:r>
                <a:r>
                  <a:rPr lang="de-DE" dirty="0" err="1"/>
                  <a:t>Function</a:t>
                </a:r>
                <a:r>
                  <a:rPr lang="de-DE" dirty="0"/>
                  <a:t>:</a:t>
                </a:r>
              </a:p>
              <a:p>
                <a:pPr marL="0" indent="0">
                  <a:buNone/>
                </a:pPr>
                <a:r>
                  <a:rPr lang="de-DE" b="0" dirty="0"/>
                  <a:t>	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de-DE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de-DE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r>
                  <a:rPr lang="de-DE" dirty="0" err="1"/>
                  <a:t>Discrete</a:t>
                </a:r>
                <a:r>
                  <a:rPr lang="de-DE" dirty="0"/>
                  <a:t> </a:t>
                </a:r>
                <a:r>
                  <a:rPr lang="de-DE" dirty="0" err="1"/>
                  <a:t>equivalent</a:t>
                </a:r>
                <a:r>
                  <a:rPr lang="de-DE" dirty="0"/>
                  <a:t> </a:t>
                </a:r>
                <a:r>
                  <a:rPr lang="de-DE" dirty="0" err="1"/>
                  <a:t>of</a:t>
                </a:r>
                <a:r>
                  <a:rPr lang="de-DE" dirty="0"/>
                  <a:t> Laplace </a:t>
                </a:r>
                <a:r>
                  <a:rPr lang="de-DE" dirty="0" err="1"/>
                  <a:t>transfer</a:t>
                </a:r>
                <a:r>
                  <a:rPr lang="de-DE" dirty="0"/>
                  <a:t> </a:t>
                </a:r>
                <a:r>
                  <a:rPr lang="de-DE" dirty="0" err="1"/>
                  <a:t>functions</a:t>
                </a:r>
                <a:endParaRPr lang="de-DE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B94E6248-1BA1-3AB3-8452-0EB5FBF61D1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348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2515CCA-631A-F11D-97BE-34BE6B328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1263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4A34126-E1FD-D3FD-250E-BE1DBC207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s-Plane </a:t>
            </a:r>
            <a:r>
              <a:rPr lang="de-DE" dirty="0" err="1"/>
              <a:t>Mapped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z</a:t>
            </a:r>
            <a:r>
              <a:rPr lang="de-DE" dirty="0"/>
              <a:t>-Plane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8A098AEA-3D94-690F-6D1B-9AC99359E4F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 algn="ctr">
                  <a:buNone/>
                </a:pPr>
                <a:r>
                  <a:rPr lang="de-DE" dirty="0">
                    <a:sym typeface="Wingdings" pitchFamily="2" charset="2"/>
                  </a:rPr>
                  <a:t> </a:t>
                </a:r>
                <a:r>
                  <a:rPr lang="de-DE" dirty="0"/>
                  <a:t>Relation: 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endParaRPr lang="de-DE" dirty="0"/>
              </a:p>
            </p:txBody>
          </p:sp>
        </mc:Choice>
        <mc:Fallback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8A098AEA-3D94-690F-6D1B-9AC99359E4F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261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0C51841-FA88-91D5-145B-3D0BDA9FB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21</a:t>
            </a:fld>
            <a:endParaRPr lang="en-GB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09AED19D-7D00-A995-349C-1190786F7CE9}"/>
                  </a:ext>
                </a:extLst>
              </p:cNvPr>
              <p:cNvSpPr txBox="1"/>
              <p:nvPr/>
            </p:nvSpPr>
            <p:spPr>
              <a:xfrm>
                <a:off x="838200" y="1687826"/>
                <a:ext cx="3467482" cy="11140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:r>
                  <a:rPr lang="de-DE" sz="2200" dirty="0"/>
                  <a:t>Sampling </a:t>
                </a:r>
                <a:r>
                  <a:rPr lang="de-DE" sz="2200" dirty="0" err="1"/>
                  <a:t>exponentials</a:t>
                </a:r>
                <a:r>
                  <a:rPr lang="de-DE" sz="2200" dirty="0"/>
                  <a:t>:</a:t>
                </a:r>
                <a:endParaRPr lang="de-DE" sz="22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200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de-DE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2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de-DE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de-DE" sz="2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sz="22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de-DE" sz="2200" b="0" i="1" smtClean="0">
                              <a:latin typeface="Cambria Math" panose="02040503050406030204" pitchFamily="18" charset="0"/>
                            </a:rPr>
                            <m:t>𝑠𝑡</m:t>
                          </m:r>
                        </m:sup>
                      </m:sSup>
                    </m:oMath>
                  </m:oMathPara>
                </a14:m>
                <a:endParaRPr lang="de-DE" sz="2200" b="0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200" i="1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de-DE" sz="2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22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de-DE" sz="22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de-DE" sz="2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sz="22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de-DE" sz="2200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de-DE" sz="2200" b="0" i="1" smtClean="0">
                              <a:latin typeface="Cambria Math" panose="02040503050406030204" pitchFamily="18" charset="0"/>
                            </a:rPr>
                            <m:t>𝑘𝑇</m:t>
                          </m:r>
                        </m:sup>
                      </m:sSup>
                      <m:r>
                        <a:rPr lang="de-DE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de-DE" sz="2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de-DE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de-DE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de-DE" sz="22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de-DE" sz="2200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  <m:r>
                                    <a:rPr lang="de-DE" sz="22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de-DE" sz="22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de-DE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de-DE" sz="2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sz="22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de-DE" sz="22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</m:oMath>
                  </m:oMathPara>
                </a14:m>
                <a:endParaRPr lang="de-DE" sz="2200" dirty="0"/>
              </a:p>
            </p:txBody>
          </p:sp>
        </mc:Choice>
        <mc:Fallback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09AED19D-7D00-A995-349C-1190786F7C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687826"/>
                <a:ext cx="3467482" cy="1114088"/>
              </a:xfrm>
              <a:prstGeom prst="rect">
                <a:avLst/>
              </a:prstGeom>
              <a:blipFill>
                <a:blip r:embed="rId3"/>
                <a:stretch>
                  <a:fillRect l="-2198" t="-337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31EE7CF9-84FB-C61F-FA72-CE026A481771}"/>
                  </a:ext>
                </a:extLst>
              </p:cNvPr>
              <p:cNvSpPr txBox="1"/>
              <p:nvPr/>
            </p:nvSpPr>
            <p:spPr>
              <a:xfrm>
                <a:off x="116864" y="3570407"/>
                <a:ext cx="1558012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2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de-DE" sz="22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r>
                        <a:rPr lang="de-DE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de-DE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𝑗</m:t>
                      </m:r>
                      <m:r>
                        <a:rPr lang="de-DE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𝜔</m:t>
                      </m:r>
                    </m:oMath>
                  </m:oMathPara>
                </a14:m>
                <a:endParaRPr lang="de-DE" sz="2200" dirty="0"/>
              </a:p>
            </p:txBody>
          </p:sp>
        </mc:Choice>
        <mc:Fallback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31EE7CF9-84FB-C61F-FA72-CE026A4817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864" y="3570407"/>
                <a:ext cx="1558012" cy="430887"/>
              </a:xfrm>
              <a:prstGeom prst="rect">
                <a:avLst/>
              </a:prstGeom>
              <a:blipFill>
                <a:blip r:embed="rId4"/>
                <a:stretch>
                  <a:fillRect b="-1470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7F752E6F-CBE9-9DB7-0269-92231678175E}"/>
                  </a:ext>
                </a:extLst>
              </p:cNvPr>
              <p:cNvSpPr txBox="1"/>
              <p:nvPr/>
            </p:nvSpPr>
            <p:spPr>
              <a:xfrm>
                <a:off x="9447276" y="3570407"/>
                <a:ext cx="2465832" cy="145757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2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de-DE" sz="22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de-DE" sz="2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sz="22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de-DE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  <m:r>
                            <a:rPr lang="de-DE" sz="22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de-DE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de-DE" sz="2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sz="22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de-DE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  <m:r>
                            <a:rPr lang="de-DE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  <m:r>
                            <a:rPr lang="de-DE" sz="22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de-DE" sz="2200" dirty="0"/>
              </a:p>
              <a:p>
                <a:pPr/>
                <a:endParaRPr lang="de-DE" sz="2200" dirty="0"/>
              </a:p>
              <a:p>
                <a14:m>
                  <m:oMath xmlns:m="http://schemas.openxmlformats.org/officeDocument/2006/math">
                    <m:r>
                      <a:rPr lang="de-DE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  <m:r>
                      <a:rPr lang="de-DE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de-DE" sz="2200" dirty="0"/>
                  <a:t> </a:t>
                </a:r>
                <a:r>
                  <a:rPr lang="de-DE" sz="2200" dirty="0">
                    <a:sym typeface="Wingdings" pitchFamily="2" charset="2"/>
                  </a:rPr>
                  <a:t> </a:t>
                </a:r>
                <a:r>
                  <a:rPr lang="de-DE" sz="2200" dirty="0" err="1">
                    <a:sym typeface="Wingdings" pitchFamily="2" charset="2"/>
                  </a:rPr>
                  <a:t>unit</a:t>
                </a:r>
                <a:r>
                  <a:rPr lang="de-DE" sz="2200" dirty="0">
                    <a:sym typeface="Wingdings" pitchFamily="2" charset="2"/>
                  </a:rPr>
                  <a:t> </a:t>
                </a:r>
                <a:r>
                  <a:rPr lang="de-DE" sz="2200" dirty="0" err="1">
                    <a:sym typeface="Wingdings" pitchFamily="2" charset="2"/>
                  </a:rPr>
                  <a:t>circle</a:t>
                </a:r>
                <a:endParaRPr lang="de-DE" sz="2200" dirty="0"/>
              </a:p>
              <a:p>
                <a:pPr/>
                <a:endParaRPr lang="de-DE" sz="2200" dirty="0"/>
              </a:p>
            </p:txBody>
          </p:sp>
        </mc:Choice>
        <mc:Fallback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7F752E6F-CBE9-9DB7-0269-9223167817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47276" y="3570407"/>
                <a:ext cx="2465832" cy="1457579"/>
              </a:xfrm>
              <a:prstGeom prst="rect">
                <a:avLst/>
              </a:prstGeom>
              <a:blipFill>
                <a:blip r:embed="rId5"/>
                <a:stretch>
                  <a:fillRect r="-257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Grafik 11">
            <a:extLst>
              <a:ext uri="{FF2B5EF4-FFF2-40B4-BE49-F238E27FC236}">
                <a16:creationId xmlns:a16="http://schemas.microsoft.com/office/drawing/2014/main" id="{42CB669C-D189-4B3C-F152-5BD40E97B75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74876" y="3252910"/>
            <a:ext cx="7772400" cy="3286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35537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6B36AE83-611D-B02A-12BE-0EC6711872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39462"/>
            <a:ext cx="5257800" cy="5182011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5E6D035F-C0FB-44AD-30F4-AFEDE2F71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Stability</a:t>
            </a:r>
            <a:r>
              <a:rPr lang="de-DE" dirty="0"/>
              <a:t> in </a:t>
            </a:r>
            <a:r>
              <a:rPr lang="de-DE" dirty="0" err="1"/>
              <a:t>Discrete</a:t>
            </a:r>
            <a:r>
              <a:rPr lang="de-DE" dirty="0"/>
              <a:t>-Time Systems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D59F1111-2F1A-4B89-470B-1C913FCB466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85526" y="1825625"/>
                <a:ext cx="4768273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de-DE" sz="2600" dirty="0"/>
                  <a:t>Remember: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sz="2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DE" sz="2600">
                            <a:latin typeface="Cambria Math" panose="02040503050406030204" pitchFamily="18" charset="0"/>
                          </a:rPr>
                          <m:t>Re</m:t>
                        </m:r>
                        <m:r>
                          <a:rPr lang="de-DE" sz="26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de-DE" sz="26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de-DE" sz="2600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de-DE" sz="2600" i="1">
                        <a:latin typeface="Cambria Math" panose="02040503050406030204" pitchFamily="18" charset="0"/>
                      </a:rPr>
                      <m:t>)&lt;0</m:t>
                    </m:r>
                  </m:oMath>
                </a14:m>
                <a:r>
                  <a:rPr lang="de-DE" sz="2600" dirty="0"/>
                  <a:t>: </a:t>
                </a:r>
                <a:r>
                  <a:rPr lang="de-DE" sz="2600" dirty="0" err="1">
                    <a:sym typeface="Wingdings" pitchFamily="2" charset="2"/>
                  </a:rPr>
                  <a:t>stable</a:t>
                </a:r>
                <a:endParaRPr lang="de-DE" sz="2600" dirty="0">
                  <a:sym typeface="Wingdings" pitchFamily="2" charset="2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DE" sz="2600">
                            <a:latin typeface="Cambria Math" panose="02040503050406030204" pitchFamily="18" charset="0"/>
                          </a:rPr>
                          <m:t>Re</m:t>
                        </m:r>
                        <m:r>
                          <a:rPr lang="de-DE" sz="26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de-DE" sz="26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de-DE" sz="2600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de-DE" sz="2600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de-DE" sz="26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sz="2600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de-DE" sz="2600" dirty="0">
                    <a:sym typeface="Wingdings" pitchFamily="2" charset="2"/>
                  </a:rPr>
                  <a:t>: marginally </a:t>
                </a:r>
                <a:r>
                  <a:rPr lang="de-DE" sz="2600" dirty="0" err="1">
                    <a:sym typeface="Wingdings" pitchFamily="2" charset="2"/>
                  </a:rPr>
                  <a:t>stable</a:t>
                </a:r>
                <a:endParaRPr lang="de-DE" sz="260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DE" sz="2600">
                            <a:latin typeface="Cambria Math" panose="02040503050406030204" pitchFamily="18" charset="0"/>
                          </a:rPr>
                          <m:t>Re</m:t>
                        </m:r>
                        <m:r>
                          <a:rPr lang="de-DE" sz="26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de-DE" sz="26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de-DE" sz="2600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de-DE" sz="2600" i="1">
                        <a:latin typeface="Cambria Math" panose="02040503050406030204" pitchFamily="18" charset="0"/>
                      </a:rPr>
                      <m:t>)&gt;0</m:t>
                    </m:r>
                  </m:oMath>
                </a14:m>
                <a:r>
                  <a:rPr lang="de-DE" sz="2600" dirty="0"/>
                  <a:t>: </a:t>
                </a:r>
                <a:r>
                  <a:rPr lang="de-DE" sz="2600" dirty="0" err="1">
                    <a:sym typeface="Wingdings" pitchFamily="2" charset="2"/>
                  </a:rPr>
                  <a:t>unstable</a:t>
                </a:r>
                <a:endParaRPr lang="de-DE" sz="2600" dirty="0"/>
              </a:p>
              <a:p>
                <a:pPr marL="0" indent="0">
                  <a:buNone/>
                </a:pPr>
                <a:endParaRPr lang="de-DE" sz="2600" dirty="0"/>
              </a:p>
              <a:p>
                <a:pPr marL="0" indent="0">
                  <a:buNone/>
                </a:pPr>
                <a:r>
                  <a:rPr lang="de-DE" sz="2600" dirty="0">
                    <a:sym typeface="Wingdings" pitchFamily="2" charset="2"/>
                  </a:rPr>
                  <a:t> </a:t>
                </a:r>
                <a:r>
                  <a:rPr lang="de-DE" sz="2600" dirty="0" err="1">
                    <a:sym typeface="Wingdings" pitchFamily="2" charset="2"/>
                  </a:rPr>
                  <a:t>Discrete</a:t>
                </a:r>
                <a:r>
                  <a:rPr lang="de-DE" sz="2600" dirty="0">
                    <a:sym typeface="Wingdings" pitchFamily="2" charset="2"/>
                  </a:rPr>
                  <a:t>-time </a:t>
                </a:r>
                <a:r>
                  <a:rPr lang="de-DE" sz="2600" dirty="0" err="1">
                    <a:sym typeface="Wingdings" pitchFamily="2" charset="2"/>
                  </a:rPr>
                  <a:t>s</a:t>
                </a:r>
                <a:r>
                  <a:rPr lang="de-DE" sz="2600" dirty="0" err="1"/>
                  <a:t>ystem</a:t>
                </a:r>
                <a:r>
                  <a:rPr lang="de-DE" sz="2600" dirty="0"/>
                  <a:t> </a:t>
                </a:r>
                <a:r>
                  <a:rPr lang="de-DE" sz="2600" dirty="0" err="1"/>
                  <a:t>stable</a:t>
                </a:r>
                <a:r>
                  <a:rPr lang="de-DE" sz="2600" dirty="0"/>
                  <a:t> </a:t>
                </a:r>
                <a:r>
                  <a:rPr lang="de-DE" sz="2600" dirty="0" err="1"/>
                  <a:t>if</a:t>
                </a:r>
                <a:r>
                  <a:rPr lang="de-DE" sz="2600" dirty="0"/>
                  <a:t> </a:t>
                </a:r>
                <a:r>
                  <a:rPr lang="de-DE" sz="2600" dirty="0" err="1"/>
                  <a:t>poles</a:t>
                </a:r>
                <a:r>
                  <a:rPr lang="de-DE" sz="26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6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de-DE" sz="26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de-DE" sz="2600" dirty="0"/>
                  <a:t> </a:t>
                </a:r>
                <a:r>
                  <a:rPr lang="de-DE" sz="2600" dirty="0" err="1"/>
                  <a:t>lie</a:t>
                </a:r>
                <a:r>
                  <a:rPr lang="de-DE" sz="2600" dirty="0"/>
                  <a:t> </a:t>
                </a:r>
                <a:r>
                  <a:rPr lang="de-DE" sz="2600" dirty="0" err="1"/>
                  <a:t>inside</a:t>
                </a:r>
                <a:r>
                  <a:rPr lang="de-DE" sz="2600" dirty="0"/>
                  <a:t> </a:t>
                </a:r>
                <a:r>
                  <a:rPr lang="de-DE" sz="2600" dirty="0" err="1"/>
                  <a:t>unit</a:t>
                </a:r>
                <a:r>
                  <a:rPr lang="de-DE" sz="2600" dirty="0"/>
                  <a:t> </a:t>
                </a:r>
                <a:r>
                  <a:rPr lang="de-DE" sz="2600" dirty="0" err="1"/>
                  <a:t>circle</a:t>
                </a:r>
                <a:endParaRPr lang="de-DE" sz="2600" dirty="0"/>
              </a:p>
            </p:txBody>
          </p:sp>
        </mc:Choice>
        <mc:Fallback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D59F1111-2F1A-4B89-470B-1C913FCB466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85526" y="1825625"/>
                <a:ext cx="4768273" cy="4351338"/>
              </a:xfrm>
              <a:blipFill>
                <a:blip r:embed="rId3"/>
                <a:stretch>
                  <a:fillRect l="-2128" t="-203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ECC739B-76A7-CF79-0B93-E52879AFF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88657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150C91F-7B71-019B-8D54-371DC7F55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ZOH </a:t>
            </a:r>
            <a:r>
              <a:rPr lang="de-DE" dirty="0" err="1"/>
              <a:t>Equivalent</a:t>
            </a:r>
            <a:r>
              <a:rPr lang="de-DE" dirty="0"/>
              <a:t> </a:t>
            </a:r>
            <a:r>
              <a:rPr lang="de-DE" dirty="0" err="1"/>
              <a:t>Discretization</a:t>
            </a:r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F0064A3B-B62B-C624-2470-28812383F69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de-DE" dirty="0"/>
                  <a:t>Goal: </a:t>
                </a:r>
                <a:r>
                  <a:rPr lang="de-DE" dirty="0" err="1"/>
                  <a:t>direct</a:t>
                </a:r>
                <a:r>
                  <a:rPr lang="de-DE" dirty="0"/>
                  <a:t> </a:t>
                </a:r>
                <a:r>
                  <a:rPr lang="de-DE" dirty="0" err="1"/>
                  <a:t>mapping</a:t>
                </a:r>
                <a:r>
                  <a:rPr lang="de-DE" dirty="0"/>
                  <a:t>	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begChr m:val="["/>
                        <m:endChr m:val="]"/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["/>
                        <m:endChr m:val="]"/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r>
                  <a:rPr lang="de-DE" dirty="0" err="1"/>
                  <a:t>Steps</a:t>
                </a:r>
                <a:r>
                  <a:rPr lang="de-DE" dirty="0"/>
                  <a:t>:	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begChr m:val="["/>
                        <m:endChr m:val="]"/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groupChr>
                      <m:groupChrPr>
                        <m:chr m:val="→"/>
                        <m:vertJc m:val="bot"/>
                        <m:ctrlPr>
                          <a:rPr lang="de-DE" i="1" smtClean="0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sty m:val="p"/>
                            <m:brk m:alnAt="2"/>
                          </m:rPr>
                          <a:rPr lang="de-DE" b="0" i="0" smtClean="0">
                            <a:latin typeface="Cambria Math" panose="02040503050406030204" pitchFamily="18" charset="0"/>
                          </a:rPr>
                          <m:t>Z</m:t>
                        </m:r>
                        <m:r>
                          <m:rPr>
                            <m:sty m:val="p"/>
                          </m:rPr>
                          <a:rPr lang="de-DE" b="0" i="0" smtClean="0">
                            <a:latin typeface="Cambria Math" panose="02040503050406030204" pitchFamily="18" charset="0"/>
                          </a:rPr>
                          <m:t>OH</m:t>
                        </m:r>
                      </m:e>
                    </m:groupChr>
                    <m:r>
                      <a:rPr lang="de-DE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)</m:t>
                    </m:r>
                    <m:groupChr>
                      <m:groupChrPr>
                        <m:chr m:val="→"/>
                        <m:vertJc m:val="bot"/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de-DE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groupChr>
                    <m:r>
                      <a:rPr lang="de-DE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)</m:t>
                    </m:r>
                    <m:groupChr>
                      <m:groupChrPr>
                        <m:chr m:val="→"/>
                        <m:vertJc m:val="bot"/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sty m:val="p"/>
                            <m:brk m:alnAt="2"/>
                          </m:rPr>
                          <a:rPr lang="de-DE" b="0" i="0" smtClean="0">
                            <a:latin typeface="Cambria Math" panose="02040503050406030204" pitchFamily="18" charset="0"/>
                          </a:rPr>
                          <m:t>s</m:t>
                        </m:r>
                        <m:r>
                          <m:rPr>
                            <m:sty m:val="p"/>
                          </m:rPr>
                          <a:rPr lang="de-DE" b="0" i="0" smtClean="0">
                            <a:latin typeface="Cambria Math" panose="02040503050406030204" pitchFamily="18" charset="0"/>
                          </a:rPr>
                          <m:t>ampling</m:t>
                        </m:r>
                      </m:e>
                    </m:groupChr>
                    <m:r>
                      <a:rPr lang="de-DE" b="0" i="1" smtClean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["/>
                        <m:endChr m:val="]"/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r>
                  <a:rPr lang="de-DE" dirty="0"/>
                  <a:t>ZOH </a:t>
                </a:r>
                <a:r>
                  <a:rPr lang="de-DE" dirty="0" err="1"/>
                  <a:t>modifies</a:t>
                </a:r>
                <a:r>
                  <a:rPr lang="de-DE" dirty="0"/>
                  <a:t> </a:t>
                </a:r>
                <a:r>
                  <a:rPr lang="de-DE" dirty="0" err="1"/>
                  <a:t>input</a:t>
                </a:r>
                <a:r>
                  <a:rPr lang="de-DE" dirty="0"/>
                  <a:t> </a:t>
                </a:r>
                <a:r>
                  <a:rPr lang="de-DE" dirty="0" err="1"/>
                  <a:t>as</a:t>
                </a:r>
                <a:r>
                  <a:rPr lang="de-DE" dirty="0"/>
                  <a:t> </a:t>
                </a:r>
                <a:r>
                  <a:rPr lang="de-DE" dirty="0" err="1"/>
                  <a:t>seen</a:t>
                </a:r>
                <a:r>
                  <a:rPr lang="de-DE" dirty="0"/>
                  <a:t> </a:t>
                </a:r>
                <a:r>
                  <a:rPr lang="de-DE" dirty="0" err="1"/>
                  <a:t>by</a:t>
                </a:r>
                <a:r>
                  <a:rPr lang="de-DE" dirty="0"/>
                  <a:t> </a:t>
                </a:r>
                <a:r>
                  <a:rPr lang="de-DE" dirty="0" err="1"/>
                  <a:t>the</a:t>
                </a:r>
                <a:r>
                  <a:rPr lang="de-DE" dirty="0"/>
                  <a:t> plant</a:t>
                </a:r>
              </a:p>
              <a:p>
                <a:pPr marL="0" indent="0">
                  <a:buNone/>
                </a:pPr>
                <a:endParaRPr lang="de-DE" b="1" dirty="0"/>
              </a:p>
              <a:p>
                <a:pPr marL="0" indent="0">
                  <a:buNone/>
                </a:pPr>
                <a:r>
                  <a:rPr lang="de-DE" dirty="0"/>
                  <a:t>ZOH </a:t>
                </a:r>
                <a:r>
                  <a:rPr lang="de-DE" dirty="0" err="1"/>
                  <a:t>equivalent</a:t>
                </a:r>
                <a:r>
                  <a:rPr lang="de-DE" dirty="0"/>
                  <a:t> </a:t>
                </a:r>
                <a:r>
                  <a:rPr lang="de-DE" dirty="0" err="1"/>
                  <a:t>discretization</a:t>
                </a:r>
                <a:r>
                  <a:rPr lang="de-DE" dirty="0"/>
                  <a:t>:</a:t>
                </a:r>
              </a:p>
              <a:p>
                <a:pPr marL="0" indent="0">
                  <a:buNone/>
                </a:pPr>
                <a:r>
                  <a:rPr lang="de-DE" dirty="0" err="1"/>
                  <a:t>Discrete</a:t>
                </a:r>
                <a:r>
                  <a:rPr lang="de-DE" dirty="0"/>
                  <a:t>-time </a:t>
                </a:r>
                <a:r>
                  <a:rPr lang="de-DE" dirty="0" err="1"/>
                  <a:t>system</a:t>
                </a:r>
                <a:r>
                  <a:rPr lang="de-DE" dirty="0"/>
                  <a:t> </a:t>
                </a:r>
                <a:r>
                  <a:rPr lang="de-DE" dirty="0" err="1"/>
                  <a:t>that</a:t>
                </a:r>
                <a:r>
                  <a:rPr lang="de-DE" dirty="0"/>
                  <a:t> </a:t>
                </a:r>
                <a:r>
                  <a:rPr lang="de-DE" dirty="0" err="1"/>
                  <a:t>produces</a:t>
                </a:r>
                <a:r>
                  <a:rPr lang="de-DE" dirty="0"/>
                  <a:t> </a:t>
                </a:r>
                <a:r>
                  <a:rPr lang="de-DE" dirty="0" err="1"/>
                  <a:t>exactly</a:t>
                </a:r>
                <a:r>
                  <a:rPr lang="de-DE" dirty="0"/>
                  <a:t> </a:t>
                </a:r>
                <a:r>
                  <a:rPr lang="de-DE" dirty="0" err="1"/>
                  <a:t>the</a:t>
                </a:r>
                <a:r>
                  <a:rPr lang="de-DE" dirty="0"/>
                  <a:t> same </a:t>
                </a:r>
                <a:r>
                  <a:rPr lang="de-DE" dirty="0" err="1"/>
                  <a:t>sampled</a:t>
                </a:r>
                <a:r>
                  <a:rPr lang="de-DE" dirty="0"/>
                  <a:t> </a:t>
                </a:r>
                <a:r>
                  <a:rPr lang="de-DE" dirty="0" err="1"/>
                  <a:t>output</a:t>
                </a:r>
                <a:r>
                  <a:rPr lang="de-DE" dirty="0"/>
                  <a:t> </a:t>
                </a:r>
                <a:r>
                  <a:rPr lang="de-DE" dirty="0" err="1"/>
                  <a:t>as</a:t>
                </a:r>
                <a:r>
                  <a:rPr lang="de-DE" dirty="0"/>
                  <a:t> </a:t>
                </a:r>
                <a:r>
                  <a:rPr lang="de-DE" dirty="0" err="1"/>
                  <a:t>the</a:t>
                </a:r>
                <a:r>
                  <a:rPr lang="de-DE" dirty="0"/>
                  <a:t> </a:t>
                </a:r>
                <a:r>
                  <a:rPr lang="de-DE" dirty="0" err="1"/>
                  <a:t>continuous</a:t>
                </a:r>
                <a:r>
                  <a:rPr lang="de-DE" dirty="0"/>
                  <a:t>-time plant </a:t>
                </a:r>
                <a:r>
                  <a:rPr lang="de-DE" dirty="0" err="1"/>
                  <a:t>under</a:t>
                </a:r>
                <a:r>
                  <a:rPr lang="de-DE" dirty="0"/>
                  <a:t> ZOH </a:t>
                </a:r>
                <a:r>
                  <a:rPr lang="de-DE" dirty="0" err="1"/>
                  <a:t>input</a:t>
                </a:r>
                <a:endParaRPr lang="de-DE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F0064A3B-B62B-C624-2470-28812383F69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3198" b="-58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D2B7F34-CD61-7C91-E7F0-FD7BB70BA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42029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929D9B5-4388-01F5-3D30-72141D496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ZOH </a:t>
            </a:r>
            <a:r>
              <a:rPr lang="de-DE" dirty="0" err="1"/>
              <a:t>Equivalent</a:t>
            </a:r>
            <a:r>
              <a:rPr lang="de-DE" dirty="0"/>
              <a:t> Transfer </a:t>
            </a:r>
            <a:r>
              <a:rPr lang="de-DE" dirty="0" err="1"/>
              <a:t>Function</a:t>
            </a:r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081C50DD-53E8-1F42-99A3-8B6A5B3B32B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11353801" cy="4351338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de-DE" sz="2600" dirty="0"/>
                  <a:t>Converts a </a:t>
                </a:r>
                <a:r>
                  <a:rPr lang="de-DE" sz="2600" dirty="0" err="1"/>
                  <a:t>continuous</a:t>
                </a:r>
                <a:r>
                  <a:rPr lang="de-DE" sz="2600" dirty="0"/>
                  <a:t>-time plant </a:t>
                </a:r>
                <a14:m>
                  <m:oMath xmlns:m="http://schemas.openxmlformats.org/officeDocument/2006/math">
                    <m:r>
                      <a:rPr lang="de-DE" sz="2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  <m:r>
                      <a:rPr lang="de-DE" sz="2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de-DE" sz="2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  <m:r>
                      <a:rPr lang="de-DE" sz="2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de-DE" sz="2600" dirty="0"/>
                  <a:t> </a:t>
                </a:r>
                <a:r>
                  <a:rPr lang="de-DE" sz="2600" dirty="0" err="1"/>
                  <a:t>into</a:t>
                </a:r>
                <a:r>
                  <a:rPr lang="de-DE" sz="2600" dirty="0"/>
                  <a:t> a </a:t>
                </a:r>
                <a:r>
                  <a:rPr lang="de-DE" sz="2600" dirty="0" err="1"/>
                  <a:t>discrete</a:t>
                </a:r>
                <a:r>
                  <a:rPr lang="de-DE" sz="2600" dirty="0"/>
                  <a:t>-time </a:t>
                </a:r>
                <a:r>
                  <a:rPr lang="de-DE" sz="2600" dirty="0" err="1"/>
                  <a:t>equivalent</a:t>
                </a:r>
                <a:r>
                  <a:rPr lang="de-DE" sz="2600" dirty="0"/>
                  <a:t>:</a:t>
                </a:r>
              </a:p>
              <a:p>
                <a:pPr marL="0" indent="0">
                  <a:buNone/>
                </a:pPr>
                <a:r>
                  <a:rPr lang="de-DE" sz="2600" b="0" dirty="0"/>
                  <a:t>	</a:t>
                </a:r>
                <a14:m>
                  <m:oMath xmlns:m="http://schemas.openxmlformats.org/officeDocument/2006/math">
                    <m:r>
                      <a:rPr lang="de-DE" sz="2600" b="0" i="1" smtClean="0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de-DE" sz="2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6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de-DE" sz="2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sz="2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𝒵</m:t>
                    </m:r>
                    <m:d>
                      <m:dPr>
                        <m:begChr m:val="{"/>
                        <m:endChr m:val="}"/>
                        <m:ctrlPr>
                          <a:rPr lang="de-DE" sz="2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𝐺</m:t>
                        </m:r>
                        <m:r>
                          <a:rPr lang="de-DE" sz="2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de-DE" sz="2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  <m:r>
                          <a:rPr lang="de-DE" sz="2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)∙</m:t>
                        </m:r>
                        <m:f>
                          <m:fPr>
                            <m:ctrlPr>
                              <a:rPr lang="de-DE" sz="2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de-DE" sz="2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1−</m:t>
                            </m:r>
                            <m:sSup>
                              <m:sSupPr>
                                <m:ctrlPr>
                                  <a:rPr lang="de-DE" sz="2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de-DE" sz="2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de-DE" sz="2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de-DE" sz="2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𝑠𝑇</m:t>
                                </m:r>
                              </m:sup>
                            </m:sSup>
                          </m:num>
                          <m:den>
                            <m:r>
                              <a:rPr lang="de-DE" sz="2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den>
                        </m:f>
                      </m:e>
                    </m:d>
                  </m:oMath>
                </a14:m>
                <a:endParaRPr lang="de-DE" sz="2600" dirty="0"/>
              </a:p>
              <a:p>
                <a:pPr marL="0" indent="0">
                  <a:buNone/>
                </a:pPr>
                <a:endParaRPr lang="de-DE" sz="2600" dirty="0"/>
              </a:p>
              <a:p>
                <a:pPr marL="0" indent="0">
                  <a:buNone/>
                </a:pPr>
                <a:endParaRPr lang="de-DE" sz="2600" dirty="0"/>
              </a:p>
              <a:p>
                <a:pPr marL="0" indent="0">
                  <a:buNone/>
                </a:pPr>
                <a:endParaRPr lang="de-DE" sz="2600" dirty="0"/>
              </a:p>
              <a:p>
                <a:pPr marL="0" indent="0">
                  <a:buNone/>
                </a:pPr>
                <a:endParaRPr lang="de-DE" sz="2600" dirty="0"/>
              </a:p>
              <a:p>
                <a:pPr marL="0" indent="0">
                  <a:buNone/>
                </a:pPr>
                <a:r>
                  <a:rPr lang="de-DE" sz="2600" dirty="0" err="1"/>
                  <a:t>input</a:t>
                </a:r>
                <a:r>
                  <a:rPr lang="de-DE" sz="2600" dirty="0"/>
                  <a:t> </a:t>
                </a:r>
                <a:r>
                  <a:rPr lang="de-DE" sz="2600" dirty="0" err="1"/>
                  <a:t>is</a:t>
                </a:r>
                <a:r>
                  <a:rPr lang="de-DE" sz="2600" dirty="0"/>
                  <a:t> </a:t>
                </a:r>
                <a:r>
                  <a:rPr lang="de-DE" sz="2600" dirty="0" err="1"/>
                  <a:t>sequence</a:t>
                </a:r>
                <a:r>
                  <a:rPr lang="de-DE" sz="2600" dirty="0"/>
                  <a:t> </a:t>
                </a:r>
                <a:r>
                  <a:rPr lang="de-DE" sz="2600" dirty="0" err="1"/>
                  <a:t>of</a:t>
                </a:r>
                <a:r>
                  <a:rPr lang="de-DE" sz="2600" dirty="0"/>
                  <a:t> </a:t>
                </a:r>
                <a:r>
                  <a:rPr lang="de-DE" sz="2600" b="1" dirty="0" err="1"/>
                  <a:t>rectangular</a:t>
                </a:r>
                <a:r>
                  <a:rPr lang="de-DE" sz="2600" b="1" dirty="0"/>
                  <a:t> </a:t>
                </a:r>
                <a:r>
                  <a:rPr lang="de-DE" sz="2600" b="1" dirty="0" err="1"/>
                  <a:t>pulses</a:t>
                </a:r>
                <a:r>
                  <a:rPr lang="de-DE" sz="2600" dirty="0"/>
                  <a:t>: </a:t>
                </a:r>
                <a:r>
                  <a:rPr lang="de-DE" sz="2600" dirty="0" err="1"/>
                  <a:t>step</a:t>
                </a:r>
                <a:r>
                  <a:rPr lang="de-DE" sz="2600" dirty="0"/>
                  <a:t> </a:t>
                </a:r>
                <a:r>
                  <a:rPr lang="de-DE" sz="2600" dirty="0" err="1"/>
                  <a:t>responses</a:t>
                </a:r>
                <a:r>
                  <a:rPr lang="de-DE" sz="2600" dirty="0"/>
                  <a:t> </a:t>
                </a:r>
                <a:r>
                  <a:rPr lang="de-DE" sz="2600" dirty="0" err="1"/>
                  <a:t>over</a:t>
                </a:r>
                <a:r>
                  <a:rPr lang="de-DE" sz="2600" dirty="0"/>
                  <a:t> </a:t>
                </a:r>
                <a:r>
                  <a:rPr lang="de-DE" sz="2600" dirty="0" err="1"/>
                  <a:t>one</a:t>
                </a:r>
                <a:r>
                  <a:rPr lang="de-DE" sz="2600" dirty="0"/>
                  <a:t> </a:t>
                </a:r>
                <a:r>
                  <a:rPr lang="de-DE" sz="2600" dirty="0" err="1"/>
                  <a:t>interval</a:t>
                </a:r>
                <a:endParaRPr lang="de-DE" sz="2600" dirty="0"/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de-DE" sz="26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sz="2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de-DE" sz="26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</m:oMath>
                </a14:m>
                <a:r>
                  <a:rPr lang="de-DE" sz="2600" dirty="0"/>
                  <a:t> </a:t>
                </a:r>
                <a:r>
                  <a:rPr lang="de-DE" sz="2600" dirty="0" err="1"/>
                  <a:t>corresponds</a:t>
                </a:r>
                <a:r>
                  <a:rPr lang="de-DE" sz="2600" dirty="0"/>
                  <a:t> </a:t>
                </a:r>
                <a:r>
                  <a:rPr lang="de-DE" sz="2600" dirty="0" err="1"/>
                  <a:t>to</a:t>
                </a:r>
                <a:r>
                  <a:rPr lang="de-DE" sz="2600" dirty="0"/>
                  <a:t> </a:t>
                </a:r>
                <a:r>
                  <a:rPr lang="de-DE" sz="2600" dirty="0" err="1"/>
                  <a:t>constant</a:t>
                </a:r>
                <a:r>
                  <a:rPr lang="de-DE" sz="2600" dirty="0"/>
                  <a:t> </a:t>
                </a:r>
                <a:r>
                  <a:rPr lang="de-DE" sz="2600" dirty="0" err="1"/>
                  <a:t>signal</a:t>
                </a:r>
                <a:r>
                  <a:rPr lang="de-DE" sz="2600" dirty="0"/>
                  <a:t>					turn ON at </a:t>
                </a:r>
                <a14:m>
                  <m:oMath xmlns:m="http://schemas.openxmlformats.org/officeDocument/2006/math">
                    <m:r>
                      <a:rPr lang="de-DE" sz="26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de-DE" sz="26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de-DE" sz="2600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de-DE" sz="2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sz="2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de-DE" sz="2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de-DE" sz="2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𝑠𝑇</m:t>
                        </m:r>
                      </m:sup>
                    </m:sSup>
                  </m:oMath>
                </a14:m>
                <a:r>
                  <a:rPr lang="de-DE" sz="2600" dirty="0"/>
                  <a:t> </a:t>
                </a:r>
                <a:r>
                  <a:rPr lang="de-DE" sz="2600" dirty="0" err="1"/>
                  <a:t>corresponds</a:t>
                </a:r>
                <a:r>
                  <a:rPr lang="de-DE" sz="2600" dirty="0"/>
                  <a:t> </a:t>
                </a:r>
                <a:r>
                  <a:rPr lang="de-DE" sz="2600" dirty="0" err="1"/>
                  <a:t>to</a:t>
                </a:r>
                <a:r>
                  <a:rPr lang="de-DE" sz="2600" dirty="0"/>
                  <a:t> </a:t>
                </a:r>
                <a:r>
                  <a:rPr lang="de-DE" sz="2600" dirty="0" err="1"/>
                  <a:t>delay</a:t>
                </a:r>
                <a:r>
                  <a:rPr lang="de-DE" sz="2600" dirty="0"/>
                  <a:t> </a:t>
                </a:r>
                <a:r>
                  <a:rPr lang="de-DE" sz="2600" dirty="0" err="1"/>
                  <a:t>by</a:t>
                </a:r>
                <a:r>
                  <a:rPr lang="de-DE" sz="2600" dirty="0"/>
                  <a:t> </a:t>
                </a:r>
                <a14:m>
                  <m:oMath xmlns:m="http://schemas.openxmlformats.org/officeDocument/2006/math">
                    <m:r>
                      <a:rPr lang="de-DE" sz="2600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de-DE" sz="2600" dirty="0"/>
                  <a:t> </a:t>
                </a:r>
                <a:r>
                  <a:rPr lang="de-DE" sz="2600" dirty="0">
                    <a:sym typeface="Wingdings" pitchFamily="2" charset="2"/>
                  </a:rPr>
                  <a:t> </a:t>
                </a:r>
                <a:r>
                  <a:rPr lang="de-DE" sz="2600" dirty="0" err="1">
                    <a:sym typeface="Wingdings" pitchFamily="2" charset="2"/>
                  </a:rPr>
                  <a:t>delayed</a:t>
                </a:r>
                <a:r>
                  <a:rPr lang="de-DE" sz="2600" dirty="0">
                    <a:sym typeface="Wingdings" pitchFamily="2" charset="2"/>
                  </a:rPr>
                  <a:t> </a:t>
                </a:r>
                <a:r>
                  <a:rPr lang="de-DE" sz="2600" dirty="0" err="1">
                    <a:sym typeface="Wingdings" pitchFamily="2" charset="2"/>
                  </a:rPr>
                  <a:t>constant</a:t>
                </a:r>
                <a:r>
                  <a:rPr lang="de-DE" sz="2600" dirty="0">
                    <a:sym typeface="Wingdings" pitchFamily="2" charset="2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de-DE" sz="260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de-DE" sz="2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sz="2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de-DE" sz="2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de-DE" sz="2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𝑠𝑇</m:t>
                            </m:r>
                          </m:sup>
                        </m:sSup>
                      </m:num>
                      <m:den>
                        <m:r>
                          <a:rPr lang="de-DE" sz="26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𝑠</m:t>
                        </m:r>
                      </m:den>
                    </m:f>
                  </m:oMath>
                </a14:m>
                <a:r>
                  <a:rPr lang="de-DE" sz="2600" dirty="0"/>
                  <a:t>	turn OFF (</a:t>
                </a:r>
                <a14:m>
                  <m:oMath xmlns:m="http://schemas.openxmlformats.org/officeDocument/2006/math">
                    <m:r>
                      <a:rPr lang="de-DE" sz="2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de-DE" sz="2600" dirty="0"/>
                  <a:t>) at </a:t>
                </a:r>
                <a14:m>
                  <m:oMath xmlns:m="http://schemas.openxmlformats.org/officeDocument/2006/math">
                    <m:r>
                      <a:rPr lang="de-DE" sz="26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de-DE" sz="2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sz="2600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endParaRPr lang="de-DE" sz="2600" dirty="0"/>
              </a:p>
              <a:p>
                <a:pPr marL="0" indent="0">
                  <a:buNone/>
                </a:pPr>
                <a:endParaRPr lang="de-DE" sz="2600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081C50DD-53E8-1F42-99A3-8B6A5B3B32B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11353801" cy="4351338"/>
              </a:xfrm>
              <a:blipFill>
                <a:blip r:embed="rId2"/>
                <a:stretch>
                  <a:fillRect l="-781" t="-261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51CCB1D-A448-03BD-3A32-30AC7AA0E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24</a:t>
            </a:fld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719B8D5B-0D47-31FD-6845-F893C48FEACC}"/>
                  </a:ext>
                </a:extLst>
              </p:cNvPr>
              <p:cNvSpPr txBox="1"/>
              <p:nvPr/>
            </p:nvSpPr>
            <p:spPr>
              <a:xfrm>
                <a:off x="4077433" y="3174443"/>
                <a:ext cx="113370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DE" sz="2400" b="0" i="0" smtClean="0">
                              <a:latin typeface="Cambria Math" panose="02040503050406030204" pitchFamily="18" charset="0"/>
                            </a:rPr>
                            <m:t>ZOH</m:t>
                          </m:r>
                        </m:sub>
                      </m:sSub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de-DE" sz="2400" dirty="0"/>
              </a:p>
            </p:txBody>
          </p:sp>
        </mc:Choice>
        <mc:Fallback xmlns="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719B8D5B-0D47-31FD-6845-F893C48FEA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7433" y="3174443"/>
                <a:ext cx="1133707" cy="369332"/>
              </a:xfrm>
              <a:prstGeom prst="rect">
                <a:avLst/>
              </a:prstGeom>
              <a:blipFill>
                <a:blip r:embed="rId3"/>
                <a:stretch>
                  <a:fillRect l="-6667" t="-3448" r="-8889" b="-3103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Geschweifte Klammer links 7">
            <a:extLst>
              <a:ext uri="{FF2B5EF4-FFF2-40B4-BE49-F238E27FC236}">
                <a16:creationId xmlns:a16="http://schemas.microsoft.com/office/drawing/2014/main" id="{92FC6A8B-5B78-D197-1045-16CE651414C8}"/>
              </a:ext>
            </a:extLst>
          </p:cNvPr>
          <p:cNvSpPr/>
          <p:nvPr/>
        </p:nvSpPr>
        <p:spPr>
          <a:xfrm rot="16200000">
            <a:off x="4366431" y="2604700"/>
            <a:ext cx="302808" cy="836678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8E192C18-A674-1CDA-B15C-26B4E9ED0A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0656" y="2760758"/>
            <a:ext cx="2842207" cy="16275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22C0B4EE-ACD1-333E-F7FA-6584238C715B}"/>
              </a:ext>
            </a:extLst>
          </p:cNvPr>
          <p:cNvCxnSpPr>
            <a:cxnSpLocks/>
          </p:cNvCxnSpPr>
          <p:nvPr/>
        </p:nvCxnSpPr>
        <p:spPr>
          <a:xfrm>
            <a:off x="4599709" y="3574552"/>
            <a:ext cx="336465" cy="9302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feld 16">
                <a:extLst>
                  <a:ext uri="{FF2B5EF4-FFF2-40B4-BE49-F238E27FC236}">
                    <a16:creationId xmlns:a16="http://schemas.microsoft.com/office/drawing/2014/main" id="{36766D84-3271-8FAA-B992-2C6F5891BF0A}"/>
                  </a:ext>
                </a:extLst>
              </p:cNvPr>
              <p:cNvSpPr txBox="1"/>
              <p:nvPr/>
            </p:nvSpPr>
            <p:spPr>
              <a:xfrm>
                <a:off x="5718849" y="3574552"/>
                <a:ext cx="3321807" cy="61786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1−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1,  0&lt;</m:t>
                              </m:r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0,          </m:t>
                              </m:r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17" name="Textfeld 16">
                <a:extLst>
                  <a:ext uri="{FF2B5EF4-FFF2-40B4-BE49-F238E27FC236}">
                    <a16:creationId xmlns:a16="http://schemas.microsoft.com/office/drawing/2014/main" id="{36766D84-3271-8FAA-B992-2C6F5891BF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8849" y="3574552"/>
                <a:ext cx="3321807" cy="617861"/>
              </a:xfrm>
              <a:prstGeom prst="rect">
                <a:avLst/>
              </a:prstGeom>
              <a:blipFill>
                <a:blip r:embed="rId5"/>
                <a:stretch>
                  <a:fillRect l="-1136" t="-217647" r="-758" b="-31568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777341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C1AEA4B-5887-4F08-EB19-ABD3933D8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ZOH </a:t>
            </a:r>
            <a:r>
              <a:rPr lang="de-DE" dirty="0" err="1"/>
              <a:t>Discretization</a:t>
            </a:r>
            <a:r>
              <a:rPr lang="de-DE" dirty="0"/>
              <a:t> </a:t>
            </a:r>
            <a:r>
              <a:rPr lang="de-DE" dirty="0" err="1"/>
              <a:t>Example</a:t>
            </a:r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8E2F7FDC-C112-EB05-B253-CD92731303A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de-DE" sz="2200" dirty="0"/>
                  <a:t>Given </a:t>
                </a:r>
                <a:r>
                  <a:rPr lang="de-DE" sz="2200" dirty="0" err="1"/>
                  <a:t>continuous</a:t>
                </a:r>
                <a:r>
                  <a:rPr lang="de-DE" sz="2200" dirty="0"/>
                  <a:t>-time </a:t>
                </a:r>
                <a:r>
                  <a:rPr lang="de-DE" sz="2200" dirty="0" err="1"/>
                  <a:t>system</a:t>
                </a:r>
                <a:r>
                  <a:rPr lang="de-DE" sz="2200" dirty="0"/>
                  <a:t>:</a:t>
                </a:r>
              </a:p>
              <a:p>
                <a:pPr marL="0" indent="0">
                  <a:buNone/>
                </a:pPr>
                <a:r>
                  <a:rPr lang="de-DE" sz="2200" b="0" dirty="0"/>
                  <a:t>	</a:t>
                </a:r>
                <a14:m>
                  <m:oMath xmlns:m="http://schemas.openxmlformats.org/officeDocument/2006/math">
                    <m:r>
                      <a:rPr lang="de-DE" sz="2200" b="0" i="1" smtClean="0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de-DE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2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de-DE" sz="22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DE" sz="2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sz="2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de-DE" sz="22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de-DE" sz="22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den>
                    </m:f>
                  </m:oMath>
                </a14:m>
                <a:endParaRPr lang="de-DE" sz="2200" dirty="0"/>
              </a:p>
              <a:p>
                <a:pPr marL="0" indent="0">
                  <a:buNone/>
                </a:pPr>
                <a:r>
                  <a:rPr lang="de-DE" sz="2200" dirty="0"/>
                  <a:t>Goal: Find </a:t>
                </a:r>
                <a:r>
                  <a:rPr lang="de-DE" sz="2200" dirty="0" err="1"/>
                  <a:t>discrete</a:t>
                </a:r>
                <a:r>
                  <a:rPr lang="de-DE" sz="2200" dirty="0"/>
                  <a:t>-time </a:t>
                </a:r>
                <a:r>
                  <a:rPr lang="de-DE" sz="2200" dirty="0" err="1"/>
                  <a:t>transfer</a:t>
                </a:r>
                <a:r>
                  <a:rPr lang="de-DE" sz="2200" dirty="0"/>
                  <a:t> </a:t>
                </a:r>
                <a:r>
                  <a:rPr lang="de-DE" sz="2200" dirty="0" err="1"/>
                  <a:t>function</a:t>
                </a:r>
                <a:r>
                  <a:rPr lang="de-DE" sz="2200" dirty="0"/>
                  <a:t>, </a:t>
                </a:r>
                <a:r>
                  <a:rPr lang="de-DE" sz="2200" dirty="0" err="1"/>
                  <a:t>using</a:t>
                </a:r>
                <a:r>
                  <a:rPr lang="de-DE" sz="2200" dirty="0"/>
                  <a:t> ZOH </a:t>
                </a:r>
                <a:r>
                  <a:rPr lang="de-DE" sz="2200" dirty="0" err="1"/>
                  <a:t>with</a:t>
                </a:r>
                <a:r>
                  <a:rPr lang="de-DE" sz="2200" dirty="0"/>
                  <a:t> </a:t>
                </a:r>
                <a:r>
                  <a:rPr lang="de-DE" sz="2200" dirty="0" err="1"/>
                  <a:t>sampling</a:t>
                </a:r>
                <a:r>
                  <a:rPr lang="de-DE" sz="2200" dirty="0"/>
                  <a:t> time </a:t>
                </a:r>
                <a14:m>
                  <m:oMath xmlns:m="http://schemas.openxmlformats.org/officeDocument/2006/math">
                    <m:r>
                      <a:rPr lang="de-DE" sz="2200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endParaRPr lang="de-DE" sz="2200" dirty="0"/>
              </a:p>
              <a:p>
                <a:pPr marL="0" indent="0">
                  <a:buNone/>
                </a:pPr>
                <a:endParaRPr lang="de-DE" sz="2200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de-DE" sz="2200" dirty="0" err="1"/>
                  <a:t>Apply</a:t>
                </a:r>
                <a:r>
                  <a:rPr lang="de-DE" sz="2200" dirty="0"/>
                  <a:t> ZOH: </a:t>
                </a:r>
                <a14:m>
                  <m:oMath xmlns:m="http://schemas.openxmlformats.org/officeDocument/2006/math">
                    <m:r>
                      <a:rPr lang="de-DE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de-DE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de-DE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f>
                      <m:fPr>
                        <m:ctrlPr>
                          <a:rPr lang="de-DE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1−</m:t>
                        </m:r>
                        <m:sSup>
                          <m:sSupPr>
                            <m:ctrlPr>
                              <a:rPr lang="de-DE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de-DE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de-DE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𝑠𝑇</m:t>
                            </m:r>
                          </m:sup>
                        </m:sSup>
                      </m:num>
                      <m:den>
                        <m:r>
                          <a:rPr lang="de-DE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den>
                    </m:f>
                    <m:r>
                      <a:rPr lang="de-DE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DE" sz="2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sz="22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de-DE" sz="2200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de-DE" sz="2200" i="1">
                            <a:latin typeface="Cambria Math" panose="02040503050406030204" pitchFamily="18" charset="0"/>
                          </a:rPr>
                          <m:t>+1</m:t>
                        </m:r>
                      </m:den>
                    </m:f>
                    <m:r>
                      <a:rPr lang="de-DE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f>
                      <m:fPr>
                        <m:ctrlPr>
                          <a:rPr lang="de-DE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1−</m:t>
                        </m:r>
                        <m:sSup>
                          <m:sSupPr>
                            <m:ctrlPr>
                              <a:rPr lang="de-DE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de-DE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de-DE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𝑠𝑇</m:t>
                            </m:r>
                          </m:sup>
                        </m:sSup>
                      </m:num>
                      <m:den>
                        <m:r>
                          <a:rPr lang="de-DE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den>
                    </m:f>
                  </m:oMath>
                </a14:m>
                <a:endParaRPr lang="de-DE" sz="2200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de-DE" sz="2200" dirty="0"/>
                  <a:t>Go </a:t>
                </a:r>
                <a:r>
                  <a:rPr lang="de-DE" sz="2200" dirty="0" err="1"/>
                  <a:t>to</a:t>
                </a:r>
                <a:r>
                  <a:rPr lang="de-DE" sz="2200" dirty="0"/>
                  <a:t> time </a:t>
                </a:r>
                <a:r>
                  <a:rPr lang="de-DE" sz="2200" dirty="0" err="1"/>
                  <a:t>domain</a:t>
                </a:r>
                <a:r>
                  <a:rPr lang="de-DE" sz="2200" dirty="0"/>
                  <a:t>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de-DE" sz="22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sz="22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d>
                          <m:dPr>
                            <m:ctrlPr>
                              <a:rPr lang="de-DE" sz="2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sz="22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de-DE" sz="22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de-DE" sz="2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ℒ</m:t>
                        </m:r>
                      </m:e>
                      <m:sup>
                        <m:r>
                          <a:rPr lang="de-DE" sz="22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d>
                      <m:dPr>
                        <m:begChr m:val="{"/>
                        <m:endChr m:val="}"/>
                        <m:ctrlPr>
                          <a:rPr lang="de-DE" sz="22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de-DE" sz="2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de-DE" sz="22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de-DE" sz="22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de-DE" sz="2200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den>
                        </m:f>
                        <m:r>
                          <a:rPr lang="de-DE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f>
                          <m:fPr>
                            <m:ctrlPr>
                              <a:rPr lang="de-DE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de-DE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1−</m:t>
                            </m:r>
                            <m:sSup>
                              <m:sSupPr>
                                <m:ctrlPr>
                                  <a:rPr lang="de-DE" sz="2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de-DE" sz="2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de-DE" sz="2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de-DE" sz="2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𝑠𝑇</m:t>
                                </m:r>
                              </m:sup>
                            </m:sSup>
                          </m:num>
                          <m:den>
                            <m:r>
                              <a:rPr lang="de-DE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den>
                        </m:f>
                      </m:e>
                    </m:d>
                    <m:r>
                      <a:rPr lang="de-DE" sz="22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de-DE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200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sSup>
                          <m:sSupPr>
                            <m:ctrlPr>
                              <a:rPr lang="de-DE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de-DE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de-DE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</m:e>
                    </m:d>
                    <m:r>
                      <a:rPr lang="de-DE" sz="2200" b="0" i="1" smtClean="0"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de-DE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200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sSup>
                          <m:sSupPr>
                            <m:ctrlPr>
                              <a:rPr lang="de-DE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de-DE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d>
                              <m:dPr>
                                <m:ctrlPr>
                                  <a:rPr lang="de-DE" sz="22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de-DE" sz="2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de-DE" sz="2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de-DE" sz="2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</m:d>
                          </m:sup>
                        </m:sSup>
                      </m:e>
                    </m:d>
                    <m:r>
                      <a:rPr lang="de-DE" sz="2200" b="0" i="1" smtClean="0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de-DE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2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de-DE" sz="22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de-DE" sz="22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</m:oMath>
                </a14:m>
                <a:endParaRPr lang="de-DE" sz="2200" b="0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de-DE" sz="2200" dirty="0"/>
                  <a:t>Sample </a:t>
                </a:r>
                <a:r>
                  <a:rPr lang="de-DE" sz="2200" dirty="0" err="1"/>
                  <a:t>output</a:t>
                </a:r>
                <a:r>
                  <a:rPr lang="de-DE" sz="2200" dirty="0"/>
                  <a:t>: </a:t>
                </a:r>
                <a14:m>
                  <m:oMath xmlns:m="http://schemas.openxmlformats.org/officeDocument/2006/math">
                    <m:r>
                      <a:rPr lang="de-DE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d>
                      <m:dPr>
                        <m:begChr m:val="["/>
                        <m:endChr m:val="]"/>
                        <m:ctrlPr>
                          <a:rPr lang="de-DE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de-DE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de-DE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de-DE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𝑘𝑇</m:t>
                        </m:r>
                      </m:e>
                    </m:d>
                    <m:r>
                      <a:rPr lang="de-DE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de-DE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de-DE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d>
                          <m:dPr>
                            <m:ctrlPr>
                              <a:rPr lang="de-DE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de-DE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  <m:r>
                          <a:rPr lang="de-DE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p>
                    </m:sSup>
                    <m:d>
                      <m:dPr>
                        <m:ctrlPr>
                          <a:rPr lang="de-DE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1−</m:t>
                        </m:r>
                        <m:sSup>
                          <m:sSupPr>
                            <m:ctrlPr>
                              <a:rPr lang="de-DE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de-DE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de-DE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</m:e>
                    </m:d>
                    <m:r>
                      <a:rPr lang="de-DE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   </m:t>
                    </m:r>
                    <m:r>
                      <a:rPr lang="de-DE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de-DE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≥1</m:t>
                    </m:r>
                  </m:oMath>
                </a14:m>
                <a:endParaRPr lang="de-DE" sz="2200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de-DE" sz="2200" dirty="0"/>
                  <a:t>Take </a:t>
                </a:r>
                <a:r>
                  <a:rPr lang="de-DE" sz="2200" dirty="0" err="1"/>
                  <a:t>z-transform</a:t>
                </a:r>
                <a:r>
                  <a:rPr lang="de-DE" sz="2200" dirty="0"/>
                  <a:t>: </a:t>
                </a:r>
                <a14:m>
                  <m:oMath xmlns:m="http://schemas.openxmlformats.org/officeDocument/2006/math">
                    <m:r>
                      <a:rPr lang="de-DE" sz="2200" i="1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de-DE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2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de-DE" sz="22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𝒵</m:t>
                    </m:r>
                    <m:d>
                      <m:dPr>
                        <m:begChr m:val="{"/>
                        <m:endChr m:val="}"/>
                        <m:ctrlPr>
                          <a:rPr lang="de-DE" sz="2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de-DE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e>
                    </m:d>
                    <m:r>
                      <a:rPr lang="de-DE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DE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1−</m:t>
                        </m:r>
                        <m:sSup>
                          <m:sSupPr>
                            <m:ctrlPr>
                              <a:rPr lang="de-DE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de-DE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de-DE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</m:num>
                      <m:den>
                        <m:r>
                          <a:rPr lang="de-DE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  <m:r>
                          <a:rPr lang="de-DE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de-DE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de-DE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de-DE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</m:den>
                    </m:f>
                  </m:oMath>
                </a14:m>
                <a:endParaRPr lang="de-DE" sz="2200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8E2F7FDC-C112-EB05-B253-CD92731303A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44" t="-145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2B74330-485E-C7D6-86E2-A23565E74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08262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752144E6-9A4A-09D2-9156-53D9591413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2122" y="1803626"/>
            <a:ext cx="6029879" cy="4552724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EFDBE573-CFF3-8D22-749D-89F4FDAAAA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Step</a:t>
            </a:r>
            <a:r>
              <a:rPr lang="de-DE" dirty="0"/>
              <a:t> Response </a:t>
            </a:r>
            <a:r>
              <a:rPr lang="de-DE" dirty="0" err="1"/>
              <a:t>Comparison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85D0C5C-A5B6-3AF4-23BC-09898A65F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26</a:t>
            </a:fld>
            <a:endParaRPr lang="en-GB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6F836160-3C06-D090-4A1C-195F52AE82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22" y="1803627"/>
            <a:ext cx="6029878" cy="4552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670348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98C735A-B755-C027-C92C-3C3466B426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Alternative </a:t>
            </a:r>
            <a:r>
              <a:rPr lang="de-DE" dirty="0" err="1"/>
              <a:t>Discretization</a:t>
            </a:r>
            <a:r>
              <a:rPr lang="de-DE" dirty="0"/>
              <a:t> Methods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12F07B9D-09CF-1A1F-5CD8-5F69FA09107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de-DE" dirty="0"/>
                  <a:t>How </a:t>
                </a:r>
                <a:r>
                  <a:rPr lang="de-DE" dirty="0" err="1"/>
                  <a:t>can</a:t>
                </a:r>
                <a:r>
                  <a:rPr lang="de-DE" dirty="0"/>
                  <a:t> I </a:t>
                </a:r>
                <a:r>
                  <a:rPr lang="de-DE" dirty="0" err="1"/>
                  <a:t>approximate</a:t>
                </a:r>
                <a:r>
                  <a:rPr lang="de-DE" dirty="0"/>
                  <a:t> a </a:t>
                </a:r>
                <a:r>
                  <a:rPr lang="de-DE" dirty="0" err="1"/>
                  <a:t>continuous</a:t>
                </a:r>
                <a:r>
                  <a:rPr lang="de-DE" dirty="0"/>
                  <a:t> </a:t>
                </a:r>
                <a:r>
                  <a:rPr lang="de-DE" dirty="0" err="1"/>
                  <a:t>transfer</a:t>
                </a:r>
                <a:r>
                  <a:rPr lang="de-DE" dirty="0"/>
                  <a:t> </a:t>
                </a:r>
                <a:r>
                  <a:rPr lang="de-DE" dirty="0" err="1"/>
                  <a:t>function</a:t>
                </a:r>
                <a:r>
                  <a:rPr lang="de-DE" dirty="0"/>
                  <a:t> in </a:t>
                </a:r>
                <a:r>
                  <a:rPr lang="de-DE" dirty="0" err="1"/>
                  <a:t>discrete</a:t>
                </a:r>
                <a:r>
                  <a:rPr lang="de-DE" dirty="0"/>
                  <a:t> time </a:t>
                </a:r>
                <a:r>
                  <a:rPr lang="de-DE" dirty="0" err="1"/>
                  <a:t>without</a:t>
                </a:r>
                <a:r>
                  <a:rPr lang="de-DE" dirty="0"/>
                  <a:t> </a:t>
                </a:r>
                <a:r>
                  <a:rPr lang="de-DE" dirty="0" err="1"/>
                  <a:t>modeling</a:t>
                </a:r>
                <a:r>
                  <a:rPr lang="de-DE" dirty="0"/>
                  <a:t> ZOH </a:t>
                </a:r>
                <a:r>
                  <a:rPr lang="de-DE" dirty="0" err="1"/>
                  <a:t>explicitly</a:t>
                </a:r>
                <a:r>
                  <a:rPr lang="de-DE" dirty="0"/>
                  <a:t>?</a:t>
                </a:r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r>
                  <a:rPr lang="de-DE" dirty="0"/>
                  <a:t>Goal: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)→</m:t>
                    </m:r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de-DE" dirty="0"/>
                  <a:t> (approximative)</a:t>
                </a:r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r>
                  <a:rPr lang="de-DE" dirty="0"/>
                  <a:t>Methods:</a:t>
                </a:r>
              </a:p>
              <a:p>
                <a:r>
                  <a:rPr lang="de-DE" dirty="0"/>
                  <a:t>Forward Euler</a:t>
                </a:r>
              </a:p>
              <a:p>
                <a:r>
                  <a:rPr lang="de-DE" dirty="0" err="1"/>
                  <a:t>Backward</a:t>
                </a:r>
                <a:r>
                  <a:rPr lang="de-DE" dirty="0"/>
                  <a:t> Euler</a:t>
                </a:r>
              </a:p>
              <a:p>
                <a:r>
                  <a:rPr lang="de-DE" dirty="0" err="1"/>
                  <a:t>Tustin</a:t>
                </a:r>
                <a:r>
                  <a:rPr lang="de-DE" dirty="0"/>
                  <a:t> (bilinear)</a:t>
                </a:r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12F07B9D-09CF-1A1F-5CD8-5F69FA09107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616" b="-174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445104E-DB0C-27FD-F25D-8F0C66906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27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464485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9A7F8DE-CF5F-2F1E-0945-3168CB437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Forward Euler Method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310AC651-4ADB-CB27-8745-B7F22B02E97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de-DE" dirty="0"/>
                  <a:t>Simple </a:t>
                </a:r>
                <a:r>
                  <a:rPr lang="de-DE" dirty="0" err="1"/>
                  <a:t>numerical</a:t>
                </a:r>
                <a:r>
                  <a:rPr lang="de-DE" dirty="0"/>
                  <a:t> </a:t>
                </a:r>
                <a:r>
                  <a:rPr lang="de-DE" dirty="0" err="1"/>
                  <a:t>approximation</a:t>
                </a:r>
                <a:endParaRPr lang="de-DE" dirty="0"/>
              </a:p>
              <a:p>
                <a:r>
                  <a:rPr lang="de-DE" dirty="0"/>
                  <a:t>Can </a:t>
                </a:r>
                <a:r>
                  <a:rPr lang="de-DE" dirty="0" err="1"/>
                  <a:t>distort</a:t>
                </a:r>
                <a:r>
                  <a:rPr lang="de-DE" dirty="0"/>
                  <a:t> </a:t>
                </a:r>
                <a:r>
                  <a:rPr lang="de-DE" dirty="0" err="1"/>
                  <a:t>dynamics</a:t>
                </a:r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r>
                  <a:rPr lang="de-DE" dirty="0"/>
                  <a:t>Approximation: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de-D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310AC651-4ADB-CB27-8745-B7F22B02E97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B7BC145-6539-93D9-C74D-D8A3C1EEA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059777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E80C0C3-96DF-5883-A7D5-BA4130F5C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Example</a:t>
            </a:r>
            <a:r>
              <a:rPr lang="de-DE" dirty="0"/>
              <a:t> (Forward Euler)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92E87A64-688D-3211-F2E5-F5ECC345E67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de-DE" dirty="0"/>
                  <a:t>Given: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den>
                      </m:f>
                    </m:oMath>
                  </m:oMathPara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r>
                  <a:rPr lang="de-DE" dirty="0"/>
                  <a:t>Substitute: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</m:oMath>
                  </m:oMathPara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r>
                  <a:rPr lang="de-DE" dirty="0"/>
                  <a:t>Simple</a:t>
                </a:r>
              </a:p>
              <a:p>
                <a:r>
                  <a:rPr lang="de-DE" dirty="0"/>
                  <a:t>Poor </a:t>
                </a:r>
                <a:r>
                  <a:rPr lang="de-DE" dirty="0" err="1"/>
                  <a:t>stability</a:t>
                </a:r>
                <a:r>
                  <a:rPr lang="de-DE" dirty="0"/>
                  <a:t> </a:t>
                </a:r>
                <a:r>
                  <a:rPr lang="de-DE" dirty="0" err="1"/>
                  <a:t>properties</a:t>
                </a:r>
                <a:endParaRPr lang="de-DE" dirty="0"/>
              </a:p>
              <a:p>
                <a:r>
                  <a:rPr lang="de-DE" dirty="0"/>
                  <a:t>Can </a:t>
                </a:r>
                <a:r>
                  <a:rPr lang="de-DE" dirty="0" err="1"/>
                  <a:t>destabilize</a:t>
                </a:r>
                <a:r>
                  <a:rPr lang="de-DE" dirty="0"/>
                  <a:t> </a:t>
                </a:r>
                <a:r>
                  <a:rPr lang="de-DE" dirty="0" err="1"/>
                  <a:t>system</a:t>
                </a:r>
                <a:endParaRPr lang="de-DE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92E87A64-688D-3211-F2E5-F5ECC345E67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348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5F038A0-EFFA-1D57-0B6D-267F3C7225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29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13254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0AC9EB8-E9B3-251E-BE78-E4D38AB67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Backward</a:t>
            </a:r>
            <a:r>
              <a:rPr lang="de-DE" dirty="0"/>
              <a:t> Euler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C1FDD0BB-F10B-A81F-CD00-93CAFD54085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de-DE" dirty="0"/>
                  <a:t>Approximation: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de-DE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de-DE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den>
                      </m:f>
                    </m:oMath>
                  </m:oMathPara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r>
                  <a:rPr lang="de-DE" dirty="0"/>
                  <a:t>More </a:t>
                </a:r>
                <a:r>
                  <a:rPr lang="de-DE" dirty="0" err="1"/>
                  <a:t>stable</a:t>
                </a:r>
                <a:r>
                  <a:rPr lang="de-DE" dirty="0"/>
                  <a:t> </a:t>
                </a:r>
                <a:r>
                  <a:rPr lang="de-DE" dirty="0" err="1"/>
                  <a:t>than</a:t>
                </a:r>
                <a:r>
                  <a:rPr lang="de-DE" dirty="0"/>
                  <a:t> </a:t>
                </a:r>
                <a:r>
                  <a:rPr lang="de-DE" dirty="0" err="1"/>
                  <a:t>forward</a:t>
                </a:r>
                <a:r>
                  <a:rPr lang="de-DE" dirty="0"/>
                  <a:t> Euler</a:t>
                </a:r>
              </a:p>
              <a:p>
                <a:r>
                  <a:rPr lang="de-DE" dirty="0" err="1"/>
                  <a:t>Introduces</a:t>
                </a:r>
                <a:r>
                  <a:rPr lang="de-DE" dirty="0"/>
                  <a:t> </a:t>
                </a:r>
                <a:r>
                  <a:rPr lang="de-DE" dirty="0" err="1"/>
                  <a:t>damping</a:t>
                </a:r>
                <a:endParaRPr lang="de-DE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C1FDD0BB-F10B-A81F-CD00-93CAFD54085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8A9B552-86AD-FEB2-1A5D-4C25CA76D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30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3509214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FFFBB7-5493-01B1-DF7E-930B30993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Tustin</a:t>
            </a:r>
            <a:r>
              <a:rPr lang="de-DE" dirty="0"/>
              <a:t> (Bilinear) Method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0BDC2B80-65D3-5892-4CF0-DAC832DAC83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de-DE" dirty="0"/>
                  <a:t>Bilinear </a:t>
                </a:r>
                <a:r>
                  <a:rPr lang="de-DE" dirty="0" err="1"/>
                  <a:t>transformation</a:t>
                </a:r>
                <a:endParaRPr lang="de-DE" dirty="0"/>
              </a:p>
              <a:p>
                <a:r>
                  <a:rPr lang="de-DE" dirty="0" err="1"/>
                  <a:t>Preserves</a:t>
                </a:r>
                <a:r>
                  <a:rPr lang="de-DE" dirty="0"/>
                  <a:t> </a:t>
                </a:r>
                <a:r>
                  <a:rPr lang="de-DE" dirty="0" err="1"/>
                  <a:t>frequency</a:t>
                </a:r>
                <a:r>
                  <a:rPr lang="de-DE" dirty="0"/>
                  <a:t> </a:t>
                </a:r>
                <a:r>
                  <a:rPr lang="de-DE" dirty="0" err="1"/>
                  <a:t>characteristics</a:t>
                </a:r>
                <a:r>
                  <a:rPr lang="de-DE" dirty="0"/>
                  <a:t> </a:t>
                </a:r>
                <a:r>
                  <a:rPr lang="de-DE" dirty="0" err="1"/>
                  <a:t>better</a:t>
                </a:r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r>
                  <a:rPr lang="de-DE" dirty="0"/>
                  <a:t>Approximation: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de-DE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de-DE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de-DE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  <m:f>
                        <m:fPr>
                          <m:ctrlP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</m:t>
                          </m:r>
                        </m:den>
                      </m:f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0BDC2B80-65D3-5892-4CF0-DAC832DAC83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6D5E52C-843C-475B-4446-7DFD4F8F7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31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978182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8743D22-DD11-C9A9-BADF-57420F9D8F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Example</a:t>
            </a:r>
            <a:r>
              <a:rPr lang="de-DE" dirty="0"/>
              <a:t> (</a:t>
            </a:r>
            <a:r>
              <a:rPr lang="de-DE" dirty="0" err="1"/>
              <a:t>Tustin</a:t>
            </a:r>
            <a:r>
              <a:rPr lang="de-DE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689A3911-D8C7-1DE3-FBD4-A2A8BF7F6F3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de-DE" dirty="0"/>
                  <a:t>Given: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de-DE" i="1">
                          <a:latin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+1</m:t>
                          </m:r>
                        </m:den>
                      </m:f>
                    </m:oMath>
                  </m:oMathPara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r>
                  <a:rPr lang="de-DE" dirty="0"/>
                  <a:t>Substitute </a:t>
                </a:r>
                <a:r>
                  <a:rPr lang="de-DE" dirty="0" err="1"/>
                  <a:t>Tustin</a:t>
                </a:r>
                <a:r>
                  <a:rPr lang="de-DE" dirty="0"/>
                  <a:t> </a:t>
                </a:r>
                <a:r>
                  <a:rPr lang="de-DE" dirty="0" err="1"/>
                  <a:t>approximation</a:t>
                </a:r>
                <a:endParaRPr lang="de-DE" dirty="0"/>
              </a:p>
              <a:p>
                <a:pPr marL="0" indent="0">
                  <a:buNone/>
                </a:pPr>
                <a:r>
                  <a:rPr lang="de-DE" dirty="0"/>
                  <a:t>…</a:t>
                </a:r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689A3911-D8C7-1DE3-FBD4-A2A8BF7F6F3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12B3716-CB48-FEDE-2AA3-2A665E976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32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732098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252453-49FB-5BCE-B647-57900ED570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Frequency</a:t>
            </a:r>
            <a:r>
              <a:rPr lang="de-DE" dirty="0"/>
              <a:t> </a:t>
            </a:r>
            <a:r>
              <a:rPr lang="de-DE" dirty="0" err="1"/>
              <a:t>Warping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4155171-0F07-F48C-4FC5-AD6A950196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 err="1"/>
              <a:t>Tustin</a:t>
            </a:r>
            <a:r>
              <a:rPr lang="de-DE" dirty="0"/>
              <a:t> </a:t>
            </a:r>
            <a:r>
              <a:rPr lang="de-DE" dirty="0" err="1"/>
              <a:t>causes</a:t>
            </a:r>
            <a:r>
              <a:rPr lang="de-DE" dirty="0"/>
              <a:t> </a:t>
            </a:r>
            <a:r>
              <a:rPr lang="de-DE" dirty="0" err="1"/>
              <a:t>nonlinear</a:t>
            </a:r>
            <a:r>
              <a:rPr lang="de-DE" dirty="0"/>
              <a:t> </a:t>
            </a:r>
            <a:r>
              <a:rPr lang="de-DE" dirty="0" err="1"/>
              <a:t>frequency</a:t>
            </a:r>
            <a:r>
              <a:rPr lang="de-DE" dirty="0"/>
              <a:t> </a:t>
            </a:r>
            <a:r>
              <a:rPr lang="de-DE" dirty="0" err="1"/>
              <a:t>mapping</a:t>
            </a:r>
            <a:br>
              <a:rPr lang="de-DE" dirty="0"/>
            </a:br>
            <a:endParaRPr lang="de-DE" dirty="0"/>
          </a:p>
          <a:p>
            <a:pPr marL="0" indent="0">
              <a:buNone/>
            </a:pPr>
            <a:r>
              <a:rPr lang="de-DE" dirty="0" err="1"/>
              <a:t>Correction</a:t>
            </a:r>
            <a:r>
              <a:rPr lang="de-DE" dirty="0"/>
              <a:t>: </a:t>
            </a:r>
            <a:r>
              <a:rPr lang="de-DE" dirty="0" err="1"/>
              <a:t>Prewarping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/>
              <a:t>…</a:t>
            </a:r>
          </a:p>
          <a:p>
            <a:pPr marL="0" indent="0">
              <a:buNone/>
            </a:pP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04E2426-CC49-F7FA-FF4C-A2C893F55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33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979998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065F0A0-A42C-3D79-A55E-025579828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Comparison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38F5954-4206-7552-2B67-672815269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34</a:t>
            </a:fld>
            <a:endParaRPr lang="en-GB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D0E612E8-221D-70BC-DF1F-056028EC50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5400" y="1476375"/>
            <a:ext cx="7061200" cy="524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092087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27BFA6C-0A38-374F-945C-AC6224925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Implementation </a:t>
            </a:r>
            <a:r>
              <a:rPr lang="de-DE" dirty="0" err="1"/>
              <a:t>Issues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528764C-E616-37B1-6C5F-EC8409FD45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/>
              <a:t>Quantization</a:t>
            </a:r>
            <a:endParaRPr lang="de-DE" dirty="0"/>
          </a:p>
          <a:p>
            <a:r>
              <a:rPr lang="de-DE" dirty="0" err="1"/>
              <a:t>Computation</a:t>
            </a:r>
            <a:r>
              <a:rPr lang="de-DE" dirty="0"/>
              <a:t> </a:t>
            </a:r>
            <a:r>
              <a:rPr lang="de-DE" dirty="0" err="1"/>
              <a:t>delay</a:t>
            </a:r>
            <a:endParaRPr lang="de-DE" dirty="0"/>
          </a:p>
          <a:p>
            <a:r>
              <a:rPr lang="de-DE" dirty="0" err="1"/>
              <a:t>Numerical</a:t>
            </a:r>
            <a:r>
              <a:rPr lang="de-DE" dirty="0"/>
              <a:t> </a:t>
            </a:r>
            <a:r>
              <a:rPr lang="de-DE" dirty="0" err="1"/>
              <a:t>precision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/>
              <a:t>…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F66F0F8-6AC5-36AB-811E-3A7AD0150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35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741612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928A614-DFBF-9C8B-344A-5180371F0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Discrete</a:t>
            </a:r>
            <a:r>
              <a:rPr lang="de-DE" dirty="0"/>
              <a:t>-Time PID Tuning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8F5456DF-6701-1B36-6F40-82DE65498C0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de-DE" dirty="0"/>
                  <a:t>PID </a:t>
                </a:r>
                <a:r>
                  <a:rPr lang="de-DE" dirty="0" err="1"/>
                  <a:t>controller</a:t>
                </a:r>
                <a:r>
                  <a:rPr lang="de-DE" dirty="0"/>
                  <a:t> (</a:t>
                </a:r>
                <a:r>
                  <a:rPr lang="de-DE" dirty="0" err="1"/>
                  <a:t>continuous</a:t>
                </a:r>
                <a:r>
                  <a:rPr lang="de-DE" dirty="0"/>
                  <a:t>-time):</a:t>
                </a:r>
              </a:p>
              <a:p>
                <a:pPr marL="0" indent="0">
                  <a:buNone/>
                </a:pPr>
                <a:r>
                  <a:rPr lang="de-DE" b="0" dirty="0"/>
                  <a:t>	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de-DE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de-DE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𝑒</m:t>
                    </m:r>
                    <m:d>
                      <m:d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de-DE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de-DE" b="0" i="1" smtClean="0">
                        <a:latin typeface="Cambria Math" panose="02040503050406030204" pitchFamily="18" charset="0"/>
                      </a:rPr>
                      <m:t> </m:t>
                    </m:r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  <m:d>
                          <m:d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b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b>
                        </m:sSub>
                        <m:f>
                          <m:f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𝑑𝑒</m:t>
                            </m:r>
                            <m:d>
                              <m:dPr>
                                <m:ctrlP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</m:num>
                          <m:den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𝑑𝑡</m:t>
                            </m:r>
                          </m:den>
                        </m:f>
                      </m:e>
                    </m:nary>
                  </m:oMath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r>
                  <a:rPr lang="de-DE" dirty="0"/>
                  <a:t>Goal: Implement </a:t>
                </a:r>
                <a:r>
                  <a:rPr lang="de-DE" dirty="0" err="1"/>
                  <a:t>this</a:t>
                </a:r>
                <a:r>
                  <a:rPr lang="de-DE" dirty="0"/>
                  <a:t> in </a:t>
                </a:r>
                <a:r>
                  <a:rPr lang="de-DE" dirty="0" err="1"/>
                  <a:t>discrete</a:t>
                </a:r>
                <a:r>
                  <a:rPr lang="de-DE" dirty="0"/>
                  <a:t>-time</a:t>
                </a:r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8F5456DF-6701-1B36-6F40-82DE65498C0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668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4A1D167-F509-C713-3874-CD31804652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36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01862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97D1B7-F407-EF19-8DA6-F79E26E07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Why</a:t>
            </a:r>
            <a:r>
              <a:rPr lang="de-DE" dirty="0"/>
              <a:t> </a:t>
            </a:r>
            <a:r>
              <a:rPr lang="de-DE" dirty="0" err="1"/>
              <a:t>Discrete</a:t>
            </a:r>
            <a:r>
              <a:rPr lang="de-DE" dirty="0"/>
              <a:t> PID </a:t>
            </a:r>
            <a:r>
              <a:rPr lang="de-DE" dirty="0" err="1"/>
              <a:t>is</a:t>
            </a:r>
            <a:r>
              <a:rPr lang="de-DE" dirty="0"/>
              <a:t> Different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752C2A3D-7981-8C67-3B45-297C735081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de-DE" dirty="0"/>
                  <a:t>Key </a:t>
                </a:r>
                <a:r>
                  <a:rPr lang="de-DE" dirty="0" err="1"/>
                  <a:t>differences</a:t>
                </a:r>
                <a:r>
                  <a:rPr lang="de-DE" dirty="0"/>
                  <a:t> </a:t>
                </a:r>
                <a:r>
                  <a:rPr lang="de-DE" dirty="0" err="1"/>
                  <a:t>from</a:t>
                </a:r>
                <a:r>
                  <a:rPr lang="de-DE" dirty="0"/>
                  <a:t> </a:t>
                </a:r>
                <a:r>
                  <a:rPr lang="de-DE" dirty="0" err="1"/>
                  <a:t>continuous</a:t>
                </a:r>
                <a:r>
                  <a:rPr lang="de-DE" dirty="0"/>
                  <a:t> PID:</a:t>
                </a:r>
              </a:p>
              <a:p>
                <a:r>
                  <a:rPr lang="de-DE" dirty="0"/>
                  <a:t>Signals </a:t>
                </a:r>
                <a:r>
                  <a:rPr lang="de-DE" dirty="0" err="1"/>
                  <a:t>are</a:t>
                </a:r>
                <a:r>
                  <a:rPr lang="de-DE" dirty="0"/>
                  <a:t> </a:t>
                </a:r>
                <a:r>
                  <a:rPr lang="de-DE" dirty="0" err="1"/>
                  <a:t>sampled</a:t>
                </a:r>
                <a:r>
                  <a:rPr lang="de-DE" dirty="0"/>
                  <a:t>: 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𝑒</m:t>
                    </m:r>
                    <m:d>
                      <m:dPr>
                        <m:begChr m:val="["/>
                        <m:endChr m:val="]"/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de-DE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𝑘𝑇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de-DE" dirty="0"/>
              </a:p>
              <a:p>
                <a:r>
                  <a:rPr lang="de-DE" dirty="0"/>
                  <a:t>Integration </a:t>
                </a:r>
                <a:r>
                  <a:rPr lang="de-DE" dirty="0" err="1"/>
                  <a:t>becomes</a:t>
                </a:r>
                <a:r>
                  <a:rPr lang="de-DE" dirty="0"/>
                  <a:t> </a:t>
                </a:r>
                <a:r>
                  <a:rPr lang="de-DE" dirty="0" err="1"/>
                  <a:t>summation</a:t>
                </a:r>
                <a:endParaRPr lang="de-DE" dirty="0"/>
              </a:p>
              <a:p>
                <a:r>
                  <a:rPr lang="de-DE" dirty="0"/>
                  <a:t>Derivative </a:t>
                </a:r>
                <a:r>
                  <a:rPr lang="de-DE" dirty="0" err="1"/>
                  <a:t>becomes</a:t>
                </a:r>
                <a:r>
                  <a:rPr lang="de-DE" dirty="0"/>
                  <a:t> </a:t>
                </a:r>
                <a:r>
                  <a:rPr lang="de-DE" dirty="0" err="1"/>
                  <a:t>difference</a:t>
                </a:r>
                <a:endParaRPr lang="de-DE" dirty="0"/>
              </a:p>
              <a:p>
                <a:r>
                  <a:rPr lang="de-DE" dirty="0" err="1"/>
                  <a:t>Numerical</a:t>
                </a:r>
                <a:r>
                  <a:rPr lang="de-DE" dirty="0"/>
                  <a:t> </a:t>
                </a:r>
                <a:r>
                  <a:rPr lang="de-DE" dirty="0" err="1"/>
                  <a:t>approximation</a:t>
                </a:r>
                <a:r>
                  <a:rPr lang="de-DE" dirty="0"/>
                  <a:t> </a:t>
                </a:r>
                <a:r>
                  <a:rPr lang="de-DE" dirty="0" err="1"/>
                  <a:t>required</a:t>
                </a:r>
                <a:endParaRPr lang="de-DE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752C2A3D-7981-8C67-3B45-297C735081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8D74D38-3849-86C7-1380-A543C57AD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37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148220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3EA822-1872-313C-1FDE-1AF5CF998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Discrete</a:t>
            </a:r>
            <a:r>
              <a:rPr lang="de-DE" dirty="0"/>
              <a:t>-Time PID Goal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E4EE34C3-6427-614D-303E-E101FEFEAB5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de-DE" dirty="0"/>
                  <a:t>Goal: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begChr m:val="["/>
                        <m:endChr m:val="]"/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de-DE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de-DE" dirty="0"/>
                  <a:t> </a:t>
                </a:r>
                <a:r>
                  <a:rPr lang="de-DE" dirty="0" err="1"/>
                  <a:t>function</a:t>
                </a:r>
                <a:r>
                  <a:rPr lang="de-DE" dirty="0"/>
                  <a:t> </a:t>
                </a:r>
                <a:r>
                  <a:rPr lang="de-DE" dirty="0" err="1"/>
                  <a:t>of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𝑒</m:t>
                    </m:r>
                    <m:d>
                      <m:dPr>
                        <m:begChr m:val="["/>
                        <m:endChr m:val="]"/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de-DE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𝑒</m:t>
                    </m:r>
                    <m:d>
                      <m:dPr>
                        <m:begChr m:val="["/>
                        <m:endChr m:val="]"/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de-DE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𝑒</m:t>
                    </m:r>
                    <m:d>
                      <m:dPr>
                        <m:begChr m:val="["/>
                        <m:endChr m:val="]"/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</m:e>
                    </m:d>
                    <m:r>
                      <a:rPr lang="de-DE" b="0" i="1" smtClean="0">
                        <a:latin typeface="Cambria Math" panose="02040503050406030204" pitchFamily="18" charset="0"/>
                      </a:rPr>
                      <m:t>, …</m:t>
                    </m:r>
                  </m:oMath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r>
                  <a:rPr lang="de-DE" dirty="0" err="1"/>
                  <a:t>Two</a:t>
                </a:r>
                <a:r>
                  <a:rPr lang="de-DE" dirty="0"/>
                  <a:t> </a:t>
                </a:r>
                <a:r>
                  <a:rPr lang="de-DE" dirty="0" err="1"/>
                  <a:t>main</a:t>
                </a:r>
                <a:r>
                  <a:rPr lang="de-DE" dirty="0"/>
                  <a:t> </a:t>
                </a:r>
                <a:r>
                  <a:rPr lang="de-DE" dirty="0" err="1"/>
                  <a:t>forms</a:t>
                </a:r>
                <a:r>
                  <a:rPr lang="de-DE" dirty="0"/>
                  <a:t>:</a:t>
                </a:r>
              </a:p>
              <a:p>
                <a:r>
                  <a:rPr lang="de-DE" dirty="0"/>
                  <a:t>Position form</a:t>
                </a:r>
              </a:p>
              <a:p>
                <a:r>
                  <a:rPr lang="de-DE" dirty="0"/>
                  <a:t>Velocity (</a:t>
                </a:r>
                <a:r>
                  <a:rPr lang="de-DE" dirty="0" err="1"/>
                  <a:t>incremental</a:t>
                </a:r>
                <a:r>
                  <a:rPr lang="de-DE" dirty="0"/>
                  <a:t>) form</a:t>
                </a:r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E4EE34C3-6427-614D-303E-E101FEFEAB5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36231E0-3954-F05D-0A6C-F8F01344E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38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842989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C208CCB-605E-513B-1BC3-36C369993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Summary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17F2BDD-E451-7A8E-F095-CE64538B4F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Digital </a:t>
            </a:r>
            <a:r>
              <a:rPr lang="de-DE" dirty="0" err="1"/>
              <a:t>control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essential in modern </a:t>
            </a:r>
            <a:r>
              <a:rPr lang="de-DE" dirty="0" err="1"/>
              <a:t>systems</a:t>
            </a:r>
            <a:endParaRPr lang="de-DE" dirty="0"/>
          </a:p>
          <a:p>
            <a:r>
              <a:rPr lang="de-DE" dirty="0"/>
              <a:t>Sampling </a:t>
            </a:r>
            <a:r>
              <a:rPr lang="de-DE" dirty="0" err="1"/>
              <a:t>introduces</a:t>
            </a:r>
            <a:r>
              <a:rPr lang="de-DE" dirty="0"/>
              <a:t> </a:t>
            </a:r>
            <a:r>
              <a:rPr lang="de-DE" dirty="0" err="1"/>
              <a:t>constraints</a:t>
            </a:r>
            <a:endParaRPr lang="de-DE" dirty="0"/>
          </a:p>
          <a:p>
            <a:r>
              <a:rPr lang="de-DE" dirty="0"/>
              <a:t>ZOH </a:t>
            </a:r>
            <a:r>
              <a:rPr lang="de-DE" dirty="0" err="1"/>
              <a:t>connects</a:t>
            </a:r>
            <a:r>
              <a:rPr lang="de-DE" dirty="0"/>
              <a:t> </a:t>
            </a:r>
            <a:r>
              <a:rPr lang="de-DE" dirty="0" err="1"/>
              <a:t>discrete</a:t>
            </a:r>
            <a:r>
              <a:rPr lang="de-DE" dirty="0"/>
              <a:t> and </a:t>
            </a:r>
            <a:r>
              <a:rPr lang="de-DE" dirty="0" err="1"/>
              <a:t>continuous</a:t>
            </a:r>
            <a:r>
              <a:rPr lang="de-DE" dirty="0"/>
              <a:t> </a:t>
            </a:r>
            <a:r>
              <a:rPr lang="de-DE" dirty="0" err="1"/>
              <a:t>worlds</a:t>
            </a:r>
            <a:endParaRPr lang="de-DE" dirty="0"/>
          </a:p>
          <a:p>
            <a:r>
              <a:rPr lang="de-DE" dirty="0" err="1"/>
              <a:t>z-transform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key</a:t>
            </a:r>
            <a:r>
              <a:rPr lang="de-DE" dirty="0"/>
              <a:t> </a:t>
            </a:r>
            <a:r>
              <a:rPr lang="de-DE" dirty="0" err="1"/>
              <a:t>analysis</a:t>
            </a:r>
            <a:r>
              <a:rPr lang="de-DE" dirty="0"/>
              <a:t> </a:t>
            </a:r>
            <a:r>
              <a:rPr lang="de-DE" dirty="0" err="1"/>
              <a:t>tool</a:t>
            </a:r>
            <a:endParaRPr lang="de-DE" dirty="0"/>
          </a:p>
          <a:p>
            <a:r>
              <a:rPr lang="de-DE" dirty="0" err="1"/>
              <a:t>Discretization</a:t>
            </a:r>
            <a:r>
              <a:rPr lang="de-DE" dirty="0"/>
              <a:t> </a:t>
            </a:r>
            <a:r>
              <a:rPr lang="de-DE" dirty="0" err="1"/>
              <a:t>method</a:t>
            </a:r>
            <a:r>
              <a:rPr lang="de-DE" dirty="0"/>
              <a:t> </a:t>
            </a:r>
            <a:r>
              <a:rPr lang="de-DE" dirty="0" err="1"/>
              <a:t>matters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A27C285-2CA8-7C1D-7B48-526D96B9D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39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99001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1473</Words>
  <Application>Microsoft Macintosh PowerPoint</Application>
  <PresentationFormat>Breitbild</PresentationFormat>
  <Paragraphs>348</Paragraphs>
  <Slides>39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39</vt:i4>
      </vt:variant>
    </vt:vector>
  </HeadingPairs>
  <TitlesOfParts>
    <vt:vector size="45" baseType="lpstr">
      <vt:lpstr>Aptos</vt:lpstr>
      <vt:lpstr>Aptos Display</vt:lpstr>
      <vt:lpstr>Arial</vt:lpstr>
      <vt:lpstr>Cambria Math</vt:lpstr>
      <vt:lpstr>Wingdings</vt:lpstr>
      <vt:lpstr>Office Theme</vt:lpstr>
      <vt:lpstr>Discrete-time Controllers</vt:lpstr>
      <vt:lpstr>Course Schedule</vt:lpstr>
      <vt:lpstr>Discrete-time Controllers</vt:lpstr>
      <vt:lpstr>Why Digital Control?</vt:lpstr>
      <vt:lpstr>Continuous vs Digital Control</vt:lpstr>
      <vt:lpstr>PowerPoint-Präsentation</vt:lpstr>
      <vt:lpstr>Sampling</vt:lpstr>
      <vt:lpstr>Undersampling</vt:lpstr>
      <vt:lpstr>Example: Moiré Effect in Digital Images</vt:lpstr>
      <vt:lpstr>Nyquist-Shannon Sampling Theorem</vt:lpstr>
      <vt:lpstr>Anti-Aliasing Filter</vt:lpstr>
      <vt:lpstr>Zero-Order Hold (ZOH)</vt:lpstr>
      <vt:lpstr>From Differential to Difference Equations</vt:lpstr>
      <vt:lpstr>Example: First-Order System</vt:lpstr>
      <vt:lpstr>PowerPoint-Präsentation</vt:lpstr>
      <vt:lpstr>Difference Equations</vt:lpstr>
      <vt:lpstr>Motivation for z-Transform</vt:lpstr>
      <vt:lpstr>z-Transform Definition</vt:lpstr>
      <vt:lpstr>Time Shift Property</vt:lpstr>
      <vt:lpstr>z-Transfer Functions</vt:lpstr>
      <vt:lpstr>s-Plane Mapped to z-Plane</vt:lpstr>
      <vt:lpstr>Stability in Discrete-Time Systems</vt:lpstr>
      <vt:lpstr>ZOH Equivalent Discretization</vt:lpstr>
      <vt:lpstr>ZOH Equivalent Transfer Function</vt:lpstr>
      <vt:lpstr>ZOH Discretization Example</vt:lpstr>
      <vt:lpstr>Step Response Comparison</vt:lpstr>
      <vt:lpstr>Alternative Discretization Methods</vt:lpstr>
      <vt:lpstr>Forward Euler Method</vt:lpstr>
      <vt:lpstr>Example (Forward Euler)</vt:lpstr>
      <vt:lpstr>Backward Euler</vt:lpstr>
      <vt:lpstr>Tustin (Bilinear) Method</vt:lpstr>
      <vt:lpstr>Example (Tustin)</vt:lpstr>
      <vt:lpstr>Frequency Warping</vt:lpstr>
      <vt:lpstr>Comparison</vt:lpstr>
      <vt:lpstr>Implementation Issues</vt:lpstr>
      <vt:lpstr>Discrete-Time PID Tuning</vt:lpstr>
      <vt:lpstr>Why Discrete PID is Different</vt:lpstr>
      <vt:lpstr>Discrete-Time PID Goal</vt:lpstr>
      <vt:lpstr>Summary</vt:lpstr>
    </vt:vector>
  </TitlesOfParts>
  <Company>Panasonic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Wick, Felix</dc:creator>
  <cp:lastModifiedBy>Felix Wick</cp:lastModifiedBy>
  <cp:revision>182</cp:revision>
  <dcterms:created xsi:type="dcterms:W3CDTF">2025-01-08T09:27:30Z</dcterms:created>
  <dcterms:modified xsi:type="dcterms:W3CDTF">2026-04-01T22:03:27Z</dcterms:modified>
</cp:coreProperties>
</file>
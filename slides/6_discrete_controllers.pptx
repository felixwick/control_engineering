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8"/>
  </p:notesMasterIdLst>
  <p:sldIdLst>
    <p:sldId id="256" r:id="rId2"/>
    <p:sldId id="265" r:id="rId3"/>
    <p:sldId id="266" r:id="rId4"/>
    <p:sldId id="267" r:id="rId5"/>
    <p:sldId id="275" r:id="rId6"/>
    <p:sldId id="276" r:id="rId7"/>
    <p:sldId id="268" r:id="rId8"/>
    <p:sldId id="373" r:id="rId9"/>
    <p:sldId id="370" r:id="rId10"/>
    <p:sldId id="371" r:id="rId11"/>
    <p:sldId id="372" r:id="rId12"/>
    <p:sldId id="269" r:id="rId13"/>
    <p:sldId id="377" r:id="rId14"/>
    <p:sldId id="379" r:id="rId15"/>
    <p:sldId id="380" r:id="rId16"/>
    <p:sldId id="382" r:id="rId17"/>
    <p:sldId id="386" r:id="rId18"/>
    <p:sldId id="383" r:id="rId19"/>
    <p:sldId id="384" r:id="rId20"/>
    <p:sldId id="271" r:id="rId21"/>
    <p:sldId id="385" r:id="rId22"/>
    <p:sldId id="374" r:id="rId23"/>
    <p:sldId id="375" r:id="rId24"/>
    <p:sldId id="272" r:id="rId25"/>
    <p:sldId id="273" r:id="rId26"/>
    <p:sldId id="274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2202"/>
    <p:restoredTop sz="95028" autoAdjust="0"/>
  </p:normalViewPr>
  <p:slideViewPr>
    <p:cSldViewPr snapToGrid="0">
      <p:cViewPr varScale="1">
        <p:scale>
          <a:sx n="132" d="100"/>
          <a:sy n="132" d="100"/>
        </p:scale>
        <p:origin x="192" y="39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28/03/2026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28/03/2026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28/03/2026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28/03/2026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28/03/2026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28/03/2026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28/03/2026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28/03/2026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28/03/2026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28/03/2026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28/03/2026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28/03/2026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28/03/2026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de-DE" dirty="0" err="1"/>
              <a:t>Discrete</a:t>
            </a:r>
            <a:r>
              <a:rPr lang="de-DE" dirty="0"/>
              <a:t>-time Controllers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Control Engineering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Systems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Continuous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Laplace Domain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Poles/Zeros &amp;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5"/>
            </a:pPr>
            <a:r>
              <a:rPr lang="de-DE" dirty="0"/>
              <a:t>Controller Design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Discrete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/>
              <a:t>State Space </a:t>
            </a:r>
            <a:r>
              <a:rPr lang="de-DE" dirty="0" err="1"/>
              <a:t>Representation</a:t>
            </a:r>
            <a:endParaRPr lang="de-DE" dirty="0"/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Advanced</a:t>
            </a:r>
            <a:r>
              <a:rPr lang="de-DE" dirty="0"/>
              <a:t> Control Methods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336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E92B2E04-27B7-8A9A-6143-C8831F834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Discrete</a:t>
            </a:r>
            <a:r>
              <a:rPr lang="de-DE" dirty="0"/>
              <a:t>-time Controllers</a:t>
            </a:r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8B599745-405B-0FFD-67CC-A4CA1E6684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Digital </a:t>
            </a:r>
            <a:r>
              <a:rPr lang="de-DE" dirty="0" err="1"/>
              <a:t>controllers</a:t>
            </a:r>
            <a:endParaRPr lang="de-DE" dirty="0"/>
          </a:p>
          <a:p>
            <a:r>
              <a:rPr lang="de-DE" dirty="0"/>
              <a:t>Sampling &amp; Zero-Order Hold</a:t>
            </a:r>
          </a:p>
          <a:p>
            <a:r>
              <a:rPr lang="de-DE" dirty="0" err="1"/>
              <a:t>Discrete</a:t>
            </a:r>
            <a:r>
              <a:rPr lang="de-DE" dirty="0"/>
              <a:t>-time </a:t>
            </a:r>
            <a:r>
              <a:rPr lang="de-DE" dirty="0" err="1"/>
              <a:t>modeling</a:t>
            </a:r>
            <a:endParaRPr lang="de-DE" dirty="0"/>
          </a:p>
          <a:p>
            <a:r>
              <a:rPr lang="de-DE" dirty="0" err="1"/>
              <a:t>z</a:t>
            </a:r>
            <a:r>
              <a:rPr lang="de-DE" dirty="0"/>
              <a:t>-transfer </a:t>
            </a:r>
            <a:r>
              <a:rPr lang="de-DE" dirty="0" err="1"/>
              <a:t>functions</a:t>
            </a:r>
            <a:endParaRPr lang="de-DE" dirty="0"/>
          </a:p>
          <a:p>
            <a:r>
              <a:rPr lang="de-DE" dirty="0" err="1"/>
              <a:t>Discretization</a:t>
            </a:r>
            <a:r>
              <a:rPr lang="de-DE" dirty="0"/>
              <a:t> </a:t>
            </a:r>
            <a:r>
              <a:rPr lang="de-DE" dirty="0" err="1"/>
              <a:t>methods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2405FE-CC14-5A9E-E6BC-374EBECB4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133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9B815CB-9B3A-95F8-AEEF-789EBD9B87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Why</a:t>
            </a:r>
            <a:r>
              <a:rPr lang="de-DE" dirty="0"/>
              <a:t> Digital Control?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0B1ED3-1DF7-9213-36EE-664A9A2E28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de-DE" dirty="0"/>
              <a:t>Most modern </a:t>
            </a:r>
            <a:r>
              <a:rPr lang="de-DE" dirty="0" err="1"/>
              <a:t>controllers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implemented</a:t>
            </a:r>
            <a:r>
              <a:rPr lang="de-DE" dirty="0"/>
              <a:t> on:</a:t>
            </a:r>
          </a:p>
          <a:p>
            <a:pPr lvl="1"/>
            <a:r>
              <a:rPr lang="de-DE" dirty="0"/>
              <a:t>Microcontrollers</a:t>
            </a:r>
          </a:p>
          <a:p>
            <a:pPr lvl="1"/>
            <a:r>
              <a:rPr lang="de-DE" dirty="0"/>
              <a:t>DSPs (Digital Signal </a:t>
            </a:r>
            <a:r>
              <a:rPr lang="de-DE" dirty="0" err="1"/>
              <a:t>Processor</a:t>
            </a:r>
            <a:r>
              <a:rPr lang="de-DE" dirty="0"/>
              <a:t>)</a:t>
            </a:r>
          </a:p>
          <a:p>
            <a:pPr lvl="1"/>
            <a:r>
              <a:rPr lang="de-DE" dirty="0"/>
              <a:t>Computers</a:t>
            </a:r>
          </a:p>
          <a:p>
            <a:pPr marL="0" indent="0">
              <a:buNone/>
            </a:pPr>
            <a:r>
              <a:rPr lang="de-DE" dirty="0"/>
              <a:t>Advantages:</a:t>
            </a:r>
          </a:p>
          <a:p>
            <a:pPr lvl="1"/>
            <a:r>
              <a:rPr lang="de-DE" dirty="0" err="1"/>
              <a:t>Flexibility</a:t>
            </a:r>
            <a:r>
              <a:rPr lang="de-DE" dirty="0"/>
              <a:t> (</a:t>
            </a:r>
            <a:r>
              <a:rPr lang="de-DE" dirty="0" err="1"/>
              <a:t>software</a:t>
            </a:r>
            <a:r>
              <a:rPr lang="de-DE" dirty="0"/>
              <a:t> </a:t>
            </a:r>
            <a:r>
              <a:rPr lang="de-DE" dirty="0" err="1"/>
              <a:t>changes</a:t>
            </a:r>
            <a:r>
              <a:rPr lang="de-DE" dirty="0"/>
              <a:t>)</a:t>
            </a:r>
          </a:p>
          <a:p>
            <a:pPr lvl="1"/>
            <a:r>
              <a:rPr lang="de-DE" dirty="0" err="1"/>
              <a:t>Cost</a:t>
            </a:r>
            <a:r>
              <a:rPr lang="de-DE" dirty="0"/>
              <a:t> </a:t>
            </a:r>
            <a:r>
              <a:rPr lang="de-DE" dirty="0" err="1"/>
              <a:t>efficiency</a:t>
            </a:r>
            <a:endParaRPr lang="de-DE" dirty="0"/>
          </a:p>
          <a:p>
            <a:pPr lvl="1"/>
            <a:r>
              <a:rPr lang="de-DE" dirty="0" err="1"/>
              <a:t>Advanced</a:t>
            </a:r>
            <a:r>
              <a:rPr lang="de-DE" dirty="0"/>
              <a:t> </a:t>
            </a:r>
            <a:r>
              <a:rPr lang="de-DE" dirty="0" err="1"/>
              <a:t>algorithms</a:t>
            </a:r>
            <a:r>
              <a:rPr lang="de-DE" dirty="0"/>
              <a:t> possible</a:t>
            </a:r>
          </a:p>
          <a:p>
            <a:pPr marL="0" indent="0">
              <a:buNone/>
            </a:pPr>
            <a:r>
              <a:rPr lang="de-DE" dirty="0" err="1"/>
              <a:t>Disadvantages</a:t>
            </a:r>
            <a:r>
              <a:rPr lang="de-DE" dirty="0"/>
              <a:t>:</a:t>
            </a:r>
          </a:p>
          <a:p>
            <a:pPr lvl="1"/>
            <a:r>
              <a:rPr lang="de-DE" dirty="0"/>
              <a:t>Sampling </a:t>
            </a:r>
            <a:r>
              <a:rPr lang="de-DE" dirty="0" err="1"/>
              <a:t>effects</a:t>
            </a:r>
            <a:endParaRPr lang="de-DE" dirty="0"/>
          </a:p>
          <a:p>
            <a:pPr lvl="1"/>
            <a:r>
              <a:rPr lang="de-DE" dirty="0" err="1"/>
              <a:t>Quantization</a:t>
            </a:r>
            <a:endParaRPr lang="de-DE" dirty="0"/>
          </a:p>
          <a:p>
            <a:pPr lvl="1"/>
            <a:r>
              <a:rPr lang="de-DE" dirty="0"/>
              <a:t>Delays (</a:t>
            </a:r>
            <a:r>
              <a:rPr lang="de-DE" dirty="0" err="1"/>
              <a:t>latency</a:t>
            </a:r>
            <a:r>
              <a:rPr lang="de-DE" dirty="0"/>
              <a:t>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FE5F975-800C-923F-C0D1-904DD82BC9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08549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32CEE5-807F-7A24-5941-092A4E479B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Continuous</a:t>
            </a:r>
            <a:r>
              <a:rPr lang="de-DE" dirty="0"/>
              <a:t> </a:t>
            </a:r>
            <a:r>
              <a:rPr lang="de-DE" dirty="0" err="1"/>
              <a:t>vs</a:t>
            </a:r>
            <a:r>
              <a:rPr lang="de-DE" dirty="0"/>
              <a:t> Digital Control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2B02182-42C5-8A09-2F3F-C2232DC6E96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Continuous-time:</a:t>
                </a:r>
              </a:p>
              <a:p>
                <a:r>
                  <a:rPr lang="de-DE" dirty="0"/>
                  <a:t>Signals </a:t>
                </a:r>
                <a:r>
                  <a:rPr lang="de-DE" dirty="0" err="1"/>
                  <a:t>defined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∈ 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ℝ</m:t>
                    </m:r>
                  </m:oMath>
                </a14:m>
                <a:endParaRPr lang="de-DE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r>
                  <a:rPr lang="de-DE" dirty="0"/>
                  <a:t>Differential </a:t>
                </a:r>
                <a:r>
                  <a:rPr lang="de-DE" dirty="0" err="1"/>
                  <a:t>equations</a:t>
                </a:r>
                <a:br>
                  <a:rPr lang="de-DE" dirty="0"/>
                </a:b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Digital (</a:t>
                </a:r>
                <a:r>
                  <a:rPr lang="de-DE" dirty="0" err="1"/>
                  <a:t>discrete</a:t>
                </a:r>
                <a:r>
                  <a:rPr lang="de-DE" dirty="0"/>
                  <a:t>-time):</a:t>
                </a:r>
              </a:p>
              <a:p>
                <a:r>
                  <a:rPr lang="de-DE" dirty="0"/>
                  <a:t>Signals </a:t>
                </a:r>
                <a:r>
                  <a:rPr lang="de-DE" dirty="0" err="1"/>
                  <a:t>defined</a:t>
                </a:r>
                <a:r>
                  <a:rPr lang="de-DE" dirty="0"/>
                  <a:t> at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𝑘𝑇</m:t>
                    </m:r>
                  </m:oMath>
                </a14:m>
                <a:endParaRPr lang="de-DE" dirty="0"/>
              </a:p>
              <a:p>
                <a:r>
                  <a:rPr lang="de-DE" dirty="0"/>
                  <a:t>Difference </a:t>
                </a:r>
                <a:r>
                  <a:rPr lang="de-DE" dirty="0" err="1"/>
                  <a:t>equations</a:t>
                </a:r>
                <a:br>
                  <a:rPr lang="de-DE" dirty="0"/>
                </a:b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Key </a:t>
                </a:r>
                <a:r>
                  <a:rPr lang="de-DE" dirty="0" err="1"/>
                  <a:t>idea</a:t>
                </a:r>
                <a:r>
                  <a:rPr lang="de-DE" dirty="0"/>
                  <a:t>: </a:t>
                </a:r>
                <a:r>
                  <a:rPr lang="de-DE" dirty="0" err="1"/>
                  <a:t>approximation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continuous</a:t>
                </a:r>
                <a:r>
                  <a:rPr lang="de-DE" dirty="0"/>
                  <a:t> </a:t>
                </a:r>
                <a:r>
                  <a:rPr lang="de-DE" dirty="0" err="1"/>
                  <a:t>systems</a:t>
                </a:r>
                <a:r>
                  <a:rPr lang="de-DE" dirty="0"/>
                  <a:t> </a:t>
                </a:r>
                <a:r>
                  <a:rPr lang="de-DE" dirty="0" err="1"/>
                  <a:t>using</a:t>
                </a:r>
                <a:r>
                  <a:rPr lang="de-DE" dirty="0"/>
                  <a:t> </a:t>
                </a:r>
                <a:r>
                  <a:rPr lang="de-DE" dirty="0" err="1"/>
                  <a:t>sampled</a:t>
                </a:r>
                <a:r>
                  <a:rPr lang="de-DE" dirty="0"/>
                  <a:t> </a:t>
                </a:r>
                <a:r>
                  <a:rPr lang="de-DE" dirty="0" err="1"/>
                  <a:t>data</a:t>
                </a:r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2B02182-42C5-8A09-2F3F-C2232DC6E96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 r="-603" b="-319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E8DE643-EE4D-16D9-01F0-A5D12473CB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36747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C846500-91EB-8DC0-44F0-7BCC5A65BC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Structure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a Digital Control System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0408597-7170-30AC-D7D6-4EF581F9DB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/>
              <a:t>Blocks:</a:t>
            </a:r>
          </a:p>
          <a:p>
            <a:r>
              <a:rPr lang="de-DE" dirty="0"/>
              <a:t>Sampler</a:t>
            </a:r>
          </a:p>
          <a:p>
            <a:r>
              <a:rPr lang="de-DE" dirty="0"/>
              <a:t>Digital Controller</a:t>
            </a:r>
          </a:p>
          <a:p>
            <a:r>
              <a:rPr lang="de-DE" dirty="0"/>
              <a:t>Zero-Order Hold (ZOH)</a:t>
            </a:r>
          </a:p>
          <a:p>
            <a:r>
              <a:rPr lang="de-DE" dirty="0" err="1"/>
              <a:t>Continuous</a:t>
            </a:r>
            <a:r>
              <a:rPr lang="de-DE" dirty="0"/>
              <a:t> Plant</a:t>
            </a:r>
            <a:br>
              <a:rPr lang="de-DE" dirty="0"/>
            </a:br>
            <a:endParaRPr lang="de-DE" dirty="0"/>
          </a:p>
          <a:p>
            <a:pPr marL="0" indent="0">
              <a:buNone/>
            </a:pPr>
            <a:r>
              <a:rPr lang="de-DE" b="1" dirty="0"/>
              <a:t>Include block </a:t>
            </a:r>
            <a:r>
              <a:rPr lang="de-DE" b="1" dirty="0" err="1"/>
              <a:t>diagram</a:t>
            </a:r>
            <a:r>
              <a:rPr lang="de-DE" b="1" dirty="0"/>
              <a:t>:</a:t>
            </a:r>
            <a:endParaRPr lang="de-DE" dirty="0"/>
          </a:p>
          <a:p>
            <a:pPr marL="0" indent="0">
              <a:buNone/>
            </a:pPr>
            <a:r>
              <a:rPr lang="de-DE" dirty="0"/>
              <a:t>👉 Plot: </a:t>
            </a:r>
            <a:r>
              <a:rPr lang="de-DE" dirty="0" err="1"/>
              <a:t>Continuous</a:t>
            </a:r>
            <a:r>
              <a:rPr lang="de-DE" dirty="0"/>
              <a:t> plant + </a:t>
            </a:r>
            <a:r>
              <a:rPr lang="de-DE" dirty="0" err="1"/>
              <a:t>sampler</a:t>
            </a:r>
            <a:r>
              <a:rPr lang="de-DE" dirty="0"/>
              <a:t> + digital </a:t>
            </a:r>
            <a:r>
              <a:rPr lang="de-DE" dirty="0" err="1"/>
              <a:t>controller</a:t>
            </a:r>
            <a:r>
              <a:rPr lang="de-DE" dirty="0"/>
              <a:t> + ZOH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F0AC909-688A-7BAF-A7D1-8993F9810A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80821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B5483B4-2097-BA9C-BEEC-5D77C96D8B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Sampling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3660A92-BBD5-B430-333F-20D223BE666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Signals </a:t>
                </a:r>
                <a:r>
                  <a:rPr lang="de-DE" dirty="0" err="1"/>
                  <a:t>measured</a:t>
                </a:r>
                <a:r>
                  <a:rPr lang="de-DE" dirty="0"/>
                  <a:t> at </a:t>
                </a:r>
                <a:r>
                  <a:rPr lang="de-DE" dirty="0" err="1"/>
                  <a:t>discrete</a:t>
                </a:r>
                <a:r>
                  <a:rPr lang="de-DE" dirty="0"/>
                  <a:t> </a:t>
                </a:r>
                <a:r>
                  <a:rPr lang="de-DE" dirty="0" err="1"/>
                  <a:t>times</a:t>
                </a:r>
                <a:r>
                  <a:rPr lang="de-DE" dirty="0"/>
                  <a:t> </a:t>
                </a:r>
                <a:r>
                  <a:rPr lang="de-DE" dirty="0" err="1"/>
                  <a:t>only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𝑘𝑇</m:t>
                        </m:r>
                      </m:e>
                    </m:d>
                  </m:oMath>
                </a14:m>
                <a:br>
                  <a:rPr lang="de-DE" dirty="0"/>
                </a:br>
                <a:endParaRPr lang="de-DE" dirty="0"/>
              </a:p>
              <a:p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de-DE" dirty="0"/>
                  <a:t>: sampling </a:t>
                </a:r>
                <a:r>
                  <a:rPr lang="de-DE" dirty="0" err="1"/>
                  <a:t>period</a:t>
                </a:r>
                <a:endParaRPr lang="de-DE" dirty="0"/>
              </a:p>
              <a:p>
                <a14:m>
                  <m:oMath xmlns:m="http://schemas.openxmlformats.org/officeDocument/2006/math">
                    <m:r>
                      <a:rPr lang="de-DE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de-DE" dirty="0"/>
                  <a:t>: integer </a:t>
                </a:r>
                <a:r>
                  <a:rPr lang="de-DE" dirty="0" err="1"/>
                  <a:t>index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Example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func>
                    </m:oMath>
                  </m:oMathPara>
                </a14:m>
                <a:endParaRPr lang="de-DE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𝑘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=</m:t>
                    </m:r>
                    <m:func>
                      <m:funcPr>
                        <m:ctrlP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de-DE" b="0" i="0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sin</m:t>
                        </m:r>
                      </m:fName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𝑘𝑇</m:t>
                        </m:r>
                      </m:e>
                    </m:func>
                  </m:oMath>
                </a14:m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3660A92-BBD5-B430-333F-20D223BE666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 b="-26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DDAB374-386D-E2FC-9168-D2BABD3E04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BF3A6A00-84CF-9E4A-36D1-D7BC82B18CA4}"/>
                  </a:ext>
                </a:extLst>
              </p:cNvPr>
              <p:cNvSpPr txBox="1"/>
              <p:nvPr/>
            </p:nvSpPr>
            <p:spPr>
              <a:xfrm>
                <a:off x="8237677" y="1690688"/>
                <a:ext cx="2928085" cy="18748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Sampling </a:t>
                </a:r>
                <a:r>
                  <a:rPr lang="de-DE" sz="2400" dirty="0" err="1"/>
                  <a:t>frequency</a:t>
                </a:r>
                <a:r>
                  <a:rPr lang="de-DE" sz="2400" dirty="0"/>
                  <a:t>:</a:t>
                </a:r>
              </a:p>
              <a:p>
                <a:pPr marL="0" indent="0">
                  <a:buNone/>
                </a:pPr>
                <a:r>
                  <a:rPr lang="de-DE" sz="2400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den>
                    </m:f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Angular </a:t>
                </a:r>
                <a:r>
                  <a:rPr lang="de-DE" sz="2400" dirty="0" err="1"/>
                  <a:t>frequency</a:t>
                </a:r>
                <a:r>
                  <a:rPr lang="de-DE" sz="2400" dirty="0"/>
                  <a:t>:</a:t>
                </a:r>
              </a:p>
              <a:p>
                <a:pPr marL="0" indent="0">
                  <a:buNone/>
                </a:pPr>
                <a:r>
                  <a:rPr lang="de-DE" sz="2400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den>
                    </m:f>
                  </m:oMath>
                </a14:m>
                <a:endParaRPr lang="de-DE" sz="2400" dirty="0"/>
              </a:p>
            </p:txBody>
          </p:sp>
        </mc:Choice>
        <mc:Fallback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BF3A6A00-84CF-9E4A-36D1-D7BC82B18C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37677" y="1690688"/>
                <a:ext cx="2928085" cy="1874872"/>
              </a:xfrm>
              <a:prstGeom prst="rect">
                <a:avLst/>
              </a:prstGeom>
              <a:blipFill>
                <a:blip r:embed="rId3"/>
                <a:stretch>
                  <a:fillRect l="-3017" t="-2000" r="-172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4" descr="A graph showing the value of a number of points&#10;&#10;Description automatically generated with medium confidence">
            <a:extLst>
              <a:ext uri="{FF2B5EF4-FFF2-40B4-BE49-F238E27FC236}">
                <a16:creationId xmlns:a16="http://schemas.microsoft.com/office/drawing/2014/main" id="{699A288C-8C01-BC40-80FA-EF6530A4488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71011" y="4246477"/>
            <a:ext cx="8520989" cy="2109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45247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5D1BC4F-E23A-2459-8ACC-3C8FF7ED15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Undersampling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D709FC-BE27-8A31-C26C-ACBD68ADDF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239741-2FC0-4C84-9528-80AA7942A7E5}" type="slidenum">
              <a:rPr lang="en-GB" smtClean="0"/>
              <a:t>8</a:t>
            </a:fld>
            <a:endParaRPr lang="en-GB"/>
          </a:p>
        </p:txBody>
      </p:sp>
      <p:pic>
        <p:nvPicPr>
          <p:cNvPr id="7" name="Picture 6" descr="A graph of a function&#10;&#10;Description automatically generated">
            <a:extLst>
              <a:ext uri="{FF2B5EF4-FFF2-40B4-BE49-F238E27FC236}">
                <a16:creationId xmlns:a16="http://schemas.microsoft.com/office/drawing/2014/main" id="{1DB9E0ED-7D85-9AF7-2F44-EF56D25BE1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4548" y="2092913"/>
            <a:ext cx="9062903" cy="230168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7667735-E3DF-6CA7-963C-0E291E42063D}"/>
              </a:ext>
            </a:extLst>
          </p:cNvPr>
          <p:cNvSpPr txBox="1"/>
          <p:nvPr/>
        </p:nvSpPr>
        <p:spPr>
          <a:xfrm>
            <a:off x="692180" y="5113866"/>
            <a:ext cx="10807639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2800" b="1" dirty="0"/>
              <a:t>Aliasing</a:t>
            </a:r>
            <a:r>
              <a:rPr lang="en-GB" sz="2800" dirty="0"/>
              <a:t>: higher-frequency signal disguised as one of lower frequency</a:t>
            </a:r>
          </a:p>
        </p:txBody>
      </p:sp>
    </p:spTree>
    <p:extLst>
      <p:ext uri="{BB962C8B-B14F-4D97-AF65-F5344CB8AC3E}">
        <p14:creationId xmlns:p14="http://schemas.microsoft.com/office/powerpoint/2010/main" val="29279692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40C83E-F9AD-8B64-8DB6-EF5840B7BB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Example: Moir</a:t>
            </a:r>
            <a:r>
              <a:rPr lang="en-GB" dirty="0">
                <a:latin typeface="Aptos" panose="020B0004020202020204" pitchFamily="34" charset="0"/>
              </a:rPr>
              <a:t>é Effect in </a:t>
            </a:r>
            <a:r>
              <a:rPr lang="en-GB" dirty="0"/>
              <a:t>Digital Images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297FFF9-A216-16C4-BF48-C74702DCB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239741-2FC0-4C84-9528-80AA7942A7E5}" type="slidenum">
              <a:rPr lang="en-GB" smtClean="0"/>
              <a:t>9</a:t>
            </a:fld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C4DCE54-5237-0AB2-4DD5-67A477FB5EED}"/>
              </a:ext>
            </a:extLst>
          </p:cNvPr>
          <p:cNvSpPr txBox="1"/>
          <p:nvPr/>
        </p:nvSpPr>
        <p:spPr>
          <a:xfrm>
            <a:off x="6172200" y="2096594"/>
            <a:ext cx="5580056" cy="40934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/>
              <a:t>Aliasing in digital images often manifests itself as ringing patterns</a:t>
            </a:r>
          </a:p>
          <a:p>
            <a:endParaRPr lang="en-GB" sz="2800" dirty="0"/>
          </a:p>
          <a:p>
            <a:endParaRPr lang="en-GB" sz="2800" dirty="0"/>
          </a:p>
          <a:p>
            <a:endParaRPr lang="en-GB" sz="2800" dirty="0"/>
          </a:p>
          <a:p>
            <a:r>
              <a:rPr lang="en-GB" sz="2400" dirty="0"/>
              <a:t>Temporal aliasing can be observed as wagon-wheel effect (apparent backward motion) in image sequences (video): frame rate too low with respect to speed of wheel rotation</a:t>
            </a:r>
          </a:p>
        </p:txBody>
      </p:sp>
      <p:pic>
        <p:nvPicPr>
          <p:cNvPr id="8" name="Picture 7" descr="A collage of a person's suit&#10;&#10;Description automatically generated">
            <a:extLst>
              <a:ext uri="{FF2B5EF4-FFF2-40B4-BE49-F238E27FC236}">
                <a16:creationId xmlns:a16="http://schemas.microsoft.com/office/drawing/2014/main" id="{EBB72632-C097-BE4B-AF92-4F0825F31F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597060"/>
            <a:ext cx="4859346" cy="4852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84788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578B2D-FEC5-9F50-CB03-F4BF2987F7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Nyquist</a:t>
            </a:r>
            <a:r>
              <a:rPr lang="de-DE" dirty="0"/>
              <a:t>-Shannon Sampling Theorem</a:t>
            </a:r>
            <a:endParaRPr lang="en-GB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7F923C-A548-8982-8790-580733C2DA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856775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N</a:t>
                </a:r>
                <a:r>
                  <a:rPr lang="de-DE" sz="2600" dirty="0" err="1"/>
                  <a:t>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aliasing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continuous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signal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can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be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recovered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from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its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samples</a:t>
                </a:r>
                <a:r>
                  <a:rPr lang="de-DE" sz="2600" dirty="0"/>
                  <a:t>) </a:t>
                </a:r>
                <a:r>
                  <a:rPr lang="de-DE" sz="2600" dirty="0" err="1"/>
                  <a:t>if</a:t>
                </a:r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r>
                  <a:rPr lang="de-DE" sz="2600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2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2600" i="1">
                            <a:latin typeface="Cambria Math" panose="02040503050406030204" pitchFamily="18" charset="0"/>
                          </a:rPr>
                          <m:t>max</m:t>
                        </m:r>
                      </m:sub>
                    </m:sSub>
                  </m:oMath>
                </a14:m>
                <a:endParaRPr lang="en-GB" sz="2600" dirty="0"/>
              </a:p>
              <a:p>
                <a:pPr marL="0" indent="0">
                  <a:buNone/>
                </a:pPr>
                <a:endParaRPr lang="en-GB" sz="2600" dirty="0"/>
              </a:p>
              <a:p>
                <a:pPr marL="0" indent="0">
                  <a:buNone/>
                </a:pPr>
                <a:endParaRPr lang="de-DE" sz="26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de-DE" sz="2600" dirty="0">
                    <a:sym typeface="Wingdings" pitchFamily="2" charset="2"/>
                  </a:rPr>
                  <a:t> </a:t>
                </a:r>
                <a:r>
                  <a:rPr lang="de-DE" sz="2600" dirty="0" err="1"/>
                  <a:t>Must</a:t>
                </a:r>
                <a:r>
                  <a:rPr lang="de-DE" sz="2600" dirty="0"/>
                  <a:t> sample at least </a:t>
                </a:r>
                <a:r>
                  <a:rPr lang="de-DE" sz="2600" dirty="0" err="1"/>
                  <a:t>twice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highest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signal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frequency</a:t>
                </a:r>
                <a:endParaRPr lang="de-DE" sz="26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7F923C-A548-8982-8790-580733C2DA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856775" cy="4351338"/>
              </a:xfrm>
              <a:blipFill>
                <a:blip r:embed="rId2"/>
                <a:stretch>
                  <a:fillRect l="-1948" t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A8F9FC-CDB0-CDC7-A913-124CC95226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239741-2FC0-4C84-9528-80AA7942A7E5}" type="slidenum">
              <a:rPr lang="en-GB" smtClean="0"/>
              <a:t>10</a:t>
            </a:fld>
            <a:endParaRPr lang="en-GB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D61AFFE-F774-D983-3686-F1CC5EBCAB91}"/>
                  </a:ext>
                </a:extLst>
              </p:cNvPr>
              <p:cNvSpPr txBox="1"/>
              <p:nvPr/>
            </p:nvSpPr>
            <p:spPr>
              <a:xfrm>
                <a:off x="8610600" y="1766583"/>
                <a:ext cx="897467" cy="43088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GB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en-GB" sz="2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GB" sz="2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max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GB" sz="2200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D61AFFE-F774-D983-3686-F1CC5EBCAB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10600" y="1766583"/>
                <a:ext cx="897467" cy="430887"/>
              </a:xfrm>
              <a:prstGeom prst="rect">
                <a:avLst/>
              </a:prstGeom>
              <a:blipFill>
                <a:blip r:embed="rId3"/>
                <a:stretch>
                  <a:fillRect l="-29577" t="-126471" r="-8451" b="-19117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8A402A5-88F6-4F98-0FB4-B0F64A0E15EE}"/>
                  </a:ext>
                </a:extLst>
              </p:cNvPr>
              <p:cNvSpPr txBox="1"/>
              <p:nvPr/>
            </p:nvSpPr>
            <p:spPr>
              <a:xfrm>
                <a:off x="838200" y="5316553"/>
                <a:ext cx="5499100" cy="126117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en-GB" sz="2400" dirty="0"/>
                  <a:t>Digital images: no aliasing if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sz="2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num>
                      <m:den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nor/>
                          </m:rPr>
                          <a:rPr lang="en-GB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max</m:t>
                        </m:r>
                      </m:sub>
                    </m:sSub>
                  </m:oMath>
                </a14:m>
                <a:r>
                  <a:rPr lang="en-GB" sz="2400" dirty="0"/>
                  <a:t>,</a:t>
                </a:r>
              </a:p>
              <a:p>
                <a:r>
                  <a:rPr lang="en-GB" sz="2400" dirty="0"/>
                  <a:t>with number of pixels </a:t>
                </a:r>
                <a14:m>
                  <m:oMath xmlns:m="http://schemas.openxmlformats.org/officeDocument/2006/math">
                    <m:r>
                      <a:rPr lang="en-GB" sz="240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endParaRPr lang="en-GB" sz="2400" dirty="0"/>
              </a:p>
              <a:p>
                <a:r>
                  <a:rPr lang="en-GB" dirty="0"/>
                  <a:t>(second dimension accordingly)</a:t>
                </a:r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8A402A5-88F6-4F98-0FB4-B0F64A0E15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5316553"/>
                <a:ext cx="5499100" cy="1261179"/>
              </a:xfrm>
              <a:prstGeom prst="rect">
                <a:avLst/>
              </a:prstGeom>
              <a:blipFill>
                <a:blip r:embed="rId4"/>
                <a:stretch>
                  <a:fillRect l="-1609" b="-5941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E176C1AC-1849-EC2F-C549-968CCCE37DA0}"/>
                  </a:ext>
                </a:extLst>
              </p:cNvPr>
              <p:cNvSpPr txBox="1"/>
              <p:nvPr/>
            </p:nvSpPr>
            <p:spPr>
              <a:xfrm>
                <a:off x="10361762" y="3858438"/>
                <a:ext cx="1727130" cy="112633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de-DE" sz="2200" dirty="0"/>
                  <a:t>Aliasing </a:t>
                </a:r>
                <a:r>
                  <a:rPr lang="de-DE" sz="2200" dirty="0" err="1"/>
                  <a:t>for</a:t>
                </a:r>
                <a:r>
                  <a:rPr lang="de-DE" sz="2200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200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220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sub>
                          </m:sSub>
                        </m:den>
                      </m:f>
                      <m:r>
                        <a:rPr lang="de-DE" sz="2200" b="0" i="1" smtClean="0">
                          <a:latin typeface="Cambria Math" panose="02040503050406030204" pitchFamily="18" charset="0"/>
                        </a:rPr>
                        <m:t>&lt;2</m:t>
                      </m:r>
                      <m:r>
                        <a:rPr lang="de-DE" sz="2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f>
                        <m:fPr>
                          <m:ctrlPr>
                            <a:rPr lang="de-DE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200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de-DE" sz="22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sz="2200" i="1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E176C1AC-1849-EC2F-C549-968CCCE37D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61762" y="3858438"/>
                <a:ext cx="1727130" cy="1126334"/>
              </a:xfrm>
              <a:prstGeom prst="rect">
                <a:avLst/>
              </a:prstGeom>
              <a:blipFill>
                <a:blip r:embed="rId5"/>
                <a:stretch>
                  <a:fillRect l="-5147" t="-3333" b="-66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Grafik 7">
            <a:extLst>
              <a:ext uri="{FF2B5EF4-FFF2-40B4-BE49-F238E27FC236}">
                <a16:creationId xmlns:a16="http://schemas.microsoft.com/office/drawing/2014/main" id="{9E47D6D7-58AA-A7B5-9E6D-9F73D9E8F36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047933" y="2486860"/>
            <a:ext cx="3125334" cy="4036027"/>
          </a:xfrm>
          <a:prstGeom prst="rect">
            <a:avLst/>
          </a:prstGeom>
        </p:spPr>
      </p:pic>
      <p:sp>
        <p:nvSpPr>
          <p:cNvPr id="13" name="Geschweifte Klammer rechts 12">
            <a:extLst>
              <a:ext uri="{FF2B5EF4-FFF2-40B4-BE49-F238E27FC236}">
                <a16:creationId xmlns:a16="http://schemas.microsoft.com/office/drawing/2014/main" id="{8FCD3738-0D69-935D-F255-C6D2CF781C22}"/>
              </a:ext>
            </a:extLst>
          </p:cNvPr>
          <p:cNvSpPr/>
          <p:nvPr/>
        </p:nvSpPr>
        <p:spPr>
          <a:xfrm rot="16200000">
            <a:off x="8756669" y="1931482"/>
            <a:ext cx="289394" cy="754782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Geschweifte Klammer rechts 14">
            <a:extLst>
              <a:ext uri="{FF2B5EF4-FFF2-40B4-BE49-F238E27FC236}">
                <a16:creationId xmlns:a16="http://schemas.microsoft.com/office/drawing/2014/main" id="{8273E3F7-BF3D-6E96-90F8-71F02480FDC2}"/>
              </a:ext>
            </a:extLst>
          </p:cNvPr>
          <p:cNvSpPr/>
          <p:nvPr/>
        </p:nvSpPr>
        <p:spPr>
          <a:xfrm rot="16200000">
            <a:off x="8539457" y="3847840"/>
            <a:ext cx="144697" cy="448378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9B24D523-39B7-36F3-7757-5BD430DDD8B7}"/>
              </a:ext>
            </a:extLst>
          </p:cNvPr>
          <p:cNvCxnSpPr>
            <a:cxnSpLocks/>
            <a:stCxn id="13" idx="1"/>
          </p:cNvCxnSpPr>
          <p:nvPr/>
        </p:nvCxnSpPr>
        <p:spPr>
          <a:xfrm flipH="1">
            <a:off x="8610600" y="2164176"/>
            <a:ext cx="290766" cy="18355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Geschweifte Klammer rechts 18">
            <a:extLst>
              <a:ext uri="{FF2B5EF4-FFF2-40B4-BE49-F238E27FC236}">
                <a16:creationId xmlns:a16="http://schemas.microsoft.com/office/drawing/2014/main" id="{07B63BF9-16EB-0C89-4BA2-BEE3FA742487}"/>
              </a:ext>
            </a:extLst>
          </p:cNvPr>
          <p:cNvSpPr/>
          <p:nvPr/>
        </p:nvSpPr>
        <p:spPr>
          <a:xfrm rot="16200000">
            <a:off x="7015413" y="2215945"/>
            <a:ext cx="322682" cy="219141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8">
                <a:extLst>
                  <a:ext uri="{FF2B5EF4-FFF2-40B4-BE49-F238E27FC236}">
                    <a16:creationId xmlns:a16="http://schemas.microsoft.com/office/drawing/2014/main" id="{65E637F5-1BC4-447E-0D83-E76413BCA59C}"/>
                  </a:ext>
                </a:extLst>
              </p:cNvPr>
              <p:cNvSpPr txBox="1"/>
              <p:nvPr/>
            </p:nvSpPr>
            <p:spPr>
              <a:xfrm>
                <a:off x="6837591" y="1733285"/>
                <a:ext cx="897467" cy="44024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GB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GB" sz="2200" dirty="0"/>
              </a:p>
            </p:txBody>
          </p:sp>
        </mc:Choice>
        <mc:Fallback>
          <p:sp>
            <p:nvSpPr>
              <p:cNvPr id="21" name="TextBox 8">
                <a:extLst>
                  <a:ext uri="{FF2B5EF4-FFF2-40B4-BE49-F238E27FC236}">
                    <a16:creationId xmlns:a16="http://schemas.microsoft.com/office/drawing/2014/main" id="{65E637F5-1BC4-447E-0D83-E76413BCA5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7591" y="1733285"/>
                <a:ext cx="897467" cy="440249"/>
              </a:xfrm>
              <a:prstGeom prst="rect">
                <a:avLst/>
              </a:prstGeom>
              <a:blipFill>
                <a:blip r:embed="rId7"/>
                <a:stretch>
                  <a:fillRect l="-19444" t="-116667" b="-175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Textfeld 23">
            <a:extLst>
              <a:ext uri="{FF2B5EF4-FFF2-40B4-BE49-F238E27FC236}">
                <a16:creationId xmlns:a16="http://schemas.microsoft.com/office/drawing/2014/main" id="{A41CB799-3375-4115-442A-E8E366C83174}"/>
              </a:ext>
            </a:extLst>
          </p:cNvPr>
          <p:cNvSpPr txBox="1"/>
          <p:nvPr/>
        </p:nvSpPr>
        <p:spPr>
          <a:xfrm>
            <a:off x="2461660" y="3367173"/>
            <a:ext cx="200446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 err="1">
                <a:sym typeface="Wingdings" pitchFamily="2" charset="2"/>
              </a:rPr>
              <a:t>Nyquist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frequency</a:t>
            </a:r>
            <a:endParaRPr lang="de-DE" dirty="0"/>
          </a:p>
        </p:txBody>
      </p:sp>
      <p:sp>
        <p:nvSpPr>
          <p:cNvPr id="25" name="Geschweifte Klammer rechts 24">
            <a:extLst>
              <a:ext uri="{FF2B5EF4-FFF2-40B4-BE49-F238E27FC236}">
                <a16:creationId xmlns:a16="http://schemas.microsoft.com/office/drawing/2014/main" id="{C880C01D-740D-51E7-F5CB-E7A73F2C4662}"/>
              </a:ext>
            </a:extLst>
          </p:cNvPr>
          <p:cNvSpPr/>
          <p:nvPr/>
        </p:nvSpPr>
        <p:spPr>
          <a:xfrm rot="5400000">
            <a:off x="2772629" y="2838336"/>
            <a:ext cx="304495" cy="791679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846930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2028F58-516B-15F4-5B86-734255C85F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Anti-Aliasing Filter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D97DBC9-5210-B4E9-34B9-C7192026AD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Solution: </a:t>
            </a:r>
            <a:r>
              <a:rPr lang="de-DE" dirty="0" err="1"/>
              <a:t>use</a:t>
            </a:r>
            <a:r>
              <a:rPr lang="de-DE" dirty="0"/>
              <a:t> a </a:t>
            </a:r>
            <a:r>
              <a:rPr lang="de-DE" dirty="0" err="1"/>
              <a:t>low</a:t>
            </a:r>
            <a:r>
              <a:rPr lang="de-DE" dirty="0"/>
              <a:t>-pass </a:t>
            </a:r>
            <a:r>
              <a:rPr lang="de-DE" dirty="0" err="1"/>
              <a:t>filter</a:t>
            </a:r>
            <a:r>
              <a:rPr lang="de-DE" dirty="0"/>
              <a:t> (</a:t>
            </a:r>
            <a:r>
              <a:rPr lang="de-DE" dirty="0" err="1"/>
              <a:t>smoothing</a:t>
            </a:r>
            <a:r>
              <a:rPr lang="de-DE" dirty="0"/>
              <a:t>) </a:t>
            </a:r>
            <a:r>
              <a:rPr lang="de-DE" dirty="0" err="1"/>
              <a:t>before</a:t>
            </a:r>
            <a:r>
              <a:rPr lang="de-DE" dirty="0"/>
              <a:t> </a:t>
            </a:r>
            <a:r>
              <a:rPr lang="de-DE" dirty="0" err="1"/>
              <a:t>sampling</a:t>
            </a:r>
            <a:endParaRPr lang="de-DE" dirty="0"/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remove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signal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frequencies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above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Nyquist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frequency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9F73092-F3E4-B46E-D83B-903FE4BC5E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11</a:t>
            </a:fld>
            <a:endParaRPr lang="en-GB"/>
          </a:p>
        </p:txBody>
      </p:sp>
      <p:pic>
        <p:nvPicPr>
          <p:cNvPr id="5" name="Picture 5" descr="A black and white checkered surface&#10;&#10;Description automatically generated">
            <a:extLst>
              <a:ext uri="{FF2B5EF4-FFF2-40B4-BE49-F238E27FC236}">
                <a16:creationId xmlns:a16="http://schemas.microsoft.com/office/drawing/2014/main" id="{E358579F-8E79-FB43-AE49-241B26F1DE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3171278"/>
            <a:ext cx="8348241" cy="3381070"/>
          </a:xfrm>
          <a:prstGeom prst="rect">
            <a:avLst/>
          </a:prstGeom>
        </p:spPr>
      </p:pic>
      <p:sp>
        <p:nvSpPr>
          <p:cNvPr id="6" name="TextBox 6">
            <a:extLst>
              <a:ext uri="{FF2B5EF4-FFF2-40B4-BE49-F238E27FC236}">
                <a16:creationId xmlns:a16="http://schemas.microsoft.com/office/drawing/2014/main" id="{FCBC3B24-2808-754B-939F-C0137ADCDC02}"/>
              </a:ext>
            </a:extLst>
          </p:cNvPr>
          <p:cNvSpPr txBox="1"/>
          <p:nvPr/>
        </p:nvSpPr>
        <p:spPr>
          <a:xfrm>
            <a:off x="9186441" y="4026409"/>
            <a:ext cx="216735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200" dirty="0"/>
              <a:t>average of black and white</a:t>
            </a:r>
            <a:endParaRPr lang="en-GB" sz="2200" dirty="0"/>
          </a:p>
        </p:txBody>
      </p:sp>
    </p:spTree>
    <p:extLst>
      <p:ext uri="{BB962C8B-B14F-4D97-AF65-F5344CB8AC3E}">
        <p14:creationId xmlns:p14="http://schemas.microsoft.com/office/powerpoint/2010/main" val="1733227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541EB34-91F7-7AA8-187C-D2604A348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Zero-Order Hold (ZOH)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9E8EFF3-CC02-00AB-EB73-26424F6867D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829098" cy="4351338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Holds </a:t>
                </a:r>
                <a:r>
                  <a:rPr lang="de-DE" sz="2400" dirty="0" err="1"/>
                  <a:t>input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constant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between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samples</a:t>
                </a:r>
                <a:endParaRPr lang="de-DE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begChr m:val="["/>
                          <m:endChr m:val="]"/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∈[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𝑘𝑇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+1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𝑇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Real </a:t>
                </a:r>
                <a:r>
                  <a:rPr lang="de-DE" sz="2400" dirty="0" err="1"/>
                  <a:t>actuators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receive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continuous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signals</a:t>
                </a: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/>
                  <a:t>Digital </a:t>
                </a:r>
                <a:r>
                  <a:rPr lang="de-DE" sz="2400" dirty="0" err="1"/>
                  <a:t>output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must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converted</a:t>
                </a: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ZOH </a:t>
                </a:r>
                <a:r>
                  <a:rPr lang="de-DE" sz="2400" dirty="0" err="1"/>
                  <a:t>models</a:t>
                </a:r>
                <a:r>
                  <a:rPr lang="de-DE" sz="2400" dirty="0"/>
                  <a:t> Digital-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-Analog Converter (DAC) </a:t>
                </a:r>
                <a:r>
                  <a:rPr lang="de-DE" sz="2400" dirty="0" err="1"/>
                  <a:t>behavior</a:t>
                </a: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ZOH </a:t>
                </a:r>
                <a:r>
                  <a:rPr lang="de-DE" sz="2400" dirty="0" err="1"/>
                  <a:t>introduces</a:t>
                </a:r>
                <a:r>
                  <a:rPr lang="de-DE" sz="2400" dirty="0"/>
                  <a:t>:</a:t>
                </a:r>
              </a:p>
              <a:p>
                <a:r>
                  <a:rPr lang="de-DE" sz="2400" dirty="0"/>
                  <a:t>Delay</a:t>
                </a:r>
              </a:p>
              <a:p>
                <a:r>
                  <a:rPr lang="de-DE" sz="2400" dirty="0"/>
                  <a:t>Approximation </a:t>
                </a:r>
                <a:r>
                  <a:rPr lang="de-DE" sz="2400" dirty="0" err="1"/>
                  <a:t>error</a:t>
                </a:r>
                <a:endParaRPr lang="de-DE" sz="2400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9E8EFF3-CC02-00AB-EB73-26424F6867D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829098" cy="4351338"/>
              </a:xfrm>
              <a:blipFill>
                <a:blip r:embed="rId2"/>
                <a:stretch>
                  <a:fillRect l="-1739" t="-2035" b="-1191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9466D5C-63DE-4B7F-96EA-005E8F82C3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12</a:t>
            </a:fld>
            <a:endParaRPr lang="en-GB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9AB56C75-E433-AEF0-7527-91F3DB278F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67298" y="1825625"/>
            <a:ext cx="5430876" cy="31099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937379CA-4263-A0F9-70BC-4725DDD80B3F}"/>
              </a:ext>
            </a:extLst>
          </p:cNvPr>
          <p:cNvSpPr txBox="1"/>
          <p:nvPr/>
        </p:nvSpPr>
        <p:spPr>
          <a:xfrm>
            <a:off x="7579241" y="5415149"/>
            <a:ext cx="37745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/>
              <a:t>Signals </a:t>
            </a:r>
            <a:r>
              <a:rPr lang="de-DE" sz="2400" dirty="0" err="1"/>
              <a:t>are</a:t>
            </a:r>
            <a:r>
              <a:rPr lang="de-DE" sz="2400" dirty="0"/>
              <a:t> </a:t>
            </a:r>
            <a:r>
              <a:rPr lang="de-DE" sz="2400" dirty="0" err="1"/>
              <a:t>now</a:t>
            </a:r>
            <a:r>
              <a:rPr lang="de-DE" sz="2400" dirty="0"/>
              <a:t> </a:t>
            </a:r>
            <a:r>
              <a:rPr lang="de-DE" sz="2400" dirty="0" err="1"/>
              <a:t>sequences</a:t>
            </a:r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10658096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8790550-A78E-E662-C286-0A47036450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From</a:t>
            </a:r>
            <a:r>
              <a:rPr lang="de-DE" dirty="0"/>
              <a:t> Differential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Difference</a:t>
            </a:r>
            <a:r>
              <a:rPr lang="de-DE" dirty="0"/>
              <a:t> </a:t>
            </a:r>
            <a:r>
              <a:rPr lang="de-DE" dirty="0" err="1"/>
              <a:t>Equations</a:t>
            </a:r>
            <a:endParaRPr lang="de-DE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3C6EA2B-2FFC-A758-76FA-03DAE99A40F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 err="1"/>
                  <a:t>Continuous</a:t>
                </a:r>
                <a:r>
                  <a:rPr lang="de-DE" dirty="0"/>
                  <a:t>-time </a:t>
                </a:r>
                <a:r>
                  <a:rPr lang="de-DE" dirty="0" err="1"/>
                  <a:t>systems</a:t>
                </a:r>
                <a:r>
                  <a:rPr lang="de-DE" dirty="0"/>
                  <a:t>: differential </a:t>
                </a:r>
                <a:r>
                  <a:rPr lang="de-DE" dirty="0" err="1"/>
                  <a:t>equations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Discrete</a:t>
                </a:r>
                <a:r>
                  <a:rPr lang="de-DE" dirty="0"/>
                  <a:t>-time </a:t>
                </a:r>
                <a:r>
                  <a:rPr lang="de-DE" dirty="0" err="1"/>
                  <a:t>systems</a:t>
                </a:r>
                <a:r>
                  <a:rPr lang="de-DE" dirty="0"/>
                  <a:t> (</a:t>
                </a:r>
                <a14:m>
                  <m:oMath xmlns:m="http://schemas.openxmlformats.org/officeDocument/2006/math">
                    <m:r>
                      <a:rPr lang="de-DE" i="1"/>
                      <m:t>𝑡</m:t>
                    </m:r>
                    <m:r>
                      <a:rPr lang="de-DE" i="1">
                        <a:ea typeface="Cambria Math" panose="02040503050406030204" pitchFamily="18" charset="0"/>
                      </a:rPr>
                      <m:t>→</m:t>
                    </m:r>
                    <m:r>
                      <a:rPr lang="de-DE" i="1">
                        <a:ea typeface="Cambria Math" panose="02040503050406030204" pitchFamily="18" charset="0"/>
                      </a:rPr>
                      <m:t>𝑘𝑇</m:t>
                    </m:r>
                  </m:oMath>
                </a14:m>
                <a:r>
                  <a:rPr lang="de-DE" dirty="0"/>
                  <a:t>): </a:t>
                </a:r>
                <a:r>
                  <a:rPr lang="de-DE" dirty="0" err="1"/>
                  <a:t>difference</a:t>
                </a:r>
                <a:r>
                  <a:rPr lang="de-DE" dirty="0"/>
                  <a:t> </a:t>
                </a:r>
                <a:r>
                  <a:rPr lang="de-DE" dirty="0" err="1"/>
                  <a:t>equations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Sampling a </a:t>
                </a:r>
                <a:r>
                  <a:rPr lang="de-DE" dirty="0" err="1"/>
                  <a:t>continuous</a:t>
                </a:r>
                <a:r>
                  <a:rPr lang="de-DE" dirty="0"/>
                  <a:t>-time </a:t>
                </a:r>
                <a:r>
                  <a:rPr lang="de-DE" dirty="0" err="1"/>
                  <a:t>system</a:t>
                </a:r>
                <a:r>
                  <a:rPr lang="de-DE" dirty="0"/>
                  <a:t> </a:t>
                </a:r>
                <a:r>
                  <a:rPr lang="de-DE" dirty="0" err="1"/>
                  <a:t>leads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a </a:t>
                </a:r>
                <a:r>
                  <a:rPr lang="de-DE" dirty="0" err="1"/>
                  <a:t>difference</a:t>
                </a:r>
                <a:r>
                  <a:rPr lang="de-DE" dirty="0"/>
                  <a:t> </a:t>
                </a:r>
                <a:r>
                  <a:rPr lang="de-DE" dirty="0" err="1"/>
                  <a:t>equation</a:t>
                </a:r>
                <a:r>
                  <a:rPr lang="de-DE" dirty="0"/>
                  <a:t>:</a:t>
                </a:r>
              </a:p>
              <a:p>
                <a:r>
                  <a:rPr lang="de-DE" dirty="0"/>
                  <a:t>Start </a:t>
                </a:r>
                <a:r>
                  <a:rPr lang="de-DE" dirty="0" err="1"/>
                  <a:t>with</a:t>
                </a:r>
                <a:r>
                  <a:rPr lang="de-DE" dirty="0"/>
                  <a:t> differential </a:t>
                </a:r>
                <a:r>
                  <a:rPr lang="de-DE" dirty="0" err="1"/>
                  <a:t>equation</a:t>
                </a:r>
                <a:endParaRPr lang="de-DE" dirty="0"/>
              </a:p>
              <a:p>
                <a:r>
                  <a:rPr lang="de-DE" dirty="0" err="1"/>
                  <a:t>Solve</a:t>
                </a:r>
                <a:r>
                  <a:rPr lang="de-DE" dirty="0"/>
                  <a:t> </a:t>
                </a:r>
                <a:r>
                  <a:rPr lang="de-DE" dirty="0" err="1"/>
                  <a:t>over</a:t>
                </a:r>
                <a:r>
                  <a:rPr lang="de-DE" dirty="0"/>
                  <a:t> </a:t>
                </a:r>
                <a:r>
                  <a:rPr lang="de-DE" dirty="0" err="1"/>
                  <a:t>one</a:t>
                </a:r>
                <a:r>
                  <a:rPr lang="de-DE" dirty="0"/>
                  <a:t> </a:t>
                </a:r>
                <a:r>
                  <a:rPr lang="de-DE" dirty="0" err="1"/>
                  <a:t>sampling</a:t>
                </a:r>
                <a:r>
                  <a:rPr lang="de-DE" dirty="0"/>
                  <a:t> </a:t>
                </a:r>
                <a:r>
                  <a:rPr lang="de-DE" dirty="0" err="1"/>
                  <a:t>interval</a:t>
                </a:r>
                <a:endParaRPr lang="de-DE" dirty="0"/>
              </a:p>
              <a:p>
                <a:r>
                  <a:rPr lang="de-DE" dirty="0" err="1"/>
                  <a:t>Evaluate</a:t>
                </a:r>
                <a:r>
                  <a:rPr lang="de-DE" dirty="0"/>
                  <a:t> at </a:t>
                </a:r>
                <a:r>
                  <a:rPr lang="de-DE" dirty="0" err="1"/>
                  <a:t>next</a:t>
                </a:r>
                <a:r>
                  <a:rPr lang="de-DE" dirty="0"/>
                  <a:t> sample (</a:t>
                </a:r>
                <a14:m>
                  <m:oMath xmlns:m="http://schemas.openxmlformats.org/officeDocument/2006/math">
                    <m:r>
                      <a:rPr lang="de-DE" b="0" i="1" smtClean="0"/>
                      <m:t>𝑡</m:t>
                    </m:r>
                    <m:r>
                      <a:rPr lang="de-DE" b="0" i="1" smtClean="0"/>
                      <m:t>=</m:t>
                    </m:r>
                    <m:r>
                      <a:rPr lang="de-DE" b="0" i="1" smtClean="0"/>
                      <m:t>𝑇</m:t>
                    </m:r>
                  </m:oMath>
                </a14:m>
                <a:r>
                  <a:rPr lang="de-DE" dirty="0"/>
                  <a:t>)</a:t>
                </a:r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3C6EA2B-2FFC-A758-76FA-03DAE99A40F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057A029-C8C9-21BF-B915-36D436FD5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946510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71765F-089D-FEEB-61CF-394A971E55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First-Order System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C1B609B-4CC0-3084-F0AC-71B8E882E3C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=−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de-DE" dirty="0"/>
                  <a:t>     with initial </a:t>
                </a:r>
                <a:r>
                  <a:rPr lang="de-DE" dirty="0" err="1"/>
                  <a:t>condition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(0)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Constant </a:t>
                </a:r>
                <a:r>
                  <a:rPr lang="de-DE" dirty="0" err="1"/>
                  <a:t>input</a:t>
                </a:r>
                <a:r>
                  <a:rPr lang="de-DE" dirty="0"/>
                  <a:t>  (ZOH):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=−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begChr m:val="["/>
                        <m:endChr m:val="]"/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Homogenous</a:t>
                </a:r>
                <a:r>
                  <a:rPr lang="de-DE" dirty="0"/>
                  <a:t> </a:t>
                </a:r>
                <a:r>
                  <a:rPr lang="de-DE" dirty="0" err="1"/>
                  <a:t>solution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=−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)=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Particular</a:t>
                </a:r>
                <a:r>
                  <a:rPr lang="de-DE" dirty="0"/>
                  <a:t> </a:t>
                </a:r>
                <a:r>
                  <a:rPr lang="de-DE" dirty="0" err="1"/>
                  <a:t>solution</a:t>
                </a:r>
                <a:r>
                  <a:rPr lang="de-DE" dirty="0"/>
                  <a:t>: </a:t>
                </a:r>
                <a:r>
                  <a:rPr lang="de-DE" dirty="0" err="1"/>
                  <a:t>try</a:t>
                </a:r>
                <a:r>
                  <a:rPr lang="de-DE" dirty="0"/>
                  <a:t> </a:t>
                </a:r>
                <a:r>
                  <a:rPr lang="de-DE" dirty="0" err="1"/>
                  <a:t>constant</a:t>
                </a:r>
                <a:r>
                  <a:rPr lang="de-DE" dirty="0"/>
                  <a:t> </a:t>
                </a:r>
                <a:r>
                  <a:rPr lang="de-DE" dirty="0" err="1"/>
                  <a:t>solution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de-DE" dirty="0"/>
                  <a:t> (</a:t>
                </a:r>
                <a:r>
                  <a:rPr lang="de-DE" dirty="0" err="1"/>
                  <a:t>constan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0=−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r>
                  <a:rPr lang="de-DE" dirty="0"/>
                  <a:t>	</a:t>
                </a:r>
                <a:r>
                  <a:rPr lang="de-DE" dirty="0">
                    <a:sym typeface="Wingdings" pitchFamily="2" charset="2"/>
                  </a:rPr>
                  <a:t>	</a:t>
                </a:r>
                <a14:m>
                  <m:oMath xmlns:m="http://schemas.openxmlformats.org/officeDocument/2006/math">
                    <m:r>
                      <a:rPr lang="de-DE" b="0" i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General </a:t>
                </a:r>
                <a:r>
                  <a:rPr lang="de-DE" dirty="0" err="1"/>
                  <a:t>solution</a:t>
                </a:r>
                <a:r>
                  <a:rPr lang="de-DE" dirty="0"/>
                  <a:t>: 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C1B609B-4CC0-3084-F0AC-71B8E882E3C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6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577DBE6-AC22-1207-7959-601A742F80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95926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9AB735E-50BB-DEE3-8824-3FBD347866C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577515"/>
                <a:ext cx="10515600" cy="5599447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Initial </a:t>
                </a:r>
                <a:r>
                  <a:rPr lang="de-DE" sz="2600" dirty="0" err="1"/>
                  <a:t>condition</a:t>
                </a:r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sz="2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begChr m:val="["/>
                        <m:endChr m:val="]"/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r>
                  <a:rPr lang="de-DE" sz="2600" dirty="0"/>
                  <a:t>	</a:t>
                </a:r>
                <a:r>
                  <a:rPr lang="de-DE" sz="2600" dirty="0">
                    <a:sym typeface="Wingdings" pitchFamily="2" charset="2"/>
                  </a:rPr>
                  <a:t>	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𝐶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=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𝑦</m:t>
                    </m:r>
                    <m:d>
                      <m:dPr>
                        <m:ctrlPr>
                          <a:rPr lang="de-DE" sz="26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d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0</m:t>
                        </m:r>
                      </m:e>
                    </m:d>
                    <m:r>
                      <a:rPr lang="de-DE" sz="2600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−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begChr m:val="["/>
                        <m:endChr m:val="]"/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>
                    <a:sym typeface="Wingdings" pitchFamily="2" charset="2"/>
                  </a:rPr>
                  <a:t></a:t>
                </a:r>
                <a:r>
                  <a:rPr lang="de-DE" sz="2600" dirty="0"/>
                  <a:t>	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)=</m:t>
                    </m:r>
                    <m:d>
                      <m:dPr>
                        <m:ctrlPr>
                          <a:rPr lang="de-DE" sz="26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𝑦</m:t>
                        </m:r>
                        <m:d>
                          <m:dPr>
                            <m:ctrlPr>
                              <a:rPr lang="de-DE" sz="26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d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0</m:t>
                            </m:r>
                          </m:e>
                        </m:d>
                        <m:r>
                          <a:rPr lang="de-DE" sz="2600" i="1">
                            <a:latin typeface="Cambria Math" panose="02040503050406030204" pitchFamily="18" charset="0"/>
                            <a:sym typeface="Wingdings" pitchFamily="2" charset="2"/>
                          </a:rPr>
                          <m:t>−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𝑢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d>
                      </m:e>
                    </m:d>
                    <m:sSup>
                      <m:sSup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de-DE" sz="26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begChr m:val="["/>
                        <m:endChr m:val="]"/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>
                    <a:sym typeface="Wingdings" pitchFamily="2" charset="2"/>
                  </a:rPr>
                  <a:t></a:t>
                </a:r>
                <a:r>
                  <a:rPr lang="de-DE" sz="2600" dirty="0"/>
                  <a:t>	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)=</m:t>
                    </m:r>
                    <m:sSup>
                      <m:sSup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de-DE" sz="26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(0)+</m:t>
                    </m:r>
                    <m:d>
                      <m:dPr>
                        <m:ctrlPr>
                          <a:rPr lang="de-DE" sz="26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1−</m:t>
                        </m:r>
                        <m:sSup>
                          <m:sSup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</m:e>
                    </m:d>
                    <m:r>
                      <a:rPr lang="de-DE" sz="2600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begChr m:val="["/>
                        <m:endChr m:val="]"/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Sample at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r>
                  <a:rPr lang="de-DE" sz="2600" dirty="0"/>
                  <a:t>	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(</m:t>
                    </m:r>
                    <m:d>
                      <m:dPr>
                        <m:ctrlPr>
                          <a:rPr lang="de-DE" sz="26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)=</m:t>
                    </m:r>
                    <m:sSup>
                      <m:sSup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de-DE" sz="26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𝑘𝑇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)+</m:t>
                    </m:r>
                    <m:d>
                      <m:d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1−</m:t>
                        </m:r>
                        <m:sSup>
                          <m:sSup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</m:e>
                    </m:d>
                    <m:r>
                      <a:rPr lang="de-DE" sz="2600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begChr m:val="["/>
                        <m:endChr m:val="]"/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Discrete</a:t>
                </a:r>
                <a:r>
                  <a:rPr lang="de-DE" sz="2600" dirty="0"/>
                  <a:t>-time </a:t>
                </a:r>
                <a:r>
                  <a:rPr lang="de-DE" sz="2600" dirty="0" err="1"/>
                  <a:t>system</a:t>
                </a:r>
                <a:r>
                  <a:rPr lang="de-DE" sz="2600" dirty="0"/>
                  <a:t>: </a:t>
                </a:r>
                <a:r>
                  <a:rPr lang="de-DE" sz="2600" dirty="0" err="1"/>
                  <a:t>difference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equation</a:t>
                </a: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	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de-DE" sz="26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de-DE" sz="26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de-DE" sz="26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de-DE" sz="2600" i="1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1−</m:t>
                        </m:r>
                        <m:sSup>
                          <m:sSup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</m:e>
                    </m:d>
                    <m:r>
                      <a:rPr lang="de-DE" sz="2600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begChr m:val="["/>
                        <m:endChr m:val="]"/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lang="de-DE" sz="2600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9AB735E-50BB-DEE3-8824-3FBD347866C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577515"/>
                <a:ext cx="10515600" cy="5599447"/>
              </a:xfrm>
              <a:blipFill>
                <a:blip r:embed="rId2"/>
                <a:stretch>
                  <a:fillRect l="-965" t="-203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DF90EAB-7E62-DA81-B216-F1074DD80B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15</a:t>
            </a:fld>
            <a:endParaRPr lang="en-GB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F7A4C25C-D84B-29E0-1395-C931DEE05493}"/>
              </a:ext>
            </a:extLst>
          </p:cNvPr>
          <p:cNvSpPr txBox="1"/>
          <p:nvPr/>
        </p:nvSpPr>
        <p:spPr>
          <a:xfrm>
            <a:off x="5643847" y="2463974"/>
            <a:ext cx="15311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dirty="0" err="1"/>
              <a:t>steady</a:t>
            </a:r>
            <a:r>
              <a:rPr lang="de-DE" sz="2000" dirty="0"/>
              <a:t> </a:t>
            </a:r>
            <a:r>
              <a:rPr lang="de-DE" sz="2000" dirty="0" err="1"/>
              <a:t>state</a:t>
            </a:r>
            <a:endParaRPr lang="de-DE" sz="2000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DFC4202E-EC4D-D2F1-2649-7E504F152824}"/>
              </a:ext>
            </a:extLst>
          </p:cNvPr>
          <p:cNvSpPr txBox="1"/>
          <p:nvPr/>
        </p:nvSpPr>
        <p:spPr>
          <a:xfrm>
            <a:off x="3352506" y="2463974"/>
            <a:ext cx="11689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dirty="0"/>
              <a:t>transient</a:t>
            </a: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83D71293-F78C-B6BB-B945-FE313C18BA31}"/>
              </a:ext>
            </a:extLst>
          </p:cNvPr>
          <p:cNvCxnSpPr>
            <a:cxnSpLocks/>
            <a:stCxn id="6" idx="1"/>
          </p:cNvCxnSpPr>
          <p:nvPr/>
        </p:nvCxnSpPr>
        <p:spPr>
          <a:xfrm flipH="1" flipV="1">
            <a:off x="5522142" y="2175309"/>
            <a:ext cx="121705" cy="4887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Geschweifte Klammer rechts 8">
            <a:extLst>
              <a:ext uri="{FF2B5EF4-FFF2-40B4-BE49-F238E27FC236}">
                <a16:creationId xmlns:a16="http://schemas.microsoft.com/office/drawing/2014/main" id="{95EBD66E-3ED7-AD9E-7A7F-5EC17F9CB130}"/>
              </a:ext>
            </a:extLst>
          </p:cNvPr>
          <p:cNvSpPr/>
          <p:nvPr/>
        </p:nvSpPr>
        <p:spPr>
          <a:xfrm rot="5400000">
            <a:off x="3758895" y="1244496"/>
            <a:ext cx="317633" cy="2179260"/>
          </a:xfrm>
          <a:prstGeom prst="rightBrace">
            <a:avLst>
              <a:gd name="adj1" fmla="val 8333"/>
              <a:gd name="adj2" fmla="val 48042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E31C663E-C0E2-96BB-9F46-564D8A17E871}"/>
                  </a:ext>
                </a:extLst>
              </p:cNvPr>
              <p:cNvSpPr txBox="1"/>
              <p:nvPr/>
            </p:nvSpPr>
            <p:spPr>
              <a:xfrm>
                <a:off x="7648075" y="2017698"/>
                <a:ext cx="3705725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de-DE" dirty="0"/>
                  <a:t>System </a:t>
                </a:r>
                <a:r>
                  <a:rPr lang="de-DE" dirty="0" err="1"/>
                  <a:t>moves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</m:oMath>
                </a14:m>
                <a:r>
                  <a:rPr lang="de-DE" dirty="0"/>
                  <a:t> to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lang="de-DE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de-DE" dirty="0" err="1"/>
                  <a:t>Exponential</a:t>
                </a:r>
                <a:r>
                  <a:rPr lang="de-DE" dirty="0"/>
                  <a:t> </a:t>
                </a:r>
                <a:r>
                  <a:rPr lang="de-DE" dirty="0" err="1"/>
                  <a:t>transition</a:t>
                </a:r>
                <a:endParaRPr lang="de-DE" dirty="0"/>
              </a:p>
            </p:txBody>
          </p:sp>
        </mc:Choice>
        <mc:Fallback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E31C663E-C0E2-96BB-9F46-564D8A17E8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48075" y="2017698"/>
                <a:ext cx="3705725" cy="646331"/>
              </a:xfrm>
              <a:prstGeom prst="rect">
                <a:avLst/>
              </a:prstGeom>
              <a:blipFill>
                <a:blip r:embed="rId3"/>
                <a:stretch>
                  <a:fillRect l="-1024" t="-3846" b="-1346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133001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EDAAE50-17F6-59E5-99D3-B54782437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Difference</a:t>
            </a:r>
            <a:r>
              <a:rPr lang="de-DE" dirty="0"/>
              <a:t> </a:t>
            </a:r>
            <a:r>
              <a:rPr lang="de-DE" dirty="0" err="1"/>
              <a:t>Equations</a:t>
            </a:r>
            <a:endParaRPr lang="de-DE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0D38550-2779-4710-166B-853B3C3DF3F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First-order </a:t>
                </a:r>
                <a:r>
                  <a:rPr lang="de-DE" dirty="0" err="1"/>
                  <a:t>system</a:t>
                </a:r>
                <a:r>
                  <a:rPr lang="de-DE" dirty="0"/>
                  <a:t> </a:t>
                </a:r>
                <a:r>
                  <a:rPr lang="de-DE" dirty="0" err="1"/>
                  <a:t>template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Second-order </a:t>
                </a:r>
                <a:r>
                  <a:rPr lang="de-DE" dirty="0" err="1"/>
                  <a:t>system</a:t>
                </a:r>
                <a:r>
                  <a:rPr lang="de-DE" dirty="0"/>
                  <a:t> </a:t>
                </a:r>
                <a:r>
                  <a:rPr lang="de-DE" dirty="0" err="1"/>
                  <a:t>template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+2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Time-</a:t>
                </a:r>
                <a:r>
                  <a:rPr lang="de-DE" dirty="0" err="1"/>
                  <a:t>shifted</a:t>
                </a:r>
                <a:r>
                  <a:rPr lang="de-DE" dirty="0"/>
                  <a:t> </a:t>
                </a:r>
                <a:r>
                  <a:rPr lang="de-DE" dirty="0" err="1"/>
                  <a:t>version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make</a:t>
                </a:r>
                <a:r>
                  <a:rPr lang="de-DE" dirty="0"/>
                  <a:t> </a:t>
                </a:r>
                <a:r>
                  <a:rPr lang="de-DE" dirty="0" err="1"/>
                  <a:t>it</a:t>
                </a:r>
                <a:r>
                  <a:rPr lang="de-DE" dirty="0"/>
                  <a:t> </a:t>
                </a:r>
                <a:r>
                  <a:rPr lang="de-DE" dirty="0" err="1"/>
                  <a:t>causal</a:t>
                </a:r>
                <a:r>
                  <a:rPr lang="de-DE" dirty="0"/>
                  <a:t> (</a:t>
                </a:r>
                <a:r>
                  <a:rPr lang="de-DE" dirty="0" err="1"/>
                  <a:t>current</a:t>
                </a:r>
                <a:r>
                  <a:rPr lang="de-DE" dirty="0"/>
                  <a:t> </a:t>
                </a:r>
                <a:r>
                  <a:rPr lang="de-DE" dirty="0" err="1"/>
                  <a:t>output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</a:t>
                </a:r>
                <a:r>
                  <a:rPr lang="de-DE" dirty="0" err="1"/>
                  <a:t>past</a:t>
                </a:r>
                <a:r>
                  <a:rPr lang="de-DE" dirty="0"/>
                  <a:t> </a:t>
                </a:r>
                <a:r>
                  <a:rPr lang="de-DE" dirty="0" err="1"/>
                  <a:t>values</a:t>
                </a:r>
                <a:r>
                  <a:rPr lang="de-DE" dirty="0"/>
                  <a:t>):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−2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−2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</m:oMath>
                </a14:m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0D38550-2779-4710-166B-853B3C3DF3F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348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FD3654B-765B-E231-35F8-266B90EBD7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16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0051C712-BDDF-EE3F-5D52-82596C1870A4}"/>
              </a:ext>
            </a:extLst>
          </p:cNvPr>
          <p:cNvSpPr txBox="1"/>
          <p:nvPr/>
        </p:nvSpPr>
        <p:spPr>
          <a:xfrm>
            <a:off x="3316705" y="2723948"/>
            <a:ext cx="10120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memory</a:t>
            </a:r>
            <a:endParaRPr lang="de-DE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53701B33-51DA-5DBA-E5FF-653DDB0EC264}"/>
              </a:ext>
            </a:extLst>
          </p:cNvPr>
          <p:cNvSpPr txBox="1"/>
          <p:nvPr/>
        </p:nvSpPr>
        <p:spPr>
          <a:xfrm>
            <a:off x="4600876" y="2723948"/>
            <a:ext cx="13214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input</a:t>
            </a:r>
            <a:r>
              <a:rPr lang="de-DE" dirty="0"/>
              <a:t> </a:t>
            </a:r>
            <a:r>
              <a:rPr lang="de-DE" dirty="0" err="1"/>
              <a:t>effect</a:t>
            </a:r>
            <a:endParaRPr lang="de-DE" dirty="0"/>
          </a:p>
        </p:txBody>
      </p:sp>
      <p:sp>
        <p:nvSpPr>
          <p:cNvPr id="7" name="Geschweifte Klammer rechts 6">
            <a:extLst>
              <a:ext uri="{FF2B5EF4-FFF2-40B4-BE49-F238E27FC236}">
                <a16:creationId xmlns:a16="http://schemas.microsoft.com/office/drawing/2014/main" id="{787BED0B-B839-4316-07A3-EEF5B53BD2E5}"/>
              </a:ext>
            </a:extLst>
          </p:cNvPr>
          <p:cNvSpPr/>
          <p:nvPr/>
        </p:nvSpPr>
        <p:spPr>
          <a:xfrm rot="5400000">
            <a:off x="3769308" y="2246297"/>
            <a:ext cx="216753" cy="902182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Geschweifte Klammer rechts 7">
            <a:extLst>
              <a:ext uri="{FF2B5EF4-FFF2-40B4-BE49-F238E27FC236}">
                <a16:creationId xmlns:a16="http://schemas.microsoft.com/office/drawing/2014/main" id="{A84D7A95-C453-0BC9-7A6D-5E4C061DB96B}"/>
              </a:ext>
            </a:extLst>
          </p:cNvPr>
          <p:cNvSpPr/>
          <p:nvPr/>
        </p:nvSpPr>
        <p:spPr>
          <a:xfrm rot="5400000">
            <a:off x="5047864" y="2272857"/>
            <a:ext cx="216753" cy="902182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36D37DDC-96DB-5D4C-B5BD-D9ADF81BDF68}"/>
                  </a:ext>
                </a:extLst>
              </p:cNvPr>
              <p:cNvSpPr txBox="1"/>
              <p:nvPr/>
            </p:nvSpPr>
            <p:spPr>
              <a:xfrm>
                <a:off x="7863226" y="2184880"/>
                <a:ext cx="3041583" cy="69307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e-DE" sz="2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de-DE" sz="2200" dirty="0"/>
                  <a:t> </a:t>
                </a:r>
                <a:r>
                  <a:rPr lang="de-DE" sz="2200" dirty="0" err="1"/>
                  <a:t>comes</a:t>
                </a:r>
                <a:r>
                  <a:rPr lang="de-DE" sz="2200" dirty="0"/>
                  <a:t> </a:t>
                </a:r>
                <a:r>
                  <a:rPr lang="de-DE" sz="2200" dirty="0" err="1"/>
                  <a:t>from</a:t>
                </a:r>
                <a:r>
                  <a:rPr lang="de-DE" sz="2200" dirty="0"/>
                  <a:t> </a:t>
                </a:r>
                <a:r>
                  <a:rPr lang="de-DE" sz="2200" dirty="0" err="1"/>
                  <a:t>continuous</a:t>
                </a:r>
                <a:r>
                  <a:rPr lang="de-DE" sz="2200" dirty="0"/>
                  <a:t>-time </a:t>
                </a:r>
                <a:r>
                  <a:rPr lang="de-DE" sz="2200" dirty="0" err="1"/>
                  <a:t>physics</a:t>
                </a:r>
                <a:endParaRPr lang="de-DE" sz="2200" dirty="0"/>
              </a:p>
            </p:txBody>
          </p:sp>
        </mc:Choice>
        <mc:Fallback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36D37DDC-96DB-5D4C-B5BD-D9ADF81BDF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63226" y="2184880"/>
                <a:ext cx="3041583" cy="693075"/>
              </a:xfrm>
              <a:prstGeom prst="rect">
                <a:avLst/>
              </a:prstGeom>
              <a:blipFill>
                <a:blip r:embed="rId3"/>
                <a:stretch>
                  <a:fillRect l="-5833" t="-7143" r="-3750" b="-2321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782836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9C8B7C9-E535-7076-D584-E20BF3DD8C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Motivation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z</a:t>
            </a:r>
            <a:r>
              <a:rPr lang="de-DE" dirty="0"/>
              <a:t>-Transform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619CBDA-C814-CDB4-7375-278B018856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de-DE" dirty="0"/>
              <a:t>How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solve</a:t>
            </a:r>
            <a:r>
              <a:rPr lang="de-DE" dirty="0"/>
              <a:t> </a:t>
            </a:r>
            <a:r>
              <a:rPr lang="de-DE" dirty="0" err="1"/>
              <a:t>difference</a:t>
            </a:r>
            <a:r>
              <a:rPr lang="de-DE" dirty="0"/>
              <a:t> </a:t>
            </a:r>
            <a:r>
              <a:rPr lang="de-DE" dirty="0" err="1"/>
              <a:t>equations</a:t>
            </a:r>
            <a:r>
              <a:rPr lang="de-DE" dirty="0"/>
              <a:t>?</a:t>
            </a:r>
          </a:p>
          <a:p>
            <a:r>
              <a:rPr lang="de-DE" dirty="0"/>
              <a:t>How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analyze</a:t>
            </a:r>
            <a:r>
              <a:rPr lang="de-DE" dirty="0"/>
              <a:t> </a:t>
            </a:r>
            <a:r>
              <a:rPr lang="de-DE" dirty="0" err="1"/>
              <a:t>stability</a:t>
            </a:r>
            <a:r>
              <a:rPr lang="de-DE" dirty="0"/>
              <a:t>?</a:t>
            </a:r>
          </a:p>
          <a:p>
            <a:r>
              <a:rPr lang="de-DE" dirty="0"/>
              <a:t>How </a:t>
            </a:r>
            <a:r>
              <a:rPr lang="de-DE" dirty="0" err="1"/>
              <a:t>to</a:t>
            </a:r>
            <a:r>
              <a:rPr lang="de-DE" dirty="0"/>
              <a:t> design </a:t>
            </a:r>
            <a:r>
              <a:rPr lang="de-DE" dirty="0" err="1"/>
              <a:t>controllers</a:t>
            </a:r>
            <a:r>
              <a:rPr lang="de-DE" dirty="0"/>
              <a:t>?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Continuous</a:t>
            </a:r>
            <a:r>
              <a:rPr lang="de-DE" dirty="0"/>
              <a:t>-time </a:t>
            </a:r>
            <a:r>
              <a:rPr lang="de-DE" dirty="0" err="1"/>
              <a:t>systems</a:t>
            </a:r>
            <a:r>
              <a:rPr lang="de-DE" dirty="0"/>
              <a:t>:</a:t>
            </a:r>
          </a:p>
          <a:p>
            <a:pPr marL="0" indent="0">
              <a:buNone/>
            </a:pPr>
            <a:r>
              <a:rPr lang="de-DE" dirty="0"/>
              <a:t>differential </a:t>
            </a:r>
            <a:r>
              <a:rPr lang="de-DE" dirty="0" err="1"/>
              <a:t>equation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Laplace </a:t>
            </a:r>
            <a:r>
              <a:rPr lang="de-DE" dirty="0" err="1"/>
              <a:t>transform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</a:t>
            </a:r>
            <a:r>
              <a:rPr lang="de-DE" dirty="0" err="1"/>
              <a:t>algebra</a:t>
            </a:r>
            <a:r>
              <a:rPr lang="de-DE" dirty="0"/>
              <a:t> (</a:t>
            </a:r>
            <a:r>
              <a:rPr lang="de-DE" dirty="0" err="1"/>
              <a:t>transfer</a:t>
            </a:r>
            <a:r>
              <a:rPr lang="de-DE" dirty="0"/>
              <a:t> </a:t>
            </a:r>
            <a:r>
              <a:rPr lang="de-DE" dirty="0" err="1"/>
              <a:t>function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Discrete</a:t>
            </a:r>
            <a:r>
              <a:rPr lang="de-DE" dirty="0"/>
              <a:t>-time </a:t>
            </a:r>
            <a:r>
              <a:rPr lang="de-DE" dirty="0" err="1"/>
              <a:t>systems</a:t>
            </a:r>
            <a:r>
              <a:rPr lang="de-DE" dirty="0"/>
              <a:t>:</a:t>
            </a:r>
          </a:p>
          <a:p>
            <a:pPr marL="0" indent="0">
              <a:buNone/>
            </a:pPr>
            <a:r>
              <a:rPr lang="de-DE" dirty="0" err="1"/>
              <a:t>difference</a:t>
            </a:r>
            <a:r>
              <a:rPr lang="de-DE" dirty="0"/>
              <a:t> </a:t>
            </a:r>
            <a:r>
              <a:rPr lang="de-DE" dirty="0" err="1"/>
              <a:t>equation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/>
              <a:t>z-transform</a:t>
            </a:r>
            <a:r>
              <a:rPr lang="de-DE" dirty="0">
                <a:sym typeface="Wingdings" pitchFamily="2" charset="2"/>
              </a:rPr>
              <a:t>  </a:t>
            </a:r>
            <a:r>
              <a:rPr lang="de-DE" dirty="0" err="1"/>
              <a:t>algebra</a:t>
            </a:r>
            <a:r>
              <a:rPr lang="de-DE" dirty="0"/>
              <a:t> (</a:t>
            </a:r>
            <a:r>
              <a:rPr lang="de-DE" dirty="0" err="1"/>
              <a:t>transfer</a:t>
            </a:r>
            <a:r>
              <a:rPr lang="de-DE" dirty="0"/>
              <a:t> </a:t>
            </a:r>
            <a:r>
              <a:rPr lang="de-DE" dirty="0" err="1"/>
              <a:t>function</a:t>
            </a:r>
            <a:r>
              <a:rPr lang="de-DE" dirty="0"/>
              <a:t>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49D0AF9-DEBC-5E26-D22C-4D0AFC2425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59665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4EA3253-6AF2-4946-EFA5-9C77FCAC78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z</a:t>
            </a:r>
            <a:r>
              <a:rPr lang="de-DE" dirty="0"/>
              <a:t>-Transform Definition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A3C9EBB-09EA-3C95-52B6-621AAD00612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𝑋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de-DE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d>
                        <m:sSup>
                          <m:sSup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p>
                        </m:sSup>
                      </m:e>
                    </m:nary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de-DE" dirty="0"/>
                  <a:t>: </a:t>
                </a:r>
                <a:r>
                  <a:rPr lang="de-DE" dirty="0" err="1"/>
                  <a:t>discrete</a:t>
                </a:r>
                <a:r>
                  <a:rPr lang="de-DE" dirty="0"/>
                  <a:t>-time </a:t>
                </a:r>
                <a:r>
                  <a:rPr lang="de-DE" dirty="0" err="1"/>
                  <a:t>signal</a:t>
                </a:r>
                <a:endParaRPr lang="de-DE" dirty="0"/>
              </a:p>
              <a:p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de-DE" dirty="0"/>
                  <a:t>: </a:t>
                </a:r>
                <a:r>
                  <a:rPr lang="de-DE" dirty="0" err="1"/>
                  <a:t>complex</a:t>
                </a:r>
                <a:r>
                  <a:rPr lang="de-DE" dirty="0"/>
                  <a:t> variable</a:t>
                </a:r>
                <a:br>
                  <a:rPr lang="de-DE" dirty="0"/>
                </a:b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Interpretation:</a:t>
                </a:r>
              </a:p>
              <a:p>
                <a:r>
                  <a:rPr lang="de-DE" dirty="0" err="1"/>
                  <a:t>Converts</a:t>
                </a:r>
                <a:r>
                  <a:rPr lang="de-DE" dirty="0"/>
                  <a:t> a </a:t>
                </a:r>
                <a:r>
                  <a:rPr lang="de-DE" dirty="0" err="1"/>
                  <a:t>sequence</a:t>
                </a:r>
                <a:r>
                  <a:rPr lang="de-DE" dirty="0"/>
                  <a:t> </a:t>
                </a:r>
                <a:r>
                  <a:rPr lang="de-DE" dirty="0" err="1"/>
                  <a:t>into</a:t>
                </a:r>
                <a:r>
                  <a:rPr lang="de-DE" dirty="0"/>
                  <a:t> a </a:t>
                </a:r>
                <a:r>
                  <a:rPr lang="de-DE" dirty="0" err="1"/>
                  <a:t>function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endParaRPr lang="de-DE" dirty="0"/>
              </a:p>
              <a:p>
                <a:r>
                  <a:rPr lang="de-DE" dirty="0" err="1"/>
                  <a:t>Discrete</a:t>
                </a:r>
                <a:r>
                  <a:rPr lang="de-DE" dirty="0"/>
                  <a:t>-time </a:t>
                </a:r>
                <a:r>
                  <a:rPr lang="de-DE" dirty="0" err="1"/>
                  <a:t>equivalent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Laplace </a:t>
                </a:r>
                <a:r>
                  <a:rPr lang="de-DE" dirty="0" err="1"/>
                  <a:t>transform</a:t>
                </a:r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A3C9EBB-09EA-3C95-52B6-621AAD00612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1627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50FCA90-A34B-22CC-2EA9-951A01766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18</a:t>
            </a:fld>
            <a:endParaRPr lang="en-GB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0A9EA23C-D5BF-3BA7-B8EA-A47CD394A5E3}"/>
                  </a:ext>
                </a:extLst>
              </p:cNvPr>
              <p:cNvSpPr txBox="1"/>
              <p:nvPr/>
            </p:nvSpPr>
            <p:spPr>
              <a:xfrm>
                <a:off x="7550217" y="1462633"/>
                <a:ext cx="2431983" cy="11806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:r>
                  <a:rPr lang="de-DE" b="0" dirty="0">
                    <a:ea typeface="Cambria Math" panose="02040503050406030204" pitchFamily="18" charset="0"/>
                  </a:rPr>
                  <a:t>Laplace </a:t>
                </a:r>
                <a:r>
                  <a:rPr lang="de-DE" b="0" dirty="0" err="1">
                    <a:ea typeface="Cambria Math" panose="02040503050406030204" pitchFamily="18" charset="0"/>
                  </a:rPr>
                  <a:t>transform</a:t>
                </a:r>
                <a:r>
                  <a:rPr lang="de-DE" b="0" dirty="0">
                    <a:ea typeface="Cambria Math" panose="02040503050406030204" pitchFamily="18" charset="0"/>
                  </a:rPr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𝑋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d>
                            <m:d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sSup>
                            <m:sSup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𝑠𝑡</m:t>
                              </m:r>
                            </m:sup>
                          </m:s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de-DE" dirty="0"/>
              </a:p>
            </p:txBody>
          </p:sp>
        </mc:Choice>
        <mc:Fallback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0A9EA23C-D5BF-3BA7-B8EA-A47CD394A5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0217" y="1462633"/>
                <a:ext cx="2431983" cy="1180644"/>
              </a:xfrm>
              <a:prstGeom prst="rect">
                <a:avLst/>
              </a:prstGeom>
              <a:blipFill>
                <a:blip r:embed="rId3"/>
                <a:stretch>
                  <a:fillRect l="-3109" t="-61702" b="-13085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8509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A18619F-A5C3-CB68-668F-FF9DFD6001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Time Shift Property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C3BFDFD-39F4-0594-39FD-6D5DD1E89B9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𝒵</m:t>
                    </m:r>
                    <m:d>
                      <m:dPr>
                        <m:begChr m:val="{"/>
                        <m:endChr m:val="}"/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𝑥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e>
                        </m:d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𝑧𝑋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𝑧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𝒵</m:t>
                    </m:r>
                    <m:d>
                      <m:dPr>
                        <m:begChr m:val="{"/>
                        <m:endChr m:val="}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𝑥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p>
                    </m:sSup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𝑧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𝒵</m:t>
                    </m:r>
                    <m:d>
                      <m:dPr>
                        <m:begChr m:val="{"/>
                        <m:endChr m:val="}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𝑥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𝑧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br>
                  <a:rPr lang="de-DE" dirty="0"/>
                </a:b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Shifts</a:t>
                </a:r>
                <a:r>
                  <a:rPr lang="de-DE" dirty="0">
                    <a:sym typeface="Wingdings" pitchFamily="2" charset="2"/>
                  </a:rPr>
                  <a:t> in </a:t>
                </a:r>
                <a:r>
                  <a:rPr lang="de-DE" dirty="0" err="1">
                    <a:sym typeface="Wingdings" pitchFamily="2" charset="2"/>
                  </a:rPr>
                  <a:t>d</a:t>
                </a:r>
                <a:r>
                  <a:rPr lang="de-DE" dirty="0" err="1"/>
                  <a:t>ifference</a:t>
                </a:r>
                <a:r>
                  <a:rPr lang="de-DE" dirty="0"/>
                  <a:t> </a:t>
                </a:r>
                <a:r>
                  <a:rPr lang="de-DE" dirty="0" err="1"/>
                  <a:t>equations</a:t>
                </a:r>
                <a:r>
                  <a:rPr lang="de-DE" dirty="0"/>
                  <a:t> (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 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 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r>
                  <a:rPr lang="de-DE" dirty="0"/>
                  <a:t>) </a:t>
                </a:r>
                <a:r>
                  <a:rPr lang="de-DE" dirty="0" err="1"/>
                  <a:t>become</a:t>
                </a:r>
                <a:r>
                  <a:rPr lang="de-DE" dirty="0"/>
                  <a:t> simple </a:t>
                </a:r>
                <a:r>
                  <a:rPr lang="de-DE" dirty="0" err="1"/>
                  <a:t>multiplications</a:t>
                </a:r>
                <a:r>
                  <a:rPr lang="de-DE" dirty="0"/>
                  <a:t> in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z</a:t>
                </a:r>
                <a:r>
                  <a:rPr lang="de-DE" dirty="0"/>
                  <a:t>-domain</a:t>
                </a:r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C3BFDFD-39F4-0594-39FD-6D5DD1E89B9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r="-12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3FC9453-5896-DFDA-CDC8-CC50239504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538379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72E2459-DBE8-2A75-5BAE-0EE350A317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z</a:t>
            </a:r>
            <a:r>
              <a:rPr lang="de-DE" dirty="0"/>
              <a:t>-Transfer </a:t>
            </a:r>
            <a:r>
              <a:rPr lang="de-DE" dirty="0" err="1"/>
              <a:t>Functions</a:t>
            </a:r>
            <a:endParaRPr lang="de-DE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94E6248-1BA1-3AB3-8452-0EB5FBF61D1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𝑏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Apply</a:t>
                </a:r>
                <a:r>
                  <a:rPr lang="de-DE" dirty="0"/>
                  <a:t> </a:t>
                </a:r>
                <a:r>
                  <a:rPr lang="de-DE" dirty="0" err="1"/>
                  <a:t>z-transform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𝑈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Transfer </a:t>
                </a:r>
                <a:r>
                  <a:rPr lang="de-DE" dirty="0" err="1"/>
                  <a:t>Function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Discrete</a:t>
                </a:r>
                <a:r>
                  <a:rPr lang="de-DE" dirty="0"/>
                  <a:t> </a:t>
                </a:r>
                <a:r>
                  <a:rPr lang="de-DE" dirty="0" err="1"/>
                  <a:t>equivalent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Laplace </a:t>
                </a:r>
                <a:r>
                  <a:rPr lang="de-DE" dirty="0" err="1"/>
                  <a:t>transfer</a:t>
                </a:r>
                <a:r>
                  <a:rPr lang="de-DE" dirty="0"/>
                  <a:t> </a:t>
                </a:r>
                <a:r>
                  <a:rPr lang="de-DE" dirty="0" err="1"/>
                  <a:t>functions</a:t>
                </a:r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94E6248-1BA1-3AB3-8452-0EB5FBF61D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116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2515CCA-631A-F11D-97BE-34BE6B328C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1263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E6D035F-C0FB-44AD-30F4-AFEDE2F712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59F1111-2F1A-4B89-470B-1C913FCB46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Poles </a:t>
            </a:r>
            <a:r>
              <a:rPr lang="de-DE" dirty="0" err="1"/>
              <a:t>inside</a:t>
            </a:r>
            <a:r>
              <a:rPr lang="de-DE" dirty="0"/>
              <a:t> </a:t>
            </a:r>
            <a:r>
              <a:rPr lang="de-DE" dirty="0" err="1"/>
              <a:t>unit</a:t>
            </a:r>
            <a:r>
              <a:rPr lang="de-DE" dirty="0"/>
              <a:t> </a:t>
            </a:r>
            <a:r>
              <a:rPr lang="de-DE" dirty="0" err="1"/>
              <a:t>circle</a:t>
            </a:r>
            <a:r>
              <a:rPr lang="de-DE" dirty="0"/>
              <a:t> →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ECC739B-76A7-CF79-0B93-E52879AFFB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88657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929D9B5-4388-01F5-3D30-72141D4966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ZOH </a:t>
            </a:r>
            <a:r>
              <a:rPr lang="de-DE" dirty="0" err="1"/>
              <a:t>Equivalent</a:t>
            </a:r>
            <a:r>
              <a:rPr lang="de-DE" dirty="0"/>
              <a:t> Transfer </a:t>
            </a:r>
            <a:r>
              <a:rPr lang="de-DE" dirty="0" err="1"/>
              <a:t>Function</a:t>
            </a:r>
            <a:endParaRPr lang="de-DE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81C50DD-53E8-1F42-99A3-8B6A5B3B32B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Discrete </a:t>
                </a:r>
                <a:r>
                  <a:rPr lang="de-DE" dirty="0" err="1"/>
                  <a:t>equivalent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𝒵</m:t>
                    </m:r>
                    <m:d>
                      <m:dPr>
                        <m:begChr m:val="{"/>
                        <m:endChr m:val="}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𝐺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)∙</m:t>
                        </m:r>
                        <m:f>
                          <m:fPr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1−</m:t>
                            </m:r>
                            <m:sSup>
                              <m:sSupPr>
                                <m:ctrlPr>
                                  <a:rPr lang="de-D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𝑠𝑇</m:t>
                                </m:r>
                              </m:sup>
                            </m:sSup>
                          </m:num>
                          <m:den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den>
                        </m:f>
                      </m:e>
                    </m:d>
                  </m:oMath>
                </a14:m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81C50DD-53E8-1F42-99A3-8B6A5B3B32B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51CCB1D-A448-03BD-3A32-30AC7AA0E2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773410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C1AEA4B-5887-4F08-EB19-ABD3933D8B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ZOH </a:t>
            </a:r>
            <a:r>
              <a:rPr lang="de-DE" dirty="0" err="1"/>
              <a:t>Discretization</a:t>
            </a:r>
            <a:r>
              <a:rPr lang="de-DE" dirty="0"/>
              <a:t> </a:t>
            </a:r>
            <a:r>
              <a:rPr lang="de-DE" dirty="0" err="1"/>
              <a:t>Example</a:t>
            </a:r>
            <a:endParaRPr lang="de-DE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E2F7FDC-C112-EB05-B253-CD92731303A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Given </a:t>
                </a:r>
                <a:r>
                  <a:rPr lang="de-DE" dirty="0" err="1"/>
                  <a:t>continuous</a:t>
                </a:r>
                <a:r>
                  <a:rPr lang="de-DE" dirty="0"/>
                  <a:t>-time </a:t>
                </a:r>
                <a:r>
                  <a:rPr lang="de-DE" dirty="0" err="1"/>
                  <a:t>system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den>
                    </m:f>
                  </m:oMath>
                </a14:m>
                <a:br>
                  <a:rPr lang="de-DE" dirty="0"/>
                </a:b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Goal: Find </a:t>
                </a:r>
                <a:r>
                  <a:rPr lang="de-DE" dirty="0" err="1"/>
                  <a:t>discrete</a:t>
                </a:r>
                <a:r>
                  <a:rPr lang="de-DE" dirty="0"/>
                  <a:t>-time </a:t>
                </a:r>
                <a:r>
                  <a:rPr lang="de-DE" dirty="0" err="1"/>
                  <a:t>transfer</a:t>
                </a:r>
                <a:r>
                  <a:rPr lang="de-DE" dirty="0"/>
                  <a:t> </a:t>
                </a:r>
                <a:r>
                  <a:rPr lang="de-DE" dirty="0" err="1"/>
                  <a:t>function</a:t>
                </a:r>
                <a:r>
                  <a:rPr lang="de-DE" dirty="0"/>
                  <a:t>, </a:t>
                </a:r>
                <a:r>
                  <a:rPr lang="de-DE" dirty="0" err="1"/>
                  <a:t>using</a:t>
                </a:r>
                <a:r>
                  <a:rPr lang="de-DE" dirty="0"/>
                  <a:t> ZOH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:r>
                  <a:rPr lang="de-DE" dirty="0" err="1"/>
                  <a:t>sampling</a:t>
                </a:r>
                <a:r>
                  <a:rPr lang="de-DE" dirty="0"/>
                  <a:t> time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Steps</a:t>
                </a:r>
                <a:r>
                  <a:rPr lang="de-DE" dirty="0"/>
                  <a:t>:</a:t>
                </a:r>
              </a:p>
              <a:p>
                <a:r>
                  <a:rPr lang="de-DE" dirty="0" err="1"/>
                  <a:t>Apply</a:t>
                </a:r>
                <a:r>
                  <a:rPr lang="de-DE" dirty="0"/>
                  <a:t> ZOH</a:t>
                </a:r>
              </a:p>
              <a:p>
                <a:r>
                  <a:rPr lang="de-DE" dirty="0" err="1"/>
                  <a:t>Compute</a:t>
                </a:r>
                <a:r>
                  <a:rPr lang="de-DE" dirty="0"/>
                  <a:t> G(</a:t>
                </a:r>
                <a:r>
                  <a:rPr lang="de-DE" dirty="0" err="1"/>
                  <a:t>z</a:t>
                </a:r>
                <a:r>
                  <a:rPr lang="de-DE" dirty="0"/>
                  <a:t>)</a:t>
                </a:r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E2F7FDC-C112-EB05-B253-CD92731303A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3198" r="-60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2B74330-485E-C7D6-86E2-A23565E74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082628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9A7F8DE-CF5F-2F1E-0945-3168CB4371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Euler </a:t>
            </a:r>
            <a:r>
              <a:rPr lang="de-DE" dirty="0" err="1"/>
              <a:t>Discretization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10AC651-4ADB-CB27-8745-B7F22B02E9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Simple </a:t>
            </a:r>
            <a:r>
              <a:rPr lang="de-DE" dirty="0" err="1"/>
              <a:t>numerical</a:t>
            </a:r>
            <a:r>
              <a:rPr lang="de-DE" dirty="0"/>
              <a:t> </a:t>
            </a:r>
            <a:r>
              <a:rPr lang="de-DE" dirty="0" err="1"/>
              <a:t>approximation</a:t>
            </a:r>
            <a:endParaRPr lang="de-DE" dirty="0"/>
          </a:p>
          <a:p>
            <a:r>
              <a:rPr lang="de-DE" dirty="0"/>
              <a:t>Can </a:t>
            </a:r>
            <a:r>
              <a:rPr lang="de-DE" dirty="0" err="1"/>
              <a:t>distort</a:t>
            </a:r>
            <a:r>
              <a:rPr lang="de-DE" dirty="0"/>
              <a:t> </a:t>
            </a:r>
            <a:r>
              <a:rPr lang="de-DE" dirty="0" err="1"/>
              <a:t>dynamics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B7BC145-6539-93D9-C74D-D8A3C1EEA2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059777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9FFFBB7-5493-01B1-DF7E-930B30993F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Tustin</a:t>
            </a:r>
            <a:r>
              <a:rPr lang="de-DE" dirty="0"/>
              <a:t> </a:t>
            </a:r>
            <a:r>
              <a:rPr lang="de-DE" dirty="0" err="1"/>
              <a:t>Discretization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BDC2B80-65D3-5892-4CF0-DAC832DAC8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Bilinear </a:t>
            </a:r>
            <a:r>
              <a:rPr lang="de-DE" dirty="0" err="1"/>
              <a:t>transformation</a:t>
            </a:r>
            <a:endParaRPr lang="de-DE" dirty="0"/>
          </a:p>
          <a:p>
            <a:r>
              <a:rPr lang="de-DE" dirty="0" err="1"/>
              <a:t>Preserves</a:t>
            </a:r>
            <a:r>
              <a:rPr lang="de-DE" dirty="0"/>
              <a:t> </a:t>
            </a:r>
            <a:r>
              <a:rPr lang="de-DE" dirty="0" err="1"/>
              <a:t>frequency</a:t>
            </a:r>
            <a:r>
              <a:rPr lang="de-DE" dirty="0"/>
              <a:t> </a:t>
            </a:r>
            <a:r>
              <a:rPr lang="de-DE" dirty="0" err="1"/>
              <a:t>characteristics</a:t>
            </a:r>
            <a:r>
              <a:rPr lang="de-DE" dirty="0"/>
              <a:t> </a:t>
            </a:r>
            <a:r>
              <a:rPr lang="de-DE" dirty="0" err="1"/>
              <a:t>better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6D5E52C-843C-475B-4446-7DFD4F8F78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978182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7BFA6C-0A38-374F-945C-AC62249259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Implementation </a:t>
            </a:r>
            <a:r>
              <a:rPr lang="de-DE" dirty="0" err="1"/>
              <a:t>Issues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528764C-E616-37B1-6C5F-EC8409FD45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Quantization</a:t>
            </a:r>
            <a:endParaRPr lang="de-DE" dirty="0"/>
          </a:p>
          <a:p>
            <a:r>
              <a:rPr lang="de-DE" dirty="0" err="1"/>
              <a:t>Computation</a:t>
            </a:r>
            <a:r>
              <a:rPr lang="de-DE" dirty="0"/>
              <a:t> </a:t>
            </a:r>
            <a:r>
              <a:rPr lang="de-DE" dirty="0" err="1"/>
              <a:t>delay</a:t>
            </a:r>
            <a:endParaRPr lang="de-DE" dirty="0"/>
          </a:p>
          <a:p>
            <a:r>
              <a:rPr lang="de-DE" dirty="0" err="1"/>
              <a:t>Numerical</a:t>
            </a:r>
            <a:r>
              <a:rPr lang="de-DE" dirty="0"/>
              <a:t> </a:t>
            </a:r>
            <a:r>
              <a:rPr lang="de-DE" dirty="0" err="1"/>
              <a:t>precision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F66F0F8-6AC5-36AB-811E-3A7AD0150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774161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1016</Words>
  <Application>Microsoft Macintosh PowerPoint</Application>
  <PresentationFormat>Breitbild</PresentationFormat>
  <Paragraphs>236</Paragraphs>
  <Slides>26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26</vt:i4>
      </vt:variant>
    </vt:vector>
  </HeadingPairs>
  <TitlesOfParts>
    <vt:vector size="32" baseType="lpstr">
      <vt:lpstr>Aptos</vt:lpstr>
      <vt:lpstr>Aptos Display</vt:lpstr>
      <vt:lpstr>Arial</vt:lpstr>
      <vt:lpstr>Cambria Math</vt:lpstr>
      <vt:lpstr>Wingdings</vt:lpstr>
      <vt:lpstr>Office Theme</vt:lpstr>
      <vt:lpstr>Discrete-time Controllers</vt:lpstr>
      <vt:lpstr>Course Schedule</vt:lpstr>
      <vt:lpstr>Discrete-time Controllers</vt:lpstr>
      <vt:lpstr>Why Digital Control?</vt:lpstr>
      <vt:lpstr>Continuous vs Digital Control</vt:lpstr>
      <vt:lpstr>Structure of a Digital Control System</vt:lpstr>
      <vt:lpstr>Sampling</vt:lpstr>
      <vt:lpstr>Undersampling</vt:lpstr>
      <vt:lpstr>Example: Moiré Effect in Digital Images</vt:lpstr>
      <vt:lpstr>Nyquist-Shannon Sampling Theorem</vt:lpstr>
      <vt:lpstr>Anti-Aliasing Filter</vt:lpstr>
      <vt:lpstr>Zero-Order Hold (ZOH)</vt:lpstr>
      <vt:lpstr>From Differential to Difference Equations</vt:lpstr>
      <vt:lpstr>Example: First-Order System</vt:lpstr>
      <vt:lpstr>PowerPoint-Präsentation</vt:lpstr>
      <vt:lpstr>Difference Equations</vt:lpstr>
      <vt:lpstr>Motivation for z-Transform</vt:lpstr>
      <vt:lpstr>z-Transform Definition</vt:lpstr>
      <vt:lpstr>Time Shift Property</vt:lpstr>
      <vt:lpstr>z-Transfer Functions</vt:lpstr>
      <vt:lpstr>Stability</vt:lpstr>
      <vt:lpstr>ZOH Equivalent Transfer Function</vt:lpstr>
      <vt:lpstr>ZOH Discretization Example</vt:lpstr>
      <vt:lpstr>Euler Discretization</vt:lpstr>
      <vt:lpstr>Tustin Discretization</vt:lpstr>
      <vt:lpstr>Implementation Issues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138</cp:revision>
  <dcterms:created xsi:type="dcterms:W3CDTF">2025-01-08T09:27:30Z</dcterms:created>
  <dcterms:modified xsi:type="dcterms:W3CDTF">2026-03-29T22:16:34Z</dcterms:modified>
</cp:coreProperties>
</file>